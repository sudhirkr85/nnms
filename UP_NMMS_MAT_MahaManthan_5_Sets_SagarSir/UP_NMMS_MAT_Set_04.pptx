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 एवं योग्यता आधारित छात्रवृत्ति परीक्षा (UP NMMS 2024-25) • महामंथन अभ्यास सेट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47088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423160"/>
            <a:ext cx="6339535" cy="45720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🔥 UP NMMS 2024-25 महामंथन • सेट 04 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परीक्षण (MAT) — अभ्यास सेट #04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परीक्षा में 100% सफलता हेतु 50 अति-संभावित प्रश्नों का महाभ्यास (प्र. 1 से 50)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14800"/>
            <a:ext cx="9448495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🎯 इस अभ्यास सेट की मुख्य विशेषताएं (Live Class Features):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श्रृंखला परीक्षण (Number, Letter &amp; Mixed Series)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सादृश्यता एवं वर्गीकरण (Analogy &amp; Classification)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कोडिंग-डिकोडिंग, गणितीय संक्रियाएं एवं लुप्त पद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रक्त संबंध, दिशा-दूरी, वेन आरेख एवं दर्पण प्रतिबिम्ब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प्रत्येक प्रश्न के साथ सटीक ट्रिक एवं 2-स्लाइड इंटरैक्टिव व्याख्या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Expert)  |  WhatsApp: +91 91101 13671  |  YouTube: Sagar Coaching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MAT अभ्यास सेट #04 — परीक्षा पैटर्न एवं अभ्यास निर्देश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उत्तर प्रदेश NMMS मानसिक योग्यता परीक्षण (MAT) परीक्षा योजना (Official Guidelines):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परीक्षा संरचना: मानसिक योग्यता परीक्षण (MAT) में कुल 90 बहुविकल्पीय प्रश्न (90 अंक) पूछे जाते हैं।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इस अभ्यास सेट में UP NMMS के 10 वर्षों के ट्रेंड के आधार पर 50 अति-संभावित प्रश्न शामिल हैं।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कवर किए गए प्रमुख विषय: श्रृंखला, सादृश्यता, वर्गीकरण, कोडिंग, लुप्त पद, गणितीय संक्रियाएं, रक्त संबंध, दिशा, वेन आरेख आदि।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2-स्लाइड इंटरैक्टिव पद्धति: प्रश्न स्लाइड पर उत्तर पूरी तरह छुपा है ताकि विद्यार्थी पहले स्वयं विचार व अभ्यास करें।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अगली स्लाइड पर सही विकल्प हरे रंग (Green Glow) में चमकेगा और नीचे आसान ट्रिक व व्याख्या प्रस्तुत होगी।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लक्ष्य: MAT में 90 में से 85+ अंक प्राप्त करके मेरिट सूची में शीर्ष स्थान सुनिश्चित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 (उल्टा क्रम) / Reverse Coding • प्र. #1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1. यदि 'KUMAR' को 'RAMUK' लिखा जाता है, तो 'SAGAR' को क्या लिखा जाएगा?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1. If 'KUMAR' is written as 'RAMUK', how will 'SAGAR' be written?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RAGAS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RAGSA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RAGAZ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RAGAR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 (उल्टा क्रम) / Reverse Coding • प्र. #1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1. यदि 'KUMAR' को 'RAMUK' लिखा जाता है, तो 'SAGAR' को क्या लिखा जाएगा?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1. If 'KUMAR' is written as 'RAMUK', how will 'SAGAR' be written?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RAGAS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RAGSA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RAGAZ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RAGAR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अक्षरों को ठीक उल्टे क्रम (Reverse order) में लिखा गया है: S-A-G-A-R को उल्टा करने पर 'RAGAS'।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 (क्रमांक योग) / Position Sum Code • प्र. #2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2. यदि 'CAT' = 24 और 'DOG' = 26 हो, तो 'PIG'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2. If 'CAT' = 24 and 'DOG' = 26, then what is the value of 'PIG'?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 (क्रमांक योग) / Position Sum Code • प्र. #2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2. यदि 'CAT' = 24 और 'DOG' = 26 हो, तो 'PIG'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2. If 'CAT' = 24 and 'DOG' = 26, then what is the value of 'PIG'?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अक्षर क्रमांकों का योग: P(16) + I(9) + G(7) = 32।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युग्म श्रृंखला / Letter Pairs • प्र. #3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3. निम्न में अगला पद बताइए: ZA, YB, XC, WD,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3. Find the next term: ZA, YB, XC, WD,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EV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UF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VF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युग्म श्रृंखला / Letter Pairs • प्र. #3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3. निम्न में अगला पद बताइए: ZA, YB, XC, WD,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3. Find the next term: ZA, YB, XC, WD,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EV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UF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VF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पहला अक्षर पीछे घट रहा है (W-&gt;V) और दूसरा आगे बढ़ रहा है (D-&gt;E) =&gt; 'VE'।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 (-2) / Subtraction Coding • प्र. #4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4. यदि 'COLD' को 'AMJB' लिखा जाता है, तो 'HOT' का कोड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4. If 'COLD' is coded as 'AMJB', what is the code for 'HOT'?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FMR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FMS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ENR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GLS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 (-2) / Subtraction Coding • प्र. #4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4. यदि 'COLD' को 'AMJB' लिखा जाता है, तो 'HOT' का कोड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4. If 'COLD' is coded as 'AMJB', what is the code for 'HOT'?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FMR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FMS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ENR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GLS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प्रत्येक अक्षर में से -2: H-2=F, O-2=M, T-2=R =&gt; 'FMR'।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पुनरावृत्ति / Repeating Letter Pattern • प्र. #5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5. रिक्त स्थान की पूर्ति कीजिए: ab _ a _ ba _ b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5. Fill the blanks in pattern: ab _ a _ ba _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b a 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a b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b b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a a 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पुनरावृत्ति / Repeating Letter Pattern • प्र. #5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5. रिक्त स्थान की पूर्ति कीजिए: ab _ a _ ba _ b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5. Fill the blanks in pattern: ab _ a _ ba _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b a 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a b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b b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a a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पैटर्न 'abba / abba' बनाने हेतु 'b, b, a' भरा जाएगा।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प्रत्यक्ष कूट / Direct Coding • प्र. #6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6. यदि ROSE = 6821 और CHAIR = 73456 हो, तो SEARCH का कोड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6. If ROSE = 6821 and CHAIR = 73456, what is the code for SEARCH?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214673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214573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214675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214763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प्रत्यक्ष कूट / Direct Coding • प्र. #6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6. यदि ROSE = 6821 और CHAIR = 73456 हो, तो SEARCH का कोड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6. If ROSE = 6821 and CHAIR = 73456, what is the code for SEARCH?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214673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214573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214675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214763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प्रत्यक्ष मिलान: S=2, E=1, A=4, R=6, C=7, H=3 =&gt; 214673।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अक्षर-संख्या कोड / Alphanumeric Code • प्र. #7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7. यदि C = 3 और CAT = 24 हो, तो POLICE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7. If C = 3 and CAT = 24, what is the numerical value of POLICE?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68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अक्षर-संख्या कोड / Alphanumeric Code • प्र. #7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7. यदि C = 3 और CAT = 24 हो, तो POLICE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7. If C = 3 and CAT = 24, what is the numerical value of POLICE?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POLICE = P(16) + O(15) + L(12) + I(9) + C(3) + E(5) = 60।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श्रृंखला (स्वर) / Vowel Series • प्र. #8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8. दी गई श्रेणी में अगला अक्षर क्या होगा? A, E, I, O,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8. What is the next letter in the series? A, E, I, O,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श्रृंखला (स्वर) / Vowel Series • प्र. #8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8. दी गई श्रेणी में अगला अक्षर क्या होगा? A, E, I, O,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8. What is the next letter in the series? A, E, I, O,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यह अंग्रेजी वर्णमाला के पांचों स्वरों (Vowels: A, E, I, O, U) की श्रेणी है, अतः अगला 'U' होगा।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 (विपरीत कूट) / Reverse Code • प्र. #9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9. यदि 'BOY' को 'YLB' लिखा जाता है, तो 'GIRL' को क्या लिखा जाएगा?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9. If 'BOY' is coded as 'YLB', how will 'GIRL' be coded?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TRIP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TROI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TRIO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SQHO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कोडिंग (विपरीत कूट) / Reverse Code • प्र. #9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9. यदि 'BOY' को 'YLB' लिखा जाता है, तो 'GIRL' को क्या लिखा जाएगा?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9. If 'BOY' is coded as 'YLB', how will 'GIRL' be coded?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TRIP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TROI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TRIO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SQHO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विपरीत अक्षर (Opposites): G-&gt;T, I-&gt;R, R-&gt;I, L-&gt;O =&gt; 'TRIO'।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श्रृंखला (कूद श्रेणी) / Step Series • प्र. #10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10. श्रृंखला में (?) के स्थान पर क्या आएगा? A, D, I, P,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10. What replaces (?) in the series: A, D, I, P,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Z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श्रृंखला (कूद श्रेणी) / Step Series • प्र. #10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10. श्रृंखला में (?) के स्थान पर क्या आएगा? A, D, I, P,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10. What replaces (?) in the series: A, D, I, P,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वर्ग स्थान: A(1=1²), D(4=2²), I(9=3²), P(16=4²), अतः अगला 25 = 5² अर्थात 'Y' होगा।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शब्द प्रतिस्थापन / Substitution • प्र. #11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11. यदि 'पेन' को 'किताब', 'किताब' को 'मेज' और 'मेज' को 'कलम' कहें, तो हम क्या पढ़ेंगे?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11. If 'Pen' is 'Book', 'Book' is 'Table', what do we read?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पेन / Pen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किताब / 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मेज /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कलम / Pencil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शब्द प्रतिस्थापन / Substitution • प्र. #11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11. यदि 'पेन' को 'किताब', 'किताब' को 'मेज' और 'मेज' को 'कलम' कहें, तो हम क्या पढ़ेंगे?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11. If 'Pen' is 'Book', 'Book' is 'Table', what do we read?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पेन / Pen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किताब / 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मेज /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कलम / Pencil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हम 'किताब' पढ़ते हैं, परंतु किताब को यहाँ 'मेज' कहा गया है। अतः उत्तर 'मेज' होगा।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समूह श्रृंखला / Triad Series • प्र. #12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12. श्रृंखला को पूरा कीजिए: ABC, DEF, GHI,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12. Complete the series: ABC, DEF, GHI,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JKL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KLM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LMN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IJK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अक्षर समूह श्रृंखला / Triad Series • प्र. #12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12. श्रृंखला को पूरा कीजिए: ABC, DEF, GHI,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12. Complete the series: ABC, DEF, GHI,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JKL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KLM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LMN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IJK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3-3 अक्षरों के लगातार समूह: GHI के बाद JKL आएगा।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(मैट्रिक्स योग) / Missing Number • प्र. #13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13. मैट्रिक्स में लुप्त संख्या ज्ञात कीजिए: [4, 5, 20], [6, 7, 42], [8, 9, ?]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13. Find the missing number in the matrix: [4, 5, 20], [6, 7, 42], [8, 9, ?]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90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(मैट्रिक्स योग) / Missing Number • प्र. #13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13. मैट्रिक्स में लुप्त संख्या ज्ञात कीजिए: [4, 5, 20], [6, 7, 42], [8, 9, ?]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13. Find the missing number in the matrix: [4, 5, 20], [6, 7, 42], [8, 9, ?]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81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नियम: पहली दो संख्याओं का गुणनफल = तीसरी संख्या। 8 × 9 = 72।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(वृत्त चक्र) / Circle Pattern • प्र. #14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14. वृत्त के चार खंडों में 3, 5, 8 और (?) लिखे हैं (अंतर +2, +3, +4)। लुप्त संख्या क्या होगी?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14. In a circle with segments 3, 5, 8 and (?), what is the missing number?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(वृत्त चक्र) / Circle Pattern • प्र. #14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14. वृत्त के चार खंडों में 3, 5, 8 और (?) लिखे हैं (अंतर +2, +3, +4)। लुप्त संख्या क्या होगी?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14. In a circle with segments 3, 5, 8 and (?), what is the missing number?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अंतर +2 (3+2=5), +3 (5+3=8), अगला अंतर +4 होगा: 8 + 4 = 12।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BODMAS • प्र. #15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15. यदि '+' का अर्थ '×' और '×' का अर्थ '-' हो, तो 10 + 5 × 20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15. If '+' means '×' and '×' means '-', what is the value of 10 + 5 × 20?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BODMAS • प्र. #15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15. यदि '+' का अर्थ '×' और '×' का अर्थ '-' हो, तो 10 + 5 × 20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15. If '+' means '×' and '×' means '-', what is the value of 10 + 5 × 20?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चिन्ह बदलने पर: 10 × 5 - 20 = 50 - 20 = 30।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(त्रिभुज) / Triangle Puzzle • प्र. #16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16. त्रिभुज शीर्षों 4, 5, 6 का योग 15 केंद्र में है। शीर्ष 7, 8, 9 होने पर केंद्र में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16. Triangle with vertices 4, 5, 6 has center 15 (sum). Vertices 7, 8, 9 gives center: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(त्रिभुज) / Triangle Puzzle • प्र. #16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16. त्रिभुज शीर्षों 4, 5, 6 का योग 15 केंद्र में है। शीर्ष 7, 8, 9 होने पर केंद्र में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16. Triangle with vertices 4, 5, 6 has center 15 (sum). Vertices 7, 8, 9 gives center: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तीनों शीर्षों का योग: 7 + 8 + 9 = 24।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(चिन्ह प्रतिस्थापन) / Symbol Operation • प्र. #17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17. यदि 'A' = '+', 'B' = '-', 'C' = '×', तो 5 C 6 A 8 B 4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17. If 'A' = '+', 'B' = '-', 'C' = '×', what is 5 C 6 A 8 B 4?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(चिन्ह प्रतिस्थापन) / Symbol Operation • प्र. #17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17. यदि 'A' = '+', 'B' = '-', 'C' = '×', तो 5 C 6 A 8 B 4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17. If 'A' = '+', 'B' = '-', 'C' = '×', what is 5 C 6 A 8 B 4?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5 × 6 + 8 - 4 = 30 + 8 - 4 = 34।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(वर्ग अंतर) / Square Difference • प्र. #18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18. यदि 5² - 3² = 16, 6² - 4² = 20 हो, तो 7² - 5²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18. If 5² - 3² = 16, 6² - 4² = 20, then what is 7² - 5²?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(वर्ग अंतर) / Square Difference • प्र. #18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18. यदि 5² - 3² = 16, 6² - 4² = 20 हो, तो 7² - 5²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18. If 5² - 3² = 16, 6² - 4² = 20, then what is 7² - 5²?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7² - 5² = 49 - 25 = 24।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(भाग और गुणा) / Division &amp; Multiply • प्र. #19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19. यदि '÷' का अर्थ '+' और '+' का अर्थ '÷' हो, तो 30 + 5 ÷ 10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19. If '÷' means '+' and '+' means '÷', what is 30 + 5 ÷ 10?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(भाग और गुणा) / Division &amp; Multiply • प्र. #19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19. यदि '÷' का अर्थ '+' और '+' का अर्थ '÷' हो, तो 30 + 5 ÷ 10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19. If '÷' means '+' and '+' means '÷', what is 30 + 5 ÷ 10?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30 ÷ 5 + 10 = 6 + 10 = 16।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(मैट्रिक्स वर्ग) / Square Grid • प्र. #20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20. मैट्रिक्स में (?) का मान ज्ञात कीजिए: [2, 4, 16], [3, 9, 81], [4, 16, ?]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20. Find (?) in the matrix: [2, 4, 16], [3, 9, 81], [4, 16, ?]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196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289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(मैट्रिक्स वर्ग) / Square Grid • प्र. #20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20. मैट्रिक्स में (?) का मान ज्ञात कीजिए: [2, 4, 16], [3, 9, 81], [4, 16, ?]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20. Find (?) in the matrix: [2, 4, 16], [3, 9, 81], [4, 16, ?]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196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225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256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289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दूसरी संख्या का वर्ग = तीसरी संख्या। 16² = 256।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(समीकरण चयन) / Equation Selection • प्र. #21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21. समीकरण 18 ? 3 ? 2 = 8 में प्रश्नचिन्हों के स्थान पर कौन-से चिन्ह उपयुक्त होंगे?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21. Which signs will satisfy 18 ? 3 ? 2 = 8?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÷ और + / ÷ and 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× और - / × and -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+ और - / + and 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- और + / - and +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(समीकरण चयन) / Equation Selection • प्र. #21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21. समीकरण 18 ? 3 ? 2 = 8 में प्रश्नचिन्हों के स्थान पर कौन-से चिन्ह उपयुक्त होंगे?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21. Which signs will satisfy 18 ? 3 ? 2 = 8?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÷ और + / ÷ and 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× और - / × and -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+ और - / + and 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- और + / - and 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18 ÷ 3 + 2 = 6 + 2 = 8।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(क्रॉस गुणन) / Cross Product • प्र. #22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22. क्रॉस में ऊपर 6, नीचे 4 (गुणा 24) और बाएँ 8, दाएँ 3 (गुणा 24) है। यदि बाएँ 12 हो तो दाएँ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22. In a cross, 6×4=24 and 8×3=24. If left is 12, what should be on right to get 24?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(क्रॉस गुणन) / Cross Product • प्र. #22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22. क्रॉस में ऊपर 6, नीचे 4 (गुणा 24) और बाएँ 8, दाएँ 3 (गुणा 24) है। यदि बाएँ 12 हो तो दाएँ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22. In a cross, 6×4=24 and 8×3=24. If left is 12, what should be on right to get 24?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12 × 2 = 24, अतः दाएँ 2 होना चाहिए।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Evaluation • प्र. #23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23. यदि '-' का अर्थ 'गुणा' और '×' का अर्थ 'जोड़' हो, तो 8 - 4 × 10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23. If '-' means '×' and '×' means '+', then 8 - 4 × 10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62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Evaluation • प्र. #23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23. यदि '-' का अर्थ 'गुणा' और '×' का अर्थ 'जोड़' हो, तो 8 - 4 × 10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23. If '-' means '×' and '×' means '+', then 8 - 4 × 10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62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8 × 4 + 10 = 32 + 10 = 42।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(घटाना व गुणा) / Pattern • प्र. #24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24. यदि (8 - 3) × 4 = 20, (10 - 4) × 4 = 24 हो, तो (12 - 5) × 4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24. If (8 - 3) × 4 = 20, (10 - 4) × 4 = 24, then (12 - 5) × 4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(घटाना व गुणा) / Pattern • प्र. #24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24. यदि (8 - 3) × 4 = 20, (10 - 4) × 4 = 24 हो, तो (12 - 5) × 4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24. If (8 - 3) × 4 = 20, (10 - 4) × 4 = 24, then (12 - 5) × 4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(12 - 5) × 4 = 7 × 4 = 28।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BODMAS Order • प्र. #25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25. यदि '+' = '÷', '-' = '+', '×' = '-', '÷' = '×' हो, तो 24 + 6 ÷ 3 - 5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25. If '+' = '÷', '-' = '+', '×' = '-', '÷' = '×', then 24 + 6 ÷ 3 - 5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BODMAS Order • प्र. #25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25. यदि '+' = '÷', '-' = '+', '×' = '-', '÷' = '×' हो, तो 24 + 6 ÷ 3 - 5 =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25. If '+' = '÷', '-' = '+', '×' = '-', '÷' = '×', then 24 + 6 ÷ 3 - 5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24 ÷ 6 × 3 + 5 = 4 × 3 + 5 = 12 + 5 = 17।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(मध्य औसत) / Mean Puzzle • प्र. #26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26. चार संख्याओं 12, 18, 24, 30 का समांतर माध्य केंद्र में है। केंद्र संख्या क्या होगी?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26. The arithmetic mean of 12, 18, 24, 30 is at center. What is the center number?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लुप्त संख्या (मध्य औसत) / Mean Puzzle • प्र. #26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26. चार संख्याओं 12, 18, 24, 30 का समांतर माध्य केंद्र में है। केंद्र संख्या क्या होगी?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26. The arithmetic mean of 12, 18, 24, 30 is at center. What is the center number?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माध्य = (12 + 18 + 24 + 30) ÷ 4 = 84 ÷ 4 = 21।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Simple Logic • प्र. #27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27. यदि 6 * 4 = 24 और 6 @ 4 = 10 हो, तो 8 * 5 @ 10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27. If 6 * 4 = 24 and 6 @ 4 = 10, what is 8 * 5 @ 10?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60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गणितीय संक्रियाएं / Simple Logic • प्र. #27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27. यदि 6 * 4 = 24 और 6 @ 4 = 10 हो, तो 8 * 5 @ 10 का मान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27. If 6 * 4 = 24 and 6 @ 4 = 10, what is 8 * 5 @ 10?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* का अर्थ गुणा और @ का अर्थ जोड़ है: 8 × 5 + 10 = 40 + 10 = 50।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Blood Relations • प्र. #28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28. राजीव की बहन नीता है। नीता के पिता महेश हैं। महेश का राजीव से क्या संबंध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28. Rajiv's sister is Nita. Nita's father is Mahesh. What is Mahesh to Rajiv?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चाचा / Uncle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भाई / Brother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पिता / Father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दादा / Grandfather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Blood Relations • प्र. #28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28. राजीव की बहन नीता है। नीता के पिता महेश हैं। महेश का राजीव से क्या संबंध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28. Rajiv's sister is Nita. Nita's father is Mahesh. What is Mahesh to Rajiv?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चाचा / Uncle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भाई / Brother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पिता / Father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दादा / Grandfather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बहन के पिता स्वयं के भी पिता होते हैं। अतः महेश राजीव के पिता (Father) हैं।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दिशा परीक्षण / Direction Sense • प्र. #29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29. सूर्यास्त के समय पश्चिम की ओर मुँह करके खड़े होने पर आपकी दाईं ओर कौन-सी दिशा होगी?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29. Facing West at sunset, which direction will be to your right?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उत्तर / North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दक्षिण / South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पूर्व / East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उत्तर-पश्चिम / North-West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दिशा परीक्षण / Direction Sense • प्र. #29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29. सूर्यास्त के समय पश्चिम की ओर मुँह करके खड़े होने पर आपकी दाईं ओर कौन-सी दिशा होगी?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29. Facing West at sunset, which direction will be to your right?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उत्तर / North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दक्षिण / South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पूर्व / East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उत्तर-पश्चिम / North-West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पश्चिम की ओर सम्मुख खड़े होने पर दायाँ हाथ उत्तर (North) दिशा की ओर होता है।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Venn Diagram • प्र. #30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30. [ वाहन, कार, बस ] का सही वेन आरेख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30. Which Venn diagram correctly represents [ Vehicles, Car, Bus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एक बड़े वृत्त में दो अलग वृत्त / Two separate inside 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तीन संकेंद्रीय वृत्त / Three concentric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तीनों प्रतिच्छेदी / Three overlapping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तीन अलग वृत्त / Three separate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Venn Diagram • प्र. #30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30. [ वाहन, कार, बस ] का सही वेन आरेख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30. Which Venn diagram correctly represents [ Vehicles, Car, Bus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एक बड़े वृत्त में दो अलग वृत्त / Two separate inside 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तीन संकेंद्रीय वृत्त / Three concentric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तीनों प्रतिच्छेदी / Three overlapping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तीन अलग वृत्त / Three separate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कार और बस दोनों अलग-अलग वाहन हैं, पर दोनों वाहन वर्ग में आते हैं।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रैंकिंग परीक्षण / Ranking Test • प्र. #31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31. 50 विद्यार्थियों की कक्षा में अजय का स्थान ऊपर से 20वाँ है। नीचे से उसका स्थान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31. In a class of 50 students, Ajay ranks 20th from top. What is his rank from bottom?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30वाँ / 30th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31वाँ / 31st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32वाँ / 32nd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33वाँ / 33rd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रैंकिंग परीक्षण / Ranking Test • प्र. #31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31. 50 विद्यार्थियों की कक्षा में अजय का स्थान ऊपर से 20वाँ है। नीचे से उसका स्थान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31. In a class of 50 students, Ajay ranks 20th from top. What is his rank from bottom?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30वाँ / 30th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31वाँ / 31st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32वाँ / 32nd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33वाँ / 33rd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नीचे से स्थान = कुल - ऊपर से स्थान + 1 = 50 - 20 + 1 = 31वाँ।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घड़ी एवं कोण / Clock Angle • प्र. #32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32. घड़ी में ठीक 6:00 बजे दोनों सुइयों के बीच कितने अंश का कोण बनता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32. At 6:00, what is the angle between the two hands of a clock?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90°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120°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180° (सरल रेखा)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360°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घड़ी एवं कोण / Clock Angle • प्र. #32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32. घड़ी में ठीक 6:00 बजे दोनों सुइयों के बीच कितने अंश का कोण बनता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32. At 6:00, what is the angle between the two hands of a clock?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90°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120°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180° (सरल रेखा)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360°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6:00 बजे दोनों सुइयां बिल्कुल विपरीत दिशा में एक सीधी रेखा में होती हैं: 6 × 30° = 180°।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कैलेंडर परीक्षण / Calendar • प्र. #33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33. यदि आज रविवार है, तो आज से ठीक 21 दिन बाद कौन-सा दिन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33. If today is Sunday, what day of the week will it be after 21 days?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शुक्रवार / Friday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शनिवार / Saturday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रविवार / Sunday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सोमवार / Monday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कैलेंडर परीक्षण / Calendar • प्र. #33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33. यदि आज रविवार है, तो आज से ठीक 21 दिन बाद कौन-सा दिन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33. If today is Sunday, what day of the week will it be after 21 days?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शुक्रवार / Friday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शनिवार / Saturday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रविवार / Sunday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सोमवार / Monday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21 दिन = 3 पूर्ण सप्ताह (21 ÷ 7 = 3, शेष 0)। अतः वही दिन रविवार ही रहेगा।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पासा परीक्षण / Dice Opposite • प्र. #34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34. एक मानक पासे पर अंक '2' के विपरीत फलक पर कौन-सा अंक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34. On a standard dice, what number is on the face opposite to '2'?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पासा परीक्षण / Dice Opposite • प्र. #34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34. एक मानक पासे पर अंक '2' के विपरीत फलक पर कौन-सा अंक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34. On a standard dice, what number is on the face opposite to '2'?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मानक पासे के विपरीत फलकों का योग 7 होता है: 7 - 2 = 5।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दिशा और दूरी / Pythagoras • प्र. #35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35. एक बालक 6 मी उत्तर तथा 8 मी पूर्व में चलता है। प्रारंभिक स्थान से सीधी दूरी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35. A boy walks 6m North and 8m East. What is his straight distance from starting point?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10 मीटर / 10m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12 मीटर / 12m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14 मीटर / 14m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16 मीटर / 16m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दिशा और दूरी / Pythagoras • प्र. #35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35. एक बालक 6 मी उत्तर तथा 8 मी पूर्व में चलता है। प्रारंभिक स्थान से सीधी दूरी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35. A boy walks 6m North and 8m East. What is his straight distance from starting point?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10 मीटर / 10m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12 मीटर / 12m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14 मीटर / 14m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16 मीटर / 16m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√(6² + 8²) = √(36 + 64) = √100 = 10 मीटर।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Pointing Puzzle • प्र. #36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36. एक तस्वीर देखकर गीता ने कहा, 'यह मेरे दादाजी के इकलौते बेटे की बेटी है।' वह लड़की गीता की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36. Looking at a photo, Geeta said, 'She is the daughter of my grandfather's only son.' Who is she?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गीता स्वयं या उसकी बहन / Geeta herself or sister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माता / Mother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चाची / Aunt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भाभी / Sister-in-law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रक्त संबंध / Pointing Puzzle • प्र. #36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36. एक तस्वीर देखकर गीता ने कहा, 'यह मेरे दादाजी के इकलौते बेटे की बेटी है।' वह लड़की गीता की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36. Looking at a photo, Geeta said, 'She is the daughter of my grandfather's only son.' Who is she?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गीता स्वयं या उसकी बहन / Geeta herself or sister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माता / Mother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चाची / Aunt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भाभी / Sister-in-law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दादाजी का इकलौता बेटा = गीता के पिता। पिता की बेटी = गीता स्वयं अथवा उसकी बहन।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Venn Relation • प्र. #37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37. [ फर्नीचर, मेज, कुर्सी ] के लिए सर्वोत्तम वेन आरेख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37. Which Venn diagram best represents [ Furniture, Table, Chair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फर्नीचर में मेज व कुर्सी दोनों / Table &amp; Chair inside Furniture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तीनों अलग / Three separate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तीनों संकेंद्रीय / Concentric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दो कटे हुए / Overlapping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Venn Relation • प्र. #37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37. [ फर्नीचर, मेज, कुर्सी ] के लिए सर्वोत्तम वेन आरेख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37. Which Venn diagram best represents [ Furniture, Table, Chair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फर्नीचर में मेज व कुर्सी दोनों / Table &amp; Chair inside Furniture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तीनों अलग / Three separate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तीनों संकेंद्रीय / Concentric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दो कटे हुए / Overlapping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मेज और कुर्सी दोनों अलग वस्तुएं हैं, पर दोनों 'फर्नीचर' वर्ग में आती हैं।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दर्पण प्रतिबिम्ब / Mirror Reflection • प्र. #38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38. अक्षर 'M' का दर्पण प्रतिबिम्ब (Mirror Image) कैसा दिखेगा?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38. What does the mirror image of letter 'M' look like?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M (अपरिवर्तित / Unchanged)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दर्पण प्रतिबिम्ब / Mirror Reflection • प्र. #38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38. अक्षर 'M' का दर्पण प्रतिबिम्ब (Mirror Image) कैसा दिखेगा?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38. What does the mirror image of letter 'M' look like?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M (अपरिवर्तित / Unchanged)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अक्षर 'M' ऊर्ध्वाधर रूप से सममित (Vertically Symmetric) है, अतः दर्पण में 'M' ही दिखेगा।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क्रम व्यवस्था / Order Logic • प्र. #39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39. पांच मित्रों में P, Q से भारी है पर R से हल्का है। सबसे भारी R है। सबसे हल्का कौन है यदि S, T से भारी और P से हल्का हो?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39. Among 5 friends, R is heaviest. If R &gt; P &gt; S &gt; T and P &gt; Q, who is lightest?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क्रम व्यवस्था / Order Logic • प्र. #39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39. पांच मित्रों में P, Q से भारी है पर R से हल्का है। सबसे भारी R है। सबसे हल्का कौन है यदि S, T से भारी और P से हल्का हो?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39. Among 5 friends, R is heaviest. If R &gt; P &gt; S &gt; T and P &gt; Q, who is lightest?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क्रम के अंत में T सबसे हल्का होगा।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घड़ी एवं सुई / Clock Reflection • प्र. #40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40. दर्पण में देखने पर घड़ी में 9:00 बजे का समय क्या दिखाई देगा?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40. What time will a clock show in a mirror when the actual time is 9:00?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2:00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4:00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6:00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घड़ी एवं सुई / Clock Reflection • प्र. #40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40. दर्पण में देखने पर घड़ी में 9:00 बजे का समय क्या दिखाई देगा?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40. What time will a clock show in a mirror when the actual time is 9:00?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2:00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3:00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4:00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6:00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दर्पण समय = 12:00 - वास्तविक समय = 12:00 - 9:00 = 3:00।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Venn Geometry • प्र. #41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41. [ त्रिभुज, चतुर्भुज, बहुभुज ] का सही आरेख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41. Which diagram correctly represents [ Triangle, Quadrilateral, Polygon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बहुभुज में त्रिभुज व चतुर्भुज / Triangle &amp; Quad inside Polygon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तीन अलग / Three separate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तीनों संकेंद्रीय / Concentric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दो कटे हुए / Linked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वेन आरेख / Venn Geometry • प्र. #41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41. [ त्रिभुज, चतुर्भुज, बहुभुज ] का सही आरेख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41. Which diagram correctly represents [ Triangle, Quadrilateral, Polygon ]?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बहुभुज में त्रिभुज व चतुर्भुज / Triangle &amp; Quad inside Polygon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तीन अलग / Three separate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तीनों संकेंद्रीय / Concentric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दो कटे हुए / Linked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त्रिभुज (3 भुजा) और चतुर्भुज (4 भुजा) दोनों 'बहुभुज' (Polygon) के प्रकार हैं।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आकृति गणना / Count Squares • प्र. #42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42. एक 2×2 ग्रिड में कुल कितने वर्ग (Squares) होते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42. How many total squares are there in a 2×2 grid?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8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आकृति गणना / Count Squares • प्र. #42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42. एक 2×2 ग्रिड में कुल कितने वर्ग (Squares) होते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42. How many total squares are there in a 2×2 grid?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4 छोटे वर्ग (1×1) + 1 बड़ा वर्ग (2×2) = 1² + 2² = 1 + 4 = 5 वर्ग।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/ Classification • प्र. #43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43. दिए गए विकल्पों में से विषम संख्या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43. Choose the odd number from the options: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343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/ Classification • प्र. #43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43. दिए गए विकल्पों में से विषम संख्या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43. Choose the odd number from the options: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64 घन (4³) और वर्ग (8²) दोनों है, जबकि अन्य केवल पूर्ण घन हैं।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/ Classification • प्र. #44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44. निम्नलिखित में से विजातीय शब्द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44. Choose the odd word from the options: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तांबा / Copper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कांसा / Bronze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पीतल / Brass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स्टील / Steel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/ Classification • प्र. #44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44. निम्नलिखित में से विजातीय शब्द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44. Choose the odd word from the options: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तांबा / Copper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कांसा / Bronze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पीतल / Brass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स्टील / Steel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तांबा शुद्ध धातु (तत्व) है, जबकि कांसा, पीतल और स्टील मिश्रधातुएं (Alloys) हैं।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/ Classification • प्र. #45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45. विषम का चयन कीजिए: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45. Select the odd one: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गाजर / Carrot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मूली / Radish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आलू / Potato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शलजम / Turnip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/ Classification • प्र. #45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45. विषम का चयन कीजिए: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45. Select the odd one: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गाजर / Carrot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मूली / Radish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आलू / Potato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शलजम / Turnip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गाजर, मूली और शलजम जड़ें (Roots) हैं, जबकि आलू भूमिगत तना (Tuber/Stem) है।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/ Classification • प्र. #46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46. विषम संख्या युग्म ज्ञात कीजिए: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46. Find the odd number pair: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14 - 28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16 - 32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18 - 36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20 - 45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/ Classification • प्र. #46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46. विषम संख्या युग्म ज्ञात कीजिए: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46. Find the odd number pair: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14 - 28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16 - 32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18 - 36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20 - 45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अन्य सभी में दूसरी संख्या पहली का दोगुना (×2) है, जबकि 20 × 2 = 40 ≠ 45।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/ Classification • प्र. #47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47. अक्षर समूहों में से विषम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47. Choose the odd letter group: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CEG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IKM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OQS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PRT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वर्गीकरण / Classification • प्र. #47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47. अक्षर समूहों में से विषम चुनिए: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47. Choose the odd letter group: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CEG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IKM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OQS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(D)  PRT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(D)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CEG, IKM, OQS में स्वर से शुरुआत या विषम स्थान हैं; PRT सम वर्णमाला स्थानों (16, 18, 20) का समूह है।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#48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48. विद्युत धारा : एम्पीयर : : विभवांतर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48. Current : Ampere : : Potential Difference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वाट / Watt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वोल्ट / Volt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ओम / Ohm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जूल / Joule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#48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48. विद्युत धारा : एम्पीयर : : विभवांतर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48. Current : Ampere : : Potential Difference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वाट / Watt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वोल्ट / Volt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ओम / Ohm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जूल / Joule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धारा का मात्रक एम्पीयर है, विभवांतर का मात्रक वोल्ट (Volt) है।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#49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49. प्रतिरोध : ओम : : शक्ति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49. Resistance : Ohm : : Power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वाट / Watt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जूल / Joule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न्यूटन / Newton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पास्कल / Pascal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#49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49. प्रतिरोध : ओम : : शक्ति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49. Resistance : Ohm : : Power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वाट / Watt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जूल / Joule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न्यूटन / Newton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पास्कल / Pascal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प्रतिरोध का मात्रक ओम (Ω) तथा विद्युत शक्ति का मात्रक वाट (W) है।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#50  [MAT सेट 04]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50. कलम : लेखक : : कुल्हाड़ी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50. Pen : Writer : : Axe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बढ़ई / Carpenter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लकड़हारा / Woodcutter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दर्जी / Tailor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कवि / Poet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मानसिक योग्यता (MAT) • सादृश्यता / Analogy • प्र. #50  [MAT सेट 04]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50. कलम : लेखक : : कुल्हाड़ी : 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50. Pen : Writer : : Axe :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बढ़ई / Carpenter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लकड़हारा / Woodcutter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दर्जी / Tailor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कवि / Poet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कलम लेखक का औजार है, कुल्हाड़ी लकड़हारे का औजार है।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UP NMMS MAT अभ्यास सेट #04 — सफलता का संकल्प एवं संपर्क सूत्र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48495" cy="475488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defRPr sz="2200" b="1">
                <a:solidFill>
                  <a:srgbClr val="D97706"/>
                </a:solidFill>
                <a:latin typeface="Segoe UI"/>
              </a:defRPr>
            </a:pPr>
            <a:r>
              <a:t>🏆 आपकी सफलता ही हमारा संकल्प है! 🏆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10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उत्तर प्रदेश NMMS छात्रवृत्ति परीक्षा (₹48,000) में चयनित होने वाले सभी भावी मेधावियों को अग्रिम शुभकामनाएं!</a:t>
            </a:r>
          </a:p>
          <a:p>
            <a:pPr algn="ctr">
              <a:spcBef>
                <a:spcPts val="500"/>
              </a:spcBef>
              <a:defRPr sz="1300">
                <a:solidFill>
                  <a:srgbClr val="D97706"/>
                </a:solidFill>
                <a:latin typeface="Segoe UI"/>
              </a:defRPr>
            </a:pPr>
            <a:r>
              <a:t>•  📱 WhatsApp हेल्पलाइन: +91 91101 13671 (सागर सर)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🌐 आधिकारिक वेबसाइट: sagarcoaching.tech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🎥 YouTube चैनल: Sagar Coaching Centre (Free Classes)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📍 पता / Centre Address: भगवानपुर, सुपौल, बिहार - 852109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