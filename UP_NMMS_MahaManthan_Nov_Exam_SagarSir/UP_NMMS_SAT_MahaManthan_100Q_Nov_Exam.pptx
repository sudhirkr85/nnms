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 एवं योग्यता आधारित छात्रवृत्ति परीक्षा (UP NMMS 2024-25) • महामंथन मैराथन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5943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47088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423160"/>
            <a:ext cx="6339535" cy="457200"/>
          </a:xfrm>
          <a:prstGeom prst="roundRect">
            <a:avLst/>
          </a:prstGeom>
          <a:solidFill>
            <a:srgbClr val="4338C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🔥 UP NMMS नवम्बर परीक्षा 2024-25 महामंथन (Bilingual) 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शैक्षिक योग्यता परीक्षण (SAT) 100 प्रश्न महा मैराथन</a:t>
            </a:r>
          </a:p>
          <a:p>
            <a:pPr algn="ctr">
              <a:spcBef>
                <a:spcPts val="400"/>
              </a:spcBef>
              <a:defRPr sz="1400">
                <a:solidFill>
                  <a:srgbClr val="CBD5E1"/>
                </a:solidFill>
                <a:latin typeface="Segoe UI"/>
              </a:defRPr>
            </a:pPr>
            <a:r>
              <a:t>Science (40Q) + Social Studies (40Q) + Mathematics (20Q) • Hindi &amp; 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14800"/>
            <a:ext cx="9448495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350" b="1">
                <a:solidFill>
                  <a:srgbClr val="D97706"/>
                </a:solidFill>
                <a:latin typeface="Segoe UI"/>
              </a:defRPr>
            </a:pPr>
            <a:r>
              <a:t>🎯 इस महामंथन मैराथन की मुख्य विशेषताएं (Live Class Highlights):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विज्ञान / Science: भौतिकी (14Q), रसायन (13Q), जीव विज्ञान (13Q)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सामाजिक अध्ययन / SST: इतिहास (15Q), भूगोल (15Q), नागरिक शास्त्र (10Q)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गणित / Mathematics: अंकगणित, बीजगणित, रेखागणित, क्षेत्रमिति एवं सांख्यिकी (20Q)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उत्तर प्रदेश विशेष: दुधवा पार्क, नरोरा संयंत्र, 1857 केंद्र, प्रयागराज संगम (द्विभाषी)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Expert)  |  WhatsApp: +91 91101 13671  |  YouTube: Sagar Coaching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UP NMMS SAT महामंथन — परीक्षा पैटर्न एवं लाइव क्लास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उत्तर प्रदेश NMMS SAT (शैक्षिक योग्यता) परीक्षा योजना (Official Guidelines):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परीक्षा संरचना: शैक्षिक योग्यता परीक्षण (SAT) में कुल 90 प्रश्न होते हैं (विज्ञान 35, सामाजिक विज्ञान 35, गणित 20)।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इस महामंथन क्लास में UP SCERT कक्षा 7 व 8 बेसिक शिक्षा परिषद् के पूरे पाठ्यक्रम से 100 अति-महत्वपूर्ण प्रश्न शामिल हैं।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विषय विभाजन: विज्ञान = 40 प्रश्न (भौतिक, रसायन, जीव) | सामाजिक विज्ञान = 40 प्रश्न (इतिहास, भूगोल, नागरिक) | गणित = 20 प्रश्न।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उत्तर प्रदेश विशेष: दुधवा राष्ट्रीय उद्यान, नरोरा परमाणु संयंत्र, 1857 क्रांति के यूपी केंद्र, चौरी-चौरा, काकोरी आदि विशेष प्रश्न शामिल हैं।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2-स्लाइड पद्धति: छात्र पहले प्रश्न देखकर विचार करेंगे, फिर अगली स्लाइड पर संपूर्ण व्याख्या व सूत्र समझेंगे।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लक्ष्य: SAT में 90 में से 85+ अंक लाकर ₹48,000 की राष्ट्रीय छात्रवृत्ति पक्की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SI पद्धति में मूल मात्रक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1. What is the SI unit of Speed?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किमी/घंटा /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मीटर/सेकंड /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मीटर × सेकंड / m·s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सेंटीमीटर/मिनट / cm/min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SI पद्धति में मूल मात्रक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1. What is the SI unit of Speed?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किमी/घंटा /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मीटर/सेकंड /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मीटर × सेकंड / m·s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सेंटीमीटर/मिनट / cm/min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चाल = दूरी ÷ समय। दूरी का SI मात्रक 'मीटर' और समय का 'सेकंड' है, अतः चाल का SI मात्रक m/s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में पीछे का दृश्य (Rear View) देखने के लिए किस दर्पण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2. Which mirror is used as a rear-view mirror in vehicles?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 / Plane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उत्तल दर्पण / Convex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परवलयाकार दर्पण / Parabolic Mirror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में पीछे का दृश्य (Rear View) देखने के लिए किस दर्पण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2. Which mirror is used as a rear-view mirror in vehicles?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 / Plane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उत्तल दर्पण / Convex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परवलयाकार दर्पण / Parabolic Mirror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उत्तल दर्पण (Convex Mirror) सदैव सीधा और छोटा प्रतिबिम्ब बनाता है और इसका दृष्टि-क्षेत्र बहुत विस्तृत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3. दांतों के डॉक्टर (Dentist) मरीजों के दांतों का बड़ा प्रतिबिम्ब देखने के लिए किस दर्पण का उपयोग करते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3. Which mirror is used by dentists to see an enlarged image of teeth?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 / Convex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 / Plane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 / Convex Lens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3. दांतों के डॉक्टर (Dentist) मरीजों के दांतों का बड़ा प्रतिबिम्ब देखने के लिए किस दर्पण का उपयोग करते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3. Which mirror is used by dentists to see an enlarged image of teeth?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 / Convex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 / Plane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 / Convex Lens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अवतल दर्पण (Concave Mirror) ध्रुव और फोकस के बीच रखी वस्तु का सीधा और आवर्धित (बड़ा) प्रतिबिम्ब बनाता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4. मानव कान के लिए सामान्य श्रव्य ध्वनि (Audible Sound) की आवृत्ति सीमा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4. What is the audible frequency range of sound for human 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20 Hz से 20,000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20 Hz से कम / Below 20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 / Above 20,000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10 Hz से 10,000 Hz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4. मानव कान के लिए सामान्य श्रव्य ध्वनि (Audible Sound) की आवृत्ति सीमा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4. What is the audible frequency range of sound for human 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20 Hz से 20,000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20 Hz से कम / Below 20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 / Above 20,000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10 Hz से 10,000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मानव कान 20 Hz से 20,000 Hz तक की आवृत्ति सुन सकता है। 20 Hz से कम अपश्रव्य और 20,000 Hz से अधिक पराश्रव्य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5. ऊष्मा संचरण की किस विधि में किसी माध्यम (Medium) की आवश्यकता नहीं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5. In which mode of heat transfer is no medium required?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चालन / Conduction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संवहन / Convection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विकिरण / Radiation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वाष्पीकरण / Evaporation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5. ऊष्मा संचरण की किस विधि में किसी माध्यम (Medium) की आवश्यकता नहीं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5. In which mode of heat transfer is no medium required?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चालन / Conduction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संवहन / Convection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विकिरण / Radiation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वाष्पीकरण / Evaporation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विकिरण (Radiation) विद्युत चुम्बकीय तरंगों के रूप में गमन करती है और इसके लिए किसी भौतिक माध्यम की आवश्यकता नहीं होती।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वायुमंडलीय दाब (Atmospheric Pressure) मापने वाले यंत्र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6. What is the instrument used to measure atmospheric pressure called?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थर्मामीटर / Thermometer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बैरोमीटर / Barometer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मैनोमीटर / Manometer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अमीटर / Ammeter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वायुमंडलीय दाब (Atmospheric Pressure) मापने वाले यंत्र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6. What is the instrument used to measure atmospheric pressure called?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थर्मामीटर / Thermometer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बैरोमीटर / Barometer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मैनोमीटर / Manometer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अमीटर / Ammeter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बैरोमीटर (Barometer) का उपयोग वायुमंडलीय दाब मापने हेतु किया जाता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धारा (Electric Current) मापने के लिए परिपथ में किस उपकरण को श्रेणीक्रम में जोड़ा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7. Which device is connected in series in a circuit to measure electric current?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वोल्टमीटर / Voltmeter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अमीटर / Ammeter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गैल्वेनोमीटर / Galvanometer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प्रतिरोधक / Resistor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धारा (Electric Current) मापने के लिए परिपथ में किस उपकरण को श्रेणीक्रम में जोड़ा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7. Which device is connected in series in a circuit to measure electric current?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वोल्टमीटर / Voltmeter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अमीटर / Ammeter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गैल्वेनोमीटर / Galvanometer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प्रतिरोधक / Resistor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अमीटर (Ammeter) विद्युत धारा को एम्पीयर में मापता है और इसे परिपथ में सदैव श्रेणीक्रम (Series) में लगाया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8. प्रकाश का किसी चमकदार तल से टकराकर उसी माध्यम में वापस लौटने की घटना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8. The bouncing back of light into the same medium after hitting a surface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अपवर्तन / Refraction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प्रकाश का परावर्तन / Reflection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वर्ण विक्षेपण / Dispersion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8. प्रकाश का किसी चमकदार तल से टकराकर उसी माध्यम में वापस लौटने की घटना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8. The bouncing back of light into the same medium after hitting a surface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प्रकाश का अपवर्तन / Refraction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प्रकाश का परावर्तन / Reflection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वर्ण विक्षेपण / Dispersion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प्रकाश की किरण का किसी पॉलिशदार सतह से टकराकर लौटना 'प्रकाश का परावर्तन (Reflection)' कहलाता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9. निर्वात (Vacuum) में प्रकाश की चाल कितनी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9. What is the speed of light in vacuum?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 × 10⁸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 × 10⁵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332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 × 10⁶ m/s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9. निर्वात (Vacuum) में प्रकाश की चाल कितनी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9. What is the speed of light in vacuum?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3 × 10⁸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3 × 10⁵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332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 × 10⁶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निर्वात में प्रकाश की चाल 3 × 10⁸ मीटर/सेकंड (3 लाख किमी प्रति सेकंड) होती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10. स्वस्थ मानव शरीर का सामान्य तापमान सेल्सियस और फारेनहाइट पैमाने पर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10. What is the normal temperature of a healthy human body in Celsius and Fahrenheit?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37°C और 98.6°F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35°C और 96.8°F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38°C और 100°F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40°C और 104°F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10. स्वस्थ मानव शरीर का सामान्य तापमान सेल्सियस और फारेनहाइट पैमाने पर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10. What is the normal temperature of a healthy human body in Celsius and Fahrenheit?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37°C और 98.6°F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35°C और 96.8°F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38°C और 100°F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40°C और 104°F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मानव शरीर का सामान्य तापमान 37°C अथवा 98.6°F (310 K)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11. बल (Force) और क्षेत्रफल (Area) के अनुपात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11. The ratio of Force to Area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कार्य /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ऊर्जा / Energy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दाब / Pressure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शक्ति / Power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11. बल (Force) और क्षेत्रफल (Area) के अनुपात को क्या कहते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11. The ratio of Force to Area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कार्य /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ऊर्जा / Energy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दाब / Pressure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शक्ति / Power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दाब = बल ÷ क्षेत्रफल (Pressure = Force / Area)। इसका मात्रक पास्कल ($N/m^2$)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12. घर्षण बल (Friction Force) के संदर्भ में कौन-सा कथन सत्य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12. Which statement is true regarding friction force?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यह गति की दिशा में कार्य करता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यह गति की विपरीत दिशा में कार्य करता है / Opposes 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यह गति को तेज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यह केवल द्रवों में लगता है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12. घर्षण बल (Friction Force) के संदर्भ में कौन-सा कथन सत्य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12. Which statement is true regarding friction force?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यह गति की दिशा में कार्य करता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यह गति की विपरीत दिशा में कार्य करता है / Opposes 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यह गति को तेज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यह केवल द्रवों में लगता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घर्षण बल दो संपर्क सतहों के बीच होने वाली आपेक्षिक गति का विरोध करता है और गति की विपरीत दिशा में कार्य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चुम्बक (Electromagnet) बनाने के लिए किस प्रकार के लोहे की क्रोड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13. Which type of iron core is used to make an electromagnet?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ढलवा लोहा / Cast Iron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नरम लोहा / Soft Iron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स्टील / Steel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पिटवा लोहा / Wrought Iron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चुम्बक (Electromagnet) बनाने के लिए किस प्रकार के लोहे की क्रोड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13. Which type of iron core is used to make an electromagnet?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ढलवा लोहा / Cast Iron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नरम लोहा / Soft Iron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स्टील / Steel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पिटवा लोहा / Wrought Iron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नरम लोहे (Soft Iron) की चुम्बकशीलता अधिक होती है जिससे यह धारा प्रवाहित होते ही शक्तिशाली चुम्बक बन जाता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14. तारों का टिमटिमाना (Twinkling of Stars) प्रकाश की किस परिघटना का परिणाम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14. Twinkling of stars is a phenomenon caused by: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परावर्तन / Reflection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वायुमंडलीय अपवर्तन / Atmospheric Refraction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पूर्ण आंतरिक परावर्तन / TIR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14. तारों का टिमटिमाना (Twinkling of Stars) प्रकाश की किस परिघटना का परिणाम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14. Twinkling of stars is a phenomenon caused by: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प्रकाश का परावर्तन / Reflection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वायुमंडलीय अपवर्तन / Atmospheric Refraction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पूर्ण आंतरिक परावर्तन / TIR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वायुमंडल की बदलती परतों के अपवर्तनांक के कारण प्रकाश लगातार अपवर्तित होता है, जिससे तारे टिमटिमाते दिखाई देते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15. अम्ल (Acids) नीले लिटमस पत्र को किस रंग में बदल देते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15. Acids turn blue litmus paper into which color?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हरा / Green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लाल / 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पीला / Yellow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रंगहीन / Colorless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15. अम्ल (Acids) नीले लिटमस पत्र को किस रंग में बदल देते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15. Acids turn blue litmus paper into which color?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हरा / Green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लाल / 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पीला / Yellow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रंगहीन / Colorless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अम्ल नीले लिटमस को लाल कर देते हैं, जबकि क्षार लाल लिटमस को नीला कर देते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16. शुद्ध जल का pH मान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16. What is the pH value of pure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 (उदासीन / Neutral)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16. शुद्ध जल का pH मान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16. What is the pH value of pure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7 (उदासीन / Neutral)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शुद्ध जल उदासीन (Neutral) होता है और इसका pH मान ठीक 7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17. कमरे के सामान्य तापमान पर द्रव अवस्था में पाई जाने वाली एकमात्र धातु कौन-सी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17. Which is the only metal found in liquid state at room temperature?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सोना / Gold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पारा (मरकरी - Hg) / Mercury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सोडियम / Sodium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लोहा / Iron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17. कमरे के सामान्य तापमान पर द्रव अवस्था में पाई जाने वाली एकमात्र धातु कौन-सी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17. Which is the only metal found in liquid state at room temperature?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सोना / Gold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पारा (मरकरी - Hg) / Mercury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सोडियम / Sodium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लोहा / Iron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पारा (Mercury, Hg) एकमात्र धातु है जो कमरे के सामान्य तापमान (25°C) पर द्रव अवस्था में रहती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18. लोहे पर जंग लगना (Rusting of Iron) किस प्रकार का परिवर्तन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18. Rusting of iron is which type of change?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भौतिक परिवर्तन / Physical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रासायनिक परिवर्तन / Chemical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उत्क्रमणीय / Reversible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सामयिक / Periodic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18. लोहे पर जंग लगना (Rusting of Iron) किस प्रकार का परिवर्तन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18. Rusting of iron is which type of change?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भौतिक परिवर्तन / Physical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रासायनिक परिवर्तन / Chemical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उत्क्रमणीय / Reversible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सामयिक / Periodic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लोहा ऑक्सीजन व नमी से क्रिया कर नया पदार्थ आयरन ऑक्साइड बनाता है, अतः यह रासायनिक परिवर्तन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19. अग्निशामक यंत्रों (Fire Extinguishers) में आग बुझाने के लिए मुख्य रूप से कौन-सी गैस प्रयुक्त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19. Which gas is mainly used in fire extinguishers to put out fire?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ऑक्सीजन /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 /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/ N₂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19. अग्निशामक यंत्रों (Fire Extinguishers) में आग बुझाने के लिए मुख्य रूप से कौन-सी गैस प्रयुक्त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19. Which gas is mainly used in fire extinguishers to put out fire?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ऑक्सीजन /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कार्बन डाइऑक्साइड /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/ N₂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कार्बन डाइऑक्साइड (CO₂) ऑक्सीजन की आपूर्ति काटकर आग बुझा देती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20. रसोई गैस सिलेंडरों (LPG) में मुख्य रूप से कौन-सी गैसें भरी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20. Which gases are primarily present in LPG cylinders?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मीथेन व एथेन / Methane &amp; Ethane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ब्यूटेन व प्रोपेन / Butane &amp; Propane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कार्बन मोनोक्साइड / 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20. रसोई गैस सिलेंडरों (LPG) में मुख्य रूप से कौन-सी गैसें भरी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20. Which gases are primarily present in LPG cylinders?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मीथेन व एथेन / Methane &amp; Ethane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ब्यूटेन व प्रोपेन / Butane &amp; Propane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कार्बन मोनोक्साइड / 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LPG में मुख्य घटक ब्यूटेन (Butane) और प्रोपेन (Propane) गैस होती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21. प्राकृतिक रेशम (Silk) किससे प्राप्त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21. Natural silk is obtained from: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भेड़ के बाल से / Sheep wool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रेशम कीट के कोकून से / Silkworm Cocoon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कपास के पौधे से / Cotton plant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पटसन से / Jute stem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21. प्राकृतिक रेशम (Silk) किससे प्राप्त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21. Natural silk is obtained from: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भेड़ के बाल से / Sheep wool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रेशम कीट के कोकून से / Silkworm Cocoon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कपास के पौधे से / Cotton plant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पटसन से / Jute 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रेशम कीट (Bombyx mori) के कोकून (Cocoon) से प्राकृतिक रेशम के धागे प्राप्त किए जाते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22. लोहे को जंग से बचाने के लिए उस पर जस्ते (Zinc) की परत चढ़ाने की क्रिया क्या कहलाती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22. The process of coating iron with a layer of zinc to prevent rusting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विद्युत अपघटन / Electrolysis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यशदलेपन / Galvanization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क्रिस्टलीकरण / Crystallization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22. लोहे को जंग से बचाने के लिए उस पर जस्ते (Zinc) की परत चढ़ाने की क्रिया क्या कहलाती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22. The process of coating iron with a layer of zinc to prevent rusting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विद्युत अपघटन / Electrolysis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यशदलेपन / Galvanization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क्रिस्टलीकरण / Crystallization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लोहे पर जस्ते की परत चढ़ाना यशदलेपन या गैल्वेनीकरण (Galvanization) कहलाता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23. धातुओं को पीटकर पतली चादर में बदलने के गुण को क्या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23. The property of metals to be beaten into thin sheets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तन्यता / Ductility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आघातवर्धनीयता / Malleability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ध्वानिक / Sonorous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चालकता / Conductivity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23. धातुओं को पीटकर पतली चादर में बदलने के गुण को क्या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23. The property of metals to be beaten into thin sheets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तन्यता / Ductility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आघातवर्धनीयता / Malleability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ध्वानिक / Sonorous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चालकता / Conductivity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आघातवर्धनीयता (Malleability) धातुओं का चादर बनने का गुण है। तार खींचने के गुण को तन्यता (Ductility) कहते हैं।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24. जल का रासायनिक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24. What is the chemical formula of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H₂O₂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CO₂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NaCl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24. जल का रासायनिक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24. What is the chemical formula of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H₂O₂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CO₂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NaCl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जल का रासायनिक सूत्र H₂O है, जिसमें हाइड्रोजन और ऑक्सीजन 2:1 के अनुपात में जुड़े होते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25. साधारण नमक का रासायनिक नाम और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25. What is the chemical name and formula of common salt?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सोडियम क्लोराइड (NaCl) / Sodium Chloride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सोडियम बाइकार्बोनेट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कैल्शियम कार्बोनेट (CaCO₃)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सोडियम हाइड्रोक्साइड (NaOH)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25. साधारण नमक का रासायनिक नाम और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25. What is the chemical name and formula of common salt?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सोडियम क्लोराइड (NaCl) / Sodium Chloride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सोडियम बाइकार्बोनेट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कैल्शियम कार्बोनेट (CaCO₃)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सोडियम हाइड्रोक्साइड (NaOH)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साधारण खाने के नमक का रासायनिक नाम सोडियम क्लोराइड (NaCl)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26. अम्ल और क्षार की क्रिया से लवण और जल बनने की अभिक्रिया क्या कहलाती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26. The reaction between an acid and a base to form salt and water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ऑक्सीकरण / Oxidation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अपचयन /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संयोजन / Combination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26. अम्ल और क्षार की क्रिया से लवण और जल बनने की अभिक्रिया क्या कहलाती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26. The reaction between an acid and a base to form salt and water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ऑक्सीकरण / Oxidation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अपचयन /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संयोजन / Combination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अम्ल + क्षार → लवण + जल + ऊष्मा। इसे उदासीनीकरण अभिक्रिया (Neutralization) कहते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27. बिजली के स्विच और प्लग बनाने के लिए किस थर्मोसेटिंग प्लास्टिक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27. Which thermosetting plastic is used to make electrical switches and plugs?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पॉलीथीन / Polythene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पीवीसी /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बैकेलाइट / Bakelite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नायलॉन / Nylon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27. बिजली के स्विच और प्लग बनाने के लिए किस थर्मोसेटिंग प्लास्टिक का उपयोग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27. Which thermosetting plastic is used to make electrical switches and plugs?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पॉलीथीन / Polythene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पीवीसी /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बैकेलाइट / Bakelite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नायलॉन / Nylon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बैकेलाइट (Bakelite) विद्युत व ऊष्मा का कुचालक थर्मोसेटिंग प्लास्टिक है, अतः स्विच बनाने में प्रयुक्त होता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28. कोशिका का 'पावर हाउस' (Powerhouse of the Cell) किसे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28. Which organelle is called the 'Powerhouse of the Cell'?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राइबोसोम / Ribosome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माइटोकॉन्ड्रिया / Mitochondria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गॉल्जीकाय / Golgi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लाइसोसोम / Lysosome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28. कोशिका का 'पावर हाउस' (Powerhouse of the Cell) किसे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28. Which organelle is called the 'Powerhouse of the Cell'?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राइबोसोम / Ribosome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माइटोकॉन्ड्रिया / Mitochondria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गॉल्जीकाय / Golgi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लाइसोसोम / Lysosome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माइटोकॉन्ड्रिया में कोशिकीय श्वसन द्वारा ऊर्जा ATP के रूप में संचित होती है, इसलिए इसे पावरहाउस कहते हैं।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29. पौधों की पत्तियों का हरा रंग किस वर्णक (Pigment) के कारण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29. The green color of plant leaves is due to which pigment?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हीमोग्लोबिन / Hemoglobin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क्लोरोफिल (पर्णहरित) / Chlorophyll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कैरोटीन / Carotene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एंथोसायनिन / Anthocyanin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29. पौधों की पत्तियों का हरा रंग किस वर्णक (Pigment) के कारण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29. The green color of plant leaves is due to which pigment?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हीमोग्लोबिन / Hemoglobin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क्लोरोफिल (पर्णहरित) / Chlorophyll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कैरोटीन / Carotene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एंथोसायनिन / Anthocyanin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पत्तियों में क्लोरोफिल वर्णक पाया जाता है जो सूर्य के प्रकाश को अवशोषित करता है और हरा रंग प्रदान करता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30. रक्त में ऑक्सीजन का परिवहन करने वाला लाल वर्णक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30. Which red pigment in blood is responsible for transporting oxygen?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/ Hemoglobin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30. रक्त में ऑक्सीजन का परिवहन करने वाला लाल वर्णक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30. Which red pigment in blood is responsible for transporting oxygen?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/ Hemoglobin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RBC में उपस्थित हीमोग्लोबिन ऑक्सीजन से जुड़कर ऑक्सीहीमोग्लोबिन बनाकर शरीर में संचरित करता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31. दूध को दही में बदलने वाले जीवाणु (Bacteria) का क्या नाम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31. What is the name of the bacteria that converts milk into curd?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राइजोबियम / Rhizobium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 / Lactobacillus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ई-कोलाई / E. Coli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यीस्ट / Yeast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31. दूध को दही में बदलने वाले जीवाणु (Bacteria) का क्या नाम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31. What is the name of the bacteria that converts milk into curd?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राइजोबियम / Rhizobium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 / Lactobacillus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ई-कोलाई / E. Coli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यीस्ट / Yeast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लैक्टोबैसिलस जीवाणु दूध की शर्करा को लैक्टिक अम्ल में बदलकर दूध को दही में जमा देता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बड़ी ग्रंथि (Largest Gland) कौन-सी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32. Which is the largest gland in the human body?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अग्न्याशय / Pancreas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यकृत (लिवर) / Liver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थायरॉयड / Thyroid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पीयूष / Pituitary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बड़ी ग्रंथि (Largest Gland) कौन-सी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32. Which is the largest gland in the human body?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अग्न्याशय / Pancreas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यकृत (लिवर) / Liver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थायरॉयड / Thyroid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पीयूष / Pituitary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यकृत (Liver) मानव शरीर की सबसे बड़ी पाचक ग्रंथि है (भार लगभग 1.5 किग्रा)।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33. पौधों में जड़ों द्वारा अवशोषित जल एवं खनिजों का संवहन किस ऊतक द्वारा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33. Which tissue transports water and minerals absorbed by roots in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जाइलम / Xylem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फ्लोएम / Phloem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मृदूतक / Parenchyma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दृढ़ोतक / Sclerenchyma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33. पौधों में जड़ों द्वारा अवशोषित जल एवं खनिजों का संवहन किस ऊतक द्वारा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33. Which tissue transports water and minerals absorbed by roots in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जाइलम / Xylem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फ्लोएम / Phloem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मृदूतक / Parenchyma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दृढ़ोतक / Sclerenchyma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जाइलम (Xylem) जल का संवहन करता है, जबकि फ्लोएम (Phloem) भोजन का संवहन करता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34. मलेरिया रोग का वाहक कौन-सा कीट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34. Which insect is the vector of malaria disease?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मादा एडीज / Female Aedes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मादा एनोफेलीज / Female Anopheles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 / Housefly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खटमल / Bedbug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34. मलेरिया रोग का वाहक कौन-सा कीट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34. Which insect is the vector of malaria disease?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मादा एडीज / Female Aedes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मादा एनोफेलीज / Female Anopheles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 / Housefly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खटमल / Bedbug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मादा एनोफेलीज मच्छर प्लाज्मोडियम परजीवी को फैलाकर मलेरिया रोग उत्पन्न करती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35. प्रकाश संश्लेषण क्रिया में पौधे कौन-सी गैस ग्रहण करते हैं और कौन-सी छोड़ते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35. In photosynthesis, plants take in which gas and release which gas?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CO₂ ग्रहण, O₂ विमुक्त / In CO₂, Out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O₂ ग्रहण, CO₂ विमुक्त / In O₂, Out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ग्रहण / Nitrogen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केवल जलवाष्प / Water vapor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35. प्रकाश संश्लेषण क्रिया में पौधे कौन-सी गैस ग्रहण करते हैं और कौन-सी छोड़ते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35. In photosynthesis, plants take in which gas and release which gas?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CO₂ ग्रहण, O₂ विमुक्त / In CO₂, Out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O₂ ग्रहण, CO₂ विमुक्त / In O₂, Out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ग्रहण / Nitrogen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केवल जलवाष्प / Water vapor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पौधे CO₂ और जल से भोजन बनाते हैं तथा प्राणवायु ऑक्सीजन ($O_2$) विमुक्त करते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36. दलहनी फसलों की जड़ों की ग्रंथियों में नाइट्रोजन स्थिरीकरण करने वाला जीवाणु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36. Which nitrogen-fixing bacteria lives in root nodules of leguminous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 / Lactobacillus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राइजोबियम / Rhizobium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यीस्ट / Yeast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अमीबा / Amoeba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36. दलहनी फसलों की जड़ों की ग्रंथियों में नाइट्रोजन स्थिरीकरण करने वाला जीवाणु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36. Which nitrogen-fixing bacteria lives in root nodules of leguminous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 / Lactobacillus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 / Rhizobium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यीस्ट / Yeast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अमीबा / Amoeba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राइजोबियम (Rhizobium) दलहनी पौधों की जड़ों में रहकर वायुमंडलीय नाइट्रोजन को नाइट्रेट में बदलता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37. रक्त का थक्का (Blood Clotting) जमाने में कौन-सी रुधिर कणिकाएं सहायक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37. Which blood cells help in blood clotting?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रक्त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37. रक्त का थक्का (Blood Clotting) जमाने में कौन-सी रुधिर कणिकाएं सहायक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37. Which blood cells help in blood clotting?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रक्त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रक्त प्लेटलेट्स (Thrombocytes) चोट लगने पर रक्त का थक्का जमाकर रक्तस्राव रोकती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38. रिकेट्स (सूखा रोग) किस विटामिन की कमी के कारण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38. Rickets is caused by the deficiency of which vitamin?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विटामिन A / Vitamin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विटामिन B / Vitamin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विटामिन C / Vitamin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विटामिन D / Vitamin 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38. रिकेट्स (सूखा रोग) किस विटामिन की कमी के कारण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38. Rickets is caused by the deficiency of which vitamin?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विटामिन A / Vitamin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विटामिन B / Vitamin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विटामिन C / Vitamin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(D)  विटामिन D / Vitamin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(D)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विटामिन D की कमी से हड्डियों का रोग रिकेट्स होता है। सूर्य का प्रकाश इसका प्राकृतिक स्रोत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39. संकटापन्न एवं विलुप्त प्रजातियों का रिकॉर्ड किस पुस्तक में रखा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39. The record of endangered and extinct species is maintained in which book?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रेड डाटा बुक / Red Data 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ग्रीन बुक / Green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ब्लू बुक / Blue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येलो बुक / Yellow Book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39. संकटापन्न एवं विलुप्त प्रजातियों का रिकॉर्ड किस पुस्तक में रखा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39. The record of endangered and extinct species is maintained in which book?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रेड डाटा बुक / Red Data 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ग्रीन बुक / Green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ब्लू बुक / Blue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येलो बुक / Yellow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IUCN द्वारा संकटग्रस्त जीवों की सूची 'रेड डाटा बुक (Red Data Book)' में दर्ज की जाती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#40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40. अमीबा किस संरचना द्वारा अपना भोजन ग्रहण करता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40. By which structure does Amoeba capture its food?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पादाभ / Pseudopodia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मुख / Mouth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स्पर्शक / Tentacles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क्लोरोफिल / Chlorophyll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#40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40. अमीबा किस संरचना द्वारा अपना भोजन ग्रहण करता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40. By which structure does Amoeba capture its food?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पादाभ / Pseudopodia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मुख / Mouth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स्पर्शक / Tentacles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क्लोरोफिल / Chlorophyll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अमीबा अपने कूटपाद या पादाभ (Pseudopodia) द्वारा भोजन घेरकर खाद्य धानी में ग्रहण करता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41. 1857 की ऐतिहासिक क्रांति की शुरुआत उत्तर प्रदेश के किस नगर से हुई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41. The historic Revolt of 1857 started from which city of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झांसी / Jhansi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मेरठ (10 मई 1857) / Meerut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लखनऊ / Lucknow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कानपुर / Kanpur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41. 1857 की ऐतिहासिक क्रांति की शुरुआत उत्तर प्रदेश के किस नगर से हुई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41. The historic Revolt of 1857 started from which city of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झांसी / Jhansi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मेरठ (10 मई 1857) / Meerut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लखनऊ / Lucknow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कानपुर / Kanpur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10 मई 1857 को उत्तर प्रदेश के मेरठ छावनी से प्रथम स्वतंत्रता संग्राम का औपचारिक बिगुल फूंका गया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42. 1857 के संग्राम में लखनऊ (अवध) से विद्रोह का नेतृत्व किसने किया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42. Who led the 1857 revolt from Lucknow (Awadh)?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रानी लक्ष्मीबाई / Rani Laxmibai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बेगम हज़रत महल / Begum Hazrat Mahal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नाना साहेब / Nana Saheb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कुँवर सिंह / Kunwar Singh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42. 1857 के संग्राम में लखनऊ (अवध) से विद्रोह का नेतृत्व किसने किया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42. Who led the 1857 revolt from Lucknow (Awadh)?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रानी लक्ष्मीबाई / Rani Laxmibai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बेगम हज़रत महल / Begum Hazrat Mahal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नाना साहेब / Nana Saheb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कुँवर सिंह / Kunwar Singh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लखनऊ में क्रांति का नेतृत्व बेगम हज़रत महल ने अपने अल्पवयस्क पुत्र बिरजिस कादिर के साथ किया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43. दिल्ली सल्तनत में 'गुलाम वंश' (Slave Dynasty) का संस्थापक कौन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43. Who was the founder of the Slave Dynasty in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इल्तुतमिश / Iltutmish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 (1206 ई.) / Qutb-ud-din Aibak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बलबन / Balban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 / Alauddin Khalji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43. दिल्ली सल्तनत में 'गुलाम वंश' (Slave Dynasty) का संस्थापक कौन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43. Who was the founder of the Slave Dynasty in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इल्तुतमिश / Iltutmish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कुतुबुद्दीन ऐबक (1206 ई.) / Qutb-ud-din Aibak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बलबन / Balban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 / Alauddin Khalji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1206 ई. में कुतुबुद्दीन ऐबक ने दिल्ली सल्तनत और गुलाम वंश की नींव रखी थी।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44. दिल्ली सल्तनत की प्रथम एवं एकमात्र महिला शासिका कौन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44. Who was the first and only female ruler of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चांद बीबी / Chand Bibi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रज़िया सुल्तान (1236 ई.) / Razia Sultana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नूरजहाँ / Nur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 / Mumtaz Mahal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44. दिल्ली सल्तनत की प्रथम एवं एकमात्र महिला शासिका कौन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44. Who was the first and only female ruler of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चांद बीबी / Chand Bibi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रज़िया सुल्तान (1236 ई.) / Razia Sultana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नूरजहाँ / Nur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मुमताज महल / Mumtaz Mahal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इल्तुतमिश की सुपुत्री रज़िया सुल्तान 1236 ई. में दिल्ली के तख्त पर बैठने वाली प्रथम महिला शासिका थीं।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45. पानीपत का प्रथम युद्ध (1526 ई.) किसके बीच लड़ा गया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45. Between whom was the First Battle of Panipat (1526 AD) fought?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अकबर और हेमू / Akbar &amp; Hemu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 / Babur &amp; Ibrahim Lodi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हुमायूँ और शेरशाह / Humayun &amp; Sher Shah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बाबर और राणा सांगा / Babur &amp; Rana Sanga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45. पानीपत का प्रथम युद्ध (1526 ई.) किसके बीच लड़ा गया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45. Between whom was the First Battle of Panipat (1526 AD) fought?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अकबर और हेमू / Akbar &amp; Hemu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बाबर और इब्राहिम लोदी / Babur &amp; Ibrahim Lodi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हुमायूँ और शेरशाह / Humayun &amp; Sher Shah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बाबर और राणा सांगा / Babur &amp; Rana Sanga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21 अप्रैल 1526 को पानीपत के प्रथम युद्ध में बाबर ने इब्राहिम लोदी को हराकर मुगल साम्राज्य स्थापित किया।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46. आगरा में यमुना नदी के तट पर विश्वप्रसिद्ध ताजमहल का निर्माण किस मुगल बादशाह ने करवाया?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46. Which Mughal Emperor built the world-famous Taj Mahal in Agra?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अकबर / Akbar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जहाँगीर / Jahangir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शाहजहाँ / Shah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औरंगजेब / Aurangzeb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46. आगरा में यमुना नदी के तट पर विश्वप्रसिद्ध ताजमहल का निर्माण किस मुगल बादशाह ने करवाया?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46. Which Mughal Emperor built the world-famous Taj Mahal in Agra?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अकबर / Akbar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जहाँगीर / Jahangir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शाहजहाँ / Shah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औरंगजेब / Aurangzeb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शाहजहाँ ने अपनी बेगम मुमताज महल की स्मृति में सफेद संगमरमर से ताजमहल का निर्माण आगरा (UP) में करवाया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47. फतेहपुर सीकरी में 'बुलंद दरवाजा' का निर्माण अकबर ने किस विजय के उपलक्ष्य में करवाया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47. To commemorate which victory did Akbar build the 'Buland Darwaza' at Fatehpur Sikri?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बंगाल विजय / Bengal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गुजरात विजय (1572-73) / Gujarat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मालवा विजय / Malwa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कश्मीर विजय / Kashmir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47. फतेहपुर सीकरी में 'बुलंद दरवाजा' का निर्माण अकबर ने किस विजय के उपलक्ष्य में करवाया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47. To commemorate which victory did Akbar build the 'Buland Darwaza' at Fatehpur Sikri?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बंगाल विजय / Bengal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गुजरात विजय (1572-73) / Gujarat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मालवा विजय / Malwa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कश्मीर विजय / Kashmir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अकबर ने गुजरात पर विजय प्राप्त करने की स्मृति में फतेहपुर सीकरी में विशाल 'बुलंद दरवाजा' बनवाया था।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48. 'आर्य समाज' की स्थापना 1875 ई. में किसने की तथा 'वेदों की ओर लौटो' का नारा किसने दिया?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48. Who founded 'Arya Samaj' in 1875 and gave the slogan 'Back to the Vedas'?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 / Raja Ram Mohan Roy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 / Swami Dayanand Saraswati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 / Swami Vivekananda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 / Ishwar Chandra Vidyasagar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48. 'आर्य समाज' की स्थापना 1875 ई. में किसने की तथा 'वेदों की ओर लौटो' का नारा किसने दिया?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48. Who founded 'Arya Samaj' in 1875 and gave the slogan 'Back to the Vedas'?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 / Raja Ram Mohan Roy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स्वामी दयानंद सरस्वती / Swami Dayanand Saraswati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 / Swami Vivekananda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 / Ishwar Chandra Vidyasagar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स्वामी दयानंद सरस्वती ने 1875 में आर्य समाज की स्थापना की और 'वेदों की ओर लौटो' का संदेश दिया।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49. सती प्रथा का अंत कराने में किस भारतीय समाज सुधारक ने प्रमुख भूमिका निभाई?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49. Which Indian social reformer played a key role in abolishing the Sati system in 1829?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 / Swami Vivekananda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 (1829 ई.) / Raja Ram Mohan Roy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 / Dayanand Saraswati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गोखले / Gokhale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49. सती प्रथा का अंत कराने में किस भारतीय समाज सुधारक ने प्रमुख भूमिका निभाई?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49. Which Indian social reformer played a key role in abolishing the Sati system in 1829?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 / Swami Vivekananda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राजा राममोहन राय (1829 ई.) / Raja Ram Mohan Roy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 / Dayanand Saraswati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गोखले / Gokhale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राजा राममोहन राय के प्रयासों से लॉर्ड विलियम बेंटिक ने 1829 में सती प्रथा निषेध कानून पारित किया।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50. भारतीय राष्ट्रीय कांग्रेस की स्थापना किस वर्ष और किसके द्वारा की गई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50. In which year and by whom was the Indian National Congress founded?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1885 ई. (ए.ओ. ह्यूम द्वारा) / 1885 by A.O. Hume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1905 ई. (कर्जन द्वारा)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1919 ई. (गांधीजी द्वारा)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1857 ई. (मंगल पांडे द्वारा)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50. भारतीय राष्ट्रीय कांग्रेस की स्थापना किस वर्ष और किसके द्वारा की गई थी?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50. In which year and by whom was the Indian National Congress founded?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1885 ई. (ए.ओ. ह्यूम द्वारा) / 1885 by A.O. Hume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1905 ई. (कर्जन द्वारा)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1919 ई. (गांधीजी द्वारा)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1857 ई. (मंगल पांडे द्वारा)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भारतीय राष्ट्रीय कांग्रेस (INC) की स्थापना 28 दिसंबर 1885 को बॉम्बे में ए.ओ. ह्यूम द्वारा की गई थी।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51. जलियांवाला बाग नरसंहार किस तिथि और वर्ष को अमृतसर में घटित हुआ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51. On which date and year did the Jallianwala Bagh massacre take place in Amritsar?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13 अप्रैल 1919 / 13 April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15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26 जनवरी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10 मई 1857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51. जलियांवाला बाग नरसंहार किस तिथि और वर्ष को अमृतसर में घटित हुआ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51. On which date and year did the Jallianwala Bagh massacre take place in Amritsar?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13 अप्रैल 1919 / 13 April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15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26 जनवरी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10 मई 1857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13 अप्रैल 1919 को बैसाखी के दिन जनरल डायर ने अमृतसर के जलियांवाला बाग में अंधाधुंध गोलियां चलवाई थीं।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52. उत्तर प्रदेश के गोरखपुर जिले में 'चौरी-चौरा कांड' कब हुआ जिससे असहयोग आंदोलन स्थगित हुआ?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52. When did the 'Chauri Chaura' incident take place in Gorakhpur (UP)?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फरवरी 1922 (4 Feb 1922)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मार्च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अगस्त 1942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52. उत्तर प्रदेश के गोरखपुर जिले में 'चौरी-चौरा कांड' कब हुआ जिससे असहयोग आंदोलन स्थगित हुआ?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52. When did the 'Chauri Chaura' incident take place in Gorakhpur (UP)?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फरवरी 1922 (4 Feb 1922)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मार्च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अगस्त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4 फरवरी 1922 को चौरी-चौरा में हिंसा के बाद गांधीजी ने 12 फरवरी 1922 को असहयोग आंदोलन वापस ले लिया।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53. काकोरी ट्रेन एक्शन (काकोरी कांड) किस वर्ष लखनऊ के निकट घटित हुआ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53. In which year did the Kakori Train Action take place near Lucknow?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1920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9 अगस्त 1925 / 9 August 1925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1931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1942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53. काकोरी ट्रेन एक्शन (काकोरी कांड) किस वर्ष लखनऊ के निकट घटित हुआ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53. In which year did the Kakori Train Action take place near Lucknow?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1920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9 अगस्त 1925 / 9 August 1925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1931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9 अगस्त 1925 को रामप्रसाद बिस्मिल, अशफाक उल्ला खां, चंद्रशेखर आजाद आदि ने काकोरी में सरकारी खजाना लूटा था।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54. गांधीजी ने 'करो या मरो' (Do or Die) का नारा किस ऐतिहासिक आंदोलन में दिया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54. In which movement did Mahatma Gandhi give the slogan 'Do or Die'?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 / Non-Cooperation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 / Civil Disobedience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 / Quit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 / Champaran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54. गांधीजी ने 'करो या मरो' (Do or Die) का नारा किस ऐतिहासिक आंदोलन में दिया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54. In which movement did Mahatma Gandhi give the slogan 'Do or Die'?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 / Non-Cooperation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सविनय अवज्ञा / Civil Disobedience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भारत छोड़ो आंदोलन (1942) / Quit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 / Champaran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 अगस्त 1942 को भारत छोड़ो आंदोलन के दौरान गांधीजी ने देश को 'करो या मरो' का नारा दिया था।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55. गौतम बुद्ध ने अपना पहला उपदेश (धर्मचक्रप्रवर्तन) उत्तर प्रदेश के किस स्थान पर दिया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55. Where did Lord Buddha deliver his first sermon (Dharmachakrapravartan) in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कुशीनगर / Kushinagar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सारनाथ (वाराणसी) / Sarnath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श्रावस्ती / Shravasti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कौशाम्बी / Kaushambi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55. गौतम बुद्ध ने अपना पहला उपदेश (धर्मचक्रप्रवर्तन) उत्तर प्रदेश के किस स्थान पर दिया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55. Where did Lord Buddha deliver his first sermon (Dharmachakrapravartan) in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कुशीनगर / Kushinagar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सारनाथ (वाराणसी) / Sarnath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श्रावस्ती / Shravasti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कौशाम्बी / Kaushambi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ज्ञान प्राप्ति के बाद भगवान बुद्ध ने पहला उपदेश सारनाथ (वाराणसी के निकट) में दिया था।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56. उत्तर प्रदेश का एकमात्र 'राष्ट्रीय उद्यान' कौन-सा है और किस जिले 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56. Which is the only National Park of Uttar Pradesh and in which district is it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 / Jim Corbett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दुधवा राष्ट्रीय उद्यान (लखीमपुर खीरी) / Dudhwa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काजीरंगा / Kaziranga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गिर राष्ट्रीय उद्यान / Gir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56. उत्तर प्रदेश का एकमात्र 'राष्ट्रीय उद्यान' कौन-सा है और किस जिले 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56. Which is the only National Park of Uttar Pradesh and in which district is it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जिम कॉर्बेट / Jim Corbett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दुधवा राष्ट्रीय उद्यान (लखीमपुर खीरी) / Dudhwa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काजीरंगा / Kaziranga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गिर राष्ट्रीय उद्यान / Gir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दुधवा राष्ट्रीय उद्यान उत्तर प्रदेश के लखीमपुर खीरी जिले में स्थित है (बाघ व बारहसिंगा हेतु प्रसिद्ध)।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57. उत्तर प्रदेश का एकमात्र परमाणु ऊर्जा संयंत्र (Atomic Power Station) कहाँ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57. Where is the only Nuclear Power Station of Uttar Pradesh situated?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ओबरा (सोनभद्र) / Obra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नरोरा (बुलंदशहर) / Narora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रिहंद / Rihand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अनपरा / Anpara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57. उत्तर प्रदेश का एकमात्र परमाणु ऊर्जा संयंत्र (Atomic Power Station) कहाँ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57. Where is the only Nuclear Power Station of Uttar Pradesh situated?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ओबरा (सोनभद्र) / Obra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नरोरा (बुलंदशहर) / Narora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रिहंद / Rihand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अनपरा / Anpara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उत्तर प्रदेश के बुलंदशहर जिले के नरोरा में गंगा नदी के तट पर परमाणु ऊर्जा संयंत्र स्थापित है।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58. मौसम संबंधी सभी घटनाएं (बादल, वर्षा, तूफान) वायुमंडल की किस परत में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58. All weather phenomena (clouds, rain, storms) occur in which layer of atmosphere?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समतापमंडल / Stratosphere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क्षोभमंडल / Troposphere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मध्यमंडल / Mesosphere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आयनमंडल / Ionosphere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58. मौसम संबंधी सभी घटनाएं (बादल, वर्षा, तूफान) वायुमंडल की किस परत में होती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58. All weather phenomena (clouds, rain, storms) occur in which layer of atmosphere?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समतापमंडल / Stratosphere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क्षोभमंडल / Troposphere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मध्यमंडल / Mesosphere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आयनमंडल / Ionosphere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क्षोभमंडल (Troposphere) सबसे निचली परत है जहाँ मौसम संबंधी सभी परिवर्तन घटित होते हैं।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59. हवाई जहाज उड़ाने हेतु कौन-सी परत आदर्श है जिसमें ओजोन गैस भी पाई जाती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59. Which atmospheric layer is ideal for flying aircraft and contains ozone?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क्षोभमंडल / Troposphere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समतापमंडल / Stratosphere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बहिर्मंडल / Exosphere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तापमंडल / Thermosphere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59. हवाई जहाज उड़ाने हेतु कौन-सी परत आदर्श है जिसमें ओजोन गैस भी पाई जाती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59. Which atmospheric layer is ideal for flying aircraft and contains ozone?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क्षोभमंडल / Troposphere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समतापमंडल / Stratosphere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बहिर्मंडल / Exosphere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तापमंडल / Thermosphere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समतापमंडल (Stratosphere) शांत मौसम व ओजोन परत के कारण विमान उड़ाने हेतु आदर्श है।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60. सौरमंडल का सबसे बड़ा ग्रह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60. Which is the largest planet in our Solar System?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शनि / Saturn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बृहस्पति / Jupiter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मंगल / Mars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पृथ्वी / Earth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60. सौरमंडल का सबसे बड़ा ग्रह कौन-सा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60. Which is the largest planet in our Solar System?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शनि / Saturn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बृहस्पति / Jupiter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मंगल / Mars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पृथ्वी / Earth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बृहस्पति (Jupiter) सौरमंडल का सबसे विशालकाय ग्रह है।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61. पृथ्वी की दैनिक गति (घूर्णन / Rotation) से क्या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61. What is caused by the Earth's daily motion (Rotation) on its axis?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ऋतु परिवर्तन / Seasons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दिन और रात / Day and Night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सूर्य ग्रहण / Solar Eclipse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चंद्र ग्रहण / Lunar Eclipse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61. पृथ्वी की दैनिक गति (घूर्णन / Rotation) से क्या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61. What is caused by the Earth's daily motion (Rotation) on its axis?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ऋतु परिवर्तन / Seasons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दिन और रात / Day and Night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सूर्य ग्रहण / Solar Eclipse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चंद्र ग्रहण / Lunar Eclipse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पृथ्वी का अपने अक्ष पर 24 घंटे में घूमना घूर्णन कहलाता है, जिससे दिन और रात होते हैं।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62. भारत की सबसे लम्बी नदी कौन-सी है जो उत्तर प्रदेश से होकर गुजरती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62. Which is the longest river in India that flows through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यमुना / Yamuna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गंगा (2525 किमी) / Ganga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गोदावरी / Godavari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ब्रह्मपुत्र / Brahmaputra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62. भारत की सबसे लम्बी नदी कौन-सी है जो उत्तर प्रदेश से होकर गुजरती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62. Which is the longest river in India that flows through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यमुना / Yamuna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गंगा (2525 किमी) / Ganga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गोदावरी / Godavari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ब्रह्मपुत्र / Brahmaputra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गंगा भारत की राष्ट्रीय नदी तथा सबसे लम्बी नदी (2525 किमी) है।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63. गंगा, यमुना और सरस्वती का पवित्र 'त्रिवेणी संगम' उत्तर प्रदेश के किस नगर 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63. In which city of UP is the sacred 'Triveni Sangam' of Ganga, Yamuna &amp; Saraswati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वाराणसी / Varanasi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प्रयागराज / Prayagraj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मथुरा / Mathura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अयोध्या / Ayodhya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63. गंगा, यमुना और सरस्वती का पवित्र 'त्रिवेणी संगम' उत्तर प्रदेश के किस नगर 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63. In which city of UP is the sacred 'Triveni Sangam' of Ganga, Yamuna &amp; Saraswati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वाराणसी / Varanasi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प्रयागराज / Prayagraj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मथुरा / Mathura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अयोध्या / Ayodhya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तीर्थराज प्रयागराज (इलाहाबाद) में त्रिवेणी संगम स्थित है जहाँ कुंभ मेला लगता है।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64. भारत का प्रामाणिक समय (IST) किस देशांतर रेखा से निर्धारित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64. The Indian Standard Time (IST) is determined along which longitude?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80° 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82°30' E (82.5° पूर्वी देशांतर)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90°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0° देशांतर / Prime Meridian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64. भारत का प्रामाणिक समय (IST) किस देशांतर रेखा से निर्धारित किया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64. The Indian Standard Time (IST) is determined along which longitude?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80° 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82°30' E (82.5° पूर्वी देशांतर)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90°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0° देशांतर / Prime Meridian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82°30' पूर्वी देशांतर रेखा प्रयागराज (मिर्जापुर/नैनी) से गुजरती है और GMT से 5:30 घंटे आगे है।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65. कपास की खेती के लिए सर्वाधिक उपयुक्त मिट्टी कौन-सी मानी जाती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65. Which soil is considered most suitable for cotton cultivation?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 / Alluvial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काली मिट्टी (रेगुर) / Black Soil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 / Red Soil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लैटेराइट मिट्टी / Laterite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65. कपास की खेती के लिए सर्वाधिक उपयुक्त मिट्टी कौन-सी मानी जाती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65. Which soil is considered most suitable for cotton cultivation?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जलोढ़ मिट्टी / Alluvial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काली मिट्टी (रेगुर) / Black Soil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लाल मिट्टी / Red Soil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लैटेराइट मिट्टी / Laterite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काली मिट्टी (रेगुर मिट्टी) में जल धारण क्षमता अधिक होती है और यह कपास हेतु सर्वोत्तम है।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66. विश्व का सबसे बड़ा महासागर और सबसे गहरा गर्त (मेरियाना गर्त) किसमें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66. Which is the largest ocean in the world containing Mariana Trench?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अटलांटिक / Atlantic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प्रशांत महासागर / Pacific Ocean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हिन्द महासागर / Indian Ocean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आर्कटिक / Arctic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66. विश्व का सबसे बड़ा महासागर और सबसे गहरा गर्त (मेरियाना गर्त) किसमें स्थित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66. Which is the largest ocean in the world containing Mariana Trench?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अटलांटिक / Atlantic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प्रशांत महासागर / Pacific Ocean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हिन्द महासागर / Indian Ocean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आर्कटिक / Arctic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प्रशांत महासागर (Pacific Ocean) सबसे बड़ा है और इसमें 11,034 मी गहरी मेरियाना गर्त है।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67. सुंदरवन का प्रसिद्ध डेल्टा किन दो नदियों के मुहाने पर बना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67. The famous Sundarbans Delta is formed at the mouth of which two rivers?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सिंधु और झेलम / Indus &amp; Jhelum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गंगा और ब्रह्मपुत्र / Ganga &amp; Brahmaputra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नर्मदा और ताप्ती / Narmada &amp; Tapi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गोदावरी और कृष्णा / Godavari &amp; Krishna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67. सुंदरवन का प्रसिद्ध डेल्टा किन दो नदियों के मुहाने पर बना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67. The famous Sundarbans Delta is formed at the mouth of which two rivers?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सिंधु और झेलम / Indus &amp; Jhelum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गंगा और ब्रह्मपुत्र / Ganga &amp; Brahmaputra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नर्मदा और ताप्ती / Narmada &amp; Tapi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गोदावरी और कृष्णा / Godavari &amp; Krishna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गंगा और ब्रह्मपुत्र नदियां विश्व का सबसे बड़ा डेल्टा 'सुंदरवन डेल्टा' बनाती हैं।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68. भारत में 'हरित क्रांति' (Green Revolution) का जनक किसे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68. Who is known as the Father of Green Revolution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डॉ. कुरियन / Dr. Kurien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डॉ. एम. एस. स्वामीनाथन / Dr. M.S. Swaminathan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डॉ. कलाम / Dr. Kalam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डॉ. भाभा / Dr. Bhabha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68. भारत में 'हरित क्रांति' (Green Revolution) का जनक किसे कहा जाता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68. Who is known as the Father of Green Revolution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डॉ. कुरियन / Dr. Kurien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डॉ. एम. एस. स्वामीनाथन / Dr. M.S. Swaminathan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डॉ. कलाम / Dr. Kalam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डॉ. भाभा / Dr. Bhabha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डॉ. एम. एस. स्वामीनाथन ने भारत में उन्नत बीजों द्वारा खाद्यान्न उत्पादन में हरित क्रांति लाई।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69. उत्तर प्रदेश में सर्वाधिक वर्षा किस जिले में तथा सबसे कम वर्षा किस जिले में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69. In UP, highest rainfall occurs in which district and lowest in which?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गोरखपुर (अधिक) और मथुरा (कम)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लखनऊ और वाराणसी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झांसी और कानपुर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मेरठ और बरेली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69. उत्तर प्रदेश में सर्वाधिक वर्षा किस जिले में तथा सबसे कम वर्षा किस जिले में होती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69. In UP, highest rainfall occurs in which district and lowest in which?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गोरखपुर (अधिक) और मथुरा (कम)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लखनऊ और वाराणसी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झांसी और कानपुर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मेरठ और बरेली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उत्तर प्रदेश में सर्वाधिक वर्षा गोरखपुर में और सबसे कम वर्षा मथुरा जिले में होती है।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#70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70. ओजोन परत के क्षरण के लिए मुख्य रूप से कौन-सी गैस उत्तरदायी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70. Which gas is mainly responsible for the depletion of the Ozone layer?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 /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ऑक्सीजन / 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नाइट्रोजन / N₂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#70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70. ओजोन परत के क्षरण के लिए मुख्य रूप से कौन-सी गैस उत्तरदायी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70. Which gas is mainly responsible for the depletion of the Ozone layer?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 /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ऑक्सीजन / 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नाइट्रोजन / N₂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क्लोरोफ्लोरोकार्बन (CFC) ओजोन अणुओं को तोड़कर ओजोन परत को क्षति पहुँचाती है।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71. भारतीय संविधान सभा की प्रारूप समिति (Drafting Committee) के अध्यक्ष कौन थे?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71. Who was the Chairman of the Drafting Committee of the Indian Constituent Assembly?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डॉ. भीमराव आंबेडकर / Dr. B.R. Ambedkar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पंडित नेहरू / Pt. Nehru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 / Sardar Patel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71. भारतीय संविधान सभा की प्रारूप समिति (Drafting Committee) के अध्यक्ष कौन थे?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71. Who was the Chairman of the Drafting Committee of the Indian Constituent Assembly?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डॉ. भीमराव आंबेडकर / Dr. B.R. Ambedkar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पंडित नेहरू / Pt. Nehru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सरदार पटेल / Sardar Patel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डॉ. भीमराव आंबेडकर संविधान प्रारूप समिति के अध्यक्ष थे और भारतीय संविधान के जनक हैं।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72. भारतीय संविधान किस तिथि को अंगीकृत (Adopt) किया गया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72. On which date was the Constitution of India adopted?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26 नवम्बर 1949 / 26 November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 अक्टूबर 1952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72. भारतीय संविधान किस तिथि को अंगीकृत (Adopt) किया गया था?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72. On which date was the Constitution of India adopted?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26 नवम्बर 1949 / 26 November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 अक्टूबर 1952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26 नवम्बर 1949 को संविधान अंगीकृत हुआ, इसलिए प्रतिवर्ष 26 नवम्बर को 'संविधान दिवस' मनाते हैं।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73. भारतीय नागरिकों को वर्तमान में कुल कितने मौलिक अधिकार प्राप्त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73. How many Fundamental Rights are currently guaranteed to Indian citizens?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6 मौलिक अधिकार / 6 Rights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11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73. भारतीय नागरिकों को वर्तमान में कुल कितने मौलिक अधिकार प्राप्त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73. How many Fundamental Rights are currently guaranteed to Indian citizens?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6 मौलिक अधिकार / 6 Rights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वर्तमान में भारतीय संविधान नागरिकों को 6 मौलिक अधिकार (अनुच्छेद 12-35) प्रदान करता है।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74. भारत के राष्ट्रपति पद हेतु चुनाव लड़ने के लिए न्यूनतम आयु सीमा कितनी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74. What is the minimum age required to contest for the President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21 वर्ष / 21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25 वर्ष / 25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 वर्ष / 30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35 वर्ष / 35 Years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74. भारत के राष्ट्रपति पद हेतु चुनाव लड़ने के लिए न्यूनतम आयु सीमा कितनी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74. What is the minimum age required to contest for the President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21 वर्ष / 21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25 वर्ष / 25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30 वर्ष / 30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(D)  35 वर्ष / 35 Years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(D)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राष्ट्रपति एवं राज्यपाल पद हेतु न्यूनतम आयु सीमा 35 वर्ष निर्धारित है।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75. संसद के उच्च सदन (राज्यसभा) के सदस्यों का कार्यकाल कितने वर्ष का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75. What is the tenure of members of the Rajya Sabha (Upper House of Parliament)?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 वर्ष / 4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 वर्ष / 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6 वर्ष / 6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स्थायी / Permanent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75. संसद के उच्च सदन (राज्यसभा) के सदस्यों का कार्यकाल कितने वर्ष का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75. What is the tenure of members of the Rajya Sabha (Upper House of Parliament)?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 वर्ष / 4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5 वर्ष / 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6 वर्ष / 6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स्थायी / Permanent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राज्यसभा स्थायी सदन है, परंतु इसके सदस्यों का कार्यकाल 6 वर्ष होता है (1/3 सदस्य हर 2 वर्ष में बदलते हैं)।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76. 6 से 14 वर्ष के बच्चों हेतु शिक्षा का अधिकार (RTE) किस संविधान संशोधन द्वारा जोड़ा गया?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76. By which amendment was Right to Education (Art 21A) for 6-14 years added?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86वाँ संशोधन (2002) / 86th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73वाँ संशोधन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76. 6 से 14 वर्ष के बच्चों हेतु शिक्षा का अधिकार (RTE) किस संविधान संशोधन द्वारा जोड़ा गया?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76. By which amendment was Right to Education (Art 21A) for 6-14 years added?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86वाँ संशोधन (2002) / 86th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73वाँ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86वें संविधान संशोधन 2002 द्वारा अनुच्छेद 21A जोड़कर प्राथमिक शिक्षा को मौलिक अधिकार बनाया गया।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77. भारत के तीनों रक्षा बलों (थल, जल, नभ) का सर्वोच्च सेनापति कौन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77. Who is the Supreme Commander of the Defense Forces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प्रधानमंत्री / Prime Minister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भारत का राष्ट्रपति / President of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रक्षा मंत्री / Defense Minister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CDS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77. भारत के तीनों रक्षा बलों (थल, जल, नभ) का सर्वोच्च सेनापति कौन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77. Who is the Supreme Commander of the Defense Forces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प्रधानमंत्री / Prime Minister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भारत का राष्ट्रपति / President of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रक्षा मंत्री / Defense Minister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CDS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अनुच्छेद 53(2) के अनुसार भारत के राष्ट्रपति तीनों सेनाओं के सर्वोच्च सेनापति (सुप्रीम कमांडर) होते हैं।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78. पंचायती राज व्यवस्था को किस संविधान संशोधन द्वारा संवैधानिक दर्जा दिया गया?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78. By which Constitutional Amendment was Panchayati Raj granted constitutional status?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73वाँ संशोधन (1992) / 73rd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86वाँ संशोधन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78. पंचायती राज व्यवस्था को किस संविधान संशोधन द्वारा संवैधानिक दर्जा दिया गया?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78. By which Constitutional Amendment was Panchayati Raj granted constitutional status?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73वाँ संशोधन (1992) / 73rd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86वाँ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73वें संविधान संशोधन 1992 द्वारा त्रिस्तरीय पंचायती राज व्यवस्था को संवैधानिक दर्जा दिया गया।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79. भारत में मताधिकार (वोट डालने का अधिकार) हेतु न्यूनतम आयु कितनी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79. What is the minimum voting age for citizens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18 वर्ष (61वें संशोधन द्वारा) / 18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25 वर्ष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79. भारत में मताधिकार (वोट डालने का अधिकार) हेतु न्यूनतम आयु कितनी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79. What is the minimum voting age for citizens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18 वर्ष (61वें संशोधन द्वारा) / 18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61वें संविधान संशोधन 1989 द्वारा मतदान की न्यूनतम आयु 21 से घटाकर 18 वर्ष कर दी गई।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#80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80. भारतीय संविधान में नागरिकों के मौलिक कर्तव्य (Fundamental Duties) किस अनुच्छेद में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80. Under which Article are Fundamental Duties described in the Indian Constitution?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अनुच्छेद 19 / Article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अनुच्छेद 21 / Article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अनुच्छेद 51A / Article 51A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अनुच्छेद 32 / Article 32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#80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80. भारतीय संविधान में नागरिकों के मौलिक कर्तव्य (Fundamental Duties) किस अनुच्छेद में हैं?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80. Under which Article are Fundamental Duties described in the Indian Constitution?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अनुच्छेद 19 / Article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अनुच्छेद 21 / Article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अनुच्छेद 51A / Article 51A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अनुच्छेद 32 / Article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अनुच्छेद 51A (भाग 4A) में नागरिकों के 11 मौलिक कर्तव्य वर्णित हैं।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81. परिमेय संख्या -3/5 का योज्य प्रतिलोम (Additive Inverse)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81. What is the additive inverse of rational number -3/5?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-5/3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3/5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5/3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-1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81. परिमेय संख्या -3/5 का योज्य प्रतिलोम (Additive Inverse)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81. What is the additive inverse of rational number -3/5?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-5/3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3/5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5/3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योज्य प्रतिलोम वह संख्या है जिसे जोड़ने पर योग शून्य हो: -3/5 + 3/5 = 0।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82. संख्या 1024 का वर्गमूल (Square Root)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82. What is the square root of 1024?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36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82. संख्या 1024 का वर्गमूल (Square Root)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82. What is the square root of 1024?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√1024 = 32 (क्योंकि 32 × 32 = 1024)।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83. संख्या 729 का घनमूल (Cube Root) ज्ञात कीजिए: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83. Find the cube root of 729: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11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83. संख्या 729 का घनमूल (Cube Root) ज्ञात कीजिए: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83. Find the cube root of 729: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∛729 = 9 (क्योंकि 9 × 9 × 9 = 729)।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84. व्यंजक (2³ × 2⁴) का मान घातांक रूप में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84. What is the value of (2³ × 2⁴) in exponential form?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2¹²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4⁷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2¹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84. व्यंजक (2³ × 2⁴) का मान घातांक रूप में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84. What is the value of (2³ × 2⁴) in exponential form?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2¹²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4⁷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घातांक नियम: aᵐ × aⁿ = aᵐ⁺ⁿ। 2³⁺⁴ = 2⁷ = 128।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85. यदि 3x + 5 = 20 हो, तो x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85. If 3x + 5 = 20, then what is the value of x?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6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85. यदि 3x + 5 = 20 हो, तो x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85. If 3x + 5 = 20, then what is the value of x?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3x = 20 - 5 = 15 =&gt; x = 15 / 3 = 5।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86. एक परीक्षा में 500 में से 400 अंक प्राप्त करने पर प्राप्तांक प्रतिशत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86. Scoring 400 out of 500 marks in an exam represents what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90%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86. एक परीक्षा में 500 में से 400 अंक प्राप्त करने पर प्राप्तांक प्रतिशत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86. Scoring 400 out of 500 marks in an exam represents what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85%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(400 ÷ 500) × 100 = 80%।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87. ₹400 की वस्तु ₹500 में बेचने पर लाभ प्रतिशत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87. An item bought for ₹400 is sold for ₹500. What is the profit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15%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87. ₹400 की वस्तु ₹500 में बेचने पर लाभ प्रतिशत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87. An item bought for ₹400 is sold for ₹500. What is the profit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लाभ = ₹100। लाभ % = (100 / 400) × 100 = 25%।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88. ₹2000 का 5% वार्षिक दर से 3 वर्ष का साधारण ब्याज कितना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88. What is the simple interest on ₹2000 at 5% per annum for 3 years?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₹250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₹300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₹350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₹400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88. ₹2000 का 5% वार्षिक दर से 3 वर्ष का साधारण ब्याज कितना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88. What is the simple interest on ₹2000 at 5% per annum for 3 years?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₹250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₹300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₹350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₹400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SI = (P × R × T) / 100 = (2000 × 5 × 3) / 100 = ₹300।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89. त्रिभुज के दो कोण 60° और 70° हैं। तीसरे कोण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89. Two angles of a triangle are 60° and 70°. What is the third angle?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70°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89. त्रिभुज के दो कोण 60° और 70° हैं। तीसरे कोण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89. Two angles of a triangle are 60° and 70°. What is the third angle?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50°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70°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तीसरा कोण = 180° - (60° + 70°) = 180° - 130° = 50°।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90. लम्बाई 20 मी तथा चौड़ाई 15 मी वाले आयत का क्षेत्रफल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90. What is the area of a rectangle with length 20m and breadth 15m?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150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300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350 m²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90. लम्बाई 20 मी तथा चौड़ाई 15 मी वाले आयत का क्षेत्रफल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90. What is the area of a rectangle with length 20m and breadth 15m?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150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300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350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क्षेत्रफल = ल. × चौ. = 20 × 15 = 300 वर्ग मीटर।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91. एक वर्ग की परिमाप 64 मीटर है। वर्ग का क्षेत्रफल कितना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91. The perimeter of a square is 64m. What is its area?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128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196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256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512 m²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91. एक वर्ग की परिमाप 64 मीटर है। वर्ग का क्षेत्रफल कितना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91. The perimeter of a square is 64m. What is its area?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128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196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256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512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भुजा = 64 ÷ 4 = 16 मी। क्षेत्रफल = 16² = 256 वर्ग मीटर।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92. त्रिज्या 7 सेमी वाले वृत्त की परिधि क्या होगी? (π = 22/7)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92. What is the circumference of a circle with radius 7cm? (π = 22/7)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22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88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154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92. त्रिज्या 7 सेमी वाले वृत्त की परिधि क्या होगी? (π = 22/7)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92. What is the circumference of a circle with radius 7cm? (π = 22/7)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22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44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88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154 cm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परिधि = 2πr = 2 × (22/7) × 7 = 44 सेमी।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93. यदि a = 5 और b = 3 हो, तो (a² - b²)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93. If a = 5 and b = 3, what is the value of (a² - b²)?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93. यदि a = 5 और b = 3 हो, तो (a² - b²) का मान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93. If a = 5 and b = 3, what is the value of (a² - b²)?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a² - b² = 5² - 3² = 25 - 9 = 16।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94. यदि A : B = 2 : 3 और B : C = 3 : 4 हो, तो A : C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94. If A : B = 2 : 3 and B : C = 3 : 4, what is A : C?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 :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 :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 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 : 3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94. यदि A : B = 2 : 3 और B : C = 3 : 4 हो, तो A : C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94. If A : B = 2 : 3 and B : C = 3 : 4, what is A : C?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 :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 :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 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 :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A : C = 2 : 4 = 1 : 2।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95. संख्याओं 4, 8, 12, 16 और 20 का समांतर माध्य (Mean)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95. What is the arithmetic mean of 4, 8, 12, 16 and 20?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16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95. संख्याओं 4, 8, 12, 16 और 20 का समांतर माध्य (Mean)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95. What is the arithmetic mean of 4, 8, 12, 16 and 20?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माध्य = (4 + 8 + 12 + 16 + 20) ÷ 5 = 60 ÷ 5 = 12।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96. किसी चतुर्भुज के चारों अंतःकोणों का योग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96. What is the sum of all interior angles of a quadrilateral?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180°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270°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540°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96. किसी चतुर्भुज के चारों अंतःकोणों का योग कितना होता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96. What is the sum of all interior angles of a quadrilateral?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180°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270°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360°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540°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चतुर्भुज के चारों अंतःकोणों का योग 360° होता है।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97. समकोण त्रिभुज का आधार 6 सेमी तथा लम्ब 8 सेमी है। कर्ण की लम्बाई क्या होगी?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97. Right-angled triangle has base 6cm and height 8cm. Find the hypotenuse: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9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10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12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14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97. समकोण त्रिभुज का आधार 6 सेमी तथा लम्ब 8 सेमी है। कर्ण की लम्बाई क्या होगी?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97. Right-angled triangle has base 6cm and height 8cm. Find the hypotenuse: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9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10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12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14 cm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कर्ण = √(6² + 8²) = √(36 + 64) = √100 = 10 सेमी।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98. त्रिज्या r तथा ऊँचाई h वाले लम्बवृत्तीय बेलन के आयतन का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98. What is the formula for the volume of a cylinder with radius r and height 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2πrh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πr²h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πrl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2πr(r+h)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98. त्रिज्या r तथा ऊँचाई h वाले लम्बवृत्तीय बेलन के आयतन का सूत्र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98. What is the formula for the volume of a cylinder with radius r and height 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2πrh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πr²h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πrl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2πr(r+h)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बेलन का आयतन = πr²h।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99. आँकड़ों 3, 5, 7, 5, 9, 5, 11, 7 का बहुलक (Mode)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99. What is the mode of data 3, 5, 7, 5, 9, 5, 11, 7?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99. आँकड़ों 3, 5, 7, 5, 9, 5, 11, 7 का बहुलक (Mode) क्या होगा?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99. What is the mode of data 3, 5, 7, 5, 9, 5, 11, 7?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संख्या '5' सबसे अधिक 3 बार आई है, अतः बहुलक 5 है।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#100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100. एक पासे को फेंकने पर उस पर सम संख्या (Even Number) आने की प्रायिकता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100. What is the probability of getting an even number in a throw of a dice?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1/6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1/2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2/3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#100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50" b="1">
                <a:solidFill>
                  <a:srgbClr val="0F172A"/>
                </a:solidFill>
                <a:latin typeface="Segoe UI"/>
              </a:defRPr>
            </a:pPr>
            <a:r>
              <a:t>प्र. 100. एक पासे को फेंकने पर उस पर सम संख्या (Even Number) आने की प्रायिकता क्या है?</a:t>
            </a:r>
          </a:p>
          <a:p>
            <a:pPr algn="ctr">
              <a:spcBef>
                <a:spcPts val="600"/>
              </a:spcBef>
              <a:defRPr sz="1450" b="1">
                <a:solidFill>
                  <a:srgbClr val="2563EB"/>
                </a:solidFill>
                <a:latin typeface="Segoe UI"/>
              </a:defRPr>
            </a:pPr>
            <a:r>
              <a:t>Q. 100. What is the probability of getting an even number in a throw of a dice?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1/6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1/2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2/3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सम संख्याएं = {2, 4, 6} (3 संख्याएं)। प्रायिकता = 3/6 = 1/2।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UP NMMS SAT महामंथन — सफलता का संकल्प एवं संपर्क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48495" cy="475488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/>
          <a:lstStyle/>
          <a:p>
            <a:pPr algn="ctr">
              <a:defRPr sz="2200" b="1">
                <a:solidFill>
                  <a:srgbClr val="D97706"/>
                </a:solidFill>
                <a:latin typeface="Segoe UI"/>
              </a:defRPr>
            </a:pPr>
            <a:r>
              <a:t>🏆 आपकी सफलता ही हमारा संकल्प है! 🏆</a:t>
            </a:r>
          </a:p>
          <a:p>
            <a:pPr algn="ctr">
              <a:spcBef>
                <a:spcPts val="10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10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उत्तर प्रदेश NMMS छात्रवृत्ति परीक्षा (₹48,000) में चयनित होने वाले सभी भावी मेधावियों को अग्रिम शुभकामनाएं!</a:t>
            </a:r>
          </a:p>
          <a:p>
            <a:pPr algn="ctr">
              <a:spcBef>
                <a:spcPts val="1600"/>
              </a:spcBef>
              <a:defRPr sz="1500" b="1">
                <a:solidFill>
                  <a:srgbClr val="D97706"/>
                </a:solidFill>
                <a:latin typeface="Segoe UI"/>
              </a:defRPr>
            </a:pPr>
            <a:r>
              <a:t>📞 ऑनलाइन टेस्ट, PDF नोट्स एवं सहायता हेतु: +91 91101 13671</a:t>
            </a:r>
            <a:br/>
            <a:r>
              <a:t>🌐 वेबसाइट: sagarcoaching.tech  |  📺 YouTube: Sagar Coaching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