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 एवं योग्यता आधारित छात्रवृत्ति परीक्षा (UP NMMS 2024-25) • महामंथन अभ्यास सेट</a:t>
            </a:r>
          </a:p>
        </p:txBody>
      </p:sp>
      <p:sp>
        <p:nvSpPr>
          <p:cNvPr id="4" name="TextBox 3"/>
          <p:cNvSpPr txBox="1"/>
          <p:nvPr/>
        </p:nvSpPr>
        <p:spPr>
          <a:xfrm>
            <a:off x="457200" y="1847088"/>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a:t>
            </a:r>
          </a:p>
        </p:txBody>
      </p:sp>
      <p:sp>
        <p:nvSpPr>
          <p:cNvPr id="5" name="Rounded Rectangle 4"/>
          <p:cNvSpPr/>
          <p:nvPr/>
        </p:nvSpPr>
        <p:spPr>
          <a:xfrm>
            <a:off x="2926080" y="2423160"/>
            <a:ext cx="6339535" cy="457200"/>
          </a:xfrm>
          <a:prstGeom prst="round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UP NMMS 2024-25 महामंथन • सेट 01 🔥</a:t>
            </a:r>
          </a:p>
        </p:txBody>
      </p:sp>
      <p:sp>
        <p:nvSpPr>
          <p:cNvPr id="6" name="TextBox 5"/>
          <p:cNvSpPr txBox="1"/>
          <p:nvPr/>
        </p:nvSpPr>
        <p:spPr>
          <a:xfrm>
            <a:off x="457200" y="2926080"/>
            <a:ext cx="11277295" cy="1097280"/>
          </a:xfrm>
          <a:prstGeom prst="rect">
            <a:avLst/>
          </a:prstGeom>
          <a:noFill/>
        </p:spPr>
        <p:txBody>
          <a:bodyPr wrap="square">
            <a:spAutoFit/>
          </a:bodyPr>
          <a:lstStyle/>
          <a:p>
            <a:pPr algn="ctr">
              <a:defRPr sz="2800" b="1">
                <a:solidFill>
                  <a:srgbClr val="FFFFFF"/>
                </a:solidFill>
                <a:latin typeface="Segoe UI"/>
              </a:defRPr>
            </a:pPr>
            <a:r>
              <a:t>मानसिक योग्यता परीक्षण (MAT) — अभ्यास सेट #01</a:t>
            </a:r>
          </a:p>
          <a:p>
            <a:pPr algn="ctr">
              <a:spcBef>
                <a:spcPts val="400"/>
              </a:spcBef>
              <a:defRPr sz="1400">
                <a:solidFill>
                  <a:srgbClr val="CBD5E1"/>
                </a:solidFill>
                <a:latin typeface="Segoe UI"/>
              </a:defRPr>
            </a:pPr>
            <a:r>
              <a:t>परीक्षा में 100% सफलता हेतु 50 अति-संभावित प्रश्नों का महाभ्यास (प्र. 1 से 50)</a:t>
            </a:r>
          </a:p>
        </p:txBody>
      </p:sp>
      <p:sp>
        <p:nvSpPr>
          <p:cNvPr id="7" name="Rounded Rectangle 6"/>
          <p:cNvSpPr/>
          <p:nvPr/>
        </p:nvSpPr>
        <p:spPr>
          <a:xfrm>
            <a:off x="1371600" y="4114800"/>
            <a:ext cx="9448495" cy="1920240"/>
          </a:xfrm>
          <a:prstGeom prst="roundRect">
            <a:avLst/>
          </a:prstGeom>
          <a:solidFill>
            <a:srgbClr val="1E293B"/>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50" b="1">
                <a:solidFill>
                  <a:srgbClr val="D97706"/>
                </a:solidFill>
                <a:latin typeface="Segoe UI"/>
              </a:defRPr>
            </a:pPr>
            <a:r>
              <a:t>🎯 इस अभ्यास सेट की मुख्य विशेषताएं (Live Class Features):</a:t>
            </a:r>
          </a:p>
          <a:p>
            <a:pPr>
              <a:spcBef>
                <a:spcPts val="200"/>
              </a:spcBef>
              <a:defRPr sz="1150">
                <a:solidFill>
                  <a:srgbClr val="FFFFFF"/>
                </a:solidFill>
                <a:latin typeface="Segoe UI"/>
              </a:defRPr>
            </a:pPr>
            <a:r>
              <a:t>✓ श्रृंखला परीक्षण (Number, Letter &amp; Mixed Series)</a:t>
            </a:r>
          </a:p>
          <a:p>
            <a:pPr>
              <a:spcBef>
                <a:spcPts val="200"/>
              </a:spcBef>
              <a:defRPr sz="1150">
                <a:solidFill>
                  <a:srgbClr val="FFFFFF"/>
                </a:solidFill>
                <a:latin typeface="Segoe UI"/>
              </a:defRPr>
            </a:pPr>
            <a:r>
              <a:t>✓ सादृश्यता एवं वर्गीकरण (Analogy &amp; Classification)</a:t>
            </a:r>
          </a:p>
          <a:p>
            <a:pPr>
              <a:spcBef>
                <a:spcPts val="200"/>
              </a:spcBef>
              <a:defRPr sz="1150">
                <a:solidFill>
                  <a:srgbClr val="FFFFFF"/>
                </a:solidFill>
                <a:latin typeface="Segoe UI"/>
              </a:defRPr>
            </a:pPr>
            <a:r>
              <a:t>✓ कोडिंग-डिकोडिंग, गणितीय संक्रियाएं एवं लुप्त पद</a:t>
            </a:r>
          </a:p>
          <a:p>
            <a:pPr>
              <a:spcBef>
                <a:spcPts val="200"/>
              </a:spcBef>
              <a:defRPr sz="1150">
                <a:solidFill>
                  <a:srgbClr val="FFFFFF"/>
                </a:solidFill>
                <a:latin typeface="Segoe UI"/>
              </a:defRPr>
            </a:pPr>
            <a:r>
              <a:t>✓ रक्त संबंध, दिशा-दूरी, वेन आरेख एवं दर्पण प्रतिबिम्ब</a:t>
            </a:r>
          </a:p>
          <a:p>
            <a:pPr>
              <a:spcBef>
                <a:spcPts val="200"/>
              </a:spcBef>
              <a:defRPr sz="1150">
                <a:solidFill>
                  <a:srgbClr val="FFFFFF"/>
                </a:solidFill>
                <a:latin typeface="Segoe UI"/>
              </a:defRPr>
            </a:pPr>
            <a:r>
              <a:t>✓ प्रत्येक प्रश्न के साथ सटीक ट्रिक एवं 2-स्लाइड इंटरैक्टिव व्याख्या</a:t>
            </a:r>
          </a:p>
        </p:txBody>
      </p:sp>
      <p:sp>
        <p:nvSpPr>
          <p:cNvPr id="8" name="TextBox 7"/>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Expert)  |  WhatsApp: +91 91101 13671  |  YouTube: Sagar Coaching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MAT अभ्यास सेट #01 — परीक्षा पैटर्न एवं अभ्यास निर्देश</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 of 103</a:t>
            </a:r>
          </a:p>
        </p:txBody>
      </p:sp>
      <p:sp>
        <p:nvSpPr>
          <p:cNvPr id="4" name="Rounded Rectangle 3"/>
          <p:cNvSpPr/>
          <p:nvPr/>
        </p:nvSpPr>
        <p:spPr>
          <a:xfrm>
            <a:off x="457200" y="1097280"/>
            <a:ext cx="11277295" cy="5120640"/>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457200" tIns="274320"/>
          <a:lstStyle/>
          <a:p>
            <a:pPr algn="ctr">
              <a:defRPr sz="1800" b="1">
                <a:solidFill>
                  <a:srgbClr val="0F172A"/>
                </a:solidFill>
                <a:latin typeface="Segoe UI"/>
              </a:defRPr>
            </a:pPr>
            <a:r>
              <a:t>📋 उत्तर प्रदेश NMMS मानसिक योग्यता परीक्षण (MAT) परीक्षा योजना (Official Guidelines):</a:t>
            </a:r>
          </a:p>
          <a:p>
            <a:pPr>
              <a:spcBef>
                <a:spcPts val="800"/>
              </a:spcBef>
              <a:spcAft>
                <a:spcPts val="200"/>
              </a:spcAft>
              <a:defRPr sz="1400">
                <a:solidFill>
                  <a:srgbClr val="0F172A"/>
                </a:solidFill>
                <a:latin typeface="Segoe UI"/>
              </a:defRPr>
            </a:pPr>
            <a:r>
              <a:t>•  परीक्षा संरचना: मानसिक योग्यता परीक्षण (MAT) में कुल 90 बहुविकल्पीय प्रश्न (90 अंक) पूछे जाते हैं।</a:t>
            </a:r>
          </a:p>
          <a:p>
            <a:pPr>
              <a:spcBef>
                <a:spcPts val="800"/>
              </a:spcBef>
              <a:spcAft>
                <a:spcPts val="200"/>
              </a:spcAft>
              <a:defRPr sz="1400">
                <a:solidFill>
                  <a:srgbClr val="0F172A"/>
                </a:solidFill>
                <a:latin typeface="Segoe UI"/>
              </a:defRPr>
            </a:pPr>
            <a:r>
              <a:t>•  इस अभ्यास सेट में UP NMMS के 10 वर्षों के ट्रेंड के आधार पर 50 अति-संभावित प्रश्न शामिल हैं।</a:t>
            </a:r>
          </a:p>
          <a:p>
            <a:pPr>
              <a:spcBef>
                <a:spcPts val="800"/>
              </a:spcBef>
              <a:spcAft>
                <a:spcPts val="200"/>
              </a:spcAft>
              <a:defRPr sz="1400">
                <a:solidFill>
                  <a:srgbClr val="0F172A"/>
                </a:solidFill>
                <a:latin typeface="Segoe UI"/>
              </a:defRPr>
            </a:pPr>
            <a:r>
              <a:t>•  कवर किए गए प्रमुख विषय: श्रृंखला, सादृश्यता, वर्गीकरण, कोडिंग, लुप्त पद, गणितीय संक्रियाएं, रक्त संबंध, दिशा, वेन आरेख आदि।</a:t>
            </a:r>
          </a:p>
          <a:p>
            <a:pPr>
              <a:spcBef>
                <a:spcPts val="800"/>
              </a:spcBef>
              <a:spcAft>
                <a:spcPts val="200"/>
              </a:spcAft>
              <a:defRPr sz="1400">
                <a:solidFill>
                  <a:srgbClr val="0F172A"/>
                </a:solidFill>
                <a:latin typeface="Segoe UI"/>
              </a:defRPr>
            </a:pPr>
            <a:r>
              <a:t>•  2-स्लाइड इंटरैक्टिव पद्धति: प्रश्न स्लाइड पर उत्तर पूरी तरह छुपा है ताकि विद्यार्थी पहले स्वयं विचार व अभ्यास करें।</a:t>
            </a:r>
          </a:p>
          <a:p>
            <a:pPr>
              <a:spcBef>
                <a:spcPts val="800"/>
              </a:spcBef>
              <a:spcAft>
                <a:spcPts val="200"/>
              </a:spcAft>
              <a:defRPr sz="1400">
                <a:solidFill>
                  <a:srgbClr val="0F172A"/>
                </a:solidFill>
                <a:latin typeface="Segoe UI"/>
              </a:defRPr>
            </a:pPr>
            <a:r>
              <a:t>•  अगली स्लाइड पर सही विकल्प हरे रंग (Green Glow) में चमकेगा और नीचे आसान ट्रिक व व्याख्या प्रस्तुत होगी।</a:t>
            </a:r>
          </a:p>
          <a:p>
            <a:pPr>
              <a:spcBef>
                <a:spcPts val="800"/>
              </a:spcBef>
              <a:spcAft>
                <a:spcPts val="200"/>
              </a:spcAft>
              <a:defRPr sz="1400">
                <a:solidFill>
                  <a:srgbClr val="0F172A"/>
                </a:solidFill>
                <a:latin typeface="Segoe UI"/>
              </a:defRPr>
            </a:pPr>
            <a:r>
              <a:t>•  लक्ष्य: MAT में 90 में से 85+ अंक प्राप्त करके मेरिट सूची में शीर्ष स्थान सुनिश्चित करना!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(शब्द) / Classification • प्र. #1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 निम्नलिखित चार विकल्पों में से कौन-सा एक अन्य तीनों से भिन्न (विजातीय) है?</a:t>
            </a:r>
          </a:p>
          <a:p>
            <a:pPr algn="ctr">
              <a:spcBef>
                <a:spcPts val="600"/>
              </a:spcBef>
              <a:defRPr sz="1450" b="1">
                <a:solidFill>
                  <a:srgbClr val="2563EB"/>
                </a:solidFill>
                <a:latin typeface="Segoe UI"/>
              </a:defRPr>
            </a:pPr>
            <a:r>
              <a:t>Q. 1. Which one of the following four options is different (odd one out) from the other three?</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लखनऊ / Lucknow</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भोपाल / Bhopal</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कानपुर / Kanpur</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जयपुर / Jaipur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(शब्द) / Classification • प्र. #1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 निम्नलिखित चार विकल्पों में से कौन-सा एक अन्य तीनों से भिन्न (विजातीय) है?</a:t>
            </a:r>
          </a:p>
          <a:p>
            <a:pPr algn="ctr">
              <a:spcBef>
                <a:spcPts val="600"/>
              </a:spcBef>
              <a:defRPr sz="1450" b="1">
                <a:solidFill>
                  <a:srgbClr val="2563EB"/>
                </a:solidFill>
                <a:latin typeface="Segoe UI"/>
              </a:defRPr>
            </a:pPr>
            <a:r>
              <a:t>Q. 1. Which one of the following four options is different (odd one out) from the other three?</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लखनऊ / Lucknow</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भोपाल / Bhopal</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कानपुर / Kanpur</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जयपुर / Jaipur</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लखनऊ (उत्तर प्रदेश), भोपाल (मध्य प्रदेश) और जयपुर (राजस्थान) राज्यों की राजधानियाँ हैं, जबकि कानपुर केवल एक औद्योगिक नगर है। (Lucknow, Bhopal and Jaipur are state capitals, whereas Kanpur is an industrial city).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(संख्या) / Number Classification • प्र. #2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 दिए गए विकल्पों में से विषम संख्या (Odd Number) चुनिए:</a:t>
            </a:r>
          </a:p>
          <a:p>
            <a:pPr algn="ctr">
              <a:spcBef>
                <a:spcPts val="600"/>
              </a:spcBef>
              <a:defRPr sz="1450" b="1">
                <a:solidFill>
                  <a:srgbClr val="2563EB"/>
                </a:solidFill>
                <a:latin typeface="Segoe UI"/>
              </a:defRPr>
            </a:pPr>
            <a:r>
              <a:t>Q. 2. Choose the odd number from the given options:</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27</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64</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125</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144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(संख्या) / Number Classification • प्र. #2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 दिए गए विकल्पों में से विषम संख्या (Odd Number) चुनिए:</a:t>
            </a:r>
          </a:p>
          <a:p>
            <a:pPr algn="ctr">
              <a:spcBef>
                <a:spcPts val="600"/>
              </a:spcBef>
              <a:defRPr sz="1450" b="1">
                <a:solidFill>
                  <a:srgbClr val="2563EB"/>
                </a:solidFill>
                <a:latin typeface="Segoe UI"/>
              </a:defRPr>
            </a:pPr>
            <a:r>
              <a:t>Q. 2. Choose the odd number from the given options:</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27</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64</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125</a:t>
            </a:r>
          </a:p>
        </p:txBody>
      </p:sp>
      <p:sp>
        <p:nvSpPr>
          <p:cNvPr id="8" name="Rounded Rectangle 7"/>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144</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0F172A"/>
                </a:solidFill>
                <a:latin typeface="Segoe UI"/>
              </a:defRPr>
            </a:pPr>
            <a:r>
              <a:t>💡 व्याख्या एवं ट्रिक (Explanation): 27 = 3³, 64 = 4³, 125 = 5³ (तीनों पूर्ण घन संख्याएँ हैं), जबकि 144 = 12² (यह पूर्ण वर्ग संख्या है, घन नहीं)। (27, 64, 125 are perfect cubes, while 144 is a square).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(अक्षर) / Letter Classification • प्र. #3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 निम्नलिखित अक्षर समूहों में से विषम समूह कौन-सा है?</a:t>
            </a:r>
          </a:p>
          <a:p>
            <a:pPr algn="ctr">
              <a:spcBef>
                <a:spcPts val="600"/>
              </a:spcBef>
              <a:defRPr sz="1450" b="1">
                <a:solidFill>
                  <a:srgbClr val="2563EB"/>
                </a:solidFill>
                <a:latin typeface="Segoe UI"/>
              </a:defRPr>
            </a:pPr>
            <a:r>
              <a:t>Q. 3. Which of the following letter groups is the odd one out?</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BDF</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HJL</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PRT</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KMO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(अक्षर) / Letter Classification • प्र. #3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 निम्नलिखित अक्षर समूहों में से विषम समूह कौन-सा है?</a:t>
            </a:r>
          </a:p>
          <a:p>
            <a:pPr algn="ctr">
              <a:spcBef>
                <a:spcPts val="600"/>
              </a:spcBef>
              <a:defRPr sz="1450" b="1">
                <a:solidFill>
                  <a:srgbClr val="2563EB"/>
                </a:solidFill>
                <a:latin typeface="Segoe UI"/>
              </a:defRPr>
            </a:pPr>
            <a:r>
              <a:t>Q. 3. Which of the following letter groups is the odd one out?</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BDF</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HJL</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PRT</a:t>
            </a:r>
          </a:p>
        </p:txBody>
      </p:sp>
      <p:sp>
        <p:nvSpPr>
          <p:cNvPr id="8" name="Rounded Rectangle 7"/>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KMO</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0F172A"/>
                </a:solidFill>
                <a:latin typeface="Segoe UI"/>
              </a:defRPr>
            </a:pPr>
            <a:r>
              <a:t>💡 व्याख्या एवं ट्रिक (Explanation): B(+2)D(+2)F, H(+2)J(+2)L, P(+2)R(+2)T सभी में केवल व्यंजन (Consonants) हैं, जबकि KMO में एक स्वर 'O' शामिल है। (KMO contains a vowel 'O' whereas others consist only of consonants).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(संख्या युग्म) / Number Pair • प्र. #4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 दिए गए संख्या युग्मों में से कौन-सा युग्म अन्य तीनों से अलग है?</a:t>
            </a:r>
          </a:p>
          <a:p>
            <a:pPr algn="ctr">
              <a:spcBef>
                <a:spcPts val="600"/>
              </a:spcBef>
              <a:defRPr sz="1450" b="1">
                <a:solidFill>
                  <a:srgbClr val="2563EB"/>
                </a:solidFill>
                <a:latin typeface="Segoe UI"/>
              </a:defRPr>
            </a:pPr>
            <a:r>
              <a:t>Q. 4. Which of the following number pairs is different from the other three?</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4 : 16</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7 : 49</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9 : 81</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6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(संख्या युग्म) / Number Pair • प्र. #4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 दिए गए संख्या युग्मों में से कौन-सा युग्म अन्य तीनों से अलग है?</a:t>
            </a:r>
          </a:p>
          <a:p>
            <a:pPr algn="ctr">
              <a:spcBef>
                <a:spcPts val="600"/>
              </a:spcBef>
              <a:defRPr sz="1450" b="1">
                <a:solidFill>
                  <a:srgbClr val="2563EB"/>
                </a:solidFill>
                <a:latin typeface="Segoe UI"/>
              </a:defRPr>
            </a:pPr>
            <a:r>
              <a:t>Q. 4. Which of the following number pairs is different from the other three?</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4 : 16</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7 : 49</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9 : 81</a:t>
            </a:r>
          </a:p>
        </p:txBody>
      </p:sp>
      <p:sp>
        <p:nvSpPr>
          <p:cNvPr id="8" name="Rounded Rectangle 7"/>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6 : 32</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0F172A"/>
                </a:solidFill>
                <a:latin typeface="Segoe UI"/>
              </a:defRPr>
            </a:pPr>
            <a:r>
              <a:t>💡 व्याख्या एवं ट्रिक (Explanation): अन्य सभी युग्मों में दूसरी संख्या पहली का वर्ग है: 4²=16, 7²=49, 9²=81, परंतु 6² = 36 होना चाहिए (32 दिया है)। (In others y = x², but 6² = 36 ≠ 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(सौरमंडल) / Solar System • प्र. #5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 निम्नलिखित में से कौन-सा विकल्प अन्य तीन से मेल नहीं खाता?</a:t>
            </a:r>
          </a:p>
          <a:p>
            <a:pPr algn="ctr">
              <a:spcBef>
                <a:spcPts val="600"/>
              </a:spcBef>
              <a:defRPr sz="1450" b="1">
                <a:solidFill>
                  <a:srgbClr val="2563EB"/>
                </a:solidFill>
                <a:latin typeface="Segoe UI"/>
              </a:defRPr>
            </a:pPr>
            <a:r>
              <a:t>Q. 5. Which of the following options does not match the other three?</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मंगल / Mars</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बुध / Mercury</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चंद्रमा / Moon</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शुक्र / Venus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(सौरमंडल) / Solar System • प्र. #5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 निम्नलिखित में से कौन-सा विकल्प अन्य तीन से मेल नहीं खाता?</a:t>
            </a:r>
          </a:p>
          <a:p>
            <a:pPr algn="ctr">
              <a:spcBef>
                <a:spcPts val="600"/>
              </a:spcBef>
              <a:defRPr sz="1450" b="1">
                <a:solidFill>
                  <a:srgbClr val="2563EB"/>
                </a:solidFill>
                <a:latin typeface="Segoe UI"/>
              </a:defRPr>
            </a:pPr>
            <a:r>
              <a:t>Q. 5. Which of the following options does not match the other three?</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मंगल / Mars</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बुध / Mercury</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चंद्रमा / Moon</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शुक्र / Venus</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मंगल, बुध और शुक्र सौरमंडल के ग्रह (Planets) हैं, जबकि चंद्रमा पृथ्वी का प्राकृतिक उपग्रह (Satellite) 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(अभाज्य संख्या) / Prime Numbers • प्र. #6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 दिए गए चार विकल्पों में से विषम संख्या ज्ञात कीजिए:</a:t>
            </a:r>
          </a:p>
          <a:p>
            <a:pPr algn="ctr">
              <a:spcBef>
                <a:spcPts val="600"/>
              </a:spcBef>
              <a:defRPr sz="1450" b="1">
                <a:solidFill>
                  <a:srgbClr val="2563EB"/>
                </a:solidFill>
                <a:latin typeface="Segoe UI"/>
              </a:defRPr>
            </a:pPr>
            <a:r>
              <a:t>Q. 6. Find the odd number from the given four options:</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17</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29</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37</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49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(अभाज्य संख्या) / Prime Numbers • प्र. #6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 दिए गए चार विकल्पों में से विषम संख्या ज्ञात कीजिए:</a:t>
            </a:r>
          </a:p>
          <a:p>
            <a:pPr algn="ctr">
              <a:spcBef>
                <a:spcPts val="600"/>
              </a:spcBef>
              <a:defRPr sz="1450" b="1">
                <a:solidFill>
                  <a:srgbClr val="2563EB"/>
                </a:solidFill>
                <a:latin typeface="Segoe UI"/>
              </a:defRPr>
            </a:pPr>
            <a:r>
              <a:t>Q. 6. Find the odd number from the given four options:</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17</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29</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37</a:t>
            </a:r>
          </a:p>
        </p:txBody>
      </p:sp>
      <p:sp>
        <p:nvSpPr>
          <p:cNvPr id="8" name="Rounded Rectangle 7"/>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49</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0F172A"/>
                </a:solidFill>
                <a:latin typeface="Segoe UI"/>
              </a:defRPr>
            </a:pPr>
            <a:r>
              <a:t>💡 व्याख्या एवं ट्रिक (Explanation): 17, 29 और 37 अभाज्य संख्याएँ (Prime Numbers) हैं, जबकि 49 भाज्य संख्या (Composite Number: 7 × 7) 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(मापन इकाइयाँ) / Units of Measurement • प्र. #7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 निम्नलिखित में से विजातीय मात्रक (Unit) चुनिए:</a:t>
            </a:r>
          </a:p>
          <a:p>
            <a:pPr algn="ctr">
              <a:spcBef>
                <a:spcPts val="600"/>
              </a:spcBef>
              <a:defRPr sz="1450" b="1">
                <a:solidFill>
                  <a:srgbClr val="2563EB"/>
                </a:solidFill>
                <a:latin typeface="Segoe UI"/>
              </a:defRPr>
            </a:pPr>
            <a:r>
              <a:t>Q. 7. Choose the odd unit of measurement from the following:</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मीटर / Metre</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किलोमीटर / Kilometre</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लीटर / Litre</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सेंटीमीटर / Centimetre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(मापन इकाइयाँ) / Units of Measurement • प्र. #7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 निम्नलिखित में से विजातीय मात्रक (Unit) चुनिए:</a:t>
            </a:r>
          </a:p>
          <a:p>
            <a:pPr algn="ctr">
              <a:spcBef>
                <a:spcPts val="600"/>
              </a:spcBef>
              <a:defRPr sz="1450" b="1">
                <a:solidFill>
                  <a:srgbClr val="2563EB"/>
                </a:solidFill>
                <a:latin typeface="Segoe UI"/>
              </a:defRPr>
            </a:pPr>
            <a:r>
              <a:t>Q. 7. Choose the odd unit of measurement from the following:</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मीटर / Metre</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किलोमीटर / Kilometre</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लीटर / Litre</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सेंटीमीटर / Centimetre</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मीटर, किलोमीटर और सेंटीमीटर लम्बाई/दूरी के मात्रक हैं, जबकि लीटर आयतन/द्रव धारिता (Volume) का मात्रक 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(विपरीत अक्षर) / Opposite Letters • प्र. #8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 दिए गए विकल्पों में से बेमेल अक्षर समूह का चयन कीजिए:</a:t>
            </a:r>
          </a:p>
          <a:p>
            <a:pPr algn="ctr">
              <a:spcBef>
                <a:spcPts val="600"/>
              </a:spcBef>
              <a:defRPr sz="1450" b="1">
                <a:solidFill>
                  <a:srgbClr val="2563EB"/>
                </a:solidFill>
                <a:latin typeface="Segoe UI"/>
              </a:defRPr>
            </a:pPr>
            <a:r>
              <a:t>Q. 8. Select the mismatched letter group from the given options:</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AZ</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BY</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CX</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DT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(विपरीत अक्षर) / Opposite Letters • प्र. #8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 दिए गए विकल्पों में से बेमेल अक्षर समूह का चयन कीजिए:</a:t>
            </a:r>
          </a:p>
          <a:p>
            <a:pPr algn="ctr">
              <a:spcBef>
                <a:spcPts val="600"/>
              </a:spcBef>
              <a:defRPr sz="1450" b="1">
                <a:solidFill>
                  <a:srgbClr val="2563EB"/>
                </a:solidFill>
                <a:latin typeface="Segoe UI"/>
              </a:defRPr>
            </a:pPr>
            <a:r>
              <a:t>Q. 8. Select the mismatched letter group from the given options:</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AZ</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BY</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CX</a:t>
            </a:r>
          </a:p>
        </p:txBody>
      </p:sp>
      <p:sp>
        <p:nvSpPr>
          <p:cNvPr id="8" name="Rounded Rectangle 7"/>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DT</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0F172A"/>
                </a:solidFill>
                <a:latin typeface="Segoe UI"/>
              </a:defRPr>
            </a:pPr>
            <a:r>
              <a:t>💡 व्याख्या एवं ट्रिक (Explanation): A-Z, B-Y, C-X वर्णमाला के विपरीत अक्षर (Opposite pairs) हैं, जबकि D का विपरीत अक्षर W होता है (यहाँ DT दिया 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(ज्यामिति) / Geometry Shapes • प्र. #9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 निम्नलिखित में से कौन-सी आकृति अन्य तीनों से भिन्न है?</a:t>
            </a:r>
          </a:p>
          <a:p>
            <a:pPr algn="ctr">
              <a:spcBef>
                <a:spcPts val="600"/>
              </a:spcBef>
              <a:defRPr sz="1450" b="1">
                <a:solidFill>
                  <a:srgbClr val="2563EB"/>
                </a:solidFill>
                <a:latin typeface="Segoe UI"/>
              </a:defRPr>
            </a:pPr>
            <a:r>
              <a:t>Q. 9. Which of the following geometric figures is different from the others?</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त्रिभुज / Triangle</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आयत / Rectangle</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वर्ग / Square</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वृत्त / Circle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(ज्यामिति) / Geometry Shapes • प्र. #9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 निम्नलिखित में से कौन-सी आकृति अन्य तीनों से भिन्न है?</a:t>
            </a:r>
          </a:p>
          <a:p>
            <a:pPr algn="ctr">
              <a:spcBef>
                <a:spcPts val="600"/>
              </a:spcBef>
              <a:defRPr sz="1450" b="1">
                <a:solidFill>
                  <a:srgbClr val="2563EB"/>
                </a:solidFill>
                <a:latin typeface="Segoe UI"/>
              </a:defRPr>
            </a:pPr>
            <a:r>
              <a:t>Q. 9. Which of the following geometric figures is different from the others?</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त्रिभुज / Triangle</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आयत / Rectangle</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वर्ग / Square</a:t>
            </a:r>
          </a:p>
        </p:txBody>
      </p:sp>
      <p:sp>
        <p:nvSpPr>
          <p:cNvPr id="8" name="Rounded Rectangle 7"/>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वृत्त / Circle</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0F172A"/>
                </a:solidFill>
                <a:latin typeface="Segoe UI"/>
              </a:defRPr>
            </a:pPr>
            <a:r>
              <a:t>💡 व्याख्या एवं ट्रिक (Explanation): त्रिभुज, आयत और वर्ग रेखाखंडों (Straight lines) से बने बहुभुज हैं, जबकि वृत्त एक वक्र रेखा (Curved line) से बनी आकृति 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(मानव अंग) / Human Anatomy • प्र. #10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21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10. दिए गए विकल्पों में से विषम अंग का चयन कीजिए:</a:t>
            </a:r>
          </a:p>
          <a:p>
            <a:pPr algn="ctr">
              <a:spcBef>
                <a:spcPts val="600"/>
              </a:spcBef>
              <a:defRPr sz="1450" b="1">
                <a:solidFill>
                  <a:srgbClr val="2563EB"/>
                </a:solidFill>
                <a:latin typeface="Segoe UI"/>
              </a:defRPr>
            </a:pPr>
            <a:r>
              <a:t>Q. 10. Select the odd organ from the given options:</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आँख / Eye</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कान / Ear</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नाक / Nose</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हृदय / Heart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(मानव अंग) / Human Anatomy • प्र. #10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22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10. दिए गए विकल्पों में से विषम अंग का चयन कीजिए:</a:t>
            </a:r>
          </a:p>
          <a:p>
            <a:pPr algn="ctr">
              <a:spcBef>
                <a:spcPts val="600"/>
              </a:spcBef>
              <a:defRPr sz="1450" b="1">
                <a:solidFill>
                  <a:srgbClr val="2563EB"/>
                </a:solidFill>
                <a:latin typeface="Segoe UI"/>
              </a:defRPr>
            </a:pPr>
            <a:r>
              <a:t>Q. 10. Select the odd organ from the given options:</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आँख / Eye</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कान / Ear</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नाक / Nose</a:t>
            </a:r>
          </a:p>
        </p:txBody>
      </p:sp>
      <p:sp>
        <p:nvSpPr>
          <p:cNvPr id="8" name="Rounded Rectangle 7"/>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हृदय / Heart</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0F172A"/>
                </a:solidFill>
                <a:latin typeface="Segoe UI"/>
              </a:defRPr>
            </a:pPr>
            <a:r>
              <a:t>💡 व्याख्या एवं ट्रिक (Explanation): आँख, कान और नाक बाहरी संवेदी अंग (Sense organs) हैं, जबकि हृदय शरीर का आंतरिक अंग (Internal organ) 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(संख्या संक्रिया) / Number Operation • प्र. #11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23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11. निम्नलिखित संख्या समूहों में से बेमेल समूह कौन-सा है?</a:t>
            </a:r>
          </a:p>
          <a:p>
            <a:pPr algn="ctr">
              <a:spcBef>
                <a:spcPts val="600"/>
              </a:spcBef>
              <a:defRPr sz="1450" b="1">
                <a:solidFill>
                  <a:srgbClr val="2563EB"/>
                </a:solidFill>
                <a:latin typeface="Segoe UI"/>
              </a:defRPr>
            </a:pPr>
            <a:r>
              <a:t>Q. 11. Which of the following number groups is mismatched?</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12 : 24</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15 : 30</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18 : 36</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21 : 45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(संख्या संक्रिया) / Number Operation • प्र. #11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24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11. निम्नलिखित संख्या समूहों में से बेमेल समूह कौन-सा है?</a:t>
            </a:r>
          </a:p>
          <a:p>
            <a:pPr algn="ctr">
              <a:spcBef>
                <a:spcPts val="600"/>
              </a:spcBef>
              <a:defRPr sz="1450" b="1">
                <a:solidFill>
                  <a:srgbClr val="2563EB"/>
                </a:solidFill>
                <a:latin typeface="Segoe UI"/>
              </a:defRPr>
            </a:pPr>
            <a:r>
              <a:t>Q. 11. Which of the following number groups is mismatched?</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12 : 24</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15 : 30</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18 : 36</a:t>
            </a:r>
          </a:p>
        </p:txBody>
      </p:sp>
      <p:sp>
        <p:nvSpPr>
          <p:cNvPr id="8" name="Rounded Rectangle 7"/>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21 : 45</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0F172A"/>
                </a:solidFill>
                <a:latin typeface="Segoe UI"/>
              </a:defRPr>
            </a:pPr>
            <a:r>
              <a:t>💡 व्याख्या एवं ट्रिक (Explanation): अन्य सभी में दूसरी संख्या पहली का ठीक दोगुना (×2) है: 12×2=24, 15×2=30, 18×2=36; परंतु 21 × 2 = 42 होना चाहिए (45 दिया 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(ऋतु/दिन) / General Classification • प्र. #12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25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12. निम्नलिखित में से विजातीय शब्द चुनिए:</a:t>
            </a:r>
          </a:p>
          <a:p>
            <a:pPr algn="ctr">
              <a:spcBef>
                <a:spcPts val="600"/>
              </a:spcBef>
              <a:defRPr sz="1450" b="1">
                <a:solidFill>
                  <a:srgbClr val="2563EB"/>
                </a:solidFill>
                <a:latin typeface="Segoe UI"/>
              </a:defRPr>
            </a:pPr>
            <a:r>
              <a:t>Q. 12. Choose the odd word from the following:</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ग्रीष्म / Summer</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वर्षा / Monsoon</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शीत / Winter</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रविवार / Sunday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वर्गीकरण (ऋतु/दिन) / General Classification • प्र. #12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26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12. निम्नलिखित में से विजातीय शब्द चुनिए:</a:t>
            </a:r>
          </a:p>
          <a:p>
            <a:pPr algn="ctr">
              <a:spcBef>
                <a:spcPts val="600"/>
              </a:spcBef>
              <a:defRPr sz="1450" b="1">
                <a:solidFill>
                  <a:srgbClr val="2563EB"/>
                </a:solidFill>
                <a:latin typeface="Segoe UI"/>
              </a:defRPr>
            </a:pPr>
            <a:r>
              <a:t>Q. 12. Choose the odd word from the following:</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ग्रीष्म / Summer</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वर्षा / Monsoon</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शीत / Winter</a:t>
            </a:r>
          </a:p>
        </p:txBody>
      </p:sp>
      <p:sp>
        <p:nvSpPr>
          <p:cNvPr id="8" name="Rounded Rectangle 7"/>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रविवार / Sunday</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0F172A"/>
                </a:solidFill>
                <a:latin typeface="Segoe UI"/>
              </a:defRPr>
            </a:pPr>
            <a:r>
              <a:t>💡 व्याख्या एवं ट्रिक (Explanation): ग्रीष्म, वर्षा और शीत ऋतुओं (Seasons) के नाम हैं, जबकि रविवार सप्ताह का एक दिन (Day of the week) 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(राज्य-राजधानी) / State-Capital • प्र. #13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27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13. उत्तर प्रदेश : लखनऊ : : बिहार : ?</a:t>
            </a:r>
          </a:p>
          <a:p>
            <a:pPr algn="ctr">
              <a:spcBef>
                <a:spcPts val="600"/>
              </a:spcBef>
              <a:defRPr sz="1450" b="1">
                <a:solidFill>
                  <a:srgbClr val="2563EB"/>
                </a:solidFill>
                <a:latin typeface="Segoe UI"/>
              </a:defRPr>
            </a:pPr>
            <a:r>
              <a:t>Q. 13. Uttar Pradesh : Lucknow : : Bihar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गया / Gaya</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पटना / Patna</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मुजफ्फरपुर / Muzaffarpur</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भागलपुर / Bhagalpur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(राज्य-राजधानी) / State-Capital • प्र. #13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28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13. उत्तर प्रदेश : लखनऊ : : बिहार : ?</a:t>
            </a:r>
          </a:p>
          <a:p>
            <a:pPr algn="ctr">
              <a:spcBef>
                <a:spcPts val="600"/>
              </a:spcBef>
              <a:defRPr sz="1450" b="1">
                <a:solidFill>
                  <a:srgbClr val="2563EB"/>
                </a:solidFill>
                <a:latin typeface="Segoe UI"/>
              </a:defRPr>
            </a:pPr>
            <a:r>
              <a:t>Q. 13. Uttar Pradesh : Lucknow : : Bihar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गया / Gaya</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पटना / Patna</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मुजफ्फरपुर / Muzaffarpur</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भागलपुर / Bhagalpur</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जिस प्रकार उत्तर प्रदेश की राजधानी लखनऊ है, उसी प्रकार बिहार राज्य की राजधानी पटना है। (Lucknow is capital of UP, Patna is capital of Bihar).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(संख्या वर्ग) / Number Analogy • प्र. #14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29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14. 5 : 25 : : 8 : ?</a:t>
            </a:r>
          </a:p>
          <a:p>
            <a:pPr algn="ctr">
              <a:spcBef>
                <a:spcPts val="600"/>
              </a:spcBef>
              <a:defRPr sz="1450" b="1">
                <a:solidFill>
                  <a:srgbClr val="2563EB"/>
                </a:solidFill>
                <a:latin typeface="Segoe UI"/>
              </a:defRPr>
            </a:pPr>
            <a:r>
              <a:t>Q. 14. 5 : 25 : : 8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56</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64</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72</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81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(संख्या वर्ग) / Number Analogy • प्र. #14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30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14. 5 : 25 : : 8 : ?</a:t>
            </a:r>
          </a:p>
          <a:p>
            <a:pPr algn="ctr">
              <a:spcBef>
                <a:spcPts val="600"/>
              </a:spcBef>
              <a:defRPr sz="1450" b="1">
                <a:solidFill>
                  <a:srgbClr val="2563EB"/>
                </a:solidFill>
                <a:latin typeface="Segoe UI"/>
              </a:defRPr>
            </a:pPr>
            <a:r>
              <a:t>Q. 14. 5 : 25 : : 8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56</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64</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72</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81</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नियम: पहली संख्या का वर्ग = दूसरी संख्या (5² = 25)। अतः 8² = 64। (Rule: x : x²).</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(उपकरण एवं मापन) / Instrument &amp; Measure • प्र. #15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31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15. थर्मामीटर : तापमान : : बैरोमीटर : ?</a:t>
            </a:r>
          </a:p>
          <a:p>
            <a:pPr algn="ctr">
              <a:spcBef>
                <a:spcPts val="600"/>
              </a:spcBef>
              <a:defRPr sz="1450" b="1">
                <a:solidFill>
                  <a:srgbClr val="2563EB"/>
                </a:solidFill>
                <a:latin typeface="Segoe UI"/>
              </a:defRPr>
            </a:pPr>
            <a:r>
              <a:t>Q. 15. Thermometer : Temperature : : Barometer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विद्युत धारा / Electric Current</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वायुमंडलीय दाब / Atmospheric Pressure</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आर्द्रता / Humidity</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दूरी / Distance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(उपकरण एवं मापन) / Instrument &amp; Measure • प्र. #15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32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15. थर्मामीटर : तापमान : : बैरोमीटर : ?</a:t>
            </a:r>
          </a:p>
          <a:p>
            <a:pPr algn="ctr">
              <a:spcBef>
                <a:spcPts val="600"/>
              </a:spcBef>
              <a:defRPr sz="1450" b="1">
                <a:solidFill>
                  <a:srgbClr val="2563EB"/>
                </a:solidFill>
                <a:latin typeface="Segoe UI"/>
              </a:defRPr>
            </a:pPr>
            <a:r>
              <a:t>Q. 15. Thermometer : Temperature : : Barometer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विद्युत धारा / Electric Current</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वायुमंडलीय दाब / Atmospheric Pressure</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आर्द्रता / Humidity</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दूरी / Distance</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थर्मामीटर से तापमान मापा जाता है, जबकि बैरोमीटर (Barometer) से वायुमंडलीय दाब मापा जाता 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(संख्या घन + 1) / Cube + 1 • प्र. #16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33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16. 2 : 9 : : 3 : ?</a:t>
            </a:r>
          </a:p>
          <a:p>
            <a:pPr algn="ctr">
              <a:spcBef>
                <a:spcPts val="600"/>
              </a:spcBef>
              <a:defRPr sz="1450" b="1">
                <a:solidFill>
                  <a:srgbClr val="2563EB"/>
                </a:solidFill>
                <a:latin typeface="Segoe UI"/>
              </a:defRPr>
            </a:pPr>
            <a:r>
              <a:t>Q. 16. 2 : 9 : : 3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26</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27</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28</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30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(संख्या घन + 1) / Cube + 1 • प्र. #16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34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16. 2 : 9 : : 3 : ?</a:t>
            </a:r>
          </a:p>
          <a:p>
            <a:pPr algn="ctr">
              <a:spcBef>
                <a:spcPts val="600"/>
              </a:spcBef>
              <a:defRPr sz="1450" b="1">
                <a:solidFill>
                  <a:srgbClr val="2563EB"/>
                </a:solidFill>
                <a:latin typeface="Segoe UI"/>
              </a:defRPr>
            </a:pPr>
            <a:r>
              <a:t>Q. 16. 2 : 9 : : 3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26</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27</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28</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30</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नियम: n : (n³ + 1)। यहाँ 2 : (2³ + 1) = 2 : (8 + 1) = 9। इसी प्रकार 3 : (3³ + 1) = 3 : (27 + 1) = 28।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(अक्षर) / Letter Analogy • प्र. #17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35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17. ACE : BDF : : GIK : ?</a:t>
            </a:r>
          </a:p>
          <a:p>
            <a:pPr algn="ctr">
              <a:spcBef>
                <a:spcPts val="600"/>
              </a:spcBef>
              <a:defRPr sz="1450" b="1">
                <a:solidFill>
                  <a:srgbClr val="2563EB"/>
                </a:solidFill>
                <a:latin typeface="Segoe UI"/>
              </a:defRPr>
            </a:pPr>
            <a:r>
              <a:t>Q. 17. ACE : BDF : : GIK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HJL</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HKL</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HJM</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IJL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(अक्षर) / Letter Analogy • प्र. #17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36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17. ACE : BDF : : GIK : ?</a:t>
            </a:r>
          </a:p>
          <a:p>
            <a:pPr algn="ctr">
              <a:spcBef>
                <a:spcPts val="600"/>
              </a:spcBef>
              <a:defRPr sz="1450" b="1">
                <a:solidFill>
                  <a:srgbClr val="2563EB"/>
                </a:solidFill>
                <a:latin typeface="Segoe UI"/>
              </a:defRPr>
            </a:pPr>
            <a:r>
              <a:t>Q. 17. ACE : BDF : : GIK : ?</a:t>
            </a:r>
          </a:p>
        </p:txBody>
      </p:sp>
      <p:sp>
        <p:nvSpPr>
          <p:cNvPr id="5" name="Rounded Rectangle 4"/>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HJL</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HKL</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HJM</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IJL</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0F172A"/>
                </a:solidFill>
                <a:latin typeface="Segoe UI"/>
              </a:defRPr>
            </a:pPr>
            <a:r>
              <a:t>💡 व्याख्या एवं ट्रिक (Explanation): प्रत्येक अक्षर में +1: A(+1)=B, C(+1)=D, E(+1)=F। इसी प्रकार G(+1)=H, I(+1)=J, K(+1)=L =&gt; 'HJL'।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(रोग व अंग) / Disease &amp; Organ • प्र. #18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37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18. मोतियाबिंद : आँख : : निमोनिया : ?</a:t>
            </a:r>
          </a:p>
          <a:p>
            <a:pPr algn="ctr">
              <a:spcBef>
                <a:spcPts val="600"/>
              </a:spcBef>
              <a:defRPr sz="1450" b="1">
                <a:solidFill>
                  <a:srgbClr val="2563EB"/>
                </a:solidFill>
                <a:latin typeface="Segoe UI"/>
              </a:defRPr>
            </a:pPr>
            <a:r>
              <a:t>Q. 18. Cataract : Eye : : Pneumonia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हृदय / Heart</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फेफड़े / Lungs</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यकृत / Liver</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त्वचा / Skin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(रोग व अंग) / Disease &amp; Organ • प्र. #18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38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18. मोतियाबिंद : आँख : : निमोनिया : ?</a:t>
            </a:r>
          </a:p>
          <a:p>
            <a:pPr algn="ctr">
              <a:spcBef>
                <a:spcPts val="600"/>
              </a:spcBef>
              <a:defRPr sz="1450" b="1">
                <a:solidFill>
                  <a:srgbClr val="2563EB"/>
                </a:solidFill>
                <a:latin typeface="Segoe UI"/>
              </a:defRPr>
            </a:pPr>
            <a:r>
              <a:t>Q. 18. Cataract : Eye : : Pneumonia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हृदय / Heart</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फेफड़े / Lungs</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यकृत / Liver</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त्वचा / Skin</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मोतियाबिंद आँख का रोग है, जबकि निमोनिया फेफड़ों (Lungs) का संक्रमण है।</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(संख्या वर्ग) / Square Analogy • प्र. #19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39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19. 12 : 144 : : 15 : ?</a:t>
            </a:r>
          </a:p>
          <a:p>
            <a:pPr algn="ctr">
              <a:spcBef>
                <a:spcPts val="600"/>
              </a:spcBef>
              <a:defRPr sz="1450" b="1">
                <a:solidFill>
                  <a:srgbClr val="2563EB"/>
                </a:solidFill>
                <a:latin typeface="Segoe UI"/>
              </a:defRPr>
            </a:pPr>
            <a:r>
              <a:t>Q. 19. 12 : 144 : : 15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215</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225</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240</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256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(संख्या वर्ग) / Square Analogy • प्र. #19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40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19. 12 : 144 : : 15 : ?</a:t>
            </a:r>
          </a:p>
          <a:p>
            <a:pPr algn="ctr">
              <a:spcBef>
                <a:spcPts val="600"/>
              </a:spcBef>
              <a:defRPr sz="1450" b="1">
                <a:solidFill>
                  <a:srgbClr val="2563EB"/>
                </a:solidFill>
                <a:latin typeface="Segoe UI"/>
              </a:defRPr>
            </a:pPr>
            <a:r>
              <a:t>Q. 19. 12 : 144 : : 15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215</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225</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240</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256</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12² = 144, इसी प्रकार 15² = 225।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(विलोम शब्द) / Antonyms • प्र. #20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41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20. प्रकाश : अंधकार : : ज्ञान : ?</a:t>
            </a:r>
          </a:p>
          <a:p>
            <a:pPr algn="ctr">
              <a:spcBef>
                <a:spcPts val="600"/>
              </a:spcBef>
              <a:defRPr sz="1450" b="1">
                <a:solidFill>
                  <a:srgbClr val="2563EB"/>
                </a:solidFill>
                <a:latin typeface="Segoe UI"/>
              </a:defRPr>
            </a:pPr>
            <a:r>
              <a:t>Q. 20. Light : Darkness : : Knowledge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विद्या / Learning</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अज्ञान / Ignorance</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गुरु / Teacher</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विद्वान / Scholar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(विलोम शब्द) / Antonyms • प्र. #20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42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20. प्रकाश : अंधकार : : ज्ञान : ?</a:t>
            </a:r>
          </a:p>
          <a:p>
            <a:pPr algn="ctr">
              <a:spcBef>
                <a:spcPts val="600"/>
              </a:spcBef>
              <a:defRPr sz="1450" b="1">
                <a:solidFill>
                  <a:srgbClr val="2563EB"/>
                </a:solidFill>
                <a:latin typeface="Segoe UI"/>
              </a:defRPr>
            </a:pPr>
            <a:r>
              <a:t>Q. 20. Light : Darkness : : Knowledge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विद्या / Learning</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अज्ञान / Ignorance</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गुरु / Teacher</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विद्वान / Scholar</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प्रकाश का विलोम अंधकार है, उसी प्रकार ज्ञान का विलोम अज्ञान (Ignorance) है।</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(वर्णमाला स्थान वर्ग) / Letter Position • प्र. #21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43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21. D : 16 : : F : ?</a:t>
            </a:r>
          </a:p>
          <a:p>
            <a:pPr algn="ctr">
              <a:spcBef>
                <a:spcPts val="600"/>
              </a:spcBef>
              <a:defRPr sz="1450" b="1">
                <a:solidFill>
                  <a:srgbClr val="2563EB"/>
                </a:solidFill>
                <a:latin typeface="Segoe UI"/>
              </a:defRPr>
            </a:pPr>
            <a:r>
              <a:t>Q. 21. D : 16 : : F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25</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30</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36</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49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(वर्णमाला स्थान वर्ग) / Letter Position • प्र. #21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44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21. D : 16 : : F : ?</a:t>
            </a:r>
          </a:p>
          <a:p>
            <a:pPr algn="ctr">
              <a:spcBef>
                <a:spcPts val="600"/>
              </a:spcBef>
              <a:defRPr sz="1450" b="1">
                <a:solidFill>
                  <a:srgbClr val="2563EB"/>
                </a:solidFill>
                <a:latin typeface="Segoe UI"/>
              </a:defRPr>
            </a:pPr>
            <a:r>
              <a:t>Q. 21. D : 16 : : F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25</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30</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36</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49</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D का वर्णमाला क्रमांक 4 है तथा 4² = 16। F का क्रमांक 6 है, अतः 6² = 36 होगा।</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(जीव व आवास) / Habitat Analogy • प्र. #22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45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22. पक्षी : घोंसला : : शेर : ?</a:t>
            </a:r>
          </a:p>
          <a:p>
            <a:pPr algn="ctr">
              <a:spcBef>
                <a:spcPts val="600"/>
              </a:spcBef>
              <a:defRPr sz="1450" b="1">
                <a:solidFill>
                  <a:srgbClr val="2563EB"/>
                </a:solidFill>
                <a:latin typeface="Segoe UI"/>
              </a:defRPr>
            </a:pPr>
            <a:r>
              <a:t>Q. 22. Bird : Nest : : Lion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तबेला / Stable</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मांद / Den</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बिल / Burrow</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पिंजरा / Cage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(जीव व आवास) / Habitat Analogy • प्र. #22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46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22. पक्षी : घोंसला : : शेर : ?</a:t>
            </a:r>
          </a:p>
          <a:p>
            <a:pPr algn="ctr">
              <a:spcBef>
                <a:spcPts val="600"/>
              </a:spcBef>
              <a:defRPr sz="1450" b="1">
                <a:solidFill>
                  <a:srgbClr val="2563EB"/>
                </a:solidFill>
                <a:latin typeface="Segoe UI"/>
              </a:defRPr>
            </a:pPr>
            <a:r>
              <a:t>Q. 22. Bird : Nest : : Lion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तबेला / Stable</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मांद / Den</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बिल / Burrow</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पिंजरा / Cage</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पक्षी घोंसले में रहता है, जबकि शेर का प्राकृतिक आवास मांद (Den) होता है।</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(संख्या संक्रिया) / Operation Analogy • प्र. #23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47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23. 7 : 50 : : 9 : ?</a:t>
            </a:r>
          </a:p>
          <a:p>
            <a:pPr algn="ctr">
              <a:spcBef>
                <a:spcPts val="600"/>
              </a:spcBef>
              <a:defRPr sz="1450" b="1">
                <a:solidFill>
                  <a:srgbClr val="2563EB"/>
                </a:solidFill>
                <a:latin typeface="Segoe UI"/>
              </a:defRPr>
            </a:pPr>
            <a:r>
              <a:t>Q. 23. 7 : 50 : : 9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80</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81</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82</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90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(संख्या संक्रिया) / Operation Analogy • प्र. #23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48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23. 7 : 50 : : 9 : ?</a:t>
            </a:r>
          </a:p>
          <a:p>
            <a:pPr algn="ctr">
              <a:spcBef>
                <a:spcPts val="600"/>
              </a:spcBef>
              <a:defRPr sz="1450" b="1">
                <a:solidFill>
                  <a:srgbClr val="2563EB"/>
                </a:solidFill>
                <a:latin typeface="Segoe UI"/>
              </a:defRPr>
            </a:pPr>
            <a:r>
              <a:t>Q. 23. 7 : 50 : : 9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80</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81</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82</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90</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नियम: n : (n² + 1)। 7² + 1 = 49 + 1 = 50। इसी प्रकार 9² + 1 = 81 + 1 = 82।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(देश-मुद्रा) / Country &amp; Currency • प्र. #24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49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24. भारत : रुपया : : बांग्लादेश : ?</a:t>
            </a:r>
          </a:p>
          <a:p>
            <a:pPr algn="ctr">
              <a:spcBef>
                <a:spcPts val="600"/>
              </a:spcBef>
              <a:defRPr sz="1450" b="1">
                <a:solidFill>
                  <a:srgbClr val="2563EB"/>
                </a:solidFill>
                <a:latin typeface="Segoe UI"/>
              </a:defRPr>
            </a:pPr>
            <a:r>
              <a:t>Q. 24. India : Rupee : : Bangladesh :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दिनार / Dinar</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टका / Taka</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रियाल / Riyal</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येन / Yen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सादृश्यता (देश-मुद्रा) / Country &amp; Currency • प्र. #24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50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24. भारत : रुपया : : बांग्लादेश : ?</a:t>
            </a:r>
          </a:p>
          <a:p>
            <a:pPr algn="ctr">
              <a:spcBef>
                <a:spcPts val="600"/>
              </a:spcBef>
              <a:defRPr sz="1450" b="1">
                <a:solidFill>
                  <a:srgbClr val="2563EB"/>
                </a:solidFill>
                <a:latin typeface="Segoe UI"/>
              </a:defRPr>
            </a:pPr>
            <a:r>
              <a:t>Q. 24. India : Rupee : : Bangladesh :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दिनार / Dinar</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टका / Taka</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रियाल / Riyal</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येन / Yen</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भारत की मुद्रा रुपया है, जबकि बांग्लादेश की राष्ट्रीय मुद्रा टका (Taka) है।</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(समान अंतर) / Number Series • प्र. #25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51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25. दी गई संख्या श्रेणी में अगला पद ज्ञात कीजिए: 4, 9, 14, 19, 24, ?</a:t>
            </a:r>
          </a:p>
          <a:p>
            <a:pPr algn="ctr">
              <a:spcBef>
                <a:spcPts val="600"/>
              </a:spcBef>
              <a:defRPr sz="1450" b="1">
                <a:solidFill>
                  <a:srgbClr val="2563EB"/>
                </a:solidFill>
                <a:latin typeface="Segoe UI"/>
              </a:defRPr>
            </a:pPr>
            <a:r>
              <a:t>Q. 25. Find the next term in the given number series: 4, 9, 14, 19, 24,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27</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28</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29</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30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(समान अंतर) / Number Series • प्र. #25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52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25. दी गई संख्या श्रेणी में अगला पद ज्ञात कीजिए: 4, 9, 14, 19, 24, ?</a:t>
            </a:r>
          </a:p>
          <a:p>
            <a:pPr algn="ctr">
              <a:spcBef>
                <a:spcPts val="600"/>
              </a:spcBef>
              <a:defRPr sz="1450" b="1">
                <a:solidFill>
                  <a:srgbClr val="2563EB"/>
                </a:solidFill>
                <a:latin typeface="Segoe UI"/>
              </a:defRPr>
            </a:pPr>
            <a:r>
              <a:t>Q. 25. Find the next term in the given number series: 4, 9, 14, 19, 24,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27</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28</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29</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30</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प्रत्येक पद में +5 की वृद्धि हो रही है: 24 + 5 = 29। (Common difference +5).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(पूर्ण वर्ग) / Square Series • प्र. #26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53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26. श्रृंखला में प्रश्नचिन्ह (?) के स्थान पर क्या आएगा? 1, 4, 9, 16, 25, 36, ?</a:t>
            </a:r>
          </a:p>
          <a:p>
            <a:pPr algn="ctr">
              <a:spcBef>
                <a:spcPts val="600"/>
              </a:spcBef>
              <a:defRPr sz="1450" b="1">
                <a:solidFill>
                  <a:srgbClr val="2563EB"/>
                </a:solidFill>
                <a:latin typeface="Segoe UI"/>
              </a:defRPr>
            </a:pPr>
            <a:r>
              <a:t>Q. 26. What will come in place of (?) in the series: 1, 4, 9, 16, 25, 36,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42</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45</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49</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54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(पूर्ण वर्ग) / Square Series • प्र. #26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54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26. श्रृंखला में प्रश्नचिन्ह (?) के स्थान पर क्या आएगा? 1, 4, 9, 16, 25, 36, ?</a:t>
            </a:r>
          </a:p>
          <a:p>
            <a:pPr algn="ctr">
              <a:spcBef>
                <a:spcPts val="600"/>
              </a:spcBef>
              <a:defRPr sz="1450" b="1">
                <a:solidFill>
                  <a:srgbClr val="2563EB"/>
                </a:solidFill>
                <a:latin typeface="Segoe UI"/>
              </a:defRPr>
            </a:pPr>
            <a:r>
              <a:t>Q. 26. What will come in place of (?) in the series: 1, 4, 9, 16, 25, 36,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42</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45</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49</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54</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प्राकृत संख्याओं के वर्ग: 1², 2², 3², 4², 5², 6², अतः अगला पद 7² = 49 होगा। (Perfect squares).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(बढ़ता अंतर) / Increasing Difference • प्र. #27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55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27. निम्न श्रेणी को पूरा कीजिए: 2, 5, 10, 17, 26, ?</a:t>
            </a:r>
          </a:p>
          <a:p>
            <a:pPr algn="ctr">
              <a:spcBef>
                <a:spcPts val="600"/>
              </a:spcBef>
              <a:defRPr sz="1450" b="1">
                <a:solidFill>
                  <a:srgbClr val="2563EB"/>
                </a:solidFill>
                <a:latin typeface="Segoe UI"/>
              </a:defRPr>
            </a:pPr>
            <a:r>
              <a:t>Q. 27. Complete the series: 2, 5, 10, 17, 26,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35</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36</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37</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38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(बढ़ता अंतर) / Increasing Difference • प्र. #27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56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27. निम्न श्रेणी को पूरा कीजिए: 2, 5, 10, 17, 26, ?</a:t>
            </a:r>
          </a:p>
          <a:p>
            <a:pPr algn="ctr">
              <a:spcBef>
                <a:spcPts val="600"/>
              </a:spcBef>
              <a:defRPr sz="1450" b="1">
                <a:solidFill>
                  <a:srgbClr val="2563EB"/>
                </a:solidFill>
                <a:latin typeface="Segoe UI"/>
              </a:defRPr>
            </a:pPr>
            <a:r>
              <a:t>Q. 27. Complete the series: 2, 5, 10, 17, 26,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35</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36</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37</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38</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अंतर विषम संख्याएं हैं (+3, +5, +7, +9, +11) अथवा n² + 1: 6² + 1 = 37।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(गुणन श्रेणी) / Multiplication Series • प्र. #28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57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28. श्रेणी का अगला पद क्या होगा? 3, 6, 12, 24, 48, ?</a:t>
            </a:r>
          </a:p>
          <a:p>
            <a:pPr algn="ctr">
              <a:spcBef>
                <a:spcPts val="600"/>
              </a:spcBef>
              <a:defRPr sz="1450" b="1">
                <a:solidFill>
                  <a:srgbClr val="2563EB"/>
                </a:solidFill>
                <a:latin typeface="Segoe UI"/>
              </a:defRPr>
            </a:pPr>
            <a:r>
              <a:t>Q. 28. What will be the next term in the series? 3, 6, 12, 24, 48,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72</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84</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96</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108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(गुणन श्रेणी) / Multiplication Series • प्र. #28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58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28. श्रेणी का अगला पद क्या होगा? 3, 6, 12, 24, 48, ?</a:t>
            </a:r>
          </a:p>
          <a:p>
            <a:pPr algn="ctr">
              <a:spcBef>
                <a:spcPts val="600"/>
              </a:spcBef>
              <a:defRPr sz="1450" b="1">
                <a:solidFill>
                  <a:srgbClr val="2563EB"/>
                </a:solidFill>
                <a:latin typeface="Segoe UI"/>
              </a:defRPr>
            </a:pPr>
            <a:r>
              <a:t>Q. 28. What will be the next term in the series? 3, 6, 12, 24, 48,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72</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84</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96</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108</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प्रत्येक पद दोगुना हो रहा है (×2): 48 × 2 = 96।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(पूर्ण घन) / Cube Series • प्र. #29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59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29. दी गई श्रेणी में लुप्त पद ज्ञात कीजिए: 8, 27, 64, 125, ?</a:t>
            </a:r>
          </a:p>
          <a:p>
            <a:pPr algn="ctr">
              <a:spcBef>
                <a:spcPts val="600"/>
              </a:spcBef>
              <a:defRPr sz="1450" b="1">
                <a:solidFill>
                  <a:srgbClr val="2563EB"/>
                </a:solidFill>
                <a:latin typeface="Segoe UI"/>
              </a:defRPr>
            </a:pPr>
            <a:r>
              <a:t>Q. 29. Find the missing term in the series: 8, 27, 64, 125,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196</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216</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225</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256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(पूर्ण घन) / Cube Series • प्र. #29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60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29. दी गई श्रेणी में लुप्त पद ज्ञात कीजिए: 8, 27, 64, 125, ?</a:t>
            </a:r>
          </a:p>
          <a:p>
            <a:pPr algn="ctr">
              <a:spcBef>
                <a:spcPts val="600"/>
              </a:spcBef>
              <a:defRPr sz="1450" b="1">
                <a:solidFill>
                  <a:srgbClr val="2563EB"/>
                </a:solidFill>
                <a:latin typeface="Segoe UI"/>
              </a:defRPr>
            </a:pPr>
            <a:r>
              <a:t>Q. 29. Find the missing term in the series: 8, 27, 64, 125,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196</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216</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225</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256</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प्राकृत संख्याओं के घन (Cubes): 2³=8, 3³=27, 4³=64, 5³=125, अतः 6³ = 216।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(घटती श्रेणी) / Decreasing Series • प्र. #30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61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30. निम्न श्रेणी में अगला पद चुनिए: 100, 93, 86, 79, 72, ?</a:t>
            </a:r>
          </a:p>
          <a:p>
            <a:pPr algn="ctr">
              <a:spcBef>
                <a:spcPts val="600"/>
              </a:spcBef>
              <a:defRPr sz="1450" b="1">
                <a:solidFill>
                  <a:srgbClr val="2563EB"/>
                </a:solidFill>
                <a:latin typeface="Segoe UI"/>
              </a:defRPr>
            </a:pPr>
            <a:r>
              <a:t>Q. 30. Choose the next term in the decreasing series: 100, 93, 86, 79, 72,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63</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64</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65</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66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(घटती श्रेणी) / Decreasing Series • प्र. #30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62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30. निम्न श्रेणी में अगला पद चुनिए: 100, 93, 86, 79, 72, ?</a:t>
            </a:r>
          </a:p>
          <a:p>
            <a:pPr algn="ctr">
              <a:spcBef>
                <a:spcPts val="600"/>
              </a:spcBef>
              <a:defRPr sz="1450" b="1">
                <a:solidFill>
                  <a:srgbClr val="2563EB"/>
                </a:solidFill>
                <a:latin typeface="Segoe UI"/>
              </a:defRPr>
            </a:pPr>
            <a:r>
              <a:t>Q. 30. Choose the next term in the decreasing series: 100, 93, 86, 79, 72,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63</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64</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65</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66</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प्रत्येक पद में से 7 घटाया जा रहा है (-7): 72 - 7 = 65।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(फिबोनाची) / Fibonacci Series • प्र. #31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63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31. दी गई श्रृंखला को पूरा कीजिए: 1, 1, 2, 3, 5, 8, 13, ?</a:t>
            </a:r>
          </a:p>
          <a:p>
            <a:pPr algn="ctr">
              <a:spcBef>
                <a:spcPts val="600"/>
              </a:spcBef>
              <a:defRPr sz="1450" b="1">
                <a:solidFill>
                  <a:srgbClr val="2563EB"/>
                </a:solidFill>
                <a:latin typeface="Segoe UI"/>
              </a:defRPr>
            </a:pPr>
            <a:r>
              <a:t>Q. 31. Complete the given Fibonacci series: 1, 1, 2, 3, 5, 8, 13,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18</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20</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21</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24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(फिबोनाची) / Fibonacci Series • प्र. #31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64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31. दी गई श्रृंखला को पूरा कीजिए: 1, 1, 2, 3, 5, 8, 13, ?</a:t>
            </a:r>
          </a:p>
          <a:p>
            <a:pPr algn="ctr">
              <a:spcBef>
                <a:spcPts val="600"/>
              </a:spcBef>
              <a:defRPr sz="1450" b="1">
                <a:solidFill>
                  <a:srgbClr val="2563EB"/>
                </a:solidFill>
                <a:latin typeface="Segoe UI"/>
              </a:defRPr>
            </a:pPr>
            <a:r>
              <a:t>Q. 31. Complete the given Fibonacci series: 1, 1, 2, 3, 5, 8, 13,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18</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20</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21</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24</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प्रत्येक पद पिछले दो पदों का योग है: 8 + 13 = 21। (Fibonacci pattern).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(एकांतर श्रेणी) / Alternate Series • प्र. #32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65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32. श्रेणी में (?) के स्थान पर कौन-सी संख्या आएगी? 2, 15, 4, 12, 6, 9, 8, ?</a:t>
            </a:r>
          </a:p>
          <a:p>
            <a:pPr algn="ctr">
              <a:spcBef>
                <a:spcPts val="600"/>
              </a:spcBef>
              <a:defRPr sz="1450" b="1">
                <a:solidFill>
                  <a:srgbClr val="2563EB"/>
                </a:solidFill>
                <a:latin typeface="Segoe UI"/>
              </a:defRPr>
            </a:pPr>
            <a:r>
              <a:t>Q. 32. Which number replaces (?) in the alternate series: 2, 15, 4, 12, 6, 9, 8,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6</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7</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8</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9</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(एकांतर श्रेणी) / Alternate Series • प्र. #32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66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32. श्रेणी में (?) के स्थान पर कौन-सी संख्या आएगी? 2, 15, 4, 12, 6, 9, 8, ?</a:t>
            </a:r>
          </a:p>
          <a:p>
            <a:pPr algn="ctr">
              <a:spcBef>
                <a:spcPts val="600"/>
              </a:spcBef>
              <a:defRPr sz="1450" b="1">
                <a:solidFill>
                  <a:srgbClr val="2563EB"/>
                </a:solidFill>
                <a:latin typeface="Segoe UI"/>
              </a:defRPr>
            </a:pPr>
            <a:r>
              <a:t>Q. 32. Which number replaces (?) in the alternate series: 2, 15, 4, 12, 6, 9, 8, ?</a:t>
            </a:r>
          </a:p>
        </p:txBody>
      </p:sp>
      <p:sp>
        <p:nvSpPr>
          <p:cNvPr id="5" name="Rounded Rectangle 4"/>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6</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7</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8</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9</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0F172A"/>
                </a:solidFill>
                <a:latin typeface="Segoe UI"/>
              </a:defRPr>
            </a:pPr>
            <a:r>
              <a:t>💡 व्याख्या एवं ट्रिक (Explanation): पहली श्रेणी (+2): 2, 4, 6, 8। दूसरी श्रेणी (-3): 15, 12, 9, 6। अतः 9 - 3 = 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(2x + 1) / Series Pattern • प्र. #33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67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33. निम्न श्रृंखला का अगला पद क्या होगा? 2, 5, 11, 23, 47, ?</a:t>
            </a:r>
          </a:p>
          <a:p>
            <a:pPr algn="ctr">
              <a:spcBef>
                <a:spcPts val="600"/>
              </a:spcBef>
              <a:defRPr sz="1450" b="1">
                <a:solidFill>
                  <a:srgbClr val="2563EB"/>
                </a:solidFill>
                <a:latin typeface="Segoe UI"/>
              </a:defRPr>
            </a:pPr>
            <a:r>
              <a:t>Q. 33. What is the next term in the series? 2, 5, 11, 23, 47,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85</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92</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95</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97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(2x + 1) / Series Pattern • प्र. #33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68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33. निम्न श्रृंखला का अगला पद क्या होगा? 2, 5, 11, 23, 47, ?</a:t>
            </a:r>
          </a:p>
          <a:p>
            <a:pPr algn="ctr">
              <a:spcBef>
                <a:spcPts val="600"/>
              </a:spcBef>
              <a:defRPr sz="1450" b="1">
                <a:solidFill>
                  <a:srgbClr val="2563EB"/>
                </a:solidFill>
                <a:latin typeface="Segoe UI"/>
              </a:defRPr>
            </a:pPr>
            <a:r>
              <a:t>Q. 33. What is the next term in the series? 2, 5, 11, 23, 47,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85</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92</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95</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97</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नियम: (पिछला पद × 2) + 1। 47 × 2 + 1 = 94 + 1 = 95।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(अभाज्य संख्या) / Prime Series • प्र. #34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69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34. दी गई श्रेणी में अगला पद क्या होगा? 2, 3, 5, 7, 11, 13, ?</a:t>
            </a:r>
          </a:p>
          <a:p>
            <a:pPr algn="ctr">
              <a:spcBef>
                <a:spcPts val="600"/>
              </a:spcBef>
              <a:defRPr sz="1450" b="1">
                <a:solidFill>
                  <a:srgbClr val="2563EB"/>
                </a:solidFill>
                <a:latin typeface="Segoe UI"/>
              </a:defRPr>
            </a:pPr>
            <a:r>
              <a:t>Q. 34. What is the next term in the series? 2, 3, 5, 7, 11, 13,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15</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17</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19</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21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(अभाज्य संख्या) / Prime Series • प्र. #34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70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34. दी गई श्रेणी में अगला पद क्या होगा? 2, 3, 5, 7, 11, 13, ?</a:t>
            </a:r>
          </a:p>
          <a:p>
            <a:pPr algn="ctr">
              <a:spcBef>
                <a:spcPts val="600"/>
              </a:spcBef>
              <a:defRPr sz="1450" b="1">
                <a:solidFill>
                  <a:srgbClr val="2563EB"/>
                </a:solidFill>
                <a:latin typeface="Segoe UI"/>
              </a:defRPr>
            </a:pPr>
            <a:r>
              <a:t>Q. 34. What is the next term in the series? 2, 3, 5, 7, 11, 13,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15</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17</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19</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21</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लगातार अभाज्य संख्याएँ (Consecutive Prime Numbers)। 13 के बाद अगली अभाज्य संख्या 17 होती है।</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(वर्ग - 1) / n² - 1 Series • प्र. #35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71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35. श्रृंखला में प्रश्नचिन्ह (?) के स्थान पर संख्या ज्ञात कीजिए: 0, 3, 8, 15, 24, ?</a:t>
            </a:r>
          </a:p>
          <a:p>
            <a:pPr algn="ctr">
              <a:spcBef>
                <a:spcPts val="600"/>
              </a:spcBef>
              <a:defRPr sz="1450" b="1">
                <a:solidFill>
                  <a:srgbClr val="2563EB"/>
                </a:solidFill>
                <a:latin typeface="Segoe UI"/>
              </a:defRPr>
            </a:pPr>
            <a:r>
              <a:t>Q. 35. Find the number in place of (?) in the series: 0, 3, 8, 15, 24,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32</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35</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36</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48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(वर्ग - 1) / n² - 1 Series • प्र. #35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72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35. श्रृंखला में प्रश्नचिन्ह (?) के स्थान पर संख्या ज्ञात कीजिए: 0, 3, 8, 15, 24, ?</a:t>
            </a:r>
          </a:p>
          <a:p>
            <a:pPr algn="ctr">
              <a:spcBef>
                <a:spcPts val="600"/>
              </a:spcBef>
              <a:defRPr sz="1450" b="1">
                <a:solidFill>
                  <a:srgbClr val="2563EB"/>
                </a:solidFill>
                <a:latin typeface="Segoe UI"/>
              </a:defRPr>
            </a:pPr>
            <a:r>
              <a:t>Q. 35. Find the number in place of (?) in the series: 0, 3, 8, 15, 24,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32</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35</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36</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48</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नियम: n² - 1 (1²-1=0, 2²-1=3, 3²-1=8, 4²-1=15, 5²-1=24)। अगला पद 6² - 1 = 35।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(अंतर का अंतर) / Difference Series • प्र. #36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73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36. श्रृंखला का अगला पद बताइए: 6, 11, 21, 36, 56, ?</a:t>
            </a:r>
          </a:p>
          <a:p>
            <a:pPr algn="ctr">
              <a:spcBef>
                <a:spcPts val="600"/>
              </a:spcBef>
              <a:defRPr sz="1450" b="1">
                <a:solidFill>
                  <a:srgbClr val="2563EB"/>
                </a:solidFill>
                <a:latin typeface="Segoe UI"/>
              </a:defRPr>
            </a:pPr>
            <a:r>
              <a:t>Q. 36. State the next term of the series: 6, 11, 21, 36, 56,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78</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81</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84</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86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संख्या श्रृंखला (अंतर का अंतर) / Difference Series • प्र. #36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74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36. श्रृंखला का अगला पद बताइए: 6, 11, 21, 36, 56, ?</a:t>
            </a:r>
          </a:p>
          <a:p>
            <a:pPr algn="ctr">
              <a:spcBef>
                <a:spcPts val="600"/>
              </a:spcBef>
              <a:defRPr sz="1450" b="1">
                <a:solidFill>
                  <a:srgbClr val="2563EB"/>
                </a:solidFill>
                <a:latin typeface="Segoe UI"/>
              </a:defRPr>
            </a:pPr>
            <a:r>
              <a:t>Q. 36. State the next term of the series: 6, 11, 21, 36, 56,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78</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81</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84</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86</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अंतर का क्रम: +5, +10, +15, +20, अगला अंतर +25 होगा: 56 + 25 = 81।</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(+2) / Letter Series • प्र. #37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75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37. दी गई अक्षर श्रेणी में अगला अक्षर क्या होगा? A, C, E, G, I, ?</a:t>
            </a:r>
          </a:p>
          <a:p>
            <a:pPr algn="ctr">
              <a:spcBef>
                <a:spcPts val="600"/>
              </a:spcBef>
              <a:defRPr sz="1450" b="1">
                <a:solidFill>
                  <a:srgbClr val="2563EB"/>
                </a:solidFill>
                <a:latin typeface="Segoe UI"/>
              </a:defRPr>
            </a:pPr>
            <a:r>
              <a:t>Q. 37. What will be the next letter in the series? A, C, E, G, I,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J</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K</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L</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M</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(+2) / Letter Series • प्र. #37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76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37. दी गई अक्षर श्रेणी में अगला अक्षर क्या होगा? A, C, E, G, I, ?</a:t>
            </a:r>
          </a:p>
          <a:p>
            <a:pPr algn="ctr">
              <a:spcBef>
                <a:spcPts val="600"/>
              </a:spcBef>
              <a:defRPr sz="1450" b="1">
                <a:solidFill>
                  <a:srgbClr val="2563EB"/>
                </a:solidFill>
                <a:latin typeface="Segoe UI"/>
              </a:defRPr>
            </a:pPr>
            <a:r>
              <a:t>Q. 37. What will be the next letter in the series? A, C, E, G, I,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J</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K</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L</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M</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प्रत्येक अक्षर में +2 का अंतर है: I(9) + 2 = K(11)। (Pattern: +2 in alphabet positions).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(उल्टा क्रम) / Reverse Letter Series • प्र. #38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77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38. श्रृंखला को पूरा कीजिए: Z, X, V, T, R, ?</a:t>
            </a:r>
          </a:p>
          <a:p>
            <a:pPr algn="ctr">
              <a:spcBef>
                <a:spcPts val="600"/>
              </a:spcBef>
              <a:defRPr sz="1450" b="1">
                <a:solidFill>
                  <a:srgbClr val="2563EB"/>
                </a:solidFill>
                <a:latin typeface="Segoe UI"/>
              </a:defRPr>
            </a:pPr>
            <a:r>
              <a:t>Q. 38. Complete the series: Z, X, V, T, R,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O</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P</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Q</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(उल्टा क्रम) / Reverse Letter Series • प्र. #38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78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38. श्रृंखला को पूरा कीजिए: Z, X, V, T, R, ?</a:t>
            </a:r>
          </a:p>
          <a:p>
            <a:pPr algn="ctr">
              <a:spcBef>
                <a:spcPts val="600"/>
              </a:spcBef>
              <a:defRPr sz="1450" b="1">
                <a:solidFill>
                  <a:srgbClr val="2563EB"/>
                </a:solidFill>
                <a:latin typeface="Segoe UI"/>
              </a:defRPr>
            </a:pPr>
            <a:r>
              <a:t>Q. 38. Complete the series: Z, X, V, T, R,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O</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P</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Q</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S</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उल्टे क्रम में -2 का अंतर: R(18) - 2 = P(16)। (Pattern: -2 backwards).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(युग्म) / Letter Pairs • प्र. #39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79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39. अगला पद ज्ञात कीजिए: AB, CD, EF, GH, ?</a:t>
            </a:r>
          </a:p>
          <a:p>
            <a:pPr algn="ctr">
              <a:spcBef>
                <a:spcPts val="600"/>
              </a:spcBef>
              <a:defRPr sz="1450" b="1">
                <a:solidFill>
                  <a:srgbClr val="2563EB"/>
                </a:solidFill>
                <a:latin typeface="Segoe UI"/>
              </a:defRPr>
            </a:pPr>
            <a:r>
              <a:t>Q. 39. Find the next term: AB, CD, EF, GH,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IJ</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IK</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JK</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HI</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(युग्म) / Letter Pairs • प्र. #39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80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39. अगला पद ज्ञात कीजिए: AB, CD, EF, GH, ?</a:t>
            </a:r>
          </a:p>
          <a:p>
            <a:pPr algn="ctr">
              <a:spcBef>
                <a:spcPts val="600"/>
              </a:spcBef>
              <a:defRPr sz="1450" b="1">
                <a:solidFill>
                  <a:srgbClr val="2563EB"/>
                </a:solidFill>
                <a:latin typeface="Segoe UI"/>
              </a:defRPr>
            </a:pPr>
            <a:r>
              <a:t>Q. 39. Find the next term: AB, CD, EF, GH, ?</a:t>
            </a:r>
          </a:p>
        </p:txBody>
      </p:sp>
      <p:sp>
        <p:nvSpPr>
          <p:cNvPr id="5" name="Rounded Rectangle 4"/>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IJ</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IK</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JK</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HI</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0F172A"/>
                </a:solidFill>
                <a:latin typeface="Segoe UI"/>
              </a:defRPr>
            </a:pPr>
            <a:r>
              <a:t>💡 व्याख्या एवं ट्रिक (Explanation): क्रमिक वर्णमाला युग्म (Consecutive letter pairs): GH के बाद IJ आएगा।</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(बढ़ता अंतर) / Increasing Gap • प्र. #40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81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40. दी गई श्रृंखला में अगला पद क्या होगा? A, C, F, J, O, ?</a:t>
            </a:r>
          </a:p>
          <a:p>
            <a:pPr algn="ctr">
              <a:spcBef>
                <a:spcPts val="600"/>
              </a:spcBef>
              <a:defRPr sz="1450" b="1">
                <a:solidFill>
                  <a:srgbClr val="2563EB"/>
                </a:solidFill>
                <a:latin typeface="Segoe UI"/>
              </a:defRPr>
            </a:pPr>
            <a:r>
              <a:t>Q. 40. What is the next term in the series? A, C, F, J, O,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S</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T</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U</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V</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(बढ़ता अंतर) / Increasing Gap • प्र. #40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82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40. दी गई श्रृंखला में अगला पद क्या होगा? A, C, F, J, O, ?</a:t>
            </a:r>
          </a:p>
          <a:p>
            <a:pPr algn="ctr">
              <a:spcBef>
                <a:spcPts val="600"/>
              </a:spcBef>
              <a:defRPr sz="1450" b="1">
                <a:solidFill>
                  <a:srgbClr val="2563EB"/>
                </a:solidFill>
                <a:latin typeface="Segoe UI"/>
              </a:defRPr>
            </a:pPr>
            <a:r>
              <a:t>Q. 40. What is the next term in the series? A, C, F, J, O,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S</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T</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U</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V</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अंतर का क्रम: +2, +3, +4, +5, +6। O(15) + 6 = 21 जो कि 'U' है।</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(विपरीत जोड़े) / Opposite Pairs • प्र. #41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83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41. श्रृंखला का अगला युग्म क्या होगा? AZ, BY, CX, DW, ?</a:t>
            </a:r>
          </a:p>
          <a:p>
            <a:pPr algn="ctr">
              <a:spcBef>
                <a:spcPts val="600"/>
              </a:spcBef>
              <a:defRPr sz="1450" b="1">
                <a:solidFill>
                  <a:srgbClr val="2563EB"/>
                </a:solidFill>
                <a:latin typeface="Segoe UI"/>
              </a:defRPr>
            </a:pPr>
            <a:r>
              <a:t>Q. 41. What will be the next pair in the series? AZ, BY, CX, DW,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EU</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EV</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FU</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GT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(विपरीत जोड़े) / Opposite Pairs • प्र. #41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84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41. श्रृंखला का अगला युग्म क्या होगा? AZ, BY, CX, DW, ?</a:t>
            </a:r>
          </a:p>
          <a:p>
            <a:pPr algn="ctr">
              <a:spcBef>
                <a:spcPts val="600"/>
              </a:spcBef>
              <a:defRPr sz="1450" b="1">
                <a:solidFill>
                  <a:srgbClr val="2563EB"/>
                </a:solidFill>
                <a:latin typeface="Segoe UI"/>
              </a:defRPr>
            </a:pPr>
            <a:r>
              <a:t>Q. 41. What will be the next pair in the series? AZ, BY, CX, DW,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EU</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EV</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FU</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GT</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विपरीत अक्षर जोड़े: A-Z, B-Y, C-X, D-W, इसके बाद E का विपरीत V होता है (EV)।</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मिश्रित श्रृंखला / Alphanumeric Series • प्र. #42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85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42. श्रृंखला में (?) के स्थान पर क्या आएगा? B2, D4, F6, H8, ?</a:t>
            </a:r>
          </a:p>
          <a:p>
            <a:pPr algn="ctr">
              <a:spcBef>
                <a:spcPts val="600"/>
              </a:spcBef>
              <a:defRPr sz="1450" b="1">
                <a:solidFill>
                  <a:srgbClr val="2563EB"/>
                </a:solidFill>
                <a:latin typeface="Segoe UI"/>
              </a:defRPr>
            </a:pPr>
            <a:r>
              <a:t>Q. 42. What will replace (?) in the alphanumeric series? B2, D4, F6, H8,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I9</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J10</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K11</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L12</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मिश्रित श्रृंखला / Alphanumeric Series • प्र. #42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86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42. श्रृंखला में (?) के स्थान पर क्या आएगा? B2, D4, F6, H8, ?</a:t>
            </a:r>
          </a:p>
          <a:p>
            <a:pPr algn="ctr">
              <a:spcBef>
                <a:spcPts val="600"/>
              </a:spcBef>
              <a:defRPr sz="1450" b="1">
                <a:solidFill>
                  <a:srgbClr val="2563EB"/>
                </a:solidFill>
                <a:latin typeface="Segoe UI"/>
              </a:defRPr>
            </a:pPr>
            <a:r>
              <a:t>Q. 42. What will replace (?) in the alphanumeric series? B2, D4, F6, H8,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I9</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J10</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K11</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L12</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अक्षर में +2 (H-&gt;J) और संख्या वर्णमाला क्रमांक (10) दर्शाती है =&gt; 'J10'।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त्रि-अक्षर श्रृंखला / Tri-Letter Series • प्र. #43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87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43. अगला पद क्या होगा? BCD, EFG, HIJ, ?</a:t>
            </a:r>
          </a:p>
          <a:p>
            <a:pPr algn="ctr">
              <a:spcBef>
                <a:spcPts val="600"/>
              </a:spcBef>
              <a:defRPr sz="1450" b="1">
                <a:solidFill>
                  <a:srgbClr val="2563EB"/>
                </a:solidFill>
                <a:latin typeface="Segoe UI"/>
              </a:defRPr>
            </a:pPr>
            <a:r>
              <a:t>Q. 43. What will be the next term? BCD, EFG, HIJ,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KLM</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LMN</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KMN</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JKL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त्रि-अक्षर श्रृंखला / Tri-Letter Series • प्र. #43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88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43. अगला पद क्या होगा? BCD, EFG, HIJ, ?</a:t>
            </a:r>
          </a:p>
          <a:p>
            <a:pPr algn="ctr">
              <a:spcBef>
                <a:spcPts val="600"/>
              </a:spcBef>
              <a:defRPr sz="1450" b="1">
                <a:solidFill>
                  <a:srgbClr val="2563EB"/>
                </a:solidFill>
                <a:latin typeface="Segoe UI"/>
              </a:defRPr>
            </a:pPr>
            <a:r>
              <a:t>Q. 43. What will be the next term? BCD, EFG, HIJ, ?</a:t>
            </a:r>
          </a:p>
        </p:txBody>
      </p:sp>
      <p:sp>
        <p:nvSpPr>
          <p:cNvPr id="5" name="Rounded Rectangle 4"/>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KLM</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LMN</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KMN</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JKL</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0F172A"/>
                </a:solidFill>
                <a:latin typeface="Segoe UI"/>
              </a:defRPr>
            </a:pPr>
            <a:r>
              <a:t>💡 व्याख्या एवं ट्रिक (Explanation): लगातार 3-3 अक्षरों का समूह (2,3,4; 5,6,7; 8,9,10) के बाद 11,12,13 अर्थात 'KLM' आएगा।</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पैटर्न / Repeating Pattern • प्र. #44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89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44. रिक्त स्थानों की पूर्ति हेतु सही विकल्प चुनिए: a _ ba _ b _ b _ a</a:t>
            </a:r>
          </a:p>
          <a:p>
            <a:pPr algn="ctr">
              <a:spcBef>
                <a:spcPts val="600"/>
              </a:spcBef>
              <a:defRPr sz="1450" b="1">
                <a:solidFill>
                  <a:srgbClr val="2563EB"/>
                </a:solidFill>
                <a:latin typeface="Segoe UI"/>
              </a:defRPr>
            </a:pPr>
            <a:r>
              <a:t>Q. 44. Choose the correct letters to fill the blanks: a _ ba _ b _ b _ a</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b a b a</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b b a a</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a b b a</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b a a b</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पैटर्न / Repeating Pattern • प्र. #44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90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44. रिक्त स्थानों की पूर्ति हेतु सही विकल्प चुनिए: a _ ba _ b _ b _ a</a:t>
            </a:r>
          </a:p>
          <a:p>
            <a:pPr algn="ctr">
              <a:spcBef>
                <a:spcPts val="600"/>
              </a:spcBef>
              <a:defRPr sz="1450" b="1">
                <a:solidFill>
                  <a:srgbClr val="2563EB"/>
                </a:solidFill>
                <a:latin typeface="Segoe UI"/>
              </a:defRPr>
            </a:pPr>
            <a:r>
              <a:t>Q. 44. Choose the correct letters to fill the blanks: a _ ba _ b _ b _ a</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b a b a</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b b a a</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a b b a</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b a a b</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'b, b, a, a' रखने पर संतुलित चक्रीय पैटर्न प्राप्त होता है।</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(-2) / Backward Series • प्र. #45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91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45. श्रृंखला में लुप्त पद ज्ञात कीजिए: Y, W, U, S, Q, ?</a:t>
            </a:r>
          </a:p>
          <a:p>
            <a:pPr algn="ctr">
              <a:spcBef>
                <a:spcPts val="600"/>
              </a:spcBef>
              <a:defRPr sz="1450" b="1">
                <a:solidFill>
                  <a:srgbClr val="2563EB"/>
                </a:solidFill>
                <a:latin typeface="Segoe UI"/>
              </a:defRPr>
            </a:pPr>
            <a:r>
              <a:t>Q. 45. Find the missing term in the series: Y, W, U, S, Q,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M</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N</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O</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P</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 श्रृंखला (-2) / Backward Series • प्र. #45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92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45. श्रृंखला में लुप्त पद ज्ञात कीजिए: Y, W, U, S, Q, ?</a:t>
            </a:r>
          </a:p>
          <a:p>
            <a:pPr algn="ctr">
              <a:spcBef>
                <a:spcPts val="600"/>
              </a:spcBef>
              <a:defRPr sz="1450" b="1">
                <a:solidFill>
                  <a:srgbClr val="2563EB"/>
                </a:solidFill>
                <a:latin typeface="Segoe UI"/>
              </a:defRPr>
            </a:pPr>
            <a:r>
              <a:t>Q. 45. Find the missing term in the series: Y, W, U, S, Q,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M</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N</a:t>
            </a:r>
          </a:p>
        </p:txBody>
      </p:sp>
      <p:sp>
        <p:nvSpPr>
          <p:cNvPr id="7" name="Rounded Rectangle 6"/>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O</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P</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0F172A"/>
                </a:solidFill>
                <a:latin typeface="Segoe UI"/>
              </a:defRPr>
            </a:pPr>
            <a:r>
              <a:t>💡 व्याख्या एवं ट्रिक (Explanation): क्रमशः -2 का अंतर: Q(17) - 2 = 15 अर्थात 'O'।</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अक्षर-संख्या श्रृंखला / Letter-Number Series • प्र. #46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93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46. निम्न में अगला पद क्या होगा? A1, C3, E5, G7, ?</a:t>
            </a:r>
          </a:p>
          <a:p>
            <a:pPr algn="ctr">
              <a:spcBef>
                <a:spcPts val="600"/>
              </a:spcBef>
              <a:defRPr sz="1450" b="1">
                <a:solidFill>
                  <a:srgbClr val="2563EB"/>
                </a:solidFill>
                <a:latin typeface="Segoe UI"/>
              </a:defRPr>
            </a:pPr>
            <a:r>
              <a:t>Q. 46. What is the next term in: A1, C3, E5, G7, ?</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H8</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I9</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J10</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K11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अक्षर-संख्या श्रृंखला / Letter-Number Series • प्र. #46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94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46. निम्न में अगला पद क्या होगा? A1, C3, E5, G7, ?</a:t>
            </a:r>
          </a:p>
          <a:p>
            <a:pPr algn="ctr">
              <a:spcBef>
                <a:spcPts val="600"/>
              </a:spcBef>
              <a:defRPr sz="1450" b="1">
                <a:solidFill>
                  <a:srgbClr val="2563EB"/>
                </a:solidFill>
                <a:latin typeface="Segoe UI"/>
              </a:defRPr>
            </a:pPr>
            <a:r>
              <a:t>Q. 46. What is the next term in: A1, C3, E5, G7, ?</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H8</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I9</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J10</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K11</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विषम क्रमांक वाले अक्षर व उनके मान: G7 के बाद I9 आएगा।</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कोडिंग-डिकोडिंग (+1) / Coding-Decoding • प्र. #47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95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47. यदि किसी सांकेतिक भाषा में 'CAT' को 'DBU' लिखा जाता है, तो 'DOG' को क्या लिखा जाएगा?</a:t>
            </a:r>
          </a:p>
          <a:p>
            <a:pPr algn="ctr">
              <a:spcBef>
                <a:spcPts val="600"/>
              </a:spcBef>
              <a:defRPr sz="1450" b="1">
                <a:solidFill>
                  <a:srgbClr val="2563EB"/>
                </a:solidFill>
                <a:latin typeface="Segoe UI"/>
              </a:defRPr>
            </a:pPr>
            <a:r>
              <a:t>Q. 47. If in a code language 'CAT' is written as 'DBU', then how will 'DOG' be written?</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EPH</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FPH</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EOH</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ENG</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कोडिंग-डिकोडिंग (+1) / Coding-Decoding • प्र. #47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96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47. यदि किसी सांकेतिक भाषा में 'CAT' को 'DBU' लिखा जाता है, तो 'DOG' को क्या लिखा जाएगा?</a:t>
            </a:r>
          </a:p>
          <a:p>
            <a:pPr algn="ctr">
              <a:spcBef>
                <a:spcPts val="600"/>
              </a:spcBef>
              <a:defRPr sz="1450" b="1">
                <a:solidFill>
                  <a:srgbClr val="2563EB"/>
                </a:solidFill>
                <a:latin typeface="Segoe UI"/>
              </a:defRPr>
            </a:pPr>
            <a:r>
              <a:t>Q. 47. If in a code language 'CAT' is written as 'DBU', then how will 'DOG' be written?</a:t>
            </a:r>
          </a:p>
        </p:txBody>
      </p:sp>
      <p:sp>
        <p:nvSpPr>
          <p:cNvPr id="5" name="Rounded Rectangle 4"/>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EPH</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FPH</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EOH</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ENG</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0F172A"/>
                </a:solidFill>
                <a:latin typeface="Segoe UI"/>
              </a:defRPr>
            </a:pPr>
            <a:r>
              <a:t>💡 व्याख्या एवं ट्रिक (Explanation): प्रत्येक अक्षर में +1: C(+1)=D, A(+1)=B, T(+1)=U। अतः D(+1)=E, O(+1)=P, G(+1)=H =&gt; 'EPH'।</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कोडिंग (क्रमांक योग) / Alphabet Sum Code • प्र. #48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97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48. यदि 'A' = 1, 'BAT' = 23 हो, तो 'BALL' का मान क्या होगा?</a:t>
            </a:r>
          </a:p>
          <a:p>
            <a:pPr algn="ctr">
              <a:spcBef>
                <a:spcPts val="600"/>
              </a:spcBef>
              <a:defRPr sz="1450" b="1">
                <a:solidFill>
                  <a:srgbClr val="2563EB"/>
                </a:solidFill>
                <a:latin typeface="Segoe UI"/>
              </a:defRPr>
            </a:pPr>
            <a:r>
              <a:t>Q. 48. If 'A' = 1, 'BAT' = 23, then what is the value of 'BALL'?</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25</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27</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29</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31</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कोडिंग (क्रमांक योग) / Alphabet Sum Code • प्र. #48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98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48. यदि 'A' = 1, 'BAT' = 23 हो, तो 'BALL' का मान क्या होगा?</a:t>
            </a:r>
          </a:p>
          <a:p>
            <a:pPr algn="ctr">
              <a:spcBef>
                <a:spcPts val="600"/>
              </a:spcBef>
              <a:defRPr sz="1450" b="1">
                <a:solidFill>
                  <a:srgbClr val="2563EB"/>
                </a:solidFill>
                <a:latin typeface="Segoe UI"/>
              </a:defRPr>
            </a:pPr>
            <a:r>
              <a:t>Q. 48. If 'A' = 1, 'BAT' = 23, then what is the value of 'BALL'?</a:t>
            </a:r>
          </a:p>
        </p:txBody>
      </p:sp>
      <p:sp>
        <p:nvSpPr>
          <p:cNvPr id="5" name="Rounded Rectangle 4"/>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25</a:t>
            </a:r>
          </a:p>
        </p:txBody>
      </p:sp>
      <p:sp>
        <p:nvSpPr>
          <p:cNvPr id="6" name="Rounded Rectangle 5"/>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27</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29</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31</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0F172A"/>
                </a:solidFill>
                <a:latin typeface="Segoe UI"/>
              </a:defRPr>
            </a:pPr>
            <a:r>
              <a:t>💡 व्याख्या एवं ट्रिक (Explanation): अक्षर क्रमांकों का योग: BALL = B(2) + A(1) + L(12) + L(12) = 27।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कोडिंग (-1 नियम) / Subtraction Code • प्र. #49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99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49. यदि 'MANGO' को 'LZMFN' लिखा जाता है, तो 'APPLE' का कोड क्या होगा?</a:t>
            </a:r>
          </a:p>
          <a:p>
            <a:pPr algn="ctr">
              <a:spcBef>
                <a:spcPts val="600"/>
              </a:spcBef>
              <a:defRPr sz="1450" b="1">
                <a:solidFill>
                  <a:srgbClr val="2563EB"/>
                </a:solidFill>
                <a:latin typeface="Segoe UI"/>
              </a:defRPr>
            </a:pPr>
            <a:r>
              <a:t>Q. 49. If 'MANGO' is coded as 'LZMFN', how is 'APPLE' coded?</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ZOOKD</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ZOKKD</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BQQMF</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ZOOMD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कोडिंग (-1 नियम) / Subtraction Code • प्र. #49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100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49. यदि 'MANGO' को 'LZMFN' लिखा जाता है, तो 'APPLE' का कोड क्या होगा?</a:t>
            </a:r>
          </a:p>
          <a:p>
            <a:pPr algn="ctr">
              <a:spcBef>
                <a:spcPts val="600"/>
              </a:spcBef>
              <a:defRPr sz="1450" b="1">
                <a:solidFill>
                  <a:srgbClr val="2563EB"/>
                </a:solidFill>
                <a:latin typeface="Segoe UI"/>
              </a:defRPr>
            </a:pPr>
            <a:r>
              <a:t>Q. 49. If 'MANGO' is coded as 'LZMFN', how is 'APPLE' coded?</a:t>
            </a:r>
          </a:p>
        </p:txBody>
      </p:sp>
      <p:sp>
        <p:nvSpPr>
          <p:cNvPr id="5" name="Rounded Rectangle 4"/>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ZOOKD</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ZOKKD</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BQQMF</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ZOOMD</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0F172A"/>
                </a:solidFill>
                <a:latin typeface="Segoe UI"/>
              </a:defRPr>
            </a:pPr>
            <a:r>
              <a:t>💡 व्याख्या एवं ट्रिक (Explanation): प्रत्येक अक्षर में -1: A-1=Z, P-1=O, P-1=O, L-1=K, E-1=D =&gt; 'ZOOKD'।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कोडिंग (उल्टा क्रम) / Reverse Code • प्र. #50  [MAT सेट 01]</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101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50. यदि 'WATER' को 'RETAW' लिखा जाता है, तो 'RIVER' को क्या लिखा जाएगा?</a:t>
            </a:r>
          </a:p>
          <a:p>
            <a:pPr algn="ctr">
              <a:spcBef>
                <a:spcPts val="600"/>
              </a:spcBef>
              <a:defRPr sz="1450" b="1">
                <a:solidFill>
                  <a:srgbClr val="2563EB"/>
                </a:solidFill>
                <a:latin typeface="Segoe UI"/>
              </a:defRPr>
            </a:pPr>
            <a:r>
              <a:t>Q. 50. If 'WATER' is written as 'RETAW', how will 'RIVER' be written?</a:t>
            </a:r>
          </a:p>
        </p:txBody>
      </p:sp>
      <p:sp>
        <p:nvSpPr>
          <p:cNvPr id="5" name="Rounded Rectangle 4"/>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(A)  REVIR</a:t>
            </a:r>
          </a:p>
        </p:txBody>
      </p:sp>
      <p:sp>
        <p:nvSpPr>
          <p:cNvPr id="6" name="Rounded Rectangle 5"/>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(B)  REIVR</a:t>
            </a:r>
          </a:p>
        </p:txBody>
      </p:sp>
      <p:sp>
        <p:nvSpPr>
          <p:cNvPr id="7" name="Rounded Rectangle 6"/>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(C)  REVIRE</a:t>
            </a:r>
          </a:p>
        </p:txBody>
      </p:sp>
      <p:sp>
        <p:nvSpPr>
          <p:cNvPr id="8" name="Rounded Rectangle 7"/>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0F172A"/>
                </a:solidFill>
                <a:latin typeface="Segoe UI"/>
              </a:defRPr>
            </a:pPr>
            <a:r>
              <a:t>(D)  VERIR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मानसिक योग्यता (MAT) • कोडिंग (उल्टा क्रम) / Reverse Code • प्र. #50  [MAT सेट 01]  —  [उत्तर व व्याख्या]</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102 of 103</a:t>
            </a:r>
          </a:p>
        </p:txBody>
      </p:sp>
      <p:sp>
        <p:nvSpPr>
          <p:cNvPr id="4" name="Rounded Rectangle 3"/>
          <p:cNvSpPr/>
          <p:nvPr/>
        </p:nvSpPr>
        <p:spPr>
          <a:xfrm>
            <a:off x="457200" y="1051560"/>
            <a:ext cx="11277295" cy="1536192"/>
          </a:xfrm>
          <a:prstGeom prst="roundRect">
            <a:avLst/>
          </a:prstGeom>
          <a:solidFill>
            <a:srgbClr val="F1F5F9"/>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50. यदि 'WATER' को 'RETAW' लिखा जाता है, तो 'RIVER' को क्या लिखा जाएगा?</a:t>
            </a:r>
          </a:p>
          <a:p>
            <a:pPr algn="ctr">
              <a:spcBef>
                <a:spcPts val="600"/>
              </a:spcBef>
              <a:defRPr sz="1450" b="1">
                <a:solidFill>
                  <a:srgbClr val="2563EB"/>
                </a:solidFill>
                <a:latin typeface="Segoe UI"/>
              </a:defRPr>
            </a:pPr>
            <a:r>
              <a:t>Q. 50. If 'WATER' is written as 'RETAW', how will 'RIVER' be written?</a:t>
            </a:r>
          </a:p>
        </p:txBody>
      </p:sp>
      <p:sp>
        <p:nvSpPr>
          <p:cNvPr id="5" name="Rounded Rectangle 4"/>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REVIR</a:t>
            </a:r>
          </a:p>
        </p:txBody>
      </p:sp>
      <p:sp>
        <p:nvSpPr>
          <p:cNvPr id="6" name="Rounded Rectangle 5"/>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REIVR</a:t>
            </a:r>
          </a:p>
        </p:txBody>
      </p:sp>
      <p:sp>
        <p:nvSpPr>
          <p:cNvPr id="7" name="Rounded Rectangle 6"/>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REVIRE</a:t>
            </a:r>
          </a:p>
        </p:txBody>
      </p:sp>
      <p:sp>
        <p:nvSpPr>
          <p:cNvPr id="8" name="Rounded Rectangle 7"/>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VERIR</a:t>
            </a:r>
          </a:p>
        </p:txBody>
      </p:sp>
      <p:sp>
        <p:nvSpPr>
          <p:cNvPr id="9" name="Rounded Rectangle 8"/>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0F172A"/>
                </a:solidFill>
                <a:latin typeface="Segoe UI"/>
              </a:defRPr>
            </a:pPr>
            <a:r>
              <a:t>💡 व्याख्या एवं ट्रिक (Explanation): अक्षरों को उल्टे क्रम में लिखा गया है: R-I-V-E-R को उल्टा करने पर 'REVIR'।</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73152"/>
          <a:lstStyle/>
          <a:p>
            <a:pPr algn="ctr">
              <a:defRPr sz="1100" b="1">
                <a:solidFill>
                  <a:srgbClr val="D97706"/>
                </a:solidFill>
                <a:latin typeface="Segoe UI"/>
              </a:defRPr>
            </a:pPr>
            <a:r>
              <a:t>SAGAR COACHING CENTRE • UP NMMS परीक्षा महामंथन अभ्यास सेट</a:t>
            </a:r>
          </a:p>
          <a:p>
            <a:pPr>
              <a:defRPr sz="1300" b="1">
                <a:solidFill>
                  <a:srgbClr val="FFFFFF"/>
                </a:solidFill>
                <a:latin typeface="Segoe UI"/>
              </a:defRPr>
            </a:pPr>
            <a:r>
              <a:t>UP NMMS MAT अभ्यास सेट #01 — सफलता का संकल्प एवं संपर्क सूत्र</a:t>
            </a:r>
          </a:p>
        </p:txBody>
      </p:sp>
      <p:sp>
        <p:nvSpPr>
          <p:cNvPr id="3" name="TextBox 2"/>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103 of 103</a:t>
            </a:r>
          </a:p>
        </p:txBody>
      </p:sp>
      <p:sp>
        <p:nvSpPr>
          <p:cNvPr id="4" name="Rounded Rectangle 3"/>
          <p:cNvSpPr/>
          <p:nvPr/>
        </p:nvSpPr>
        <p:spPr>
          <a:xfrm>
            <a:off x="1371600" y="1371600"/>
            <a:ext cx="9448495" cy="4754880"/>
          </a:xfrm>
          <a:prstGeom prst="roundRect">
            <a:avLst/>
          </a:prstGeom>
          <a:solidFill>
            <a:srgbClr val="0F172A"/>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defRPr sz="2200" b="1">
                <a:solidFill>
                  <a:srgbClr val="D97706"/>
                </a:solidFill>
                <a:latin typeface="Segoe UI"/>
              </a:defRPr>
            </a:pPr>
            <a:r>
              <a:t>🏆 आपकी सफलता ही हमारा संकल्प है! 🏆</a:t>
            </a:r>
          </a:p>
          <a:p>
            <a:pPr algn="ctr">
              <a:spcBef>
                <a:spcPts val="1000"/>
              </a:spcBef>
              <a:defRPr sz="1800" b="1">
                <a:solidFill>
                  <a:srgbClr val="FFFFFF"/>
                </a:solidFill>
                <a:latin typeface="Segoe UI"/>
              </a:defRPr>
            </a:pPr>
            <a:r>
              <a:t>SAGAR COACHING CENTRE, BHAGWANPUR</a:t>
            </a:r>
          </a:p>
          <a:p>
            <a:pPr algn="ctr">
              <a:spcBef>
                <a:spcPts val="1000"/>
              </a:spcBef>
              <a:defRPr sz="1400">
                <a:solidFill>
                  <a:srgbClr val="E2E8F0"/>
                </a:solidFill>
                <a:latin typeface="Segoe UI"/>
              </a:defRPr>
            </a:pPr>
            <a:r>
              <a:t>उत्तर प्रदेश NMMS छात्रवृत्ति परीक्षा (₹48,000) में चयनित होने वाले सभी भावी मेधावियों को अग्रिम शुभकामनाएं!</a:t>
            </a:r>
          </a:p>
          <a:p>
            <a:pPr algn="ctr">
              <a:spcBef>
                <a:spcPts val="500"/>
              </a:spcBef>
              <a:defRPr sz="1300">
                <a:solidFill>
                  <a:srgbClr val="D97706"/>
                </a:solidFill>
                <a:latin typeface="Segoe UI"/>
              </a:defRPr>
            </a:pPr>
            <a:r>
              <a:t>•  📱 WhatsApp हेल्पलाइन: +91 91101 13671 (सागर सर)</a:t>
            </a:r>
          </a:p>
          <a:p>
            <a:pPr algn="ctr">
              <a:spcBef>
                <a:spcPts val="500"/>
              </a:spcBef>
              <a:defRPr sz="1300">
                <a:solidFill>
                  <a:srgbClr val="FFFFFF"/>
                </a:solidFill>
                <a:latin typeface="Segoe UI"/>
              </a:defRPr>
            </a:pPr>
            <a:r>
              <a:t>•  🌐 आधिकारिक वेबसाइट: sagarcoaching.tech</a:t>
            </a:r>
          </a:p>
          <a:p>
            <a:pPr algn="ctr">
              <a:spcBef>
                <a:spcPts val="500"/>
              </a:spcBef>
              <a:defRPr sz="1300">
                <a:solidFill>
                  <a:srgbClr val="FFFFFF"/>
                </a:solidFill>
                <a:latin typeface="Segoe UI"/>
              </a:defRPr>
            </a:pPr>
            <a:r>
              <a:t>•  🎥 YouTube चैनल: Sagar Coaching Centre (Free Classes)</a:t>
            </a:r>
          </a:p>
          <a:p>
            <a:pPr algn="ctr">
              <a:spcBef>
                <a:spcPts val="500"/>
              </a:spcBef>
              <a:defRPr sz="1300">
                <a:solidFill>
                  <a:srgbClr val="FFFFFF"/>
                </a:solidFill>
                <a:latin typeface="Segoe UI"/>
              </a:defRPr>
            </a:pPr>
            <a:r>
              <a:t>•  📍 पता / Centre Address: भगवानपुर, सुपौल, बिहार - 852109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