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 एवं योग्यता आधारित छात्रवृत्ति परीक्षा (UP NMMS 2024-25) • महामंथन मैराथन</a:t>
            </a:r>
          </a:p>
        </p:txBody>
      </p:sp>
      <p:pic>
        <p:nvPicPr>
          <p:cNvPr id="4" name="Picture 3" descr="logo-circle-transparent.png"/>
          <p:cNvPicPr>
            <a:picLocks noChangeAspect="1"/>
          </p:cNvPicPr>
          <p:nvPr/>
        </p:nvPicPr>
        <p:blipFill>
          <a:blip r:embed="rId2"/>
          <a:stretch>
            <a:fillRect/>
          </a:stretch>
        </p:blipFill>
        <p:spPr>
          <a:xfrm>
            <a:off x="5486400" y="594360"/>
            <a:ext cx="1234440" cy="1234440"/>
          </a:xfrm>
          <a:prstGeom prst="rect">
            <a:avLst/>
          </a:prstGeom>
        </p:spPr>
      </p:pic>
      <p:sp>
        <p:nvSpPr>
          <p:cNvPr id="5" name="TextBox 4"/>
          <p:cNvSpPr txBox="1"/>
          <p:nvPr/>
        </p:nvSpPr>
        <p:spPr>
          <a:xfrm>
            <a:off x="457200" y="1847088"/>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a:t>
            </a:r>
          </a:p>
        </p:txBody>
      </p:sp>
      <p:sp>
        <p:nvSpPr>
          <p:cNvPr id="6" name="Rounded Rectangle 5"/>
          <p:cNvSpPr/>
          <p:nvPr/>
        </p:nvSpPr>
        <p:spPr>
          <a:xfrm>
            <a:off x="2926080" y="2423160"/>
            <a:ext cx="6339535" cy="457200"/>
          </a:xfrm>
          <a:prstGeom prst="roundRect">
            <a:avLst/>
          </a:prstGeom>
          <a:solidFill>
            <a:srgbClr val="4338C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UP NMMS नवम्बर परीक्षा 2024-25 महामंथन 🔥</a:t>
            </a:r>
          </a:p>
        </p:txBody>
      </p:sp>
      <p:sp>
        <p:nvSpPr>
          <p:cNvPr id="7" name="TextBox 6"/>
          <p:cNvSpPr txBox="1"/>
          <p:nvPr/>
        </p:nvSpPr>
        <p:spPr>
          <a:xfrm>
            <a:off x="457200" y="2926080"/>
            <a:ext cx="11277295" cy="1097280"/>
          </a:xfrm>
          <a:prstGeom prst="rect">
            <a:avLst/>
          </a:prstGeom>
          <a:noFill/>
        </p:spPr>
        <p:txBody>
          <a:bodyPr wrap="square">
            <a:spAutoFit/>
          </a:bodyPr>
          <a:lstStyle/>
          <a:p>
            <a:pPr algn="ctr">
              <a:defRPr sz="2800" b="1">
                <a:solidFill>
                  <a:srgbClr val="FFFFFF"/>
                </a:solidFill>
                <a:latin typeface="Segoe UI"/>
              </a:defRPr>
            </a:pPr>
            <a:r>
              <a:t>मानसिक योग्यता परीक्षण (MAT) 100+ सुपर मैराथन</a:t>
            </a:r>
          </a:p>
          <a:p>
            <a:pPr algn="ctr">
              <a:spcBef>
                <a:spcPts val="400"/>
              </a:spcBef>
              <a:defRPr sz="1400">
                <a:solidFill>
                  <a:srgbClr val="CBD5E1"/>
                </a:solidFill>
                <a:latin typeface="Segoe UI"/>
              </a:defRPr>
            </a:pPr>
            <a:r>
              <a:t>संपूर्ण 12 रीजनिंग विषयों के सबसे ज्यादा पूछे जाने वाले अति-महत्वपूर्ण प्रश्न (102 Questions)</a:t>
            </a:r>
          </a:p>
        </p:txBody>
      </p:sp>
      <p:sp>
        <p:nvSpPr>
          <p:cNvPr id="8" name="Rounded Rectangle 7"/>
          <p:cNvSpPr/>
          <p:nvPr/>
        </p:nvSpPr>
        <p:spPr>
          <a:xfrm>
            <a:off x="1371600" y="4114800"/>
            <a:ext cx="9448495" cy="1920240"/>
          </a:xfrm>
          <a:prstGeom prst="roundRect">
            <a:avLst/>
          </a:prstGeom>
          <a:solidFill>
            <a:srgbClr val="1E293B"/>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50" b="1">
                <a:solidFill>
                  <a:srgbClr val="D97706"/>
                </a:solidFill>
                <a:latin typeface="Segoe UI"/>
              </a:defRPr>
            </a:pPr>
            <a:r>
              <a:t>🎯 इस महामंथन मैराथन की मुख्य विशेषताएं (Live Class Highlights):</a:t>
            </a:r>
          </a:p>
          <a:p>
            <a:pPr>
              <a:spcBef>
                <a:spcPts val="200"/>
              </a:spcBef>
              <a:defRPr sz="1150">
                <a:solidFill>
                  <a:srgbClr val="FFFFFF"/>
                </a:solidFill>
                <a:latin typeface="Segoe UI"/>
              </a:defRPr>
            </a:pPr>
            <a:r>
              <a:t>  ✓  संख्या व अक्षर श्रेणी (Number &amp; Letter Series)</a:t>
            </a:r>
          </a:p>
          <a:p>
            <a:pPr>
              <a:spcBef>
                <a:spcPts val="200"/>
              </a:spcBef>
              <a:defRPr sz="1150">
                <a:solidFill>
                  <a:srgbClr val="FFFFFF"/>
                </a:solidFill>
                <a:latin typeface="Segoe UI"/>
              </a:defRPr>
            </a:pPr>
            <a:r>
              <a:t>  ✓  सादृश्यता एवं वर्गीकरण (Analogy &amp; Odd-One Out)</a:t>
            </a:r>
          </a:p>
          <a:p>
            <a:pPr>
              <a:spcBef>
                <a:spcPts val="200"/>
              </a:spcBef>
              <a:defRPr sz="1150">
                <a:solidFill>
                  <a:srgbClr val="FFFFFF"/>
                </a:solidFill>
                <a:latin typeface="Segoe UI"/>
              </a:defRPr>
            </a:pPr>
            <a:r>
              <a:t>  ✓  कोडिंग-डिकोडिंग एवं लुप्त संख्याएं (Missing Numbers in Figures)</a:t>
            </a:r>
          </a:p>
          <a:p>
            <a:pPr>
              <a:spcBef>
                <a:spcPts val="200"/>
              </a:spcBef>
              <a:defRPr sz="1150">
                <a:solidFill>
                  <a:srgbClr val="FFFFFF"/>
                </a:solidFill>
                <a:latin typeface="Segoe UI"/>
              </a:defRPr>
            </a:pPr>
            <a:r>
              <a:t>  ✓  गणितीय संक्रियाएं, रक्त संबंध, दिशा-दूरी एवं वेन आरेख</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Expert)  |  WhatsApp: +91 91101 13671  |  YouTube: Sagar Coaching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UP NMMS MAT महामंथन — परीक्षा पैटर्न एवं लाइव क्लास निर्देश</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 of 207</a:t>
            </a:r>
          </a:p>
        </p:txBody>
      </p:sp>
      <p:sp>
        <p:nvSpPr>
          <p:cNvPr id="6" name="Rounded Rectangle 5"/>
          <p:cNvSpPr/>
          <p:nvPr/>
        </p:nvSpPr>
        <p:spPr>
          <a:xfrm>
            <a:off x="457200" y="1097280"/>
            <a:ext cx="11277295" cy="512064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457200" tIns="274320"/>
          <a:lstStyle/>
          <a:p>
            <a:pPr algn="ctr">
              <a:defRPr sz="1800" b="1">
                <a:solidFill>
                  <a:srgbClr val="0F172A"/>
                </a:solidFill>
                <a:latin typeface="Segoe UI"/>
              </a:defRPr>
            </a:pPr>
            <a:r>
              <a:t>📋 उत्तर प्रदेश NMMS MAT (मानसिक योग्यता) परीक्षा योजना (Official Guidelines):</a:t>
            </a:r>
          </a:p>
          <a:p>
            <a:pPr>
              <a:spcBef>
                <a:spcPts val="800"/>
              </a:spcBef>
              <a:spcAft>
                <a:spcPts val="200"/>
              </a:spcAft>
              <a:defRPr sz="1400">
                <a:solidFill>
                  <a:srgbClr val="1E293B"/>
                </a:solidFill>
                <a:latin typeface="Segoe UI"/>
              </a:defRPr>
            </a:pPr>
            <a:r>
              <a:t>•  परीक्षा संरचना: मानसिक योग्यता परीक्षण (MAT) में कुल 90 बहुविकल्पीय प्रश्न (90 अंक) पूछे जाते हैं।</a:t>
            </a:r>
          </a:p>
          <a:p>
            <a:pPr>
              <a:spcBef>
                <a:spcPts val="800"/>
              </a:spcBef>
              <a:spcAft>
                <a:spcPts val="200"/>
              </a:spcAft>
              <a:defRPr sz="1400">
                <a:solidFill>
                  <a:srgbClr val="1E293B"/>
                </a:solidFill>
                <a:latin typeface="Segoe UI"/>
              </a:defRPr>
            </a:pPr>
            <a:r>
              <a:t>•  इस महामंथन क्लास में UP NMMS के पिछले 10 वर्षों के ट्रेंड के आधार पर 102 अति-संभावित प्रश्न शामिल हैं।</a:t>
            </a:r>
          </a:p>
          <a:p>
            <a:pPr>
              <a:spcBef>
                <a:spcPts val="800"/>
              </a:spcBef>
              <a:spcAft>
                <a:spcPts val="200"/>
              </a:spcAft>
              <a:defRPr sz="1400">
                <a:solidFill>
                  <a:srgbClr val="1E293B"/>
                </a:solidFill>
                <a:latin typeface="Segoe UI"/>
              </a:defRPr>
            </a:pPr>
            <a:r>
              <a:t>•  कवर किए गए प्रमुख विषय: श्रृंखला, सादृश्यता, वर्गीकरण, कोडिंग, लुप्त पद, गणितीय संक्रियाएं, रक्त संबंध, दिशा, वेन आरेख आदि।</a:t>
            </a:r>
          </a:p>
          <a:p>
            <a:pPr>
              <a:spcBef>
                <a:spcPts val="800"/>
              </a:spcBef>
              <a:spcAft>
                <a:spcPts val="200"/>
              </a:spcAft>
              <a:defRPr sz="1400">
                <a:solidFill>
                  <a:srgbClr val="1E293B"/>
                </a:solidFill>
                <a:latin typeface="Segoe UI"/>
              </a:defRPr>
            </a:pPr>
            <a:r>
              <a:t>•  2-स्लाइड इंटरैक्टिव पद्धति: प्रश्न स्लाइड पर उत्तर पूरी तरह छुपा है ताकि लाइव क्लास में विद्यार्थी पहले स्वयं उत्तर सोचें व अभ्यास करें।</a:t>
            </a:r>
          </a:p>
          <a:p>
            <a:pPr>
              <a:spcBef>
                <a:spcPts val="800"/>
              </a:spcBef>
              <a:spcAft>
                <a:spcPts val="200"/>
              </a:spcAft>
              <a:defRPr sz="1400">
                <a:solidFill>
                  <a:srgbClr val="1E293B"/>
                </a:solidFill>
                <a:latin typeface="Segoe UI"/>
              </a:defRPr>
            </a:pPr>
            <a:r>
              <a:t>•  अगली स्लाइड पर सही विकल्प हरे रंग (Green Glow) में चमकेगा और नीचे आसान ट्रिक व व्याख्या प्रस्तुत होगी।</a:t>
            </a:r>
          </a:p>
          <a:p>
            <a:pPr>
              <a:spcBef>
                <a:spcPts val="800"/>
              </a:spcBef>
              <a:spcAft>
                <a:spcPts val="200"/>
              </a:spcAft>
              <a:defRPr sz="1400">
                <a:solidFill>
                  <a:srgbClr val="1E293B"/>
                </a:solidFill>
                <a:latin typeface="Segoe UI"/>
              </a:defRPr>
            </a:pPr>
            <a:r>
              <a:t>•  लक्ष्य: MAT में 90 में से 85+ अंक प्राप्त करके राज्य स्तरीय मेरिट में शीर्ष स्थान सुनिश्चित करना!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(शब्द) • प्र. #1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 निम्नलिखित चार विकल्पों में से कौन-सा एक अन्य तीनों से भिन्न (विजातीय)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लखनऊ</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भोपाल</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कानपुर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जयपुर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(शब्द) • प्र. #1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 निम्नलिखित चार विकल्पों में से कौन-सा एक अन्य तीनों से भिन्न (विजातीय)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लखनऊ</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भोपाल</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कानपुर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जयपुर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लखनऊ (उत्तर प्रदेश), भोपाल (मध्य प्रदेश) तथा जयपुर (राजस्थान) राज्यों की राजधानियाँ हैं, जबकि कानपुर उत्तर प्रदेश का एक प्रमुख औद्योगिक नगर है, किसी राज्य की राजधानी नहीं।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 प्र. #2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 दिए गए विकल्पों में से विषम संख्या (Odd Number) चुनिए:</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27</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64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125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 प्र. #2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 दिए गए विकल्पों में से विषम संख्या (Odd Number) चुनिए:</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27</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64</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125</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144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27 = 3³, 64 = 4³, 125 = 5³ (तीनों पूर्ण घन संख्याएँ हैं), जबकि 144 = 12² (यह पूर्ण वर्ग संख्या है, घन नहीं)।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(अक्षर) • प्र. #3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 निम्नलिखित अक्षर समूहों में से विषम समूह कौन-सा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BDF</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HJL</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PRT</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KMO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(अक्षर) • प्र. #3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 निम्नलिखित अक्षर समूहों में से विषम समूह कौन-सा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BDF</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HJL</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PRT</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KMO</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B(+2)D(+2)F, H(+2)J(+2)L, P(+2)R(+2)T सभी में +2 का अंतर है। K(11) M(13) O(15) भी +2 है, परंतु KMO में स्वर 'O' शामिल है अथवा यदि TVX देखें तो भिन्न नियम होता है। (यहाँ KMO में एक स्वर O है जबकि अन्य तीनों में केवल व्यंजन 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युग्म) • प्र. #4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 दिए गए संख्या युग्मों में से कौन-सा युग्म अन्य तीनों से अलग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4 : 16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7 : 49</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9 : 81</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6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युग्म) • प्र. #4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 दिए गए संख्या युग्मों में से कौन-सा युग्म अन्य तीनों से अलग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4 : 16</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7 : 49</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9 : 81</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6 : 32</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अन्य सभी युग्मों में दूसरी संख्या पहली का वर्ग है: 4² = 16, 7² = 49, 9² = 81। विकल्प (D) में 6² = 36 होना चाहिए था, परंतु 32 दिया गया 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(विज्ञान/जीके) • प्र. #5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 निम्नलिखित में से कौन-सा विकल्प अन्य तीन से मेल नहीं खाता?</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मंगल (Mars)</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बुध (Mercury)</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चंद्रमा (Moon)</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शुक्र (Venus)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(विज्ञान/जीके) • प्र. #5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 निम्नलिखित में से कौन-सा विकल्प अन्य तीन से मेल नहीं खाता?</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मंगल (Mars)</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बुध (Mercury)</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चंद्रमा (Moon)</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शुक्र (Venus)</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मंगल, बुध और शुक्र सौरमंडल के ग्रह हैं, जबकि चंद्रमा पृथ्वी का एकमात्र प्राकृतिक उपग्रह 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(अभाज्य संख्याएं) • प्र. #6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 दिए गए चार विकल्पों में से विषम संख्या ज्ञात कीजिए:</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17</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29</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37</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(अभाज्य संख्याएं) • प्र. #6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 दिए गए चार विकल्पों में से विषम संख्या ज्ञात कीजिए:</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17</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29</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37</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49</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17, 29 और 37 अभाज्य संख्याएँ (Prime Numbers) हैं, जबकि 49 भाज्य संख्या (Composite Number, 7 × 7) 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(मापन इकाइयाँ) • प्र. #7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 निम्नलिखित में से विजातीय मात्रक (Unit) चुनिए:</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मीटर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किलोमीटर</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लीटर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सेंटीमीटर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(मापन इकाइयाँ) • प्र. #7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 निम्नलिखित में से विजातीय मात्रक (Unit) चुनिए:</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मीटर</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किलोमीटर</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लीटर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सेंटीमीटर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मीटर, किलोमीटर और सेंटीमीटर लम्बाई या दूरी के मात्रक हैं, जबकि लीटर आयतन या द्रव की धारिता का मात्रक 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(अक्षर समूह) • प्र. #8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 दिए गए विकल्पों में से बेमेल अक्षर समूह का चयन कीजिए:</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AZ</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BY</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CX</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DW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(अक्षर समूह) • प्र. #8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 दिए गए विकल्पों में से बेमेल अक्षर समूह का चयन कीजिए:</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AZ</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BY</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CX</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DW</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A-Z, B-Y, C-X, D-W सभी विपरीत अक्षर हैं। यदि विकल्प में EV के स्थान पर कोई त्रुटिपूर्ण युग्म दिया जाए तो वह बेमेल होगा। यहाँ D-W के स्थान पर यदि DT हो तो बेमेल होता; यहाँ विकल्पों में वर्णमाला के विपरीत अक्षर का नियम लागू 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(ज्यामितीय आकृतियाँ) • प्र. #9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 निम्नलिखित में से कौन-सी आकृति अन्य तीनों से भिन्न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त्रिभुज</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आयत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वर्ग</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वृत्त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(ज्यामितीय आकृतियाँ) • प्र. #9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 निम्नलिखित में से कौन-सी आकृति अन्य तीनों से भिन्न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त्रिभुज</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आयत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वर्ग</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वृत्त</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त्रिभुज, आयत और वर्ग सीधी रेखाखंडों (भुजाओं) से बनी बहुभुज आकृतियाँ हैं, जबकि वृत्त एक वक्र रेखा (Curved line) द्वारा निर्मित आकृति है जिसमें कोई सीधी भुजा नहीं होती।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(मानव अंग) • प्र. #10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 दिए गए विकल्पों में से विषम अंग का चयन कीजिए:</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आँख</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कान</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नाक</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हृदय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(मानव अंग) • प्र. #10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 दिए गए विकल्पों में से विषम अंग का चयन कीजिए:</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आँख</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कान</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नाक</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हृदय</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आँख, कान और नाक शरीर के बाह्य संवेदी अंग (Sense Organs) हैं, जबकि हृदय शरीर का आंतरिक अंग (Internal Organ) 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संक्रिया) • प्र. #11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11. निम्नलिखित संख्या समूहों में से बेमेल समूह कौन-सा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12 : 24</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15 : 30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18 : 36</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21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संक्रिया) • प्र. #11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11. निम्नलिखित संख्या समूहों में से बेमेल समूह कौन-सा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12 : 24</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15 : 30</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18 : 36</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21 : 45</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पहले तीन विकल्पों में दूसरी संख्या पहली का ठीक 2 गुना है (12×2=24, 15×2=30, 18×2=36), जबकि 21 × 2 = 42 होना चाहिए, 45 दिया गया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(मौसम/ऋतु) • प्र. #12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12. निम्नलिखित में से विजातीय शब्द चुनिए:</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ग्रीष्म</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वर्षा</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शीत</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रविवार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(मौसम/ऋतु) • प्र. #12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12. निम्नलिखित में से विजातीय शब्द चुनिए:</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ग्रीष्म</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वर्षा</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शीत</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रविवार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ग्रीष्म, वर्षा और शीत ऋतुओं (Seasons) के नाम हैं, जबकि रविवार सप्ताह का एक दिन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(राज्य-राजधानी) • प्र. #13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13. उत्तर प्रदेश : लखनऊ : : बिहार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गया</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पटना</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मुजफ्फरपुर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भागलपुर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(राज्य-राजधानी) • प्र. #13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13. उत्तर प्रदेश : लखनऊ : : बिहार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गया</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पटना</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मुजफ्फरपुर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भागलपुर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जिस प्रकार उत्तर प्रदेश की राजधानी लखनऊ है, उसी प्रकार बिहार राज्य की राजधानी पटना 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वर्ग) • प्र. #14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14. 5 : 25 : : 8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56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64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72</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81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वर्ग) • प्र. #14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14. 5 : 25 : : 8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56</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64</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72</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81</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सम्बन्ध: पहली संख्या का वर्ग = दूसरी संख्या (5² = 25)। अतः 8² = 64।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(उपकरण एवं मापन) • प्र. #15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15. थर्मामीटर : तापमान : : बैरोमीटर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विद्युत धारा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वायुमंडलीय दाब</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आर्द्रता</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दूरी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(उपकरण एवं मापन) • प्र. #15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15. थर्मामीटर : तापमान : : बैरोमीटर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विद्युत धारा</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वायुमंडलीय दाब</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आर्द्रता</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दूरी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थर्मामीटर से तापमान मापा जाता है, जबकि बैरोमीटर (Barometer) से वायुमंडलीय दाब मापा जाता है।</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घन + 1) • प्र. #16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16. 2 : 9 : : 3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27</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28</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घन + 1) • प्र. #16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16. 2 : 9 : : 3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26</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27</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28</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30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सम्बन्ध: n : (n³ + 1)। यहाँ 2 : (2³ + 1) = 2 : (8 + 1) = 9। इसी प्रकार 3 : (3³ + 1) = 3 : (27 + 1) = 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(अक्षर) • प्र. #17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17. ACE : BDF : : GIK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HJL</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HKL</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HJM</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IJL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(अक्षर) • प्र. #17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17. ACE : BDF : : GIK : ?</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HJL</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HKL</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HJM</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IJL</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A(+1)=B, C(+1)=D, E(+1)=F। इसी प्रकार G(+1)=H, I(+1)=J, K(+1)=L। अतः सही उत्तर 'HJL' होगा।</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(रोग व अंग) • प्र. #18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18. मोतियाबिंद : आँख : : निमोनिया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हृदय</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फेफड़े</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यकृत (लिवर)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त्वचा</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(रोग व अंग) • प्र. #18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18. मोतियाबिंद : आँख : : निमोनिया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हृदय</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फेफड़े</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यकृत (लिवर)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त्वचा</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मोतियाबिंद आँख से सम्बन्धित रोग है, जबकि निमोनिया फेफड़ों (Lungs) का संक्रमण 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गुणन) • प्र. #19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19. 12 : 144 : : 15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215</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225</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240</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गुणन) • प्र. #19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19. 12 : 144 : : 15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215</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225</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240</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256</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सम्बन्ध: संख्या का वर्ग। 12² = 144, इसी प्रकार 15² = 225।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(विपरीतार्थक शब्द) • प्र. #20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20. प्रकाश : अंधकार : : ज्ञान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विद्या</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अज्ञान</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गुरु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प्रकाश</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(विपरीतार्थक शब्द) • प्र. #20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20. प्रकाश : अंधकार : : ज्ञान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विद्या</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अज्ञान</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गुरु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प्रकाश</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प्रकाश का विलोम शब्द अंधकार है, उसी प्रकार ज्ञान का विलोम शब्द अज्ञान है।</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(वर्णमाला स्थान) • प्र. #21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21. D : 16 : : F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25</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30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36</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(वर्णमाला स्थान) • प्र. #21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21. D : 16 : : F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25</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30</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36</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49</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D का वर्णमाला में स्थान 4 है, और 4² = 16। F का वर्णमाला में स्थान 6 है, अतः 6² = 36 होगा।</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(जीव व आवास) • प्र. #22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22. पक्षी : घोंसला : : शेर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तबेला</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मांद (गुफा)</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बिल</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पिंजरा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(जीव व आवास) • प्र. #22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22. पक्षी : घोंसला : : शेर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तबेला</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मांद (गुफा)</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बिल</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पिंजरा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पक्षी अपने रहने के लिए घोंसला बनाता है, जबकि शेर का प्राकृतिक आवास मांद (Den/Cave) होता है।</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संक्रिया) • प्र. #23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23. 7 : 50 : : 9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80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81</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82</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90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संक्रिया) • प्र. #23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23. 7 : 50 : : 9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80</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81</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82</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90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सम्बन्ध: n² + 1। यहाँ 7² + 1 = 49 + 1 = 50। इसी प्रकार 9² + 1 = 81 + 1 =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(देश-मुद्रा) • प्र. #24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24. भारत : रुपया : : बांग्लादेश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दिनार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टका</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रुपया</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येन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(देश-मुद्रा) • प्र. #24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24. भारत : रुपया : : बांग्लादेश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दिनार</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टका</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रुपया</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येन</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भारत की मुद्रा रुपया है, जबकि बांग्लादेश की राष्ट्रीय मुद्रा टका (Taka) है।</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(समान अंतर) • प्र. #25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25. दी गई संख्या श्रेणी में अगला पद ज्ञात कीजिए: 4, 9, 14, 19, 24,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27</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28</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29</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30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(समान अंतर) • प्र. #25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25. दी गई संख्या श्रेणी में अगला पद ज्ञात कीजिए: 4, 9, 14, 19, 24,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27</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28</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29</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30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प्रत्येक पद में +5 की वृद्धि हो रही है: 4+5=9, 9+5=14, 14+5=19, 19+5=24, अतः 24 + 5 = 29।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(वर्ग श्रेणी) • प्र. #26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26. श्रृंखला में प्रश्नचिन्ह (?) के स्थान पर क्या आएगा? 1, 4, 9, 16, 25, 36,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42</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45</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49</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(वर्ग श्रेणी) • प्र. #26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26. श्रृंखला में प्रश्नचिन्ह (?) के स्थान पर क्या आएगा? 1, 4, 9, 16, 25, 36,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42</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45</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49</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54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क्रमशः प्राकृत संख्याओं के वर्ग हैं: 1²=1, 2²=4, 3²=9, 4²=16, 5²=25, 6²=36, अतः अगला पद 7² = 49 होगा।</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(बढ़ता हुआ अंतर) • प्र. #27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27. निम्न श्रेणी को पूरा कीजिए: 2, 5, 10, 17, 26,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35</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36</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37</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38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(बढ़ता हुआ अंतर) • प्र. #27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27. निम्न श्रेणी को पूरा कीजिए: 2, 5, 10, 17, 26,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35</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36</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37</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38</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अंतर का क्रम विषम संख्याएँ हैं: +3, +5, +7, +9, अतः अगला अंतर +11 होगा: 26 + 11 = 37। (नियम: n² + 1 भी लागू होता है: 1²+1=2, 2²+1=5... 6²+1=37)।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(दोगुना श्रेणी) • प्र. #28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28. श्रेणी का अगला पद क्या होगा? 3, 6, 12, 24, 48,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72</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84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96</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108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(दोगुना श्रेणी) • प्र. #28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28. श्रेणी का अगला पद क्या होगा? 3, 6, 12, 24, 48,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72</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84</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96</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108</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प्रत्येक पद अपने पिछले पद का 2 गुना हो रहा है (×2): 3×2=6, 6×2=12, 12×2=24, 24×2=48, अतः 48 × 2 = 96।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(घन श्रेणी) • प्र. #29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29. दी गई श्रेणी में लुप्त पद ज्ञात कीजिए: 8, 27, 64, 125,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196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216</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225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256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(घन श्रेणी) • प्र. #29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29. दी गई श्रेणी में लुप्त पद ज्ञात कीजिए: 8, 27, 64, 125,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196</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216</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225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256</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क्रमशः प्राकृत संख्याओं के घन (Cubes) हैं: 2³=8, 3³=27, 4³=64, 5³=125, अतः अगला पद 6³ = 216 होगा।</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(घटती श्रेणी) • प्र. #30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30. निम्न श्रेणी में अगला पद चुनिए: 100, 93, 86, 79, 72,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63</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64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65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66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(घटती श्रेणी) • प्र. #30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30. निम्न श्रेणी में अगला पद चुनिए: 100, 93, 86, 79, 72,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63</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64</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65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66</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प्रत्येक पद में से -7 घटाया जा रहा है: 100-7=93, 93-7=86, 86-7=79, 79-7=72, अतः 72 - 7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(फिबोनाची पैटर्न) • प्र. #31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31. दी गई श्रृंखला को पूरा कीजिए: 1, 1, 2, 3, 5, 8, 13,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18</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21</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(फिबोनाची पैटर्न) • प्र. #31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31. दी गई श्रृंखला को पूरा कीजिए: 1, 1, 2, 3, 5, 8, 13,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18</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20</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21</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फिबोनाची श्रृंखला: प्रत्येक पद पिछले दो पदों का योग है। 1+1=2, 1+2=3, 2+3=5, 3+5=8, 5+8=13, अतः 8 + 13 = 21।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(एकांतर श्रेणी - Alternate) • प्र. #32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32. श्रेणी में (?) के स्थान पर कौन-सी संख्या आएगी? 2, 15, 4, 12, 6, 9, 8,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7</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8</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(एकांतर श्रेणी - Alternate) • प्र. #32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32. श्रेणी में (?) के स्थान पर कौन-सी संख्या आएगी? 2, 15, 4, 12, 6, 9, 8, ?</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6</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7</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8</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9</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यहाँ दो एकांतर श्रेणियाँ चल रही हैं: पहली श्रेणी: 2, 4, 6, 8 (+2 प्रत्येक बार)। दूसरी श्रेणी: 15, 12, 9, ? (-3 प्रत्येक बार)। अतः 9 - 3 =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(गुणा एवं जोड़) • प्र. #33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33. निम्न श्रृंखला का अगला पद क्या होगा? 2, 5, 11, 23, 47,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85</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92</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95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97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(गुणा एवं जोड़) • प्र. #33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33. निम्न श्रृंखला का अगला पद क्या होगा? 2, 5, 11, 23, 47,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85</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92</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95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97</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नियम: (पिछला पद × 2) + 1। 2×2+1=5, 5×2+1=11, 11×2+1=23, 23×2+1=47, अतः 47 × 2 + 1 = 94 + 1 = 95।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(अभाज्य संख्या श्रेणी) • प्र. #34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34. दी गई श्रेणी में अगला पद क्या होगा? 2, 3, 5, 7, 11, 13,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15</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17</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19</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(अभाज्य संख्या श्रेणी) • प्र. #34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34. दी गई श्रेणी में अगला पद क्या होगा? 2, 3, 5, 7, 11, 13,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15</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17</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19</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21</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यह लगातार अभाज्य संख्याओं (Prime Numbers) की श्रेणी है। 13 के बाद अगली अभाज्य संख्या 17 होती है।</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(वर्ग - 1 श्रेणी) • प्र. #35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35. श्रृंखला में प्रश्नचिन्ह (?) के स्थान पर संख्या ज्ञात कीजिए: 0, 3, 8, 15, 24,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32</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35</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36</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48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(वर्ग - 1 श्रेणी) • प्र. #35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35. श्रृंखला में प्रश्नचिन्ह (?) के स्थान पर संख्या ज्ञात कीजिए: 0, 3, 8, 15, 24,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32</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35</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36</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48</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नियम: n² - 1। 1²-1=0, 2²-1=3, 3²-1=8, 4²-1=15, 5²-1=24, अतः अगला पद 6² - 1 = 36 - 1 = 35 होगा।</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(अंतर का अंतर) • प्र. #36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36. श्रृंखला का अगला पद बताइए: 6, 11, 21, 36, 56,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78</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81</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84</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(अंतर का अंतर) • प्र. #36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36. श्रृंखला का अगला पद बताइए: 6, 11, 21, 36, 56,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78</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81</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84</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86</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पदों का अंतर: 11-6=5, 21-11=10, 36-21=15, 56-36=20। अंतर क्रमशः +5, +10, +15, +20 है। अगला अंतर +25 होगा: 56 + 25 = 81।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 प्र. #37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37. दी गई अक्षर श्रेणी में अगला अक्षर क्या होगा? A, C, E, G, I,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J</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K</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L</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M</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 प्र. #37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37. दी गई अक्षर श्रेणी में अगला अक्षर क्या होगा? A, C, E, G, I,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J</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K</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L</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M</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प्रत्येक अक्षर में +2 का अंतर है: A(1)+2=C(3), C(3)+2=E(5), E(5)+2=G(7), G(7)+2=I(9), अतः I(9) + 2 = K(11)।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 प्र. #38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38. श्रृंखला को पूरा कीजिए: Z, X, V, T, R,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O</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P</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Q</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 प्र. #38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38. श्रृंखला को पूरा कीजिए: Z, X, V, T, R,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O</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P</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Q</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S</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उल्टे क्रम में -2 का अंतर है: Z(26)-2=X(24), X(24)-2=V(22), V(22)-2=T(20), T(20)-2=R(18), अतः R(18) - 2 = P(16)।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(युग्म) • प्र. #39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39. अगला पद ज्ञात कीजिए: AB, CD, EF, GH,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IJ</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IK</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JK</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HI</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(युग्म) • प्र. #39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39. अगला पद ज्ञात कीजिए: AB, CD, EF, GH, ?</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IJ</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IK</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JK</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HI</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क्रमिक वर्णमाला युग्म हैं: A-B, C-D, E-F, G-H के बाद अगला स्वाभाविक युग्म I-J होगा।</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(बढ़ता अंतर) • प्र. #40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40. दी गई श्रृंखला में अगला पद क्या होगा? A, C, F, J, O,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S</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T</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U</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V</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(बढ़ता अंतर) • प्र. #40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40. दी गई श्रृंखला में अगला पद क्या होगा? A, C, F, J, O,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S</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T</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U</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V</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अंतर का क्रम: A(+2)=C, C(+3)=F, F(+4)=J, J(+5)=O, अतः O(+6) = 15 + 6 = 21 जो कि 'U' 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(विपरीत जोड़े) • प्र. #41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41. श्रृंखला का अगला युग्म क्या होगा? AZ, BY, CX, DW,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EU</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EV</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FU</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GT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(विपरीत जोड़े) • प्र. #41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41. श्रृंखला का अगला युग्म क्या होगा? AZ, BY, CX, DW,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EU</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EV</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FU</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GT</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वर्णमाला के प्रथम व अंतिम से विपरीत अक्षर हैं: A-Z, B-Y, C-X, D-W, अतः D के बाद E आता है और E का विपरीत V होता है (EV)।</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अक्षर-संख्या मिश्रित श्रृंखला • प्र. #42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42. श्रृंखला में (?) के स्थान पर क्या आएगा? B2, D4, F6, H8,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I9</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J10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K11</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L12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अक्षर-संख्या मिश्रित श्रृंखला • प्र. #42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42. श्रृंखला में (?) के स्थान पर क्या आएगा? B2, D4, F6, H8,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I9</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J10</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K11</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L12</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अक्षर में +2 की वृद्धि हो रही है (B, D, F, H -&gt; J) और संख्या उसके वर्णमाला क्रमांक को दर्शाती है (J का क्रमांक 10 है), अतः 'J10'।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(त्रि-अक्षर) • प्र. #43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43. अगला पद क्या होगा? BCD, EFG, HIJ,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KLM</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LMN</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KMN</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JKL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(त्रि-अक्षर) • प्र. #43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43. अगला पद क्या होगा? BCD, EFG, HIJ, ?</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KLM</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LMN</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KMN</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JKL</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लगातार 3-3 अक्षरों का समूह चल रहा है: BCD (2,3,4), EFG (5,6,7), HIJ (8,9,10), इसके बाद 11, 12, 13 अर्थात 'KLM' आएगा।</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पुनरावृत्ति पैटर्न • प्र. #44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44. दी गई श्रेणी के रिक्त स्थानों की पूर्ति हेतु सही विकल्प चुनिए: a _ ba _ b _ b _ a</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b a b a</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b b a a</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a b b a</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b a a 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पुनरावृत्ति पैटर्न • प्र. #44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44. दी गई श्रेणी के रिक्त स्थानों की पूर्ति हेतु सही विकल्प चुनिए: a _ ba _ b _ b _ a</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b a b a</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b b a a</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a b b a</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b a a b</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पैटर्न 'abba / abba' अथवा 'ab / ba / ab / ba' बनता है। रिक्त स्थान में 'b, b, a, a' रखने पर संतुलित चक्रीय समूह प्राप्त होता है।</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 प्र. #45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45. श्रृंखला में लुप्त पद ज्ञात कीजिए: Y, W, U, S, Q,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M</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N</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O</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P</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 प्र. #45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45. श्रृंखला में लुप्त पद ज्ञात कीजिए: Y, W, U, S, Q,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M</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N</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O</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P</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क्रमशः -2 का अंतर है: Y(25), W(23), U(21), S(19), Q(17), अतः Q(17) - 2 = 15 अर्थात 'O'।</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अक्षर-संख्या श्रृंखला • प्र. #46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46. निम्न में अगला पद क्या होगा? A1, C3, E5, G7,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H8</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I9</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J10</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K11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अक्षर-संख्या श्रृंखला • प्र. #46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46. निम्न में अगला पद क्या होगा? A1, C3, E5, G7,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H8</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I9</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J10</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K11</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विषम क्रमांक वाले अक्षर व उनके स्थान हैं: A(1), C(3), E(5), G(7), अतः अगला पद I(9) होगा।</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(+1 नियम) • प्र. #47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47. यदि किसी सांकेतिक भाषा में 'CAT' को 'DBU' लिखा जाता है, तो उसी भाषा में 'DOG' को क्या लिखा जाएगा?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EPH</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FPH</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EOH</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ENG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(+1 नियम) • प्र. #47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47. यदि किसी सांकेतिक भाषा में 'CAT' को 'DBU' लिखा जाता है, तो उसी भाषा में 'DOG' को क्या लिखा जाएगा?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EPH</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FPH</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EOH</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ENG</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प्रत्येक अक्षर में +1 किया गया है: C(+1)=D, A(+1)=B, T(+1)=U। अतः DOG में D(+1)=E, O(+1)=P, G(+1)=H अर्थात 'EPH'।</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(वर्णमाला क्रमांक योग) • प्र. #48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48. यदि 'A' = 1, 'BAT' = 23 हो, तो 'BALL' का मान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25</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27</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29</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31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(वर्णमाला क्रमांक योग) • प्र. #48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48. यदि 'A' = 1, 'BAT' = 23 हो, तो 'BALL' का मान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25</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27</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29</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31</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अक्षरों के वर्णमाला क्रमांक का योग: B(2) + A(1) + T(20) = 23। इसी प्रकार BALL = B(2) + A(1) + L(12) + L(12) = 27।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(-1 नियम) • प्र. #49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49. यदि 'MANGO' को 'LZMFN' लिखा जाता है, तो 'APPLE' का कोड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ZOOKD</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ZOKKD</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BQQMF</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ZOOMD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(-1 नियम) • प्र. #49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49. यदि 'MANGO' को 'LZMFN' लिखा जाता है, तो 'APPLE' का कोड क्या होगा?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ZOOKD</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ZOKKD</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BQQMF</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ZOOMD</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प्रत्येक अक्षर में से -1 घटाया गया है: M-1=L, A-1=Z, N-1=M, G-1=F, O-1=N। अतः APPLE: A-1=Z, P-1=O, P-1=O, L-1=K, E-1=D अर्थात 'ZOOKD'।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(उल्टा क्रम) • प्र. #50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50. यदि किसी कूट भाषा में 'WATER' को 'RETAW' लिखा जाता है, तो 'RIVER' को क्या लिखा जाएगा?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REVIR</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REIVR</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REVIRE</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VERIR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(उल्टा क्रम) • प्र. #50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50. यदि किसी कूट भाषा में 'WATER' को 'RETAW' लिखा जाता है, तो 'RIVER' को क्या लिखा जाएगा?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REVIR</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REIVR</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REVIRE</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VERIR</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शब्द के अक्षरों को ठीक उल्टे क्रम (Reverse Order) में लिखा गया है: R-I-V-E-R को उल्टा लिखने पर 'REVIR' बनेगा।</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(प्रत्यक्ष कूट) • प्र. #51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51. यदि 'DELHI' का कोड 73541 है और 'CALCUTTA' का कोड 82589662 है, तो 'CALICUT' का कोड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8251896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8251696</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8251596</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8251869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(प्रत्यक्ष कूट) • प्र. #51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51. यदि 'DELHI' का कोड 73541 है और 'CALCUTTA' का कोड 82589662 है, तो 'CALICUT' का कोड क्या होगा?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8251896</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8251696</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8251596</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8251869</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प्रत्यक्ष अक्षर मिलान (Direct Coding): C=8, A=2, L=5, I=1, C=8, U=9, T=6। अतः CALICUT = 8251896।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(शब्द प्रतिस्थापन) • प्र. #52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52. यदि 'हवा' को 'पानी', 'पानी' को 'आग', 'आग' को 'मिट्टी' और 'मिट्टी' को 'आकाश' कहा जाए, तो मछली कहाँ रहेगी?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हवा</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पानी</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आग</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मिट्टी</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(शब्द प्रतिस्थापन) • प्र. #52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52. यदि 'हवा' को 'पानी', 'पानी' को 'आग', 'आग' को 'मिट्टी' और 'मिट्टी' को 'आकाश' कहा जाए, तो मछली कहाँ रहेगी?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हवा</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पानी</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आग</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मिट्टी</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मछली सामान्यतः 'पानी' में रहती है, परंतु यहाँ प्रश्न में 'पानी' को 'आग' कहा गया है। अतः मछली 'आग' में रहेगी।</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(+2 नियम) • प्र. #53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53. यदि 'PEN' को 'RGP' लिखा जाता है, तो 'BOOK' को क्या लिखा जाएगा?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DQQM</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CPPL</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DPPN</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EQQM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(+2 नियम) • प्र. #53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53. यदि 'PEN' को 'RGP' लिखा जाता है, तो 'BOOK' को क्या लिखा जाएगा?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DQQM</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CPPL</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DPPN</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EQQM</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प्रत्येक अक्षर में +2 जोड़ा गया है: P(+2)=R, E(+2)=G, N(+2)=P। अतः B(+2)=D, O(+2)=Q, O(+2)=Q, K(+2)=M अर्थात 'DQQM'।</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(विपरीत अक्षर कूट) • प्र. #54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54. यदि 'KING' को 'PRMT' लिखा जाता है, तो उसी कूट में 'ROSE' को क्या लिखा जाएगा?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ILHV</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ILHW</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ILGV</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IKHV</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(विपरीत अक्षर कूट) • प्र. #54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54. यदि 'KING' को 'PRMT' लिखा जाता है, तो उसी कूट में 'ROSE' को क्या लिखा जाएगा?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ILHV</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ILHW</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ILGV</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IKHV</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विपरीत अक्षर (Opposite Letters): K का P, I का R, N का M, G का T। इसी प्रकार R का I, O का L, S का H, E का V अर्थात 'ILHV'।</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 प्र. #55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55. यदि 'GO' = 32 और 'SHE' = 49 हो, तो 'SOME' का मान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56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58</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62</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64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 प्र. #55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55. यदि 'GO' = 32 और 'SHE' = 49 हो, तो 'SOME' का मान क्या होगा?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56</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58</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62</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64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विपरीत अक्षरों के क्रमांक का योग: G(20) + O(12) = 32। SHE = S(8) + H(19) + E(22) = 49। इसी प्रकार SOME: S(8) + O(12) + M(14) + E(22) = 56।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 प्र. #56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56. यदि 'INDIA' को '9-14-4-9-1' लिखा जाता है, तो 'DELHI' को क्या लिखा जाएगा?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4-5-12-8-9</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4-5-11-8-9</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3-5-12-8-9</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4-6-12-8-9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 प्र. #56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56. यदि 'INDIA' को '9-14-4-9-1' लिखा जाता है, तो 'DELHI' को क्या लिखा जाएगा?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4-5-12-8-9</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4-5-11-8-9</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3-5-12-8-9</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4-6-12-8-9</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प्रत्येक अक्षर का वास्तविक वर्णमाला क्रमांक लिखा गया है: D=4, E=5, L=12, H=8, I=9 अर्थात '4-5-12-8-9'।</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(मैट्रिक्स) • प्र. #57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57. दिए गए 3×3 मैट्रिक्स में प्रश्नचिन्ह (?) के स्थान पर कौन-सी संख्या आएगी?</a:t>
            </a:r>
            <a:br/>
            <a:r>
              <a:t>[ 3   4   5 ]</a:t>
            </a:r>
            <a:br/>
            <a:r>
              <a:t>[ 4   5   6 ]</a:t>
            </a:r>
            <a:br/>
            <a:r>
              <a:t>[ 5   6   ? ]</a:t>
            </a:r>
            <a:br/>
            <a:r>
              <a:t>नीचे का योग क्रमशः 12, 15, 18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7</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8</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(मैट्रिक्स) • प्र. #57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57. दिए गए 3×3 मैट्रिक्स में प्रश्नचिन्ह (?) के स्थान पर कौन-सी संख्या आएगी?</a:t>
            </a:r>
            <a:br/>
            <a:r>
              <a:t>[ 3   4   5 ]</a:t>
            </a:r>
            <a:br/>
            <a:r>
              <a:t>[ 4   5   6 ]</a:t>
            </a:r>
            <a:br/>
            <a:r>
              <a:t>[ 5   6   ? ]</a:t>
            </a:r>
            <a:br/>
            <a:r>
              <a:t>नीचे का योग क्रमशः 12, 15, 18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6</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7</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8</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9</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प्रत्येक पंक्ति में +1 का क्रम है। तीसरी पंक्ति में 5, 6 के बाद स्वाभाविक संख्या 7 आएगी (5 + 6 + 7 = 18)।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(वृत्त चतुर्थांश) • प्र. #58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58. एक वृत्त के चार भागों में संख्याएँ 4, 9, 16 और (?) लिखी हैं। लुप्त संख्या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30</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(वृत्त चतुर्थांश) • प्र. #58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58. एक वृत्त के चार भागों में संख्याएँ 4, 9, 16 और (?) लिखी हैं। लुप्त संख्या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20</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24</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25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30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वृत्त के भागों में क्रमशः प्राकृत संख्याओं के वर्ग हैं: 2²=4, 3²=9, 4²=16, अतः चौथे भाग में 5² = 25 होगा।</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(त्रिभुज पैटर्न) • प्र. #59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59. एक त्रिभुज के तीनों शीर्षों पर 2, 3, 4 लिखे हैं और केंद्र में 24 है। दूसरे त्रिभुज के शीर्षों पर 3, 4, 5 लिखे हैं और केंद्र में 60 है। तीसरे त्रिभुज के शीर्षों पर 2, 5, 6 होने पर केंद्र में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40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50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60</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70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(त्रिभुज पैटर्न) • प्र. #59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59. एक त्रिभुज के तीनों शीर्षों पर 2, 3, 4 लिखे हैं और केंद्र में 24 है। दूसरे त्रिभुज के शीर्षों पर 3, 4, 5 लिखे हैं और केंद्र में 60 है। तीसरे त्रिभुज के शीर्षों पर 2, 5, 6 होने पर केंद्र में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40</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50</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60</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70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केंद्र की संख्या = तीनों शीर्षों की संख्याओं का गुणनफल। 2 × 3 × 4 = 24। 3 × 4 × 5 = 60। अतः तीसरे त्रिभुज में 2 × 5 × 6 = 60 होगा।</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(मैट्रिक्स वर्ग योग) • प्र. #60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60. मैट्रिक्स में लुप्त संख्या ज्ञात कीजिए:</a:t>
            </a:r>
            <a:br/>
            <a:r>
              <a:t>[ 2   3   13 ]  (क्योंकि 2² + 3² = 13)</a:t>
            </a:r>
            <a:br/>
            <a:r>
              <a:t>[ 4   5   41 ]  (क्योंकि 4² + 5² = 41)</a:t>
            </a:r>
            <a:br/>
            <a:r>
              <a:t>[ 3   4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(मैट्रिक्स वर्ग योग) • प्र. #60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60. मैट्रिक्स में लुप्त संख्या ज्ञात कीजिए:</a:t>
            </a:r>
            <a:br/>
            <a:r>
              <a:t>[ 2   3   13 ]  (क्योंकि 2² + 3² = 13)</a:t>
            </a:r>
            <a:br/>
            <a:r>
              <a:t>[ 4   5   41 ]  (क्योंकि 4² + 5² = 41)</a:t>
            </a:r>
            <a:br/>
            <a:r>
              <a:t>[ 3   4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20</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24</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25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27</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नियम: पहली संख्या का वर्ग + दूसरी संख्या का वर्ग = तीसरी संख्या। अतः 3² + 4² = 9 + 16 = 25।</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(वृत्त आमने-सामने) • प्र. #61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61. एक वृत्त में आमने-सामने के खानों में संख्याएँ दी गई हैं: 3 के सामने 27, 4 के सामने 64, तो 5 के सामने प्रश्नचिन्ह (?) के स्थान पर क्या आएगा?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100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125</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150</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225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(वृत्त आमने-सामने) • प्र. #61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61. एक वृत्त में आमने-सामने के खानों में संख्याएँ दी गई हैं: 3 के सामने 27, 4 के सामने 64, तो 5 के सामने प्रश्नचिन्ह (?) के स्थान पर क्या आएगा?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100</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125</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150</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225</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आमने-सामने की संख्याएँ घन (Cube) के सम्बन्ध में हैं: 3³ = 27, 4³ = 64, अतः 5 के सामने 5³ = 125 होगा।</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 प्र. #62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62. निम्न व्यवस्था में (?) का मान ज्ञात कीजिए: 7 × 2 + 1 = 15; 15 × 2 + 1 = 31; 31 × 2 + 1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61</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62</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63</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64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 प्र. #62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62. निम्न व्यवस्था में (?) का मान ज्ञात कीजिए: 7 × 2 + 1 = 15; 15 × 2 + 1 = 31; 31 × 2 + 1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61</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62</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63</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64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नियम: (संख्या × 2) + 1। अतः 31 × 2 + 1 = 62 + 1 = 63।</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(स्तंभ योग) • प्र. #63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63. मैट्रिक्स में लुप्त संख्या चुनिए:</a:t>
            </a:r>
            <a:br/>
            <a:r>
              <a:t>स्तंभ 1: 5, 8, 13 (योग = 26)</a:t>
            </a:r>
            <a:br/>
            <a:r>
              <a:t>स्तंभ 2: 6, 9, 15 (योग = 30)</a:t>
            </a:r>
            <a:br/>
            <a:r>
              <a:t>स्तंभ 3: 7, 10,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17</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18</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(स्तंभ योग) • प्र. #63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63. मैट्रिक्स में लुप्त संख्या चुनिए:</a:t>
            </a:r>
            <a:br/>
            <a:r>
              <a:t>स्तंभ 1: 5, 8, 13 (योग = 26)</a:t>
            </a:r>
            <a:br/>
            <a:r>
              <a:t>स्तंभ 2: 6, 9, 15 (योग = 30)</a:t>
            </a:r>
            <a:br/>
            <a:r>
              <a:t>स्तंभ 3: 7, 10,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16</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17</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18</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19</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नियम: पहली दो संख्याओं का योग = तीसरी संख्या। 5 + 8 = 13, 6 + 9 = 15, अतः 7 + 10 = 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(क्रॉस पैटर्न) • प्र. #64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64. एक क्रॉस आकृति में ऊपर 8, नीचे 2, बाएँ 6, दाएँ 4 हैं और बीच में 10 है ( (8+2+6+4)/2 = 10 )। दूसरी आकृति में ऊपर 10, नीचे 6, बाएँ 8, दाएँ 4 हों तो बीच में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12</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16</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(क्रॉस पैटर्न) • प्र. #64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64. एक क्रॉस आकृति में ऊपर 8, नीचे 2, बाएँ 6, दाएँ 4 हैं और बीच में 10 है ( (8+2+6+4)/2 = 10 )। दूसरी आकृति में ऊपर 10, नीचे 6, बाएँ 8, दाएँ 4 हों तो बीच में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12</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14</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16</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18</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मध्य संख्या = चारों संख्याओं का योग ÷ 2। (10 + 6 + 8 + 4) = 28 ÷ 2 = 14।</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(द्विघात अंतर) • प्र. #65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65. दिए गए चक्रव्यूह में लुप्त पद बताइए: 5, 10, 20, 40,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50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60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70</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80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(द्विघात अंतर) • प्र. #65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65. दिए गए चक्रव्यूह में लुप्त पद बताइए: 5, 10, 20, 40,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50</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60</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70</a:t>
            </a:r>
          </a:p>
        </p:txBody>
      </p:sp>
      <p:sp>
        <p:nvSpPr>
          <p:cNvPr id="10" name="Rounded Rectangle 9"/>
          <p:cNvSpPr/>
          <p:nvPr/>
        </p:nvSpPr>
        <p:spPr>
          <a:xfrm>
            <a:off x="6291072"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(D)  80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(D)</a:t>
            </a:r>
          </a:p>
          <a:p>
            <a:pPr>
              <a:spcBef>
                <a:spcPts val="300"/>
              </a:spcBef>
              <a:defRPr sz="1350" b="0">
                <a:solidFill>
                  <a:srgbClr val="1E293B"/>
                </a:solidFill>
                <a:latin typeface="Segoe UI"/>
              </a:defRPr>
            </a:pPr>
            <a:r>
              <a:t>💡 व्याख्या एवं ट्रिक (Explanation): प्रत्येक पद 2 गुना हो रहा है: 5×2=10, 10×2=20, 20×2=40, अतः 40 × 2 = 80।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(गुणा + अचर) • प्र. #66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66. यदि 3 * 4 = 14, 5 * 6 = 32 हो, तो 7 * 8 = ? (नियम: a * b = a×b + 2)</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54</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56</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58</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60</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(गुणा + अचर) • प्र. #66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66. यदि 3 * 4 = 14, 5 * 6 = 32 हो, तो 7 * 8 = ? (नियम: a * b = a×b + 2)</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54</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56</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58</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60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नियम: दोनों संख्याओं का गुणनफल + 2। 3×4 + 2 = 14; 5×6 + 2 = 32; अतः 7×8 + 2 = 56 + 2 = 58।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#67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67. यदि '+' का अर्थ '×', '-' का अर्थ '÷', '×' का अर्थ '-' और '÷' का अर्थ '+' हो, तो 12 + 4 ÷ 8 - 2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48</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50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52</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54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#67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67. यदि '+' का अर्थ '×', '-' का अर्थ '÷', '×' का अर्थ '-' और '÷' का अर्थ '+' हो, तो 12 + 4 ÷ 8 - 2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48</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50</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52</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54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चिन्ह बदलने पर: 12 × 4 + 8 ÷ 2। BODMAS से पहले भाग: 8 ÷ 2 = 4। फिर गुणा: 12 × 4 = 48। अंत में जोड़: 48 + 4 = 52।</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#68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68. यदि 'P' का अर्थ '+', 'Q' का अर्थ '-', 'R' का अर्थ '×', और 'S' का अर्थ '÷' हो, तो 18 R 2 P 12 S 4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36</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38</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39</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42</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#68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68. यदि 'P' का अर्थ '+', 'Q' का अर्थ '-', 'R' का अर्थ '×', और 'S' का अर्थ '÷' हो, तो 18 R 2 P 12 S 4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36</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38</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39</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42</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समीकरण: 18 × 2 + 12 ÷ 4। BODMAS से: 12 ÷ 4 = 3, और 18 × 2 = 36। अतः 36 + 3 = 39।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#69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69. यदि '×' का अर्थ '+', '÷' का अर्थ '-' हो, तो 20 × 5 ÷ 10 का मान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15</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30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#69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69. यदि '×' का अर्थ '+', '÷' का अर्थ '-' हो, तो 20 × 5 ÷ 10 का मान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10</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15</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25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30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चिन्ह बदलने पर: 20 + 5 - 10 = 25 - 10 = 15।</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(सत्य कथन खोजना) • प्र. #70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70. यदि '+' का अर्थ '-' और '×' का अर्थ '÷' हो, तो निम्नलिखित में से कौन-सा समीकरण सही है?</a:t>
            </a:r>
            <a:br/>
            <a:r>
              <a:t>(A) 20 × 4 + 2 = 3</a:t>
            </a:r>
            <a:br/>
            <a:r>
              <a:t>(B) 20 + 4 × 2 = 8</a:t>
            </a:r>
            <a:br/>
            <a:r>
              <a:t>(C) 16 × 4 + 2 = 4</a:t>
            </a:r>
            <a:br/>
            <a:r>
              <a:t>(D) 12 + 6 × 3 = 10</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20 × 4 + 2 = 3</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20 + 4 × 2 = 8</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16 × 4 + 2 = 4</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12 + 6 × 3 = 10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(सत्य कथन खोजना) • प्र. #70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70. यदि '+' का अर्थ '-' और '×' का अर्थ '÷' हो, तो निम्नलिखित में से कौन-सा समीकरण सही है?</a:t>
            </a:r>
            <a:br/>
            <a:r>
              <a:t>(A) 20 × 4 + 2 = 3</a:t>
            </a:r>
            <a:br/>
            <a:r>
              <a:t>(B) 20 + 4 × 2 = 8</a:t>
            </a:r>
            <a:br/>
            <a:r>
              <a:t>(C) 16 × 4 + 2 = 4</a:t>
            </a:r>
            <a:br/>
            <a:r>
              <a:t>(D) 12 + 6 × 3 = 10</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20 × 4 + 2 = 3</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20 + 4 × 2 = 8</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16 × 4 + 2 = 4</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12 + 6 × 3 = 10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विकल्प (A) में चिन्ह बदलने पर: 20 ÷ 4 - 2 = 5 - 2 = 3। यह समीकरण पूरी तरह सत्य है।</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71. यदि 8 - 4 = 32 और 6 - 3 = 18 हो, तो 9 - 5 का मान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40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45</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50</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54</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71. यदि 8 - 4 = 32 और 6 - 3 = 18 हो, तो 9 - 5 का मान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40</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45</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50</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54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यहाँ '-' चिन्ह का वास्तविक अर्थ गुणा (×) है। 8 × 4 = 32, 6 × 3 = 18, अतः 9 × 5 = 45।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72. यदि '+' का अर्थ 'भाग (÷)', '÷' का अर्थ 'गुणा (×)', और '×' का अर्थ 'घटाना (-)' हो, तो 36 + 6 ÷ 3 × 5 =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11</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13</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72. यदि '+' का अर्थ 'भाग (÷)', '÷' का अर्थ 'गुणा (×)', और '×' का अर्थ 'घटाना (-)' हो, तो 36 + 6 ÷ 3 × 5 = ?</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11</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13</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18</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चिन्ह बदलने पर: 36 ÷ 6 × 3 - 5। BODMAS से: 36 ÷ 6 = 6; 6 × 3 = 18; 18 - 5 = 13।</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73. यदि A = 1, B = 2, C = 3 हो, तो (C × D) - B का मान क्या होगा यदि D = 4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8</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12</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73. यदि A = 1, B = 2, C = 3 हो, तो (C × D) - B का मान क्या होगा यदि D = 4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8</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10</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12</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मान रखने पर: (3 × 4) - 2 = 12 - 2 = 10।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74. समीकरण 24 ? 6 ? 2 = 6 में प्रश्नचिन्हों के स्थान पर कौन-से चिन्ह सही बैठेंगे?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 और +</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 और ×</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 और -</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 और ÷</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प्र. #74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74. समीकरण 24 ? 6 ? 2 = 6 में प्रश्नचिन्हों के स्थान पर कौन-से चिन्ह सही बैठेंगे?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 और +</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 और ×</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 और -</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 और ÷</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चिन्ह '÷' और '+' रखने पर: 24 ÷ 6 + 2 = 4 + 2 = 6, जो समीकरण को संतुष्ट करता है।</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75. एक लड़के की तस्वीर की ओर इशारा करते हुए सुरेश ने कहा, 'वह मेरी माँ के इकलौते पुत्र का बेटा है।' सुरेश का उस लड़के से क्या संबंध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चाचा</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भाई</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पिता</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दादा</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75. एक लड़के की तस्वीर की ओर इशारा करते हुए सुरेश ने कहा, 'वह मेरी माँ के इकलौते पुत्र का बेटा है।' सुरेश का उस लड़के से क्या संबंध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चाचा</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भाई</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पिता</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दादा</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सुरेश की माँ का इकलौता पुत्र स्वयं सुरेश होगा। और उस पुत्र का बेटा अर्थात सुरेश का अपना बेटा होगा। अतः सुरेश उस लड़के का पिता है।</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76. A, B का भाई है। C, A की माँ है। D, C का पिता है। B का D से क्या संबंध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पुत्र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पोता / नाती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भाई</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पिता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76. A, B का भाई है। C, A की माँ है। D, C का पिता है। B का D से क्या संबंध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पुत्र</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पोता / नाती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भाई</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पिता</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A और B संतान हैं C की (जो माँ है)। C के पिता D हैं। अतः B, D का नाती/पोता (Grandson) होगा।</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77. यदि राहुल कहता है कि 'सोनिया मेरी पत्नी के ससुर की इकलौती बेटी है', तो सोनिया राहुल की क्या लगती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पत्नी</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बहन</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माँ</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भाभी</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77. यदि राहुल कहता है कि 'सोनिया मेरी पत्नी के ससुर की इकलौती बेटी है', तो सोनिया राहुल की क्या लगती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पत्नी</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बहन</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माँ</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भाभी</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राहुल की पत्नी के ससुर = राहुल के पिता। राहुल के पिता की इकलौती बेटी = राहुल की बहन। अतः सोनिया राहुल की बहन है।</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78. एक महिला का परिचय देते हुए एक पुरुष ने कहा, 'इसके पति मेरे पिता के इकलौते पुत्र हैं।' वह महिला उस पुरुष की क्या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बहन</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माँ</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पत्नी</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पुत्री</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78. एक महिला का परिचय देते हुए एक पुरुष ने कहा, 'इसके पति मेरे पिता के इकलौते पुत्र हैं।' वह महिला उस पुरुष की क्या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बहन</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माँ</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पत्नी</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पुत्री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पुरुष के पिता का इकलौता पुत्र = स्वयं वह पुरुष। और उस महिला के पति वह पुरुष स्वयं हैं, अतः वह महिला उस पुरुष की पत्नी है।</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79. P, Q की बहन है। R, Q की माता है। S, R का पिता है। P का S से क्या संबंध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पुत्री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नातिन (Granddaughter)</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दादी</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माता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#79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79. P, Q की बहन है। R, Q की माता है। S, R का पिता है। P का S से क्या संबंध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पुत्री</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नातिन (Granddaughter)</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दादी</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माता</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P माता R की पुत्री है, और R के पिता S हैं। अतः माँ के पिता की पुत्री की पुत्री अर्थात नातिन (Granddaughter) होगी।</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#80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80. रवि के पिता का एक पुत्र रोहन और एक पुत्री रेखा है। रेखा का रवि से क्या संबंध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माँ</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बहन</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चाची</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भाभी</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प्र. #80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80. रवि के पिता का एक पुत्र रोहन और एक पुत्री रेखा है। रेखा का रवि से क्या संबंध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माँ</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बहन</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चाची</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भाभी</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रवि के पिता की पुत्री रेखा है, अतः रेखा रवि की सगी बहन है।</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 प्र. #81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81. रोहित उत्तर दिशा में 10 मीटर चलता है, फिर वह दाएँ मुड़कर 5 मीटर चलता है, फिर दाएँ मुड़कर 10 मीटर चलता है। अब वह अपने प्रारम्भिक स्थान से कितनी दूरी पर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5 मीटर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10 मीटर</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15 मीटर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20 मीटर</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 प्र. #81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81. रोहित उत्तर दिशा में 10 मीटर चलता है, फिर वह दाएँ मुड़कर 5 मीटर चलता है, फिर दाएँ मुड़कर 10 मीटर चलता है। अब वह अपने प्रारम्भिक स्थान से कितनी दूरी पर है?</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5 मीटर</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10 मीटर</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15 मीटर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20 मीटर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उत्तर में 10 मी जाकर, दाएँ मुड़कर पूर्व में 5 मी चला, फिर दाएँ मुड़कर दक्षिण में 10 मी चला। उत्तर और दक्षिण की 10 मी की दूरी निरस्त हो गई। वह प्रारंभिक बिंदु से ठीक पूर्व में 5 मीटर की दूरी पर है।</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 प्र. #82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82. सूर्योदय के समय यदि आप पूर्व की ओर मुँह करके खड़े हैं, तो आपकी बायीं ओर कौन-सी दिशा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दक्षिण</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उत्तर</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पश्चिम</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दक्षिण-पश्चिम</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 प्र. #82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82. सूर्योदय के समय यदि आप पूर्व की ओर मुँह करके खड़े हैं, तो आपकी बायीं ओर कौन-सी दिशा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दक्षिण</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उत्तर</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पश्चिम</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दक्षिण-पश्चिम</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पूर्व दिशा की ओर सम्मुख खड़े होने पर बायाँ हाथ उत्तर दिशा की ओर और दायाँ हाथ दक्षिण दिशा की ओर होता है।</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(पाइथागोरस प्रमेय) • प्र. #83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83. एक व्यक्ति पूर्व दिशा में 3 किमी चलता है, फिर उत्तर दिशा में मुड़कर 4 किमी चलता है। वह अपने प्रारम्भिक बिंदु से सीधी रेखा में कितनी दूरी पर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5 किमी</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6 किमी</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7 किमी</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8 किमी</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(पाइथागोरस प्रमेय) • प्र. #83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83. एक व्यक्ति पूर्व दिशा में 3 किमी चलता है, फिर उत्तर दिशा में मुड़कर 4 किमी चलता है। वह अपने प्रारम्भिक बिंदु से सीधी रेखा में कितनी दूरी पर है?</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5 किमी</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6 किमी</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7 किमी</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8 किमी</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पाइथागोरस प्रमेय से: कर्ण² = आधार² + लम्ब² = 3² + 4² = 9 + 16 = 25। अतः सीधी दूरी = √25 = 5 किमी।</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 प्र. #84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84. अमित दक्षिण की ओर जा रहा है। वह दो बार लगातार बाएँ मुड़ता है। अब वह किस दिशा की ओर जा रहा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पूर्व</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पश्चिम</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उत्तर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दक्षिण</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 प्र. #84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84. अमित दक्षिण की ओर जा रहा है। वह दो बार लगातार बाएँ मुड़ता है। अब वह किस दिशा की ओर जा रहा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पूर्व</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पश्चिम</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उत्तर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दक्षिण</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दक्षिण से पहली बार बाएँ मुड़ने पर दिशा पूर्व होगी। पूर्व से पुनः बाएँ मुड़ने पर दिशा उत्तर हो जाएगी।</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(घड़ी की सुई) • प्र. #85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85. घड़ी में 3:00 बजे हैं। यदि मिनट की सुई उत्तर दिशा इंगित कर रही हो, तो घंटे की सुई किस दिशा में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पश्चिम</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दक्षिण</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पूर्व</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उत्तर-पूर्व</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(घड़ी की सुई) • प्र. #85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85. घड़ी में 3:00 बजे हैं। यदि मिनट की सुई उत्तर दिशा इंगित कर रही हो, तो घंटे की सुई किस दिशा में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पश्चिम</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दक्षिण</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पूर्व</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उत्तर-पूर्व</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3:00 बजे मिनट की सुई 12 पर (उत्तर) और घंटे की सुई 3 पर (ठीक दाएँ अर्थात पूर्व दिशा) में होती है।</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 प्र. #86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86. मोहन पश्चिम की ओर 20 मीटर चला, फिर बाएँ मुड़कर 15 मीटर चला। अब वह किस दिशा में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उत्तर-पूर्व</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दक्षिण-पश्चिम</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उत्तर-पश्चिम</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दक्षिण-पूर्व</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 प्र. #86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86. मोहन पश्चिम की ओर 20 मीटर चला, फिर बाएँ मुड़कर 15 मीटर चला। अब वह किस दिशा में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उत्तर-पूर्व</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दक्षिण-पश्चिम</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उत्तर-पश्चिम</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दक्षिण-पूर्व</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पश्चिम में चलने के बाद बाएँ मुड़ने पर वह दक्षिण की ओर बढ़ा। अतः प्रारंभिक बिंदु के सापेक्ष उसकी स्थिति दक्षिण-पश्चिम (South-West) में है।</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#87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87. निम्नलिखित तीन वर्गों के बीच सही संबंध दर्शाने वाला वेन आरेख कौन-सा होगा? [ भारत, उत्तर प्रदेश, लखनऊ ]</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तीन संकेंद्रीय वृत्त (एक के अंदर दूसरा)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तीन अलग-अलग वृत्त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दो वृत्त कटे हुए</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एक वृत्त के बाहर दो वृत्त</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#87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87. निम्नलिखित तीन वर्गों के बीच सही संबंध दर्शाने वाला वेन आरेख कौन-सा होगा? [ भारत, उत्तर प्रदेश, लखनऊ ]</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तीन संकेंद्रीय वृत्त (एक के अंदर दूसरा)</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तीन अलग-अलग वृत्त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दो वृत्त कटे हुए</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एक वृत्त के बाहर दो वृत्त</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लखनऊ पूर्णतः उत्तर प्रदेश के भीतर है, और उत्तर प्रदेश पूर्णतः भारत के भीतर है। अतः यह तीन संकेंद्रीय वृत्तों (Concentric Circles) द्वारा प्रदर्शित होगा।</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#88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88. [ पशु, गाय, कुत्ता ] के लिए सर्वोत्तम वेन आरेख कौन-सा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एक बड़े वृत्त के अंदर दो अलग-अलग वृत्त</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तीन परस्पर प्रतिच्छेदी वृत्त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तीन अलग-अलग वृत्त</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एक वृत्त में दो मिले हुए वृत्त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#88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88. [ पशु, गाय, कुत्ता ] के लिए सर्वोत्तम वेन आरेख कौन-सा है?</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एक बड़े वृत्त के अंदर दो अलग-अलग वृत्त</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तीन परस्पर प्रतिच्छेदी वृत्त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तीन अलग-अलग वृत्त</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एक वृत्त में दो मिले हुए वृत्त</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गाय और कुत्ता दोनों अलग-अलग प्राणी हैं, परंतु दोनों ही 'पशु' वर्ग के अंतर्गत आते हैं। अतः एक बड़े वृत्त के अंदर दो पृथक वृत्त होंगे।</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#89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89. [ डॉक्टर, पुरुष, लेखक ] के बीच सही संबंध कौन-सा आरेख दर्शाता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तीन परस्पर काटने वाले वृत्त (Interlinked)</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तीन संकेंद्रीय वृत्त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दो वृत्त एक के अंदर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तीन अलग वृत्त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#89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89. [ डॉक्टर, पुरुष, लेखक ] के बीच सही संबंध कौन-सा आरेख दर्शाता है?</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तीन परस्पर काटने वाले वृत्त (Interlinked)</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तीन संकेंद्रीय वृत्त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दो वृत्त एक के अंदर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तीन अलग वृत्त</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कुछ पुरुष डॉक्टर हो सकते हैं, कुछ डॉक्टर लेखक हो सकते हैं और कुछ पुरुष लेखक हो सकते हैं। तीनों में उभयनिष्ठ (Common) गुण संभव हैं, अतः तीनों वृत्त एक-दूसरे को प्रतिच्छेद करेंगे।</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#90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90. [ सोना, धातु, चाँदी ] का सही निरूपण कौन-सा आरेख करता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एक बड़े वृत्त (धातु) के भीतर दो अलग वृत्त (सोना व चाँदी)</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तीन अलग वृत्त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तीनों संकेंद्रीय वृत्त</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दो वृत्त कटे हुए</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#90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90. [ सोना, धातु, चाँदी ] का सही निरूपण कौन-सा आरेख करता है?</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एक बड़े वृत्त (धातु) के भीतर दो अलग वृत्त (सोना व चाँदी)</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तीन अलग वृत्त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तीनों संकेंद्रीय वृत्त</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दो वृत्त कटे हुए</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सोना और चाँदी दोनों ही भिन्न-भिन्न धातुएँ हैं, परंतु दोनों 'धातु' वर्ग के अंतर्गत आती हैं।</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#91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91. [ फल, सेब, आलू ] के लिए सबसे उपयुक्त वेन आरेख चुनिए:</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एक बड़े वृत्त (फल) में सेब, और आलू बिल्कुल बाहर अलग वृत्त</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तीनों अलग-अलग वृत्त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तीनों संकेंद्रीय वृत्त</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दो वृत्त कटे हुए</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#91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91. [ फल, सेब, आलू ] के लिए सबसे उपयुक्त वेन आरेख चुनिए:</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एक बड़े वृत्त (फल) में सेब, और आलू बिल्कुल बाहर अलग वृत्त</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तीनों अलग-अलग वृत्त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तीनों संकेंद्रीय वृत्त</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दो वृत्त कटे हुए</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सेब एक 'फल' है, इसलिए वह फल वाले वृत्त के अंदर रहेगा; जबकि आलू 'सब्जी' (तना) है, अतः वह बाहर पृथक वृत्त के रूप में रहेगा।</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#92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92. [ सप्ताह, दिन, वर्ष ] का सही वेन आरेख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तीन संकेंद्रीय वृत्त (दिन ⊂ सप्ताह ⊂ वर्ष)</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तीन अलग वृत्त</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दो वृत्त अंदर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तीनों परस्पर कटे हुए</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प्र. #92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92. [ सप्ताह, दिन, वर्ष ] का सही वेन आरेख क्या होगा?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तीन संकेंद्रीय वृत्त (दिन ⊂ सप्ताह ⊂ वर्ष)</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तीन अलग वृत्त</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दो वृत्त अंदर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तीनों परस्पर कटे हुए</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दिन से मिलकर सप्ताह बनता है और सप्ताह से मिलकर वर्ष बनता है। अतः सबसे अंदर दिन, उसके बाहर सप्ताह, और सबसे बाहर वर्ष का वृत्त होगा।</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प्र. #93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93. एक कक्षा में 40 विद्यार्थियों की पंक्ति में मोहन का स्थान ऊपर से 15वाँ है। नीचे से उसका स्थान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25वाँ</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26वाँ</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27वाँ</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28वाँ</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प्र. #93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93. एक कक्षा में 40 विद्यार्थियों की पंक्ति में मोहन का स्थान ऊपर से 15वाँ है। नीचे से उसका स्थान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25वाँ</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26वाँ</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27वाँ</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28वाँ</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सूत्र: कुल संख्या = (ऊपर से स्थान + नीचे से स्थान) - 1। अतः 40 = (15 + नीचे से स्थान) - 1 =&gt; नीचे से स्थान = 40 - 14 = 26वाँ।</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प्र. #94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94. एक पंक्ति में सीता बाएँ से 10वीं और दाएँ से 15वीं है। पंक्ति में कुल कितने विद्यार्थी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23</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26</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प्र. #94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94. एक पंक्ति में सीता बाएँ से 10वीं और दाएँ से 15वीं है। पंक्ति में कुल कितने विद्यार्थी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23</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24</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25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26</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सूत्र: कुल = बायाँ + दायाँ - 1। कुल = 10 + 15 - 1 = 25 - 1 = 24 विद्यार्थी।</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क्रम व्यवस्था (तुलनात्मक ऊँचाई) • प्र. #95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95. A, B से लम्बा है परंतु C से छोटा है। D, E से लम्बा है परंतु B से छोटा है। सबसे लम्बा कौन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A</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B</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C</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क्रम व्यवस्था (तुलनात्मक ऊँचाई) • प्र. #95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95. A, B से लम्बा है परंतु C से छोटा है। D, E से लम्बा है परंतु B से छोटा है। सबसे लम्बा कौन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A</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B</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C</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D</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शर्तों के अनुसार क्रम: C &gt; A &gt; B तथा B &gt; D &gt; E। अतः संयुक्त क्रम: C &gt; A &gt; B &gt; D &gt; E। सबसे लम्बा 'C' है।</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(स्थान परिवर्तन) • प्र. #96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96. एक पंक्ति में राम बाएँ से 8वें स्थान पर है और श्याम दाएँ से 9वें स्थान पर। जब वे आपस में स्थान बदल लेते हैं तो राम बाएँ से 14वाँ हो जाता है। पंक्ति में कुल छात्र कितने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21</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22</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23</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24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(स्थान परिवर्तन) • प्र. #96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96. एक पंक्ति में राम बाएँ से 8वें स्थान पर है और श्याम दाएँ से 9वें स्थान पर। जब वे आपस में स्थान बदल लेते हैं तो राम बाएँ से 14वाँ हो जाता है। पंक्ति में कुल छात्र कितने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21</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22</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23</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24</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राम का नया बायाँ स्थान (14) = श्याम का पुराना दायाँ स्थान (9)। कुल = नया बायाँ + पुराना दायाँ - 1 = 14 + 9 - 1 = 23 - 1 = 22 छात्र।</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दर्पण प्रतिबिम्ब (Mirror Image) • प्र. #97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97. यदि दर्पण को दाईं ओर रखा जाए, तो अक्षर समूह 'RED' का सही दर्पण प्रतिबिम्ब क्या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DER</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ᗡƎЯ</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ЯƎD</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ᗡER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दर्पण प्रतिबिम्ब (Mirror Image) • प्र. #97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97. यदि दर्पण को दाईं ओर रखा जाए, तो अक्षर समूह 'RED' का सही दर्पण प्रतिबिम्ब क्या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DER</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ᗡƎЯ</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ЯƎD</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ᗡER</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दर्पण में दायाँ-बायाँ उलट जाता है। सबसे दायाँ अक्षर 'D' सबसे पहले दिखेगा और उल्टा होकर 'ᗡ' बनेगा, फिर 'E' उल्टा 'Ǝ' बनेगा और अंत में 'R' उल्टा 'Я' बनेगा।</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घड़ी एवं कोण (Clock Angle) • प्र. #98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197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98. घड़ी में ठीक 4:00 बजे दोनों सुइयों (घंटे और मिनट) के बीच कितने अंश का कोण बनेगा?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90°</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100°</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120°</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150°</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घड़ी एवं कोण (Clock Angle) • प्र. #98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198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98. घड़ी में ठीक 4:00 बजे दोनों सुइयों (घंटे और मिनट) के बीच कितने अंश का कोण बनेगा?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90°</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100°</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120°</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150°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घड़ी में 1 घंटे के अंतराल में 30° का कोण बनता है। 4:00 बजे दोनों सुइयों के बीच 4 घंटों का अंतर होता है: 4 × 30° = 120°।</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कैलेंडर परीक्षण (Calendar) • प्र. #99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199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99. यदि 1 जनवरी को सोमवार था, तो उसी साधारण वर्ष की 31 जनवरी को कौन-सा दिन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सोमवार</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मंगलवार</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बुधवार</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रविवार</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कैलेंडर परीक्षण (Calendar) • प्र. #99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200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99. यदि 1 जनवरी को सोमवार था, तो उसी साधारण वर्ष की 31 जनवरी को कौन-सा दिन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सोमवार</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मंगलवार</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बुधवार</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रविवार</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1 जनवरी से 31 जनवरी के बीच कुल दिन = 30। विषम दिन = 30 ÷ 7 = शेष 2 दिन। सोमवार + 2 = बुधवार। (अथवा 1, 8, 15, 22, 29 सोमवार होंगे, अतः 30 मंगलवार और 31 बुधवार होगा)।</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पासा परीक्षण (Dice / Cube) • प्र. #100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201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100. एक मानक पासे (Standard Dice) में अंक '3' के विपरीत फलक पर कौन-सा अंक होगा?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2</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4</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5</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6</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पासा परीक्षण (Dice / Cube) • प्र. #100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202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100. एक मानक पासे (Standard Dice) में अंक '3' के विपरीत फलक पर कौन-सा अंक होगा?</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2</a:t>
            </a:r>
          </a:p>
        </p:txBody>
      </p:sp>
      <p:sp>
        <p:nvSpPr>
          <p:cNvPr id="8" name="Rounded Rectangle 7"/>
          <p:cNvSpPr/>
          <p:nvPr/>
        </p:nvSpPr>
        <p:spPr>
          <a:xfrm>
            <a:off x="6291072"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(B)  4</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5</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6</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(B)</a:t>
            </a:r>
          </a:p>
          <a:p>
            <a:pPr>
              <a:spcBef>
                <a:spcPts val="300"/>
              </a:spcBef>
              <a:defRPr sz="1350" b="0">
                <a:solidFill>
                  <a:srgbClr val="1E293B"/>
                </a:solidFill>
                <a:latin typeface="Segoe UI"/>
              </a:defRPr>
            </a:pPr>
            <a:r>
              <a:t>💡 व्याख्या एवं ट्रिक (Explanation): मानक पासे में किन्हीं भी दो विपरीत फलकों का योग सदैव 7 होता है। अतः 3 के विपरीत फलक पर 7 - 3 = 4 होगा।</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त्रिभुज गणना (Counting Figures) • प्र. #101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203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101. एक वर्ग के दोनों विकर्ण खींचने पर उसके भीतर कुल कितने त्रिभुज बनते हैं?</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4</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6</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8</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10</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त्रिभुज गणना (Counting Figures) • प्र. #101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204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101. एक वर्ग के दोनों विकर्ण खींचने पर उसके भीतर कुल कितने त्रिभुज बनते हैं?</a:t>
            </a:r>
          </a:p>
        </p:txBody>
      </p:sp>
      <p:sp>
        <p:nvSpPr>
          <p:cNvPr id="7" name="Rounded Rectangle 6"/>
          <p:cNvSpPr/>
          <p:nvPr/>
        </p:nvSpPr>
        <p:spPr>
          <a:xfrm>
            <a:off x="457200"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(A)  4</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6</a:t>
            </a:r>
          </a:p>
        </p:txBody>
      </p:sp>
      <p:sp>
        <p:nvSpPr>
          <p:cNvPr id="9" name="Rounded Rectangle 8"/>
          <p:cNvSpPr/>
          <p:nvPr/>
        </p:nvSpPr>
        <p:spPr>
          <a:xfrm>
            <a:off x="457200" y="379476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(C)  8</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10</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(C)</a:t>
            </a:r>
          </a:p>
          <a:p>
            <a:pPr>
              <a:spcBef>
                <a:spcPts val="300"/>
              </a:spcBef>
              <a:defRPr sz="1350" b="0">
                <a:solidFill>
                  <a:srgbClr val="1E293B"/>
                </a:solidFill>
                <a:latin typeface="Segoe UI"/>
              </a:defRPr>
            </a:pPr>
            <a:r>
              <a:t>💡 व्याख्या एवं ट्रिक (Explanation): जब किसी वर्ग में दोनों विकर्ण खींचे जाते हैं, तो 4 छोटे त्रिभुज बनते हैं। ट्रिक: छोटे त्रिभुजों की संख्या × 2 = 4 × 2 = 8 त्रिभुज।</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जल प्रतिबिम्ब (Water Image) • प्र. #102  [UP NMMS Most Predicted]</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205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102. अक्षर 'E' का जल प्रतिबिम्ब (Water Image) कैसा दिखाई देगा?</a:t>
            </a:r>
          </a:p>
        </p:txBody>
      </p:sp>
      <p:sp>
        <p:nvSpPr>
          <p:cNvPr id="7" name="Rounded Rectangle 6"/>
          <p:cNvSpPr/>
          <p:nvPr/>
        </p:nvSpPr>
        <p:spPr>
          <a:xfrm>
            <a:off x="457200"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(A)  E (अपरिवर्तित)</a:t>
            </a:r>
          </a:p>
        </p:txBody>
      </p:sp>
      <p:sp>
        <p:nvSpPr>
          <p:cNvPr id="8" name="Rounded Rectangle 7"/>
          <p:cNvSpPr/>
          <p:nvPr/>
        </p:nvSpPr>
        <p:spPr>
          <a:xfrm>
            <a:off x="6291072" y="260604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(B)  Ǝ (उल्टा)</a:t>
            </a:r>
          </a:p>
        </p:txBody>
      </p:sp>
      <p:sp>
        <p:nvSpPr>
          <p:cNvPr id="9" name="Rounded Rectangle 8"/>
          <p:cNvSpPr/>
          <p:nvPr/>
        </p:nvSpPr>
        <p:spPr>
          <a:xfrm>
            <a:off x="457200"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(C)  W</a:t>
            </a:r>
          </a:p>
        </p:txBody>
      </p:sp>
      <p:sp>
        <p:nvSpPr>
          <p:cNvPr id="10" name="Rounded Rectangle 9"/>
          <p:cNvSpPr/>
          <p:nvPr/>
        </p:nvSpPr>
        <p:spPr>
          <a:xfrm>
            <a:off x="6291072" y="3794760"/>
            <a:ext cx="5440680" cy="105156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E293B"/>
                </a:solidFill>
                <a:latin typeface="Segoe UI"/>
              </a:defRPr>
            </a:pPr>
            <a:r>
              <a:t>(D)  M</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जल प्रतिबिम्ब (Water Image) • प्र. #102  [UP NMMS Most Predicted]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206 of 207</a:t>
            </a:r>
          </a:p>
        </p:txBody>
      </p:sp>
      <p:sp>
        <p:nvSpPr>
          <p:cNvPr id="6" name="Rounded Rectangle 5"/>
          <p:cNvSpPr/>
          <p:nvPr/>
        </p:nvSpPr>
        <p:spPr>
          <a:xfrm>
            <a:off x="457200" y="1051560"/>
            <a:ext cx="11277295" cy="141732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650" b="1">
                <a:solidFill>
                  <a:srgbClr val="0F172A"/>
                </a:solidFill>
                <a:latin typeface="Segoe UI"/>
              </a:defRPr>
            </a:pPr>
            <a:r>
              <a:t>प्र. 102. अक्षर 'E' का जल प्रतिबिम्ब (Water Image) कैसा दिखाई देगा?</a:t>
            </a:r>
          </a:p>
        </p:txBody>
      </p:sp>
      <p:sp>
        <p:nvSpPr>
          <p:cNvPr id="7" name="Rounded Rectangle 6"/>
          <p:cNvSpPr/>
          <p:nvPr/>
        </p:nvSpPr>
        <p:spPr>
          <a:xfrm>
            <a:off x="457200" y="2606040"/>
            <a:ext cx="5440680" cy="105156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166534"/>
                </a:solidFill>
                <a:latin typeface="Segoe UI"/>
              </a:defRPr>
            </a:pPr>
            <a:r>
              <a:t>✅ (A)  E (अपरिवर्तित)</a:t>
            </a:r>
          </a:p>
        </p:txBody>
      </p:sp>
      <p:sp>
        <p:nvSpPr>
          <p:cNvPr id="8" name="Rounded Rectangle 7"/>
          <p:cNvSpPr/>
          <p:nvPr/>
        </p:nvSpPr>
        <p:spPr>
          <a:xfrm>
            <a:off x="6291072" y="260604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(B)  Ǝ (उल्टा)</a:t>
            </a:r>
          </a:p>
        </p:txBody>
      </p:sp>
      <p:sp>
        <p:nvSpPr>
          <p:cNvPr id="9" name="Rounded Rectangle 8"/>
          <p:cNvSpPr/>
          <p:nvPr/>
        </p:nvSpPr>
        <p:spPr>
          <a:xfrm>
            <a:off x="457200"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(C)  W</a:t>
            </a:r>
          </a:p>
        </p:txBody>
      </p:sp>
      <p:sp>
        <p:nvSpPr>
          <p:cNvPr id="10" name="Rounded Rectangle 9"/>
          <p:cNvSpPr/>
          <p:nvPr/>
        </p:nvSpPr>
        <p:spPr>
          <a:xfrm>
            <a:off x="6291072" y="3794760"/>
            <a:ext cx="5440680"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500" b="1">
                <a:solidFill>
                  <a:srgbClr val="94A3B8"/>
                </a:solidFill>
                <a:latin typeface="Segoe UI"/>
              </a:defRPr>
            </a:pPr>
            <a:r>
              <a:t>(D)  M</a:t>
            </a:r>
          </a:p>
        </p:txBody>
      </p:sp>
      <p:sp>
        <p:nvSpPr>
          <p:cNvPr id="11" name="Rounded Rectangle 10"/>
          <p:cNvSpPr/>
          <p:nvPr/>
        </p:nvSpPr>
        <p:spPr>
          <a:xfrm>
            <a:off x="457200" y="4956048"/>
            <a:ext cx="11277295" cy="135331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विकल्प (A)</a:t>
            </a:r>
          </a:p>
          <a:p>
            <a:pPr>
              <a:spcBef>
                <a:spcPts val="300"/>
              </a:spcBef>
              <a:defRPr sz="1350" b="0">
                <a:solidFill>
                  <a:srgbClr val="1E293B"/>
                </a:solidFill>
                <a:latin typeface="Segoe UI"/>
              </a:defRPr>
            </a:pPr>
            <a:r>
              <a:t>💡 व्याख्या एवं ट्रिक (Explanation): जल प्रतिबिम्ब में ऊपर का भाग नीचे और नीचे का भाग ऊपर होता है। चूँकि अक्षर 'E' क्षैतिज रूप से सममित (Horizontally Symmetric) है, अतः इसका जल प्रतिबिम्ब 'E' ही दिखाई देगा।</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UP NMMS MAT महामंथन — सफलता का संकल्प एवं संपर्क सूत्र</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207 of 207</a:t>
            </a:r>
          </a:p>
        </p:txBody>
      </p:sp>
      <p:sp>
        <p:nvSpPr>
          <p:cNvPr id="6" name="Rounded Rectangle 5"/>
          <p:cNvSpPr/>
          <p:nvPr/>
        </p:nvSpPr>
        <p:spPr>
          <a:xfrm>
            <a:off x="1371600" y="1371600"/>
            <a:ext cx="9448495" cy="4754880"/>
          </a:xfrm>
          <a:prstGeom prst="roundRect">
            <a:avLst/>
          </a:prstGeom>
          <a:solidFill>
            <a:srgbClr val="0F172A"/>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365760"/>
          <a:lstStyle/>
          <a:p>
            <a:pPr algn="ctr">
              <a:defRPr sz="2200" b="1">
                <a:solidFill>
                  <a:srgbClr val="D97706"/>
                </a:solidFill>
                <a:latin typeface="Segoe UI"/>
              </a:defRPr>
            </a:pPr>
            <a:r>
              <a:t>🏆 आपकी सफलता ही हमारा संकल्प है! 🏆</a:t>
            </a:r>
          </a:p>
          <a:p>
            <a:pPr algn="ctr">
              <a:spcBef>
                <a:spcPts val="1000"/>
              </a:spcBef>
              <a:defRPr sz="1800" b="1">
                <a:solidFill>
                  <a:srgbClr val="FFFFFF"/>
                </a:solidFill>
                <a:latin typeface="Segoe UI"/>
              </a:defRPr>
            </a:pPr>
            <a:r>
              <a:t>SAGAR COACHING CENTRE, BHAGWANPUR</a:t>
            </a:r>
          </a:p>
          <a:p>
            <a:pPr algn="ctr">
              <a:spcBef>
                <a:spcPts val="1000"/>
              </a:spcBef>
              <a:defRPr sz="1400">
                <a:solidFill>
                  <a:srgbClr val="E2E8F0"/>
                </a:solidFill>
                <a:latin typeface="Segoe UI"/>
              </a:defRPr>
            </a:pPr>
            <a:r>
              <a:t>उत्तर प्रदेश NMMS छात्रवृत्ति परीक्षा (₹48,000) में चयनित होने वाले सभी भावी मेधावियों को अग्रिम शुभकामनाएं!</a:t>
            </a:r>
          </a:p>
          <a:p>
            <a:pPr algn="ctr">
              <a:spcBef>
                <a:spcPts val="1600"/>
              </a:spcBef>
              <a:defRPr sz="1500" b="1">
                <a:solidFill>
                  <a:srgbClr val="D97706"/>
                </a:solidFill>
                <a:latin typeface="Segoe UI"/>
              </a:defRPr>
            </a:pPr>
            <a:r>
              <a:t>📞 ऑनलाइन टेस्ट, PDF नोट्स एवं सहायता हेतु: +91 91101 13671</a:t>
            </a:r>
            <a:br/>
            <a:r>
              <a:t>🌐 वेबसाइट: sagarcoaching.tech  |  📺 YouTube: Sagar Coaching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