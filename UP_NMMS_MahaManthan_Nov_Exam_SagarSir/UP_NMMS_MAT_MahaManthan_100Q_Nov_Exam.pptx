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 राष्ट्रीय आय एवं योग्यता आधारित छात्रवृत्ति परीक्षा (UP NMMS 2024-25) • महामंथन मैराथन</a:t>
            </a:r>
          </a:p>
        </p:txBody>
      </p:sp>
      <p:pic>
        <p:nvPicPr>
          <p:cNvPr id="4" name="Picture 3" descr="logo-circle-transparent.png"/>
          <p:cNvPicPr>
            <a:picLocks noChangeAspect="1"/>
          </p:cNvPicPr>
          <p:nvPr/>
        </p:nvPicPr>
        <p:blipFill>
          <a:blip r:embed="rId2"/>
          <a:stretch>
            <a:fillRect/>
          </a:stretch>
        </p:blipFill>
        <p:spPr>
          <a:xfrm>
            <a:off x="5486400" y="594360"/>
            <a:ext cx="1234440" cy="1234440"/>
          </a:xfrm>
          <a:prstGeom prst="rect">
            <a:avLst/>
          </a:prstGeom>
        </p:spPr>
      </p:pic>
      <p:sp>
        <p:nvSpPr>
          <p:cNvPr id="5" name="TextBox 4"/>
          <p:cNvSpPr txBox="1"/>
          <p:nvPr/>
        </p:nvSpPr>
        <p:spPr>
          <a:xfrm>
            <a:off x="457200" y="1847088"/>
            <a:ext cx="11277295" cy="548640"/>
          </a:xfrm>
          <a:prstGeom prst="rect">
            <a:avLst/>
          </a:prstGeom>
          <a:noFill/>
        </p:spPr>
        <p:txBody>
          <a:bodyPr wrap="none">
            <a:spAutoFit/>
          </a:bodyPr>
          <a:lstStyle/>
          <a:p>
            <a:pPr algn="ctr">
              <a:defRPr sz="1600" b="1">
                <a:solidFill>
                  <a:srgbClr val="D97706"/>
                </a:solidFill>
                <a:latin typeface="Segoe UI"/>
              </a:defRPr>
            </a:pPr>
            <a:r>
              <a:t>SAGAR COACHING CENTRE, BHAGWANPUR</a:t>
            </a:r>
          </a:p>
        </p:txBody>
      </p:sp>
      <p:sp>
        <p:nvSpPr>
          <p:cNvPr id="6" name="Rounded Rectangle 5"/>
          <p:cNvSpPr/>
          <p:nvPr/>
        </p:nvSpPr>
        <p:spPr>
          <a:xfrm>
            <a:off x="2926080" y="2423160"/>
            <a:ext cx="6339535" cy="457200"/>
          </a:xfrm>
          <a:prstGeom prst="roundRect">
            <a:avLst/>
          </a:prstGeom>
          <a:solidFill>
            <a:srgbClr val="4338C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 UP NMMS नवम्बर परीक्षा 2024-25 महामंथन (Bilingual) 🔥</a:t>
            </a:r>
          </a:p>
        </p:txBody>
      </p:sp>
      <p:sp>
        <p:nvSpPr>
          <p:cNvPr id="7" name="TextBox 6"/>
          <p:cNvSpPr txBox="1"/>
          <p:nvPr/>
        </p:nvSpPr>
        <p:spPr>
          <a:xfrm>
            <a:off x="457200" y="2926080"/>
            <a:ext cx="11277295" cy="1097280"/>
          </a:xfrm>
          <a:prstGeom prst="rect">
            <a:avLst/>
          </a:prstGeom>
          <a:noFill/>
        </p:spPr>
        <p:txBody>
          <a:bodyPr wrap="square">
            <a:spAutoFit/>
          </a:bodyPr>
          <a:lstStyle/>
          <a:p>
            <a:pPr algn="ctr">
              <a:defRPr sz="2800" b="1">
                <a:solidFill>
                  <a:srgbClr val="FFFFFF"/>
                </a:solidFill>
                <a:latin typeface="Segoe UI"/>
              </a:defRPr>
            </a:pPr>
            <a:r>
              <a:t>मानसिक योग्यता परीक्षण (MAT) 100+ सुपर मैराथन</a:t>
            </a:r>
          </a:p>
          <a:p>
            <a:pPr algn="ctr">
              <a:spcBef>
                <a:spcPts val="400"/>
              </a:spcBef>
              <a:defRPr sz="1400">
                <a:solidFill>
                  <a:srgbClr val="CBD5E1"/>
                </a:solidFill>
                <a:latin typeface="Segoe UI"/>
              </a:defRPr>
            </a:pPr>
            <a:r>
              <a:t>Mental Ability Test (MAT) • 100+ Most Predicted Questions (Hindi &amp; English)</a:t>
            </a:r>
          </a:p>
        </p:txBody>
      </p:sp>
      <p:sp>
        <p:nvSpPr>
          <p:cNvPr id="8" name="Rounded Rectangle 7"/>
          <p:cNvSpPr/>
          <p:nvPr/>
        </p:nvSpPr>
        <p:spPr>
          <a:xfrm>
            <a:off x="1371600" y="4114800"/>
            <a:ext cx="9448495" cy="1920240"/>
          </a:xfrm>
          <a:prstGeom prst="roundRect">
            <a:avLst/>
          </a:prstGeom>
          <a:solidFill>
            <a:srgbClr val="1E293B"/>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350" b="1">
                <a:solidFill>
                  <a:srgbClr val="D97706"/>
                </a:solidFill>
                <a:latin typeface="Segoe UI"/>
              </a:defRPr>
            </a:pPr>
            <a:r>
              <a:t>🎯 इस महामंथन मैराथन की मुख्य विशेषताएं (Live Class Highlights):</a:t>
            </a:r>
          </a:p>
          <a:p>
            <a:pPr>
              <a:spcBef>
                <a:spcPts val="200"/>
              </a:spcBef>
              <a:defRPr sz="1150">
                <a:solidFill>
                  <a:srgbClr val="FFFFFF"/>
                </a:solidFill>
                <a:latin typeface="Segoe UI"/>
              </a:defRPr>
            </a:pPr>
            <a:r>
              <a:t>  ✓  संख्या व अक्षर श्रेणी (Number &amp; Letter Series)</a:t>
            </a:r>
          </a:p>
          <a:p>
            <a:pPr>
              <a:spcBef>
                <a:spcPts val="200"/>
              </a:spcBef>
              <a:defRPr sz="1150">
                <a:solidFill>
                  <a:srgbClr val="FFFFFF"/>
                </a:solidFill>
                <a:latin typeface="Segoe UI"/>
              </a:defRPr>
            </a:pPr>
            <a:r>
              <a:t>  ✓  सादृश्यता एवं वर्गीकरण (Analogy &amp; Odd-One Out)</a:t>
            </a:r>
          </a:p>
          <a:p>
            <a:pPr>
              <a:spcBef>
                <a:spcPts val="200"/>
              </a:spcBef>
              <a:defRPr sz="1150">
                <a:solidFill>
                  <a:srgbClr val="FFFFFF"/>
                </a:solidFill>
                <a:latin typeface="Segoe UI"/>
              </a:defRPr>
            </a:pPr>
            <a:r>
              <a:t>  ✓  कोडिंग-डिकोडिंग एवं लुप्त संख्याएं (Missing Numbers in Figures)</a:t>
            </a:r>
          </a:p>
          <a:p>
            <a:pPr>
              <a:spcBef>
                <a:spcPts val="200"/>
              </a:spcBef>
              <a:defRPr sz="1150">
                <a:solidFill>
                  <a:srgbClr val="FFFFFF"/>
                </a:solidFill>
                <a:latin typeface="Segoe UI"/>
              </a:defRPr>
            </a:pPr>
            <a:r>
              <a:t>  ✓  गणितीय संक्रियाएं, रक्त संबंध, दिशा-दूरी एवं वेन आरेख (Bilingual Format)</a:t>
            </a:r>
          </a:p>
        </p:txBody>
      </p:sp>
      <p:sp>
        <p:nvSpPr>
          <p:cNvPr id="9" name="TextBox 8"/>
          <p:cNvSpPr txBox="1"/>
          <p:nvPr/>
        </p:nvSpPr>
        <p:spPr>
          <a:xfrm>
            <a:off x="457200" y="6172200"/>
            <a:ext cx="11277295" cy="457200"/>
          </a:xfrm>
          <a:prstGeom prst="rect">
            <a:avLst/>
          </a:prstGeom>
          <a:noFill/>
        </p:spPr>
        <p:txBody>
          <a:bodyPr wrap="none">
            <a:spAutoFit/>
          </a:bodyPr>
          <a:lstStyle/>
          <a:p>
            <a:pPr algn="ctr">
              <a:defRPr sz="1100">
                <a:solidFill>
                  <a:srgbClr val="94A3B8"/>
                </a:solidFill>
                <a:latin typeface="Segoe UI"/>
              </a:defRPr>
            </a:pPr>
            <a:r>
              <a:t>मार्गदर्शक: सागर सर (NMMS Expert)  |  WhatsApp: +91 91101 13671  |  YouTube: Sagar Coaching Centre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UP NMMS MAT महामंथन — परीक्षा पैटर्न एवं लाइव क्लास निर्देश</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 of 207</a:t>
            </a:r>
          </a:p>
        </p:txBody>
      </p:sp>
      <p:sp>
        <p:nvSpPr>
          <p:cNvPr id="6" name="Rounded Rectangle 5"/>
          <p:cNvSpPr/>
          <p:nvPr/>
        </p:nvSpPr>
        <p:spPr>
          <a:xfrm>
            <a:off x="457200" y="1097280"/>
            <a:ext cx="11277295" cy="5120640"/>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457200" tIns="274320"/>
          <a:lstStyle/>
          <a:p>
            <a:pPr algn="ctr">
              <a:defRPr sz="1800" b="1">
                <a:solidFill>
                  <a:srgbClr val="0F172A"/>
                </a:solidFill>
                <a:latin typeface="Segoe UI"/>
              </a:defRPr>
            </a:pPr>
            <a:r>
              <a:t>📋 उत्तर प्रदेश NMMS MAT (मानसिक योग्यता) परीक्षा योजना (Official Guidelines):</a:t>
            </a:r>
          </a:p>
          <a:p>
            <a:pPr>
              <a:spcBef>
                <a:spcPts val="800"/>
              </a:spcBef>
              <a:spcAft>
                <a:spcPts val="200"/>
              </a:spcAft>
              <a:defRPr sz="1400">
                <a:solidFill>
                  <a:srgbClr val="1E293B"/>
                </a:solidFill>
                <a:latin typeface="Segoe UI"/>
              </a:defRPr>
            </a:pPr>
            <a:r>
              <a:t>•  परीक्षा संरचना: मानसिक योग्यता परीक्षण (MAT) में कुल 90 बहुविकल्पीय प्रश्न (90 अंक) पूछे जाते हैं।</a:t>
            </a:r>
          </a:p>
          <a:p>
            <a:pPr>
              <a:spcBef>
                <a:spcPts val="800"/>
              </a:spcBef>
              <a:spcAft>
                <a:spcPts val="200"/>
              </a:spcAft>
              <a:defRPr sz="1400">
                <a:solidFill>
                  <a:srgbClr val="1E293B"/>
                </a:solidFill>
                <a:latin typeface="Segoe UI"/>
              </a:defRPr>
            </a:pPr>
            <a:r>
              <a:t>•  इस महामंथन क्लास में UP NMMS के पिछले 10 वर्षों के ट्रेंड के आधार पर 102 अति-संभावित प्रश्न शामिल हैं।</a:t>
            </a:r>
          </a:p>
          <a:p>
            <a:pPr>
              <a:spcBef>
                <a:spcPts val="800"/>
              </a:spcBef>
              <a:spcAft>
                <a:spcPts val="200"/>
              </a:spcAft>
              <a:defRPr sz="1400">
                <a:solidFill>
                  <a:srgbClr val="1E293B"/>
                </a:solidFill>
                <a:latin typeface="Segoe UI"/>
              </a:defRPr>
            </a:pPr>
            <a:r>
              <a:t>•  कवर किए गए प्रमुख विषय: श्रृंखला, सादृश्यता, वर्गीकरण, कोडिंग, लुप्त पद, गणितीय संक्रियाएं, रक्त संबंध, दिशा, वेन आरेख आदि।</a:t>
            </a:r>
          </a:p>
          <a:p>
            <a:pPr>
              <a:spcBef>
                <a:spcPts val="800"/>
              </a:spcBef>
              <a:spcAft>
                <a:spcPts val="200"/>
              </a:spcAft>
              <a:defRPr sz="1400">
                <a:solidFill>
                  <a:srgbClr val="1E293B"/>
                </a:solidFill>
                <a:latin typeface="Segoe UI"/>
              </a:defRPr>
            </a:pPr>
            <a:r>
              <a:t>•  2-स्लाइड इंटरैक्टिव पद्धति: प्रश्न स्लाइड पर उत्तर पूरी तरह छुपा है ताकि लाइव क्लास में विद्यार्थी पहले स्वयं उत्तर सोचें व अभ्यास करें।</a:t>
            </a:r>
          </a:p>
          <a:p>
            <a:pPr>
              <a:spcBef>
                <a:spcPts val="800"/>
              </a:spcBef>
              <a:spcAft>
                <a:spcPts val="200"/>
              </a:spcAft>
              <a:defRPr sz="1400">
                <a:solidFill>
                  <a:srgbClr val="1E293B"/>
                </a:solidFill>
                <a:latin typeface="Segoe UI"/>
              </a:defRPr>
            </a:pPr>
            <a:r>
              <a:t>•  अगली स्लाइड पर सही विकल्प हरे रंग (Green Glow) में चमकेगा और नीचे आसान ट्रिक व व्याख्या प्रस्तुत होगी।</a:t>
            </a:r>
          </a:p>
          <a:p>
            <a:pPr>
              <a:spcBef>
                <a:spcPts val="800"/>
              </a:spcBef>
              <a:spcAft>
                <a:spcPts val="200"/>
              </a:spcAft>
              <a:defRPr sz="1400">
                <a:solidFill>
                  <a:srgbClr val="1E293B"/>
                </a:solidFill>
                <a:latin typeface="Segoe UI"/>
              </a:defRPr>
            </a:pPr>
            <a:r>
              <a:t>•  लक्ष्य: MAT में 90 में से 85+ अंक प्राप्त करके राज्य स्तरीय मेरिट में शीर्ष स्थान सुनिश्चित करना!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(शब्द) / Classification • प्र. #1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 निम्नलिखित चार विकल्पों में से कौन-सा एक अन्य तीनों से भिन्न (विजातीय) है?</a:t>
            </a:r>
          </a:p>
          <a:p>
            <a:pPr algn="ctr">
              <a:spcBef>
                <a:spcPts val="600"/>
              </a:spcBef>
              <a:defRPr sz="1450" b="1">
                <a:solidFill>
                  <a:srgbClr val="2563EB"/>
                </a:solidFill>
                <a:latin typeface="Segoe UI"/>
              </a:defRPr>
            </a:pPr>
            <a:r>
              <a:t>Q. 1. Which one of the following four options is different (odd one out) from the other three?</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लखनऊ / Lucknow</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भोपाल / Bhopal</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कानपुर / Kanpur</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जयपुर / Jaipur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(शब्द) / Classification • प्र. #1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 निम्नलिखित चार विकल्पों में से कौन-सा एक अन्य तीनों से भिन्न (विजातीय) है?</a:t>
            </a:r>
          </a:p>
          <a:p>
            <a:pPr algn="ctr">
              <a:spcBef>
                <a:spcPts val="600"/>
              </a:spcBef>
              <a:defRPr sz="1450" b="1">
                <a:solidFill>
                  <a:srgbClr val="2563EB"/>
                </a:solidFill>
                <a:latin typeface="Segoe UI"/>
              </a:defRPr>
            </a:pPr>
            <a:r>
              <a:t>Q. 1. Which one of the following four options is different (odd one out) from the other three?</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लखनऊ / Lucknow</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भोपाल / Bhopal</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कानपुर / Kanpur</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जयपुर / Jaipur</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लखनऊ (उत्तर प्रदेश), भोपाल (मध्य प्रदेश) और जयपुर (राजस्थान) राज्यों की राजधानियाँ हैं, जबकि कानपुर केवल एक औद्योगिक नगर है। (Lucknow, Bhopal and Jaipur are state capitals, whereas Kanpur is an industrial city).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(संख्या) / Number Classification • प्र. #2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 दिए गए विकल्पों में से विषम संख्या (Odd Number) चुनिए:</a:t>
            </a:r>
          </a:p>
          <a:p>
            <a:pPr algn="ctr">
              <a:spcBef>
                <a:spcPts val="600"/>
              </a:spcBef>
              <a:defRPr sz="1450" b="1">
                <a:solidFill>
                  <a:srgbClr val="2563EB"/>
                </a:solidFill>
                <a:latin typeface="Segoe UI"/>
              </a:defRPr>
            </a:pPr>
            <a:r>
              <a:t>Q. 2. Choose the odd number from the given options:</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27</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64</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125</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144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(संख्या) / Number Classification • प्र. #2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 दिए गए विकल्पों में से विषम संख्या (Odd Number) चुनिए:</a:t>
            </a:r>
          </a:p>
          <a:p>
            <a:pPr algn="ctr">
              <a:spcBef>
                <a:spcPts val="600"/>
              </a:spcBef>
              <a:defRPr sz="1450" b="1">
                <a:solidFill>
                  <a:srgbClr val="2563EB"/>
                </a:solidFill>
                <a:latin typeface="Segoe UI"/>
              </a:defRPr>
            </a:pPr>
            <a:r>
              <a:t>Q. 2. Choose the odd number from the given options:</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27</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64</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125</a:t>
            </a:r>
          </a:p>
        </p:txBody>
      </p:sp>
      <p:sp>
        <p:nvSpPr>
          <p:cNvPr id="10" name="Rounded Rectangle 9"/>
          <p:cNvSpPr/>
          <p:nvPr/>
        </p:nvSpPr>
        <p:spPr>
          <a:xfrm>
            <a:off x="6291072"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(D)  144</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(D)</a:t>
            </a:r>
          </a:p>
          <a:p>
            <a:pPr>
              <a:spcBef>
                <a:spcPts val="300"/>
              </a:spcBef>
              <a:defRPr sz="1300" b="0">
                <a:solidFill>
                  <a:srgbClr val="1E293B"/>
                </a:solidFill>
                <a:latin typeface="Segoe UI"/>
              </a:defRPr>
            </a:pPr>
            <a:r>
              <a:t>💡 व्याख्या एवं ट्रिक (Explanation): 27 = 3³, 64 = 4³, 125 = 5³ (तीनों पूर्ण घन संख्याएँ हैं), जबकि 144 = 12² (यह पूर्ण वर्ग संख्या है, घन नहीं)। (27, 64, 125 are perfect cubes, while 144 is a square).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(अक्षर) / Letter Classification • प्र. #3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 निम्नलिखित अक्षर समूहों में से विषम समूह कौन-सा है?</a:t>
            </a:r>
          </a:p>
          <a:p>
            <a:pPr algn="ctr">
              <a:spcBef>
                <a:spcPts val="600"/>
              </a:spcBef>
              <a:defRPr sz="1450" b="1">
                <a:solidFill>
                  <a:srgbClr val="2563EB"/>
                </a:solidFill>
                <a:latin typeface="Segoe UI"/>
              </a:defRPr>
            </a:pPr>
            <a:r>
              <a:t>Q. 3. Which of the following letter groups is the odd one out?</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BDF</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HJL</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PRT</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KMO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(अक्षर) / Letter Classification • प्र. #3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 निम्नलिखित अक्षर समूहों में से विषम समूह कौन-सा है?</a:t>
            </a:r>
          </a:p>
          <a:p>
            <a:pPr algn="ctr">
              <a:spcBef>
                <a:spcPts val="600"/>
              </a:spcBef>
              <a:defRPr sz="1450" b="1">
                <a:solidFill>
                  <a:srgbClr val="2563EB"/>
                </a:solidFill>
                <a:latin typeface="Segoe UI"/>
              </a:defRPr>
            </a:pPr>
            <a:r>
              <a:t>Q. 3. Which of the following letter groups is the odd one out?</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BDF</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HJL</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PRT</a:t>
            </a:r>
          </a:p>
        </p:txBody>
      </p:sp>
      <p:sp>
        <p:nvSpPr>
          <p:cNvPr id="10" name="Rounded Rectangle 9"/>
          <p:cNvSpPr/>
          <p:nvPr/>
        </p:nvSpPr>
        <p:spPr>
          <a:xfrm>
            <a:off x="6291072"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(D)  KMO</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(D)</a:t>
            </a:r>
          </a:p>
          <a:p>
            <a:pPr>
              <a:spcBef>
                <a:spcPts val="300"/>
              </a:spcBef>
              <a:defRPr sz="1300" b="0">
                <a:solidFill>
                  <a:srgbClr val="1E293B"/>
                </a:solidFill>
                <a:latin typeface="Segoe UI"/>
              </a:defRPr>
            </a:pPr>
            <a:r>
              <a:t>💡 व्याख्या एवं ट्रिक (Explanation): B(+2)D(+2)F, H(+2)J(+2)L, P(+2)R(+2)T सभी में केवल व्यंजन (Consonants) हैं, जबकि KMO में एक स्वर 'O' शामिल है। (KMO contains a vowel 'O' whereas others consist only of consonants).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(संख्या युग्म) / Number Pair • प्र. #4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 दिए गए संख्या युग्मों में से कौन-सा युग्म अन्य तीनों से अलग है?</a:t>
            </a:r>
          </a:p>
          <a:p>
            <a:pPr algn="ctr">
              <a:spcBef>
                <a:spcPts val="600"/>
              </a:spcBef>
              <a:defRPr sz="1450" b="1">
                <a:solidFill>
                  <a:srgbClr val="2563EB"/>
                </a:solidFill>
                <a:latin typeface="Segoe UI"/>
              </a:defRPr>
            </a:pPr>
            <a:r>
              <a:t>Q. 4. Which of the following number pairs is different from the other three?</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4 : 16</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7 : 49</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9 : 81</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6 : 32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(संख्या युग्म) / Number Pair • प्र. #4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 दिए गए संख्या युग्मों में से कौन-सा युग्म अन्य तीनों से अलग है?</a:t>
            </a:r>
          </a:p>
          <a:p>
            <a:pPr algn="ctr">
              <a:spcBef>
                <a:spcPts val="600"/>
              </a:spcBef>
              <a:defRPr sz="1450" b="1">
                <a:solidFill>
                  <a:srgbClr val="2563EB"/>
                </a:solidFill>
                <a:latin typeface="Segoe UI"/>
              </a:defRPr>
            </a:pPr>
            <a:r>
              <a:t>Q. 4. Which of the following number pairs is different from the other three?</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4 : 16</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7 : 49</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9 : 81</a:t>
            </a:r>
          </a:p>
        </p:txBody>
      </p:sp>
      <p:sp>
        <p:nvSpPr>
          <p:cNvPr id="10" name="Rounded Rectangle 9"/>
          <p:cNvSpPr/>
          <p:nvPr/>
        </p:nvSpPr>
        <p:spPr>
          <a:xfrm>
            <a:off x="6291072"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(D)  6 : 32</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(D)</a:t>
            </a:r>
          </a:p>
          <a:p>
            <a:pPr>
              <a:spcBef>
                <a:spcPts val="300"/>
              </a:spcBef>
              <a:defRPr sz="1300" b="0">
                <a:solidFill>
                  <a:srgbClr val="1E293B"/>
                </a:solidFill>
                <a:latin typeface="Segoe UI"/>
              </a:defRPr>
            </a:pPr>
            <a:r>
              <a:t>💡 व्याख्या एवं ट्रिक (Explanation): अन्य सभी युग्मों में दूसरी संख्या पहली का वर्ग है: 4²=16, 7²=49, 9²=81, परंतु 6² = 36 होना चाहिए (32 दिया है)। (In others y = x², but 6² = 36 ≠ 32).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(सौरमंडल) / Solar System • प्र. #5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 निम्नलिखित में से कौन-सा विकल्प अन्य तीन से मेल नहीं खाता?</a:t>
            </a:r>
          </a:p>
          <a:p>
            <a:pPr algn="ctr">
              <a:spcBef>
                <a:spcPts val="600"/>
              </a:spcBef>
              <a:defRPr sz="1450" b="1">
                <a:solidFill>
                  <a:srgbClr val="2563EB"/>
                </a:solidFill>
                <a:latin typeface="Segoe UI"/>
              </a:defRPr>
            </a:pPr>
            <a:r>
              <a:t>Q. 5. Which of the following options does not match the other three?</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मंगल / Mars</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बुध / Mercury</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चंद्रमा / Moon</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शुक्र / Venus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(सौरमंडल) / Solar System • प्र. #5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 निम्नलिखित में से कौन-सा विकल्प अन्य तीन से मेल नहीं खाता?</a:t>
            </a:r>
          </a:p>
          <a:p>
            <a:pPr algn="ctr">
              <a:spcBef>
                <a:spcPts val="600"/>
              </a:spcBef>
              <a:defRPr sz="1450" b="1">
                <a:solidFill>
                  <a:srgbClr val="2563EB"/>
                </a:solidFill>
                <a:latin typeface="Segoe UI"/>
              </a:defRPr>
            </a:pPr>
            <a:r>
              <a:t>Q. 5. Which of the following options does not match the other three?</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मंगल / Mars</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बुध / Mercury</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चंद्रमा / Moon</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शुक्र / Venus</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मंगल, बुध और शुक्र सौरमंडल के ग्रह (Planets) हैं, जबकि चंद्रमा पृथ्वी का प्राकृतिक उपग्रह (Satellite) है।</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(अभाज्य संख्या) / Prime Numbers • प्र. #6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 दिए गए चार विकल्पों में से विषम संख्या ज्ञात कीजिए:</a:t>
            </a:r>
          </a:p>
          <a:p>
            <a:pPr algn="ctr">
              <a:spcBef>
                <a:spcPts val="600"/>
              </a:spcBef>
              <a:defRPr sz="1450" b="1">
                <a:solidFill>
                  <a:srgbClr val="2563EB"/>
                </a:solidFill>
                <a:latin typeface="Segoe UI"/>
              </a:defRPr>
            </a:pPr>
            <a:r>
              <a:t>Q. 6. Find the odd number from the given four options:</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17</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29</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37</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49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(अभाज्य संख्या) / Prime Numbers • प्र. #6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 दिए गए चार विकल्पों में से विषम संख्या ज्ञात कीजिए:</a:t>
            </a:r>
          </a:p>
          <a:p>
            <a:pPr algn="ctr">
              <a:spcBef>
                <a:spcPts val="600"/>
              </a:spcBef>
              <a:defRPr sz="1450" b="1">
                <a:solidFill>
                  <a:srgbClr val="2563EB"/>
                </a:solidFill>
                <a:latin typeface="Segoe UI"/>
              </a:defRPr>
            </a:pPr>
            <a:r>
              <a:t>Q. 6. Find the odd number from the given four options:</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17</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29</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37</a:t>
            </a:r>
          </a:p>
        </p:txBody>
      </p:sp>
      <p:sp>
        <p:nvSpPr>
          <p:cNvPr id="10" name="Rounded Rectangle 9"/>
          <p:cNvSpPr/>
          <p:nvPr/>
        </p:nvSpPr>
        <p:spPr>
          <a:xfrm>
            <a:off x="6291072"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(D)  49</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(D)</a:t>
            </a:r>
          </a:p>
          <a:p>
            <a:pPr>
              <a:spcBef>
                <a:spcPts val="300"/>
              </a:spcBef>
              <a:defRPr sz="1300" b="0">
                <a:solidFill>
                  <a:srgbClr val="1E293B"/>
                </a:solidFill>
                <a:latin typeface="Segoe UI"/>
              </a:defRPr>
            </a:pPr>
            <a:r>
              <a:t>💡 व्याख्या एवं ट्रिक (Explanation): 17, 29 और 37 अभाज्य संख्याएँ (Prime Numbers) हैं, जबकि 49 भाज्य संख्या (Composite Number: 7 × 7) है।</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(मापन इकाइयाँ) / Units of Measurement • प्र. #7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 निम्नलिखित में से विजातीय मात्रक (Unit) चुनिए:</a:t>
            </a:r>
          </a:p>
          <a:p>
            <a:pPr algn="ctr">
              <a:spcBef>
                <a:spcPts val="600"/>
              </a:spcBef>
              <a:defRPr sz="1450" b="1">
                <a:solidFill>
                  <a:srgbClr val="2563EB"/>
                </a:solidFill>
                <a:latin typeface="Segoe UI"/>
              </a:defRPr>
            </a:pPr>
            <a:r>
              <a:t>Q. 7. Choose the odd unit of measurement from the following:</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मीटर / Metre</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किलोमीटर / Kilometre</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लीटर / Litre</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सेंटीमीटर / Centimetre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(मापन इकाइयाँ) / Units of Measurement • प्र. #7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 निम्नलिखित में से विजातीय मात्रक (Unit) चुनिए:</a:t>
            </a:r>
          </a:p>
          <a:p>
            <a:pPr algn="ctr">
              <a:spcBef>
                <a:spcPts val="600"/>
              </a:spcBef>
              <a:defRPr sz="1450" b="1">
                <a:solidFill>
                  <a:srgbClr val="2563EB"/>
                </a:solidFill>
                <a:latin typeface="Segoe UI"/>
              </a:defRPr>
            </a:pPr>
            <a:r>
              <a:t>Q. 7. Choose the odd unit of measurement from the following:</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मीटर / Metre</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किलोमीटर / Kilometre</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लीटर / Litre</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सेंटीमीटर / Centimetre</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मीटर, किलोमीटर और सेंटीमीटर लम्बाई/दूरी के मात्रक हैं, जबकि लीटर आयतन/द्रव धारिता (Volume) का मात्रक है।</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(विपरीत अक्षर) / Opposite Letters • प्र. #8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 दिए गए विकल्पों में से बेमेल अक्षर समूह का चयन कीजिए:</a:t>
            </a:r>
          </a:p>
          <a:p>
            <a:pPr algn="ctr">
              <a:spcBef>
                <a:spcPts val="600"/>
              </a:spcBef>
              <a:defRPr sz="1450" b="1">
                <a:solidFill>
                  <a:srgbClr val="2563EB"/>
                </a:solidFill>
                <a:latin typeface="Segoe UI"/>
              </a:defRPr>
            </a:pPr>
            <a:r>
              <a:t>Q. 8. Select the mismatched letter group from the given options:</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AZ</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BY</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CX</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DT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(विपरीत अक्षर) / Opposite Letters • प्र. #8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 दिए गए विकल्पों में से बेमेल अक्षर समूह का चयन कीजिए:</a:t>
            </a:r>
          </a:p>
          <a:p>
            <a:pPr algn="ctr">
              <a:spcBef>
                <a:spcPts val="600"/>
              </a:spcBef>
              <a:defRPr sz="1450" b="1">
                <a:solidFill>
                  <a:srgbClr val="2563EB"/>
                </a:solidFill>
                <a:latin typeface="Segoe UI"/>
              </a:defRPr>
            </a:pPr>
            <a:r>
              <a:t>Q. 8. Select the mismatched letter group from the given options:</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AZ</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BY</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CX</a:t>
            </a:r>
          </a:p>
        </p:txBody>
      </p:sp>
      <p:sp>
        <p:nvSpPr>
          <p:cNvPr id="10" name="Rounded Rectangle 9"/>
          <p:cNvSpPr/>
          <p:nvPr/>
        </p:nvSpPr>
        <p:spPr>
          <a:xfrm>
            <a:off x="6291072"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(D)  DT</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(D)</a:t>
            </a:r>
          </a:p>
          <a:p>
            <a:pPr>
              <a:spcBef>
                <a:spcPts val="300"/>
              </a:spcBef>
              <a:defRPr sz="1300" b="0">
                <a:solidFill>
                  <a:srgbClr val="1E293B"/>
                </a:solidFill>
                <a:latin typeface="Segoe UI"/>
              </a:defRPr>
            </a:pPr>
            <a:r>
              <a:t>💡 व्याख्या एवं ट्रिक (Explanation): A-Z, B-Y, C-X वर्णमाला के विपरीत अक्षर (Opposite pairs) हैं, जबकि D का विपरीत अक्षर W होता है (यहाँ DT दिया है)।</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(ज्यामिति) / Geometry Shapes • प्र. #9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 निम्नलिखित में से कौन-सी आकृति अन्य तीनों से भिन्न है?</a:t>
            </a:r>
          </a:p>
          <a:p>
            <a:pPr algn="ctr">
              <a:spcBef>
                <a:spcPts val="600"/>
              </a:spcBef>
              <a:defRPr sz="1450" b="1">
                <a:solidFill>
                  <a:srgbClr val="2563EB"/>
                </a:solidFill>
                <a:latin typeface="Segoe UI"/>
              </a:defRPr>
            </a:pPr>
            <a:r>
              <a:t>Q. 9. Which of the following geometric figures is different from the others?</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त्रिभुज / Triangle</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आयत / Rectangle</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वर्ग / Square</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वृत्त / Circle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(ज्यामिति) / Geometry Shapes • प्र. #9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20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 निम्नलिखित में से कौन-सी आकृति अन्य तीनों से भिन्न है?</a:t>
            </a:r>
          </a:p>
          <a:p>
            <a:pPr algn="ctr">
              <a:spcBef>
                <a:spcPts val="600"/>
              </a:spcBef>
              <a:defRPr sz="1450" b="1">
                <a:solidFill>
                  <a:srgbClr val="2563EB"/>
                </a:solidFill>
                <a:latin typeface="Segoe UI"/>
              </a:defRPr>
            </a:pPr>
            <a:r>
              <a:t>Q. 9. Which of the following geometric figures is different from the others?</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त्रिभुज / Triangle</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आयत / Rectangle</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वर्ग / Square</a:t>
            </a:r>
          </a:p>
        </p:txBody>
      </p:sp>
      <p:sp>
        <p:nvSpPr>
          <p:cNvPr id="10" name="Rounded Rectangle 9"/>
          <p:cNvSpPr/>
          <p:nvPr/>
        </p:nvSpPr>
        <p:spPr>
          <a:xfrm>
            <a:off x="6291072"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(D)  वृत्त / Circle</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(D)</a:t>
            </a:r>
          </a:p>
          <a:p>
            <a:pPr>
              <a:spcBef>
                <a:spcPts val="300"/>
              </a:spcBef>
              <a:defRPr sz="1300" b="0">
                <a:solidFill>
                  <a:srgbClr val="1E293B"/>
                </a:solidFill>
                <a:latin typeface="Segoe UI"/>
              </a:defRPr>
            </a:pPr>
            <a:r>
              <a:t>💡 व्याख्या एवं ट्रिक (Explanation): त्रिभुज, आयत और वर्ग रेखाखंडों (Straight lines) से बने बहुभुज हैं, जबकि वृत्त एक वक्र रेखा (Curved line) से बनी आकृति है।</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(मानव अंग) / Human Anatomy • प्र. #10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21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10. दिए गए विकल्पों में से विषम अंग का चयन कीजिए:</a:t>
            </a:r>
          </a:p>
          <a:p>
            <a:pPr algn="ctr">
              <a:spcBef>
                <a:spcPts val="600"/>
              </a:spcBef>
              <a:defRPr sz="1450" b="1">
                <a:solidFill>
                  <a:srgbClr val="2563EB"/>
                </a:solidFill>
                <a:latin typeface="Segoe UI"/>
              </a:defRPr>
            </a:pPr>
            <a:r>
              <a:t>Q. 10. Select the odd organ from the given options:</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आँख / Eye</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कान / Ear</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नाक / Nose</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हृदय / Heart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(मानव अंग) / Human Anatomy • प्र. #10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22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10. दिए गए विकल्पों में से विषम अंग का चयन कीजिए:</a:t>
            </a:r>
          </a:p>
          <a:p>
            <a:pPr algn="ctr">
              <a:spcBef>
                <a:spcPts val="600"/>
              </a:spcBef>
              <a:defRPr sz="1450" b="1">
                <a:solidFill>
                  <a:srgbClr val="2563EB"/>
                </a:solidFill>
                <a:latin typeface="Segoe UI"/>
              </a:defRPr>
            </a:pPr>
            <a:r>
              <a:t>Q. 10. Select the odd organ from the given options:</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आँख / Eye</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कान / Ear</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नाक / Nose</a:t>
            </a:r>
          </a:p>
        </p:txBody>
      </p:sp>
      <p:sp>
        <p:nvSpPr>
          <p:cNvPr id="10" name="Rounded Rectangle 9"/>
          <p:cNvSpPr/>
          <p:nvPr/>
        </p:nvSpPr>
        <p:spPr>
          <a:xfrm>
            <a:off x="6291072"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(D)  हृदय / Heart</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(D)</a:t>
            </a:r>
          </a:p>
          <a:p>
            <a:pPr>
              <a:spcBef>
                <a:spcPts val="300"/>
              </a:spcBef>
              <a:defRPr sz="1300" b="0">
                <a:solidFill>
                  <a:srgbClr val="1E293B"/>
                </a:solidFill>
                <a:latin typeface="Segoe UI"/>
              </a:defRPr>
            </a:pPr>
            <a:r>
              <a:t>💡 व्याख्या एवं ट्रिक (Explanation): आँख, कान और नाक बाहरी संवेदी अंग (Sense organs) हैं, जबकि हृदय शरीर का आंतरिक अंग (Internal organ) है।</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(संख्या संक्रिया) / Number Operation • प्र. #11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23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11. निम्नलिखित संख्या समूहों में से बेमेल समूह कौन-सा है?</a:t>
            </a:r>
          </a:p>
          <a:p>
            <a:pPr algn="ctr">
              <a:spcBef>
                <a:spcPts val="600"/>
              </a:spcBef>
              <a:defRPr sz="1450" b="1">
                <a:solidFill>
                  <a:srgbClr val="2563EB"/>
                </a:solidFill>
                <a:latin typeface="Segoe UI"/>
              </a:defRPr>
            </a:pPr>
            <a:r>
              <a:t>Q. 11. Which of the following number groups is mismatched?</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12 : 24</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15 : 30</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18 : 36</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21 : 45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(संख्या संक्रिया) / Number Operation • प्र. #11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24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11. निम्नलिखित संख्या समूहों में से बेमेल समूह कौन-सा है?</a:t>
            </a:r>
          </a:p>
          <a:p>
            <a:pPr algn="ctr">
              <a:spcBef>
                <a:spcPts val="600"/>
              </a:spcBef>
              <a:defRPr sz="1450" b="1">
                <a:solidFill>
                  <a:srgbClr val="2563EB"/>
                </a:solidFill>
                <a:latin typeface="Segoe UI"/>
              </a:defRPr>
            </a:pPr>
            <a:r>
              <a:t>Q. 11. Which of the following number groups is mismatched?</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12 : 24</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15 : 30</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18 : 36</a:t>
            </a:r>
          </a:p>
        </p:txBody>
      </p:sp>
      <p:sp>
        <p:nvSpPr>
          <p:cNvPr id="10" name="Rounded Rectangle 9"/>
          <p:cNvSpPr/>
          <p:nvPr/>
        </p:nvSpPr>
        <p:spPr>
          <a:xfrm>
            <a:off x="6291072"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(D)  21 : 45</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(D)</a:t>
            </a:r>
          </a:p>
          <a:p>
            <a:pPr>
              <a:spcBef>
                <a:spcPts val="300"/>
              </a:spcBef>
              <a:defRPr sz="1300" b="0">
                <a:solidFill>
                  <a:srgbClr val="1E293B"/>
                </a:solidFill>
                <a:latin typeface="Segoe UI"/>
              </a:defRPr>
            </a:pPr>
            <a:r>
              <a:t>💡 व्याख्या एवं ट्रिक (Explanation): अन्य सभी में दूसरी संख्या पहली का ठीक दोगुना (×2) है: 12×2=24, 15×2=30, 18×2=36; परंतु 21 × 2 = 42 होना चाहिए (45 दिया 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(ऋतु/दिन) / General Classification • प्र. #12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25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12. निम्नलिखित में से विजातीय शब्द चुनिए:</a:t>
            </a:r>
          </a:p>
          <a:p>
            <a:pPr algn="ctr">
              <a:spcBef>
                <a:spcPts val="600"/>
              </a:spcBef>
              <a:defRPr sz="1450" b="1">
                <a:solidFill>
                  <a:srgbClr val="2563EB"/>
                </a:solidFill>
                <a:latin typeface="Segoe UI"/>
              </a:defRPr>
            </a:pPr>
            <a:r>
              <a:t>Q. 12. Choose the odd word from the following:</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ग्रीष्म / Summer</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वर्षा / Monsoon</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शीत / Winter</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रविवार / Sunday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वर्गीकरण (ऋतु/दिन) / General Classification • प्र. #12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26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12. निम्नलिखित में से विजातीय शब्द चुनिए:</a:t>
            </a:r>
          </a:p>
          <a:p>
            <a:pPr algn="ctr">
              <a:spcBef>
                <a:spcPts val="600"/>
              </a:spcBef>
              <a:defRPr sz="1450" b="1">
                <a:solidFill>
                  <a:srgbClr val="2563EB"/>
                </a:solidFill>
                <a:latin typeface="Segoe UI"/>
              </a:defRPr>
            </a:pPr>
            <a:r>
              <a:t>Q. 12. Choose the odd word from the following:</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ग्रीष्म / Summer</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वर्षा / Monsoon</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शीत / Winter</a:t>
            </a:r>
          </a:p>
        </p:txBody>
      </p:sp>
      <p:sp>
        <p:nvSpPr>
          <p:cNvPr id="10" name="Rounded Rectangle 9"/>
          <p:cNvSpPr/>
          <p:nvPr/>
        </p:nvSpPr>
        <p:spPr>
          <a:xfrm>
            <a:off x="6291072"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(D)  रविवार / Sunday</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(D)</a:t>
            </a:r>
          </a:p>
          <a:p>
            <a:pPr>
              <a:spcBef>
                <a:spcPts val="300"/>
              </a:spcBef>
              <a:defRPr sz="1300" b="0">
                <a:solidFill>
                  <a:srgbClr val="1E293B"/>
                </a:solidFill>
                <a:latin typeface="Segoe UI"/>
              </a:defRPr>
            </a:pPr>
            <a:r>
              <a:t>💡 व्याख्या एवं ट्रिक (Explanation): ग्रीष्म, वर्षा और शीत ऋतुओं (Seasons) के नाम हैं, जबकि रविवार सप्ताह का एक दिन (Day of the week) है।</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(राज्य-राजधानी) / State-Capital • प्र. #13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27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13. उत्तर प्रदेश : लखनऊ : : बिहार : ?</a:t>
            </a:r>
          </a:p>
          <a:p>
            <a:pPr algn="ctr">
              <a:spcBef>
                <a:spcPts val="600"/>
              </a:spcBef>
              <a:defRPr sz="1450" b="1">
                <a:solidFill>
                  <a:srgbClr val="2563EB"/>
                </a:solidFill>
                <a:latin typeface="Segoe UI"/>
              </a:defRPr>
            </a:pPr>
            <a:r>
              <a:t>Q. 13. Uttar Pradesh : Lucknow : : Bihar :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गया / Gaya</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पटना / Patna</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मुजफ्फरपुर / Muzaffarpur</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भागलपुर / Bhagalpur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(राज्य-राजधानी) / State-Capital • प्र. #13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28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13. उत्तर प्रदेश : लखनऊ : : बिहार : ?</a:t>
            </a:r>
          </a:p>
          <a:p>
            <a:pPr algn="ctr">
              <a:spcBef>
                <a:spcPts val="600"/>
              </a:spcBef>
              <a:defRPr sz="1450" b="1">
                <a:solidFill>
                  <a:srgbClr val="2563EB"/>
                </a:solidFill>
                <a:latin typeface="Segoe UI"/>
              </a:defRPr>
            </a:pPr>
            <a:r>
              <a:t>Q. 13. Uttar Pradesh : Lucknow : : Bihar :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गया / Gaya</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पटना / Patna</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मुजफ्फरपुर / Muzaffarpur</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भागलपुर / Bhagalpur</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जिस प्रकार उत्तर प्रदेश की राजधानी लखनऊ है, उसी प्रकार बिहार राज्य की राजधानी पटना है। (Lucknow is capital of UP, Patna is capital of Bihar).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(संख्या वर्ग) / Number Analogy • प्र. #14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29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14. 5 : 25 : : 8 : ?</a:t>
            </a:r>
          </a:p>
          <a:p>
            <a:pPr algn="ctr">
              <a:spcBef>
                <a:spcPts val="600"/>
              </a:spcBef>
              <a:defRPr sz="1450" b="1">
                <a:solidFill>
                  <a:srgbClr val="2563EB"/>
                </a:solidFill>
                <a:latin typeface="Segoe UI"/>
              </a:defRPr>
            </a:pPr>
            <a:r>
              <a:t>Q. 14. 5 : 25 : : 8 :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56</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64</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72</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81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(संख्या वर्ग) / Number Analogy • प्र. #14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30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14. 5 : 25 : : 8 : ?</a:t>
            </a:r>
          </a:p>
          <a:p>
            <a:pPr algn="ctr">
              <a:spcBef>
                <a:spcPts val="600"/>
              </a:spcBef>
              <a:defRPr sz="1450" b="1">
                <a:solidFill>
                  <a:srgbClr val="2563EB"/>
                </a:solidFill>
                <a:latin typeface="Segoe UI"/>
              </a:defRPr>
            </a:pPr>
            <a:r>
              <a:t>Q. 14. 5 : 25 : : 8 :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56</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64</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72</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81</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नियम: पहली संख्या का वर्ग = दूसरी संख्या (5² = 25)। अतः 8² = 64। (Rule: x : x²).</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(उपकरण एवं मापन) / Instrument &amp; Measure • प्र. #15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31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15. थर्मामीटर : तापमान : : बैरोमीटर : ?</a:t>
            </a:r>
          </a:p>
          <a:p>
            <a:pPr algn="ctr">
              <a:spcBef>
                <a:spcPts val="600"/>
              </a:spcBef>
              <a:defRPr sz="1450" b="1">
                <a:solidFill>
                  <a:srgbClr val="2563EB"/>
                </a:solidFill>
                <a:latin typeface="Segoe UI"/>
              </a:defRPr>
            </a:pPr>
            <a:r>
              <a:t>Q. 15. Thermometer : Temperature : : Barometer :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विद्युत धारा / Electric Current</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वायुमंडलीय दाब / Atmospheric Pressure</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आर्द्रता / Humidity</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दूरी / Distance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(उपकरण एवं मापन) / Instrument &amp; Measure • प्र. #15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32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15. थर्मामीटर : तापमान : : बैरोमीटर : ?</a:t>
            </a:r>
          </a:p>
          <a:p>
            <a:pPr algn="ctr">
              <a:spcBef>
                <a:spcPts val="600"/>
              </a:spcBef>
              <a:defRPr sz="1450" b="1">
                <a:solidFill>
                  <a:srgbClr val="2563EB"/>
                </a:solidFill>
                <a:latin typeface="Segoe UI"/>
              </a:defRPr>
            </a:pPr>
            <a:r>
              <a:t>Q. 15. Thermometer : Temperature : : Barometer :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विद्युत धारा / Electric Current</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वायुमंडलीय दाब / Atmospheric Pressure</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आर्द्रता / Humidity</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दूरी / Distance</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थर्मामीटर से तापमान मापा जाता है, जबकि बैरोमीटर (Barometer) से वायुमंडलीय दाब मापा जाता है।</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(संख्या घन + 1) / Cube + 1 • प्र. #16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33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16. 2 : 9 : : 3 : ?</a:t>
            </a:r>
          </a:p>
          <a:p>
            <a:pPr algn="ctr">
              <a:spcBef>
                <a:spcPts val="600"/>
              </a:spcBef>
              <a:defRPr sz="1450" b="1">
                <a:solidFill>
                  <a:srgbClr val="2563EB"/>
                </a:solidFill>
                <a:latin typeface="Segoe UI"/>
              </a:defRPr>
            </a:pPr>
            <a:r>
              <a:t>Q. 16. 2 : 9 : : 3 :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26</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27</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28</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30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(संख्या घन + 1) / Cube + 1 • प्र. #16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34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16. 2 : 9 : : 3 : ?</a:t>
            </a:r>
          </a:p>
          <a:p>
            <a:pPr algn="ctr">
              <a:spcBef>
                <a:spcPts val="600"/>
              </a:spcBef>
              <a:defRPr sz="1450" b="1">
                <a:solidFill>
                  <a:srgbClr val="2563EB"/>
                </a:solidFill>
                <a:latin typeface="Segoe UI"/>
              </a:defRPr>
            </a:pPr>
            <a:r>
              <a:t>Q. 16. 2 : 9 : : 3 :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26</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27</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28</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30</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नियम: n : (n³ + 1)। यहाँ 2 : (2³ + 1) = 2 : (8 + 1) = 9। इसी प्रकार 3 : (3³ + 1) = 3 : (27 + 1) = 28।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(अक्षर) / Letter Analogy • प्र. #17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35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17. ACE : BDF : : GIK : ?</a:t>
            </a:r>
          </a:p>
          <a:p>
            <a:pPr algn="ctr">
              <a:spcBef>
                <a:spcPts val="600"/>
              </a:spcBef>
              <a:defRPr sz="1450" b="1">
                <a:solidFill>
                  <a:srgbClr val="2563EB"/>
                </a:solidFill>
                <a:latin typeface="Segoe UI"/>
              </a:defRPr>
            </a:pPr>
            <a:r>
              <a:t>Q. 17. ACE : BDF : : GIK :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HJL</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HKL</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HJM</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IJL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(अक्षर) / Letter Analogy • प्र. #17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36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17. ACE : BDF : : GIK : ?</a:t>
            </a:r>
          </a:p>
          <a:p>
            <a:pPr algn="ctr">
              <a:spcBef>
                <a:spcPts val="600"/>
              </a:spcBef>
              <a:defRPr sz="1450" b="1">
                <a:solidFill>
                  <a:srgbClr val="2563EB"/>
                </a:solidFill>
                <a:latin typeface="Segoe UI"/>
              </a:defRPr>
            </a:pPr>
            <a:r>
              <a:t>Q. 17. ACE : BDF : : GIK : ?</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HJL</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HKL</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HJM</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IJL</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प्रत्येक अक्षर में +1: A(+1)=B, C(+1)=D, E(+1)=F। इसी प्रकार G(+1)=H, I(+1)=J, K(+1)=L =&gt; 'HJL'।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(रोग व अंग) / Disease &amp; Organ • प्र. #18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37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18. मोतियाबिंद : आँख : : निमोनिया : ?</a:t>
            </a:r>
          </a:p>
          <a:p>
            <a:pPr algn="ctr">
              <a:spcBef>
                <a:spcPts val="600"/>
              </a:spcBef>
              <a:defRPr sz="1450" b="1">
                <a:solidFill>
                  <a:srgbClr val="2563EB"/>
                </a:solidFill>
                <a:latin typeface="Segoe UI"/>
              </a:defRPr>
            </a:pPr>
            <a:r>
              <a:t>Q. 18. Cataract : Eye : : Pneumonia :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हृदय / Heart</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फेफड़े / Lungs</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यकृत / Liver</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त्वचा / Skin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(रोग व अंग) / Disease &amp; Organ • प्र. #18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38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18. मोतियाबिंद : आँख : : निमोनिया : ?</a:t>
            </a:r>
          </a:p>
          <a:p>
            <a:pPr algn="ctr">
              <a:spcBef>
                <a:spcPts val="600"/>
              </a:spcBef>
              <a:defRPr sz="1450" b="1">
                <a:solidFill>
                  <a:srgbClr val="2563EB"/>
                </a:solidFill>
                <a:latin typeface="Segoe UI"/>
              </a:defRPr>
            </a:pPr>
            <a:r>
              <a:t>Q. 18. Cataract : Eye : : Pneumonia :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हृदय / Heart</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फेफड़े / Lungs</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यकृत / Liver</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त्वचा / Skin</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मोतियाबिंद आँख का रोग है, जबकि निमोनिया फेफड़ों (Lungs) का संक्रमण है।</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(संख्या वर्ग) / Square Analogy • प्र. #19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39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19. 12 : 144 : : 15 : ?</a:t>
            </a:r>
          </a:p>
          <a:p>
            <a:pPr algn="ctr">
              <a:spcBef>
                <a:spcPts val="600"/>
              </a:spcBef>
              <a:defRPr sz="1450" b="1">
                <a:solidFill>
                  <a:srgbClr val="2563EB"/>
                </a:solidFill>
                <a:latin typeface="Segoe UI"/>
              </a:defRPr>
            </a:pPr>
            <a:r>
              <a:t>Q. 19. 12 : 144 : : 15 :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215</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225</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240</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256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(संख्या वर्ग) / Square Analogy • प्र. #19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40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19. 12 : 144 : : 15 : ?</a:t>
            </a:r>
          </a:p>
          <a:p>
            <a:pPr algn="ctr">
              <a:spcBef>
                <a:spcPts val="600"/>
              </a:spcBef>
              <a:defRPr sz="1450" b="1">
                <a:solidFill>
                  <a:srgbClr val="2563EB"/>
                </a:solidFill>
                <a:latin typeface="Segoe UI"/>
              </a:defRPr>
            </a:pPr>
            <a:r>
              <a:t>Q. 19. 12 : 144 : : 15 :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215</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225</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240</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256</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12² = 144, इसी प्रकार 15² = 225।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(विलोम शब्द) / Antonyms • प्र. #20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41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20. प्रकाश : अंधकार : : ज्ञान : ?</a:t>
            </a:r>
          </a:p>
          <a:p>
            <a:pPr algn="ctr">
              <a:spcBef>
                <a:spcPts val="600"/>
              </a:spcBef>
              <a:defRPr sz="1450" b="1">
                <a:solidFill>
                  <a:srgbClr val="2563EB"/>
                </a:solidFill>
                <a:latin typeface="Segoe UI"/>
              </a:defRPr>
            </a:pPr>
            <a:r>
              <a:t>Q. 20. Light : Darkness : : Knowledge :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विद्या / Learning</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अज्ञान / Ignorance</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गुरु / Teacher</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विद्वान / Scholar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(विलोम शब्द) / Antonyms • प्र. #20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42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20. प्रकाश : अंधकार : : ज्ञान : ?</a:t>
            </a:r>
          </a:p>
          <a:p>
            <a:pPr algn="ctr">
              <a:spcBef>
                <a:spcPts val="600"/>
              </a:spcBef>
              <a:defRPr sz="1450" b="1">
                <a:solidFill>
                  <a:srgbClr val="2563EB"/>
                </a:solidFill>
                <a:latin typeface="Segoe UI"/>
              </a:defRPr>
            </a:pPr>
            <a:r>
              <a:t>Q. 20. Light : Darkness : : Knowledge :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विद्या / Learning</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अज्ञान / Ignorance</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गुरु / Teacher</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विद्वान / Scholar</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प्रकाश का विलोम अंधकार है, उसी प्रकार ज्ञान का विलोम अज्ञान (Ignorance) है।</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(वर्णमाला स्थान वर्ग) / Letter Position • प्र. #21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43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21. D : 16 : : F : ?</a:t>
            </a:r>
          </a:p>
          <a:p>
            <a:pPr algn="ctr">
              <a:spcBef>
                <a:spcPts val="600"/>
              </a:spcBef>
              <a:defRPr sz="1450" b="1">
                <a:solidFill>
                  <a:srgbClr val="2563EB"/>
                </a:solidFill>
                <a:latin typeface="Segoe UI"/>
              </a:defRPr>
            </a:pPr>
            <a:r>
              <a:t>Q. 21. D : 16 : : F :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25</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30</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36</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49</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(वर्णमाला स्थान वर्ग) / Letter Position • प्र. #21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44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21. D : 16 : : F : ?</a:t>
            </a:r>
          </a:p>
          <a:p>
            <a:pPr algn="ctr">
              <a:spcBef>
                <a:spcPts val="600"/>
              </a:spcBef>
              <a:defRPr sz="1450" b="1">
                <a:solidFill>
                  <a:srgbClr val="2563EB"/>
                </a:solidFill>
                <a:latin typeface="Segoe UI"/>
              </a:defRPr>
            </a:pPr>
            <a:r>
              <a:t>Q. 21. D : 16 : : F :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25</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30</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36</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49</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D का वर्णमाला क्रमांक 4 है तथा 4² = 16। F का क्रमांक 6 है, अतः 6² = 36 होगा।</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(जीव व आवास) / Habitat Analogy • प्र. #22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45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22. पक्षी : घोंसला : : शेर : ?</a:t>
            </a:r>
          </a:p>
          <a:p>
            <a:pPr algn="ctr">
              <a:spcBef>
                <a:spcPts val="600"/>
              </a:spcBef>
              <a:defRPr sz="1450" b="1">
                <a:solidFill>
                  <a:srgbClr val="2563EB"/>
                </a:solidFill>
                <a:latin typeface="Segoe UI"/>
              </a:defRPr>
            </a:pPr>
            <a:r>
              <a:t>Q. 22. Bird : Nest : : Lion :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तबेला / Stable</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मांद / Den</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बिल / Burrow</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पिंजरा / Cage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(जीव व आवास) / Habitat Analogy • प्र. #22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46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22. पक्षी : घोंसला : : शेर : ?</a:t>
            </a:r>
          </a:p>
          <a:p>
            <a:pPr algn="ctr">
              <a:spcBef>
                <a:spcPts val="600"/>
              </a:spcBef>
              <a:defRPr sz="1450" b="1">
                <a:solidFill>
                  <a:srgbClr val="2563EB"/>
                </a:solidFill>
                <a:latin typeface="Segoe UI"/>
              </a:defRPr>
            </a:pPr>
            <a:r>
              <a:t>Q. 22. Bird : Nest : : Lion :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तबेला / Stable</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मांद / Den</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बिल / Burrow</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पिंजरा / Cage</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पक्षी घोंसले में रहता है, जबकि शेर का प्राकृतिक आवास मांद (Den) होता है।</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(संख्या संक्रिया) / Operation Analogy • प्र. #23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47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23. 7 : 50 : : 9 : ?</a:t>
            </a:r>
          </a:p>
          <a:p>
            <a:pPr algn="ctr">
              <a:spcBef>
                <a:spcPts val="600"/>
              </a:spcBef>
              <a:defRPr sz="1450" b="1">
                <a:solidFill>
                  <a:srgbClr val="2563EB"/>
                </a:solidFill>
                <a:latin typeface="Segoe UI"/>
              </a:defRPr>
            </a:pPr>
            <a:r>
              <a:t>Q. 23. 7 : 50 : : 9 :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80</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81</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82</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90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(संख्या संक्रिया) / Operation Analogy • प्र. #23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48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23. 7 : 50 : : 9 : ?</a:t>
            </a:r>
          </a:p>
          <a:p>
            <a:pPr algn="ctr">
              <a:spcBef>
                <a:spcPts val="600"/>
              </a:spcBef>
              <a:defRPr sz="1450" b="1">
                <a:solidFill>
                  <a:srgbClr val="2563EB"/>
                </a:solidFill>
                <a:latin typeface="Segoe UI"/>
              </a:defRPr>
            </a:pPr>
            <a:r>
              <a:t>Q. 23. 7 : 50 : : 9 :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80</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81</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82</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90</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नियम: n : (n² + 1)। 7² + 1 = 49 + 1 = 50। इसी प्रकार 9² + 1 = 81 + 1 = 82।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(देश-मुद्रा) / Country &amp; Currency • प्र. #24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49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24. भारत : रुपया : : बांग्लादेश : ?</a:t>
            </a:r>
          </a:p>
          <a:p>
            <a:pPr algn="ctr">
              <a:spcBef>
                <a:spcPts val="600"/>
              </a:spcBef>
              <a:defRPr sz="1450" b="1">
                <a:solidFill>
                  <a:srgbClr val="2563EB"/>
                </a:solidFill>
                <a:latin typeface="Segoe UI"/>
              </a:defRPr>
            </a:pPr>
            <a:r>
              <a:t>Q. 24. India : Rupee : : Bangladesh :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दिनार / Dinar</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टका / Taka</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रियाल / Riyal</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येन / Yen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सादृश्यता (देश-मुद्रा) / Country &amp; Currency • प्र. #24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50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24. भारत : रुपया : : बांग्लादेश : ?</a:t>
            </a:r>
          </a:p>
          <a:p>
            <a:pPr algn="ctr">
              <a:spcBef>
                <a:spcPts val="600"/>
              </a:spcBef>
              <a:defRPr sz="1450" b="1">
                <a:solidFill>
                  <a:srgbClr val="2563EB"/>
                </a:solidFill>
                <a:latin typeface="Segoe UI"/>
              </a:defRPr>
            </a:pPr>
            <a:r>
              <a:t>Q. 24. India : Rupee : : Bangladesh :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दिनार / Dinar</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टका / Taka</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रियाल / Riyal</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येन / Yen</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भारत की मुद्रा रुपया है, जबकि बांग्लादेश की राष्ट्रीय मुद्रा टका (Taka) है।</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(समान अंतर) / Number Series • प्र. #25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51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25. दी गई संख्या श्रेणी में अगला पद ज्ञात कीजिए: 4, 9, 14, 19, 24, ?</a:t>
            </a:r>
          </a:p>
          <a:p>
            <a:pPr algn="ctr">
              <a:spcBef>
                <a:spcPts val="600"/>
              </a:spcBef>
              <a:defRPr sz="1450" b="1">
                <a:solidFill>
                  <a:srgbClr val="2563EB"/>
                </a:solidFill>
                <a:latin typeface="Segoe UI"/>
              </a:defRPr>
            </a:pPr>
            <a:r>
              <a:t>Q. 25. Find the next term in the given number series: 4, 9, 14, 19, 24,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27</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28</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29</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30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(समान अंतर) / Number Series • प्र. #25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52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25. दी गई संख्या श्रेणी में अगला पद ज्ञात कीजिए: 4, 9, 14, 19, 24, ?</a:t>
            </a:r>
          </a:p>
          <a:p>
            <a:pPr algn="ctr">
              <a:spcBef>
                <a:spcPts val="600"/>
              </a:spcBef>
              <a:defRPr sz="1450" b="1">
                <a:solidFill>
                  <a:srgbClr val="2563EB"/>
                </a:solidFill>
                <a:latin typeface="Segoe UI"/>
              </a:defRPr>
            </a:pPr>
            <a:r>
              <a:t>Q. 25. Find the next term in the given number series: 4, 9, 14, 19, 24,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27</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28</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29</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30</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प्रत्येक पद में +5 की वृद्धि हो रही है: 24 + 5 = 29। (Common difference +5).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(पूर्ण वर्ग) / Square Series • प्र. #26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53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26. श्रृंखला में प्रश्नचिन्ह (?) के स्थान पर क्या आएगा? 1, 4, 9, 16, 25, 36, ?</a:t>
            </a:r>
          </a:p>
          <a:p>
            <a:pPr algn="ctr">
              <a:spcBef>
                <a:spcPts val="600"/>
              </a:spcBef>
              <a:defRPr sz="1450" b="1">
                <a:solidFill>
                  <a:srgbClr val="2563EB"/>
                </a:solidFill>
                <a:latin typeface="Segoe UI"/>
              </a:defRPr>
            </a:pPr>
            <a:r>
              <a:t>Q. 26. What will come in place of (?) in the series: 1, 4, 9, 16, 25, 36,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42</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45</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49</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54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(पूर्ण वर्ग) / Square Series • प्र. #26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54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26. श्रृंखला में प्रश्नचिन्ह (?) के स्थान पर क्या आएगा? 1, 4, 9, 16, 25, 36, ?</a:t>
            </a:r>
          </a:p>
          <a:p>
            <a:pPr algn="ctr">
              <a:spcBef>
                <a:spcPts val="600"/>
              </a:spcBef>
              <a:defRPr sz="1450" b="1">
                <a:solidFill>
                  <a:srgbClr val="2563EB"/>
                </a:solidFill>
                <a:latin typeface="Segoe UI"/>
              </a:defRPr>
            </a:pPr>
            <a:r>
              <a:t>Q. 26. What will come in place of (?) in the series: 1, 4, 9, 16, 25, 36,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42</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45</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49</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54</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प्राकृत संख्याओं के वर्ग: 1², 2², 3², 4², 5², 6², अतः अगला पद 7² = 49 होगा। (Perfect squares).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(बढ़ता अंतर) / Increasing Difference • प्र. #27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55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27. निम्न श्रेणी को पूरा कीजिए: 2, 5, 10, 17, 26, ?</a:t>
            </a:r>
          </a:p>
          <a:p>
            <a:pPr algn="ctr">
              <a:spcBef>
                <a:spcPts val="600"/>
              </a:spcBef>
              <a:defRPr sz="1450" b="1">
                <a:solidFill>
                  <a:srgbClr val="2563EB"/>
                </a:solidFill>
                <a:latin typeface="Segoe UI"/>
              </a:defRPr>
            </a:pPr>
            <a:r>
              <a:t>Q. 27. Complete the series: 2, 5, 10, 17, 26,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35</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36</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37</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38</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(बढ़ता अंतर) / Increasing Difference • प्र. #27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56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27. निम्न श्रेणी को पूरा कीजिए: 2, 5, 10, 17, 26, ?</a:t>
            </a:r>
          </a:p>
          <a:p>
            <a:pPr algn="ctr">
              <a:spcBef>
                <a:spcPts val="600"/>
              </a:spcBef>
              <a:defRPr sz="1450" b="1">
                <a:solidFill>
                  <a:srgbClr val="2563EB"/>
                </a:solidFill>
                <a:latin typeface="Segoe UI"/>
              </a:defRPr>
            </a:pPr>
            <a:r>
              <a:t>Q. 27. Complete the series: 2, 5, 10, 17, 26,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35</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36</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37</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38</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अंतर विषम संख्याएं हैं (+3, +5, +7, +9, +11) अथवा n² + 1: 6² + 1 = 37।</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(गुणन श्रेणी) / Multiplication Series • प्र. #28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57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28. श्रेणी का अगला पद क्या होगा? 3, 6, 12, 24, 48, ?</a:t>
            </a:r>
          </a:p>
          <a:p>
            <a:pPr algn="ctr">
              <a:spcBef>
                <a:spcPts val="600"/>
              </a:spcBef>
              <a:defRPr sz="1450" b="1">
                <a:solidFill>
                  <a:srgbClr val="2563EB"/>
                </a:solidFill>
                <a:latin typeface="Segoe UI"/>
              </a:defRPr>
            </a:pPr>
            <a:r>
              <a:t>Q. 28. What will be the next term in the series? 3, 6, 12, 24, 48,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72</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84</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96</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108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(गुणन श्रेणी) / Multiplication Series • प्र. #28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58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28. श्रेणी का अगला पद क्या होगा? 3, 6, 12, 24, 48, ?</a:t>
            </a:r>
          </a:p>
          <a:p>
            <a:pPr algn="ctr">
              <a:spcBef>
                <a:spcPts val="600"/>
              </a:spcBef>
              <a:defRPr sz="1450" b="1">
                <a:solidFill>
                  <a:srgbClr val="2563EB"/>
                </a:solidFill>
                <a:latin typeface="Segoe UI"/>
              </a:defRPr>
            </a:pPr>
            <a:r>
              <a:t>Q. 28. What will be the next term in the series? 3, 6, 12, 24, 48,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72</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84</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96</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108</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प्रत्येक पद दोगुना हो रहा है (×2): 48 × 2 = 96।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(पूर्ण घन) / Cube Series • प्र. #29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59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29. दी गई श्रेणी में लुप्त पद ज्ञात कीजिए: 8, 27, 64, 125, ?</a:t>
            </a:r>
          </a:p>
          <a:p>
            <a:pPr algn="ctr">
              <a:spcBef>
                <a:spcPts val="600"/>
              </a:spcBef>
              <a:defRPr sz="1450" b="1">
                <a:solidFill>
                  <a:srgbClr val="2563EB"/>
                </a:solidFill>
                <a:latin typeface="Segoe UI"/>
              </a:defRPr>
            </a:pPr>
            <a:r>
              <a:t>Q. 29. Find the missing term in the series: 8, 27, 64, 125,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196</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216</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225</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256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(पूर्ण घन) / Cube Series • प्र. #29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60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29. दी गई श्रेणी में लुप्त पद ज्ञात कीजिए: 8, 27, 64, 125, ?</a:t>
            </a:r>
          </a:p>
          <a:p>
            <a:pPr algn="ctr">
              <a:spcBef>
                <a:spcPts val="600"/>
              </a:spcBef>
              <a:defRPr sz="1450" b="1">
                <a:solidFill>
                  <a:srgbClr val="2563EB"/>
                </a:solidFill>
                <a:latin typeface="Segoe UI"/>
              </a:defRPr>
            </a:pPr>
            <a:r>
              <a:t>Q. 29. Find the missing term in the series: 8, 27, 64, 125,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196</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216</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225</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256</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प्राकृत संख्याओं के घन (Cubes): 2³=8, 3³=27, 4³=64, 5³=125, अतः 6³ = 216।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(घटती श्रेणी) / Decreasing Series • प्र. #30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61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30. निम्न श्रेणी में अगला पद चुनिए: 100, 93, 86, 79, 72, ?</a:t>
            </a:r>
          </a:p>
          <a:p>
            <a:pPr algn="ctr">
              <a:spcBef>
                <a:spcPts val="600"/>
              </a:spcBef>
              <a:defRPr sz="1450" b="1">
                <a:solidFill>
                  <a:srgbClr val="2563EB"/>
                </a:solidFill>
                <a:latin typeface="Segoe UI"/>
              </a:defRPr>
            </a:pPr>
            <a:r>
              <a:t>Q. 30. Choose the next term in the decreasing series: 100, 93, 86, 79, 72,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63</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64</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65</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66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(घटती श्रेणी) / Decreasing Series • प्र. #30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62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30. निम्न श्रेणी में अगला पद चुनिए: 100, 93, 86, 79, 72, ?</a:t>
            </a:r>
          </a:p>
          <a:p>
            <a:pPr algn="ctr">
              <a:spcBef>
                <a:spcPts val="600"/>
              </a:spcBef>
              <a:defRPr sz="1450" b="1">
                <a:solidFill>
                  <a:srgbClr val="2563EB"/>
                </a:solidFill>
                <a:latin typeface="Segoe UI"/>
              </a:defRPr>
            </a:pPr>
            <a:r>
              <a:t>Q. 30. Choose the next term in the decreasing series: 100, 93, 86, 79, 72,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63</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64</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65</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66</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प्रत्येक पद में से 7 घटाया जा रहा है (-7): 72 - 7 = 65।</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(फिबोनाची) / Fibonacci Series • प्र. #31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63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31. दी गई श्रृंखला को पूरा कीजिए: 1, 1, 2, 3, 5, 8, 13, ?</a:t>
            </a:r>
          </a:p>
          <a:p>
            <a:pPr algn="ctr">
              <a:spcBef>
                <a:spcPts val="600"/>
              </a:spcBef>
              <a:defRPr sz="1450" b="1">
                <a:solidFill>
                  <a:srgbClr val="2563EB"/>
                </a:solidFill>
                <a:latin typeface="Segoe UI"/>
              </a:defRPr>
            </a:pPr>
            <a:r>
              <a:t>Q. 31. Complete the given Fibonacci series: 1, 1, 2, 3, 5, 8, 13,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18</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20</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21</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24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(फिबोनाची) / Fibonacci Series • प्र. #31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64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31. दी गई श्रृंखला को पूरा कीजिए: 1, 1, 2, 3, 5, 8, 13, ?</a:t>
            </a:r>
          </a:p>
          <a:p>
            <a:pPr algn="ctr">
              <a:spcBef>
                <a:spcPts val="600"/>
              </a:spcBef>
              <a:defRPr sz="1450" b="1">
                <a:solidFill>
                  <a:srgbClr val="2563EB"/>
                </a:solidFill>
                <a:latin typeface="Segoe UI"/>
              </a:defRPr>
            </a:pPr>
            <a:r>
              <a:t>Q. 31. Complete the given Fibonacci series: 1, 1, 2, 3, 5, 8, 13,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18</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20</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21</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24</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प्रत्येक पद पिछले दो पदों का योग है: 8 + 13 = 21। (Fibonacci pattern).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(एकांतर श्रेणी) / Alternate Series • प्र. #32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65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32. श्रेणी में (?) के स्थान पर कौन-सी संख्या आएगी? 2, 15, 4, 12, 6, 9, 8, ?</a:t>
            </a:r>
          </a:p>
          <a:p>
            <a:pPr algn="ctr">
              <a:spcBef>
                <a:spcPts val="600"/>
              </a:spcBef>
              <a:defRPr sz="1450" b="1">
                <a:solidFill>
                  <a:srgbClr val="2563EB"/>
                </a:solidFill>
                <a:latin typeface="Segoe UI"/>
              </a:defRPr>
            </a:pPr>
            <a:r>
              <a:t>Q. 32. Which number replaces (?) in the alternate series: 2, 15, 4, 12, 6, 9, 8,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6</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7</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8</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9</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(एकांतर श्रेणी) / Alternate Series • प्र. #32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66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32. श्रेणी में (?) के स्थान पर कौन-सी संख्या आएगी? 2, 15, 4, 12, 6, 9, 8, ?</a:t>
            </a:r>
          </a:p>
          <a:p>
            <a:pPr algn="ctr">
              <a:spcBef>
                <a:spcPts val="600"/>
              </a:spcBef>
              <a:defRPr sz="1450" b="1">
                <a:solidFill>
                  <a:srgbClr val="2563EB"/>
                </a:solidFill>
                <a:latin typeface="Segoe UI"/>
              </a:defRPr>
            </a:pPr>
            <a:r>
              <a:t>Q. 32. Which number replaces (?) in the alternate series: 2, 15, 4, 12, 6, 9, 8, ?</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6</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7</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8</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9</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पहली श्रेणी (+2): 2, 4, 6, 8। दूसरी श्रेणी (-3): 15, 12, 9, 6। अतः 9 - 3 = 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(2x + 1) / Series Pattern • प्र. #33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67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33. निम्न श्रृंखला का अगला पद क्या होगा? 2, 5, 11, 23, 47, ?</a:t>
            </a:r>
          </a:p>
          <a:p>
            <a:pPr algn="ctr">
              <a:spcBef>
                <a:spcPts val="600"/>
              </a:spcBef>
              <a:defRPr sz="1450" b="1">
                <a:solidFill>
                  <a:srgbClr val="2563EB"/>
                </a:solidFill>
                <a:latin typeface="Segoe UI"/>
              </a:defRPr>
            </a:pPr>
            <a:r>
              <a:t>Q. 33. What is the next term in the series? 2, 5, 11, 23, 47,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85</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92</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95</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97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(2x + 1) / Series Pattern • प्र. #33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68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33. निम्न श्रृंखला का अगला पद क्या होगा? 2, 5, 11, 23, 47, ?</a:t>
            </a:r>
          </a:p>
          <a:p>
            <a:pPr algn="ctr">
              <a:spcBef>
                <a:spcPts val="600"/>
              </a:spcBef>
              <a:defRPr sz="1450" b="1">
                <a:solidFill>
                  <a:srgbClr val="2563EB"/>
                </a:solidFill>
                <a:latin typeface="Segoe UI"/>
              </a:defRPr>
            </a:pPr>
            <a:r>
              <a:t>Q. 33. What is the next term in the series? 2, 5, 11, 23, 47,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85</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92</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95</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97</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नियम: (पिछला पद × 2) + 1। 47 × 2 + 1 = 94 + 1 = 95।</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(अभाज्य संख्या) / Prime Series • प्र. #34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69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34. दी गई श्रेणी में अगला पद क्या होगा? 2, 3, 5, 7, 11, 13, ?</a:t>
            </a:r>
          </a:p>
          <a:p>
            <a:pPr algn="ctr">
              <a:spcBef>
                <a:spcPts val="600"/>
              </a:spcBef>
              <a:defRPr sz="1450" b="1">
                <a:solidFill>
                  <a:srgbClr val="2563EB"/>
                </a:solidFill>
                <a:latin typeface="Segoe UI"/>
              </a:defRPr>
            </a:pPr>
            <a:r>
              <a:t>Q. 34. What is the next term in the series? 2, 3, 5, 7, 11, 13,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15</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17</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19</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21</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(अभाज्य संख्या) / Prime Series • प्र. #34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70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34. दी गई श्रेणी में अगला पद क्या होगा? 2, 3, 5, 7, 11, 13, ?</a:t>
            </a:r>
          </a:p>
          <a:p>
            <a:pPr algn="ctr">
              <a:spcBef>
                <a:spcPts val="600"/>
              </a:spcBef>
              <a:defRPr sz="1450" b="1">
                <a:solidFill>
                  <a:srgbClr val="2563EB"/>
                </a:solidFill>
                <a:latin typeface="Segoe UI"/>
              </a:defRPr>
            </a:pPr>
            <a:r>
              <a:t>Q. 34. What is the next term in the series? 2, 3, 5, 7, 11, 13,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15</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17</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19</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21</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लगातार अभाज्य संख्याएँ (Consecutive Prime Numbers)। 13 के बाद अगली अभाज्य संख्या 17 होती है।</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(वर्ग - 1) / n² - 1 Series • प्र. #35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71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35. श्रृंखला में प्रश्नचिन्ह (?) के स्थान पर संख्या ज्ञात कीजिए: 0, 3, 8, 15, 24, ?</a:t>
            </a:r>
          </a:p>
          <a:p>
            <a:pPr algn="ctr">
              <a:spcBef>
                <a:spcPts val="600"/>
              </a:spcBef>
              <a:defRPr sz="1450" b="1">
                <a:solidFill>
                  <a:srgbClr val="2563EB"/>
                </a:solidFill>
                <a:latin typeface="Segoe UI"/>
              </a:defRPr>
            </a:pPr>
            <a:r>
              <a:t>Q. 35. Find the number in place of (?) in the series: 0, 3, 8, 15, 24,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32</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35</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36</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48</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(वर्ग - 1) / n² - 1 Series • प्र. #35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72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35. श्रृंखला में प्रश्नचिन्ह (?) के स्थान पर संख्या ज्ञात कीजिए: 0, 3, 8, 15, 24, ?</a:t>
            </a:r>
          </a:p>
          <a:p>
            <a:pPr algn="ctr">
              <a:spcBef>
                <a:spcPts val="600"/>
              </a:spcBef>
              <a:defRPr sz="1450" b="1">
                <a:solidFill>
                  <a:srgbClr val="2563EB"/>
                </a:solidFill>
                <a:latin typeface="Segoe UI"/>
              </a:defRPr>
            </a:pPr>
            <a:r>
              <a:t>Q. 35. Find the number in place of (?) in the series: 0, 3, 8, 15, 24,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32</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35</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36</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48</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नियम: n² - 1 (1²-1=0, 2²-1=3, 3²-1=8, 4²-1=15, 5²-1=24)। अगला पद 6² - 1 = 35।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(अंतर का अंतर) / Difference Series • प्र. #36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73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36. श्रृंखला का अगला पद बताइए: 6, 11, 21, 36, 56, ?</a:t>
            </a:r>
          </a:p>
          <a:p>
            <a:pPr algn="ctr">
              <a:spcBef>
                <a:spcPts val="600"/>
              </a:spcBef>
              <a:defRPr sz="1450" b="1">
                <a:solidFill>
                  <a:srgbClr val="2563EB"/>
                </a:solidFill>
                <a:latin typeface="Segoe UI"/>
              </a:defRPr>
            </a:pPr>
            <a:r>
              <a:t>Q. 36. State the next term of the series: 6, 11, 21, 36, 56,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78</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81</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84</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86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संख्या श्रृंखला (अंतर का अंतर) / Difference Series • प्र. #36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74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36. श्रृंखला का अगला पद बताइए: 6, 11, 21, 36, 56, ?</a:t>
            </a:r>
          </a:p>
          <a:p>
            <a:pPr algn="ctr">
              <a:spcBef>
                <a:spcPts val="600"/>
              </a:spcBef>
              <a:defRPr sz="1450" b="1">
                <a:solidFill>
                  <a:srgbClr val="2563EB"/>
                </a:solidFill>
                <a:latin typeface="Segoe UI"/>
              </a:defRPr>
            </a:pPr>
            <a:r>
              <a:t>Q. 36. State the next term of the series: 6, 11, 21, 36, 56,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78</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81</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84</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86</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अंतर का क्रम: +5, +10, +15, +20, अगला अंतर +25 होगा: 56 + 25 = 81।</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अक्षर श्रृंखला (+2) / Letter Series • प्र. #37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75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37. दी गई अक्षर श्रेणी में अगला अक्षर क्या होगा? A, C, E, G, I, ?</a:t>
            </a:r>
          </a:p>
          <a:p>
            <a:pPr algn="ctr">
              <a:spcBef>
                <a:spcPts val="600"/>
              </a:spcBef>
              <a:defRPr sz="1450" b="1">
                <a:solidFill>
                  <a:srgbClr val="2563EB"/>
                </a:solidFill>
                <a:latin typeface="Segoe UI"/>
              </a:defRPr>
            </a:pPr>
            <a:r>
              <a:t>Q. 37. What will be the next letter in the series? A, C, E, G, I,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J</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K</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L</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M</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अक्षर श्रृंखला (+2) / Letter Series • प्र. #37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76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37. दी गई अक्षर श्रेणी में अगला अक्षर क्या होगा? A, C, E, G, I, ?</a:t>
            </a:r>
          </a:p>
          <a:p>
            <a:pPr algn="ctr">
              <a:spcBef>
                <a:spcPts val="600"/>
              </a:spcBef>
              <a:defRPr sz="1450" b="1">
                <a:solidFill>
                  <a:srgbClr val="2563EB"/>
                </a:solidFill>
                <a:latin typeface="Segoe UI"/>
              </a:defRPr>
            </a:pPr>
            <a:r>
              <a:t>Q. 37. What will be the next letter in the series? A, C, E, G, I,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J</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K</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L</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M</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प्रत्येक अक्षर में +2 का अंतर है: I(9) + 2 = K(11)। (Pattern: +2 in alphabet positions).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अक्षर श्रृंखला (उल्टा क्रम) / Reverse Letter Series • प्र. #38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77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38. श्रृंखला को पूरा कीजिए: Z, X, V, T, R, ?</a:t>
            </a:r>
          </a:p>
          <a:p>
            <a:pPr algn="ctr">
              <a:spcBef>
                <a:spcPts val="600"/>
              </a:spcBef>
              <a:defRPr sz="1450" b="1">
                <a:solidFill>
                  <a:srgbClr val="2563EB"/>
                </a:solidFill>
                <a:latin typeface="Segoe UI"/>
              </a:defRPr>
            </a:pPr>
            <a:r>
              <a:t>Q. 38. Complete the series: Z, X, V, T, R,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O</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P</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Q</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अक्षर श्रृंखला (उल्टा क्रम) / Reverse Letter Series • प्र. #38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78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38. श्रृंखला को पूरा कीजिए: Z, X, V, T, R, ?</a:t>
            </a:r>
          </a:p>
          <a:p>
            <a:pPr algn="ctr">
              <a:spcBef>
                <a:spcPts val="600"/>
              </a:spcBef>
              <a:defRPr sz="1450" b="1">
                <a:solidFill>
                  <a:srgbClr val="2563EB"/>
                </a:solidFill>
                <a:latin typeface="Segoe UI"/>
              </a:defRPr>
            </a:pPr>
            <a:r>
              <a:t>Q. 38. Complete the series: Z, X, V, T, R,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O</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P</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Q</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S</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उल्टे क्रम में -2 का अंतर: R(18) - 2 = P(16)। (Pattern: -2 backwards).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अक्षर श्रृंखला (युग्म) / Letter Pairs • प्र. #39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79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39. अगला पद ज्ञात कीजिए: AB, CD, EF, GH, ?</a:t>
            </a:r>
          </a:p>
          <a:p>
            <a:pPr algn="ctr">
              <a:spcBef>
                <a:spcPts val="600"/>
              </a:spcBef>
              <a:defRPr sz="1450" b="1">
                <a:solidFill>
                  <a:srgbClr val="2563EB"/>
                </a:solidFill>
                <a:latin typeface="Segoe UI"/>
              </a:defRPr>
            </a:pPr>
            <a:r>
              <a:t>Q. 39. Find the next term: AB, CD, EF, GH,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IJ</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IK</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JK</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HI</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अक्षर श्रृंखला (युग्म) / Letter Pairs • प्र. #39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80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39. अगला पद ज्ञात कीजिए: AB, CD, EF, GH, ?</a:t>
            </a:r>
          </a:p>
          <a:p>
            <a:pPr algn="ctr">
              <a:spcBef>
                <a:spcPts val="600"/>
              </a:spcBef>
              <a:defRPr sz="1450" b="1">
                <a:solidFill>
                  <a:srgbClr val="2563EB"/>
                </a:solidFill>
                <a:latin typeface="Segoe UI"/>
              </a:defRPr>
            </a:pPr>
            <a:r>
              <a:t>Q. 39. Find the next term: AB, CD, EF, GH, ?</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IJ</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IK</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JK</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HI</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क्रमिक वर्णमाला युग्म (Consecutive letter pairs): GH के बाद IJ आएगा।</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अक्षर श्रृंखला (बढ़ता अंतर) / Increasing Gap • प्र. #40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81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40. दी गई श्रृंखला में अगला पद क्या होगा? A, C, F, J, O, ?</a:t>
            </a:r>
          </a:p>
          <a:p>
            <a:pPr algn="ctr">
              <a:spcBef>
                <a:spcPts val="600"/>
              </a:spcBef>
              <a:defRPr sz="1450" b="1">
                <a:solidFill>
                  <a:srgbClr val="2563EB"/>
                </a:solidFill>
                <a:latin typeface="Segoe UI"/>
              </a:defRPr>
            </a:pPr>
            <a:r>
              <a:t>Q. 40. What is the next term in the series? A, C, F, J, O,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S</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T</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U</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V</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अक्षर श्रृंखला (बढ़ता अंतर) / Increasing Gap • प्र. #40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82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40. दी गई श्रृंखला में अगला पद क्या होगा? A, C, F, J, O, ?</a:t>
            </a:r>
          </a:p>
          <a:p>
            <a:pPr algn="ctr">
              <a:spcBef>
                <a:spcPts val="600"/>
              </a:spcBef>
              <a:defRPr sz="1450" b="1">
                <a:solidFill>
                  <a:srgbClr val="2563EB"/>
                </a:solidFill>
                <a:latin typeface="Segoe UI"/>
              </a:defRPr>
            </a:pPr>
            <a:r>
              <a:t>Q. 40. What is the next term in the series? A, C, F, J, O,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S</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T</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U</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V</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अंतर का क्रम: +2, +3, +4, +5, +6। O(15) + 6 = 21 जो कि 'U' है।</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अक्षर श्रृंखला (विपरीत जोड़े) / Opposite Pairs • प्र. #41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83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41. श्रृंखला का अगला युग्म क्या होगा? AZ, BY, CX, DW, ?</a:t>
            </a:r>
          </a:p>
          <a:p>
            <a:pPr algn="ctr">
              <a:spcBef>
                <a:spcPts val="600"/>
              </a:spcBef>
              <a:defRPr sz="1450" b="1">
                <a:solidFill>
                  <a:srgbClr val="2563EB"/>
                </a:solidFill>
                <a:latin typeface="Segoe UI"/>
              </a:defRPr>
            </a:pPr>
            <a:r>
              <a:t>Q. 41. What will be the next pair in the series? AZ, BY, CX, DW,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EU</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EV</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FU</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GT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अक्षर श्रृंखला (विपरीत जोड़े) / Opposite Pairs • प्र. #41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84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41. श्रृंखला का अगला युग्म क्या होगा? AZ, BY, CX, DW, ?</a:t>
            </a:r>
          </a:p>
          <a:p>
            <a:pPr algn="ctr">
              <a:spcBef>
                <a:spcPts val="600"/>
              </a:spcBef>
              <a:defRPr sz="1450" b="1">
                <a:solidFill>
                  <a:srgbClr val="2563EB"/>
                </a:solidFill>
                <a:latin typeface="Segoe UI"/>
              </a:defRPr>
            </a:pPr>
            <a:r>
              <a:t>Q. 41. What will be the next pair in the series? AZ, BY, CX, DW,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EU</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EV</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FU</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GT</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विपरीत अक्षर जोड़े: A-Z, B-Y, C-X, D-W, इसके बाद E का विपरीत V होता है (EV)।</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मिश्रित श्रृंखला / Alphanumeric Series • प्र. #42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85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42. श्रृंखला में (?) के स्थान पर क्या आएगा? B2, D4, F6, H8, ?</a:t>
            </a:r>
          </a:p>
          <a:p>
            <a:pPr algn="ctr">
              <a:spcBef>
                <a:spcPts val="600"/>
              </a:spcBef>
              <a:defRPr sz="1450" b="1">
                <a:solidFill>
                  <a:srgbClr val="2563EB"/>
                </a:solidFill>
                <a:latin typeface="Segoe UI"/>
              </a:defRPr>
            </a:pPr>
            <a:r>
              <a:t>Q. 42. What will replace (?) in the alphanumeric series? B2, D4, F6, H8,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I9</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J10</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K11</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L12</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मिश्रित श्रृंखला / Alphanumeric Series • प्र. #42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86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42. श्रृंखला में (?) के स्थान पर क्या आएगा? B2, D4, F6, H8, ?</a:t>
            </a:r>
          </a:p>
          <a:p>
            <a:pPr algn="ctr">
              <a:spcBef>
                <a:spcPts val="600"/>
              </a:spcBef>
              <a:defRPr sz="1450" b="1">
                <a:solidFill>
                  <a:srgbClr val="2563EB"/>
                </a:solidFill>
                <a:latin typeface="Segoe UI"/>
              </a:defRPr>
            </a:pPr>
            <a:r>
              <a:t>Q. 42. What will replace (?) in the alphanumeric series? B2, D4, F6, H8,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I9</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J10</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K11</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L12</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अक्षर में +2 (H-&gt;J) और संख्या वर्णमाला क्रमांक (10) दर्शाती है =&gt; 'J10'।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त्रि-अक्षर श्रृंखला / Tri-Letter Series • प्र. #43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87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43. अगला पद क्या होगा? BCD, EFG, HIJ, ?</a:t>
            </a:r>
          </a:p>
          <a:p>
            <a:pPr algn="ctr">
              <a:spcBef>
                <a:spcPts val="600"/>
              </a:spcBef>
              <a:defRPr sz="1450" b="1">
                <a:solidFill>
                  <a:srgbClr val="2563EB"/>
                </a:solidFill>
                <a:latin typeface="Segoe UI"/>
              </a:defRPr>
            </a:pPr>
            <a:r>
              <a:t>Q. 43. What will be the next term? BCD, EFG, HIJ,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KLM</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LMN</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KMN</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JKL</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त्रि-अक्षर श्रृंखला / Tri-Letter Series • प्र. #43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88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43. अगला पद क्या होगा? BCD, EFG, HIJ, ?</a:t>
            </a:r>
          </a:p>
          <a:p>
            <a:pPr algn="ctr">
              <a:spcBef>
                <a:spcPts val="600"/>
              </a:spcBef>
              <a:defRPr sz="1450" b="1">
                <a:solidFill>
                  <a:srgbClr val="2563EB"/>
                </a:solidFill>
                <a:latin typeface="Segoe UI"/>
              </a:defRPr>
            </a:pPr>
            <a:r>
              <a:t>Q. 43. What will be the next term? BCD, EFG, HIJ, ?</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KLM</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LMN</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KMN</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JKL</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लगातार 3-3 अक्षरों का समूह (2,3,4; 5,6,7; 8,9,10) के बाद 11,12,13 अर्थात 'KLM' आएगा।</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अक्षर पैटर्न / Repeating Pattern • प्र. #44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89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44. रिक्त स्थानों की पूर्ति हेतु सही विकल्प चुनिए: a _ ba _ b _ b _ a</a:t>
            </a:r>
          </a:p>
          <a:p>
            <a:pPr algn="ctr">
              <a:spcBef>
                <a:spcPts val="600"/>
              </a:spcBef>
              <a:defRPr sz="1450" b="1">
                <a:solidFill>
                  <a:srgbClr val="2563EB"/>
                </a:solidFill>
                <a:latin typeface="Segoe UI"/>
              </a:defRPr>
            </a:pPr>
            <a:r>
              <a:t>Q. 44. Choose the correct letters to fill the blanks: a _ ba _ b _ b _ a</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b a b a</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b b a a</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a b b a</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b a a b</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अक्षर पैटर्न / Repeating Pattern • प्र. #44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90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44. रिक्त स्थानों की पूर्ति हेतु सही विकल्प चुनिए: a _ ba _ b _ b _ a</a:t>
            </a:r>
          </a:p>
          <a:p>
            <a:pPr algn="ctr">
              <a:spcBef>
                <a:spcPts val="600"/>
              </a:spcBef>
              <a:defRPr sz="1450" b="1">
                <a:solidFill>
                  <a:srgbClr val="2563EB"/>
                </a:solidFill>
                <a:latin typeface="Segoe UI"/>
              </a:defRPr>
            </a:pPr>
            <a:r>
              <a:t>Q. 44. Choose the correct letters to fill the blanks: a _ ba _ b _ b _ a</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b a b a</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b b a a</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a b b a</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b a a b</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'b, b, a, a' रखने पर संतुलित चक्रीय पैटर्न प्राप्त होता है।</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अक्षर श्रृंखला (-2) / Backward Series • प्र. #45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91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45. श्रृंखला में लुप्त पद ज्ञात कीजिए: Y, W, U, S, Q, ?</a:t>
            </a:r>
          </a:p>
          <a:p>
            <a:pPr algn="ctr">
              <a:spcBef>
                <a:spcPts val="600"/>
              </a:spcBef>
              <a:defRPr sz="1450" b="1">
                <a:solidFill>
                  <a:srgbClr val="2563EB"/>
                </a:solidFill>
                <a:latin typeface="Segoe UI"/>
              </a:defRPr>
            </a:pPr>
            <a:r>
              <a:t>Q. 45. Find the missing term in the series: Y, W, U, S, Q,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M</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N</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O</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P</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अक्षर श्रृंखला (-2) / Backward Series • प्र. #45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92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45. श्रृंखला में लुप्त पद ज्ञात कीजिए: Y, W, U, S, Q, ?</a:t>
            </a:r>
          </a:p>
          <a:p>
            <a:pPr algn="ctr">
              <a:spcBef>
                <a:spcPts val="600"/>
              </a:spcBef>
              <a:defRPr sz="1450" b="1">
                <a:solidFill>
                  <a:srgbClr val="2563EB"/>
                </a:solidFill>
                <a:latin typeface="Segoe UI"/>
              </a:defRPr>
            </a:pPr>
            <a:r>
              <a:t>Q. 45. Find the missing term in the series: Y, W, U, S, Q,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M</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N</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O</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P</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क्रमशः -2 का अंतर: Q(17) - 2 = 15 अर्थात 'O'।</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अक्षर-संख्या श्रृंखला / Letter-Number Series • प्र. #46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93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46. निम्न में अगला पद क्या होगा? A1, C3, E5, G7, ?</a:t>
            </a:r>
          </a:p>
          <a:p>
            <a:pPr algn="ctr">
              <a:spcBef>
                <a:spcPts val="600"/>
              </a:spcBef>
              <a:defRPr sz="1450" b="1">
                <a:solidFill>
                  <a:srgbClr val="2563EB"/>
                </a:solidFill>
                <a:latin typeface="Segoe UI"/>
              </a:defRPr>
            </a:pPr>
            <a:r>
              <a:t>Q. 46. What is the next term in: A1, C3, E5, G7,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H8</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I9</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J10</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K11</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अक्षर-संख्या श्रृंखला / Letter-Number Series • प्र. #46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94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46. निम्न में अगला पद क्या होगा? A1, C3, E5, G7, ?</a:t>
            </a:r>
          </a:p>
          <a:p>
            <a:pPr algn="ctr">
              <a:spcBef>
                <a:spcPts val="600"/>
              </a:spcBef>
              <a:defRPr sz="1450" b="1">
                <a:solidFill>
                  <a:srgbClr val="2563EB"/>
                </a:solidFill>
                <a:latin typeface="Segoe UI"/>
              </a:defRPr>
            </a:pPr>
            <a:r>
              <a:t>Q. 46. What is the next term in: A1, C3, E5, G7,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H8</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I9</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J10</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K11</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विषम क्रमांक वाले अक्षर व उनके मान: G7 के बाद I9 आएगा।</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कोडिंग-डिकोडिंग (+1) / Coding-Decoding • प्र. #47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95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47. यदि किसी सांकेतिक भाषा में 'CAT' को 'DBU' लिखा जाता है, तो 'DOG' को क्या लिखा जाएगा?</a:t>
            </a:r>
          </a:p>
          <a:p>
            <a:pPr algn="ctr">
              <a:spcBef>
                <a:spcPts val="600"/>
              </a:spcBef>
              <a:defRPr sz="1450" b="1">
                <a:solidFill>
                  <a:srgbClr val="2563EB"/>
                </a:solidFill>
                <a:latin typeface="Segoe UI"/>
              </a:defRPr>
            </a:pPr>
            <a:r>
              <a:t>Q. 47. If in a code language 'CAT' is written as 'DBU', then how will 'DOG' be written?</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EPH</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FPH</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EOH</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ENG</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कोडिंग-डिकोडिंग (+1) / Coding-Decoding • प्र. #47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96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47. यदि किसी सांकेतिक भाषा में 'CAT' को 'DBU' लिखा जाता है, तो 'DOG' को क्या लिखा जाएगा?</a:t>
            </a:r>
          </a:p>
          <a:p>
            <a:pPr algn="ctr">
              <a:spcBef>
                <a:spcPts val="600"/>
              </a:spcBef>
              <a:defRPr sz="1450" b="1">
                <a:solidFill>
                  <a:srgbClr val="2563EB"/>
                </a:solidFill>
                <a:latin typeface="Segoe UI"/>
              </a:defRPr>
            </a:pPr>
            <a:r>
              <a:t>Q. 47. If in a code language 'CAT' is written as 'DBU', then how will 'DOG' be written?</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EPH</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FPH</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EOH</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ENG</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प्रत्येक अक्षर में +1: C(+1)=D, A(+1)=B, T(+1)=U। अतः D(+1)=E, O(+1)=P, G(+1)=H =&gt; 'EPH'।</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कोडिंग (क्रमांक योग) / Alphabet Sum Code • प्र. #48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97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48. यदि 'A' = 1, 'BAT' = 23 हो, तो 'BALL' का मान क्या होगा?</a:t>
            </a:r>
          </a:p>
          <a:p>
            <a:pPr algn="ctr">
              <a:spcBef>
                <a:spcPts val="600"/>
              </a:spcBef>
              <a:defRPr sz="1450" b="1">
                <a:solidFill>
                  <a:srgbClr val="2563EB"/>
                </a:solidFill>
                <a:latin typeface="Segoe UI"/>
              </a:defRPr>
            </a:pPr>
            <a:r>
              <a:t>Q. 48. If 'A' = 1, 'BAT' = 23, then what is the value of 'BALL'?</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25</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27</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29</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31</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कोडिंग (क्रमांक योग) / Alphabet Sum Code • प्र. #48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98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48. यदि 'A' = 1, 'BAT' = 23 हो, तो 'BALL' का मान क्या होगा?</a:t>
            </a:r>
          </a:p>
          <a:p>
            <a:pPr algn="ctr">
              <a:spcBef>
                <a:spcPts val="600"/>
              </a:spcBef>
              <a:defRPr sz="1450" b="1">
                <a:solidFill>
                  <a:srgbClr val="2563EB"/>
                </a:solidFill>
                <a:latin typeface="Segoe UI"/>
              </a:defRPr>
            </a:pPr>
            <a:r>
              <a:t>Q. 48. If 'A' = 1, 'BAT' = 23, then what is the value of 'BALL'?</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25</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27</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29</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31</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अक्षर क्रमांकों का योग: BALL = B(2) + A(1) + L(12) + L(12) = 27।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कोडिंग (-1 नियम) / Subtraction Code • प्र. #49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99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49. यदि 'MANGO' को 'LZMFN' लिखा जाता है, तो 'APPLE' का कोड क्या होगा?</a:t>
            </a:r>
          </a:p>
          <a:p>
            <a:pPr algn="ctr">
              <a:spcBef>
                <a:spcPts val="600"/>
              </a:spcBef>
              <a:defRPr sz="1450" b="1">
                <a:solidFill>
                  <a:srgbClr val="2563EB"/>
                </a:solidFill>
                <a:latin typeface="Segoe UI"/>
              </a:defRPr>
            </a:pPr>
            <a:r>
              <a:t>Q. 49. If 'MANGO' is coded as 'LZMFN', how is 'APPLE' coded?</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ZOOKD</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ZOKKD</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BQQMF</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ZOOMD</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कोडिंग (-1 नियम) / Subtraction Code • प्र. #49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100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49. यदि 'MANGO' को 'LZMFN' लिखा जाता है, तो 'APPLE' का कोड क्या होगा?</a:t>
            </a:r>
          </a:p>
          <a:p>
            <a:pPr algn="ctr">
              <a:spcBef>
                <a:spcPts val="600"/>
              </a:spcBef>
              <a:defRPr sz="1450" b="1">
                <a:solidFill>
                  <a:srgbClr val="2563EB"/>
                </a:solidFill>
                <a:latin typeface="Segoe UI"/>
              </a:defRPr>
            </a:pPr>
            <a:r>
              <a:t>Q. 49. If 'MANGO' is coded as 'LZMFN', how is 'APPLE' coded?</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ZOOKD</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ZOKKD</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BQQMF</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ZOOMD</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प्रत्येक अक्षर में -1: A-1=Z, P-1=O, P-1=O, L-1=K, E-1=D =&gt; 'ZOOKD'।</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कोडिंग (उल्टा क्रम) / Reverse Code • प्र. #50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101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50. यदि 'WATER' को 'RETAW' लिखा जाता है, तो 'RIVER' को क्या लिखा जाएगा?</a:t>
            </a:r>
          </a:p>
          <a:p>
            <a:pPr algn="ctr">
              <a:spcBef>
                <a:spcPts val="600"/>
              </a:spcBef>
              <a:defRPr sz="1450" b="1">
                <a:solidFill>
                  <a:srgbClr val="2563EB"/>
                </a:solidFill>
                <a:latin typeface="Segoe UI"/>
              </a:defRPr>
            </a:pPr>
            <a:r>
              <a:t>Q. 50. If 'WATER' is written as 'RETAW', how will 'RIVER' be written?</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REVIR</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REIVR</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REVIRE</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VERIR</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कोडिंग (उल्टा क्रम) / Reverse Code • प्र. #50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102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50. यदि 'WATER' को 'RETAW' लिखा जाता है, तो 'RIVER' को क्या लिखा जाएगा?</a:t>
            </a:r>
          </a:p>
          <a:p>
            <a:pPr algn="ctr">
              <a:spcBef>
                <a:spcPts val="600"/>
              </a:spcBef>
              <a:defRPr sz="1450" b="1">
                <a:solidFill>
                  <a:srgbClr val="2563EB"/>
                </a:solidFill>
                <a:latin typeface="Segoe UI"/>
              </a:defRPr>
            </a:pPr>
            <a:r>
              <a:t>Q. 50. If 'WATER' is written as 'RETAW', how will 'RIVER' be written?</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REVIR</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REIVR</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REVIRE</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VERIR</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अक्षरों को उल्टे क्रम में लिखा गया है: R-I-V-E-R को उल्टा करने पर 'REVIR'।</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प्रत्यक्ष कूट / Direct Coding • प्र. #51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103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51. यदि 'DELHI' = 73541 और 'CALCUTTA' = 82589662 हो, तो 'CALICUT' का कोड क्या होगा?</a:t>
            </a:r>
          </a:p>
          <a:p>
            <a:pPr algn="ctr">
              <a:spcBef>
                <a:spcPts val="600"/>
              </a:spcBef>
              <a:defRPr sz="1450" b="1">
                <a:solidFill>
                  <a:srgbClr val="2563EB"/>
                </a:solidFill>
                <a:latin typeface="Segoe UI"/>
              </a:defRPr>
            </a:pPr>
            <a:r>
              <a:t>Q. 51. If 'DELHI' = 73541 and 'CALCUTTA' = 82589662, then code for 'CALICUT' is:</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8251896</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8251696</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8251596</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8251869</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प्रत्यक्ष कूट / Direct Coding • प्र. #51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104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51. यदि 'DELHI' = 73541 और 'CALCUTTA' = 82589662 हो, तो 'CALICUT' का कोड क्या होगा?</a:t>
            </a:r>
          </a:p>
          <a:p>
            <a:pPr algn="ctr">
              <a:spcBef>
                <a:spcPts val="600"/>
              </a:spcBef>
              <a:defRPr sz="1450" b="1">
                <a:solidFill>
                  <a:srgbClr val="2563EB"/>
                </a:solidFill>
                <a:latin typeface="Segoe UI"/>
              </a:defRPr>
            </a:pPr>
            <a:r>
              <a:t>Q. 51. If 'DELHI' = 73541 and 'CALCUTTA' = 82589662, then code for 'CALICUT' is:</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8251896</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8251696</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8251596</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8251869</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प्रत्यक्ष मिलान: C=8, A=2, L=5, I=1, C=8, U=9, T=6 =&gt; 8251896।</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शब्द प्रतिस्थापन / Word Substitution • प्र. #52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105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52. यदि 'हवा' को 'पानी', 'पानी' को 'आग', और 'आग' को 'मिट्टी' कहा जाए, तो मछली कहाँ रहेगी?</a:t>
            </a:r>
          </a:p>
          <a:p>
            <a:pPr algn="ctr">
              <a:spcBef>
                <a:spcPts val="600"/>
              </a:spcBef>
              <a:defRPr sz="1450" b="1">
                <a:solidFill>
                  <a:srgbClr val="2563EB"/>
                </a:solidFill>
                <a:latin typeface="Segoe UI"/>
              </a:defRPr>
            </a:pPr>
            <a:r>
              <a:t>Q. 52. If 'Air' is called 'Water', 'Water' is called 'Fire', where does a fish live?</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हवा / Air</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पानी / Water</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आग / Fire</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मिट्टी / Soil</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शब्द प्रतिस्थापन / Word Substitution • प्र. #52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106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52. यदि 'हवा' को 'पानी', 'पानी' को 'आग', और 'आग' को 'मिट्टी' कहा जाए, तो मछली कहाँ रहेगी?</a:t>
            </a:r>
          </a:p>
          <a:p>
            <a:pPr algn="ctr">
              <a:spcBef>
                <a:spcPts val="600"/>
              </a:spcBef>
              <a:defRPr sz="1450" b="1">
                <a:solidFill>
                  <a:srgbClr val="2563EB"/>
                </a:solidFill>
                <a:latin typeface="Segoe UI"/>
              </a:defRPr>
            </a:pPr>
            <a:r>
              <a:t>Q. 52. If 'Air' is called 'Water', 'Water' is called 'Fire', where does a fish live?</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हवा / Air</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पानी / Water</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आग / Fire</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मिट्टी / Soil</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मछली 'पानी' में रहती है, परंतु प्रश्न में 'पानी' को 'आग' कहा गया है। अतः उत्तर 'आग' (Fire) होगा।</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कोडिंग (+2 नियम) / Coding Rule • प्र. #53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107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53. यदि 'PEN' को 'RGP' लिखा जाता है, तो 'BOOK' को क्या लिखा जाएगा?</a:t>
            </a:r>
          </a:p>
          <a:p>
            <a:pPr algn="ctr">
              <a:spcBef>
                <a:spcPts val="600"/>
              </a:spcBef>
              <a:defRPr sz="1450" b="1">
                <a:solidFill>
                  <a:srgbClr val="2563EB"/>
                </a:solidFill>
                <a:latin typeface="Segoe UI"/>
              </a:defRPr>
            </a:pPr>
            <a:r>
              <a:t>Q. 53. If 'PEN' is written as 'RGP', how is 'BOOK' written in that code?</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DQQM</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CPPL</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DPPN</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EQQM</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कोडिंग (+2 नियम) / Coding Rule • प्र. #53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108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53. यदि 'PEN' को 'RGP' लिखा जाता है, तो 'BOOK' को क्या लिखा जाएगा?</a:t>
            </a:r>
          </a:p>
          <a:p>
            <a:pPr algn="ctr">
              <a:spcBef>
                <a:spcPts val="600"/>
              </a:spcBef>
              <a:defRPr sz="1450" b="1">
                <a:solidFill>
                  <a:srgbClr val="2563EB"/>
                </a:solidFill>
                <a:latin typeface="Segoe UI"/>
              </a:defRPr>
            </a:pPr>
            <a:r>
              <a:t>Q. 53. If 'PEN' is written as 'RGP', how is 'BOOK' written in that code?</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DQQM</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CPPL</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DPPN</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EQQM</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प्रत्येक अक्षर में +2: B(+2)=D, O(+2)=Q, O(+2)=Q, K(+2)=M =&gt; 'DQQM'।</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विपरीत कूट / Opposite Letter Code • प्र. #54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109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54. यदि 'KING' को 'PRMT' लिखा जाता है, तो उसी कूट में 'ROSE' को क्या लिखा जाएगा?</a:t>
            </a:r>
          </a:p>
          <a:p>
            <a:pPr algn="ctr">
              <a:spcBef>
                <a:spcPts val="600"/>
              </a:spcBef>
              <a:defRPr sz="1450" b="1">
                <a:solidFill>
                  <a:srgbClr val="2563EB"/>
                </a:solidFill>
                <a:latin typeface="Segoe UI"/>
              </a:defRPr>
            </a:pPr>
            <a:r>
              <a:t>Q. 54. If 'KING' is coded as 'PRMT', then 'ROSE' is coded as:</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ILHV</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ILHW</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ILGV</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IKHV</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विपरीत कूट / Opposite Letter Code • प्र. #54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110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54. यदि 'KING' को 'PRMT' लिखा जाता है, तो उसी कूट में 'ROSE' को क्या लिखा जाएगा?</a:t>
            </a:r>
          </a:p>
          <a:p>
            <a:pPr algn="ctr">
              <a:spcBef>
                <a:spcPts val="600"/>
              </a:spcBef>
              <a:defRPr sz="1450" b="1">
                <a:solidFill>
                  <a:srgbClr val="2563EB"/>
                </a:solidFill>
                <a:latin typeface="Segoe UI"/>
              </a:defRPr>
            </a:pPr>
            <a:r>
              <a:t>Q. 54. If 'KING' is coded as 'PRMT', then 'ROSE' is coded as:</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ILHV</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ILHW</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ILGV</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IKHV</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विपरीत अक्षर (Opposite letters): R-&gt;I, O-&gt;L, S-&gt;H, E-&gt;V =&gt; 'ILHV'।</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विपरीत क्रमांक योग / Reverse Position Sum • प्र. #55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111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55. यदि 'GO' = 32 और 'SHE' = 49 हो, तो 'SOME' का मान क्या होगा?</a:t>
            </a:r>
          </a:p>
          <a:p>
            <a:pPr algn="ctr">
              <a:spcBef>
                <a:spcPts val="600"/>
              </a:spcBef>
              <a:defRPr sz="1450" b="1">
                <a:solidFill>
                  <a:srgbClr val="2563EB"/>
                </a:solidFill>
                <a:latin typeface="Segoe UI"/>
              </a:defRPr>
            </a:pPr>
            <a:r>
              <a:t>Q. 55. If 'GO' = 32 and 'SHE' = 49, what is the value of 'SOME'?</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56</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58</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62</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64</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विपरीत क्रमांक योग / Reverse Position Sum • प्र. #55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112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55. यदि 'GO' = 32 और 'SHE' = 49 हो, तो 'SOME' का मान क्या होगा?</a:t>
            </a:r>
          </a:p>
          <a:p>
            <a:pPr algn="ctr">
              <a:spcBef>
                <a:spcPts val="600"/>
              </a:spcBef>
              <a:defRPr sz="1450" b="1">
                <a:solidFill>
                  <a:srgbClr val="2563EB"/>
                </a:solidFill>
                <a:latin typeface="Segoe UI"/>
              </a:defRPr>
            </a:pPr>
            <a:r>
              <a:t>Q. 55. If 'GO' = 32 and 'SHE' = 49, what is the value of 'SOME'?</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56</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58</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62</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64</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विपरीत अक्षरों के क्रमांक का योग: S(8) + O(12) + M(14) + E(22) = 56।</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वर्णमाला क्रमांक कूट / Alphabet Code • प्र. #56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113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56. यदि 'INDIA' को '9-14-4-9-1' लिखा जाता है, तो 'DELHI' को क्या लिखा जाएगा?</a:t>
            </a:r>
          </a:p>
          <a:p>
            <a:pPr algn="ctr">
              <a:spcBef>
                <a:spcPts val="600"/>
              </a:spcBef>
              <a:defRPr sz="1450" b="1">
                <a:solidFill>
                  <a:srgbClr val="2563EB"/>
                </a:solidFill>
                <a:latin typeface="Segoe UI"/>
              </a:defRPr>
            </a:pPr>
            <a:r>
              <a:t>Q. 56. If 'INDIA' is coded as '9-14-4-9-1', then 'DELHI' is coded as:</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4-5-12-8-9</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4-5-11-8-9</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3-5-12-8-9</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4-6-12-8-9</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वर्णमाला क्रमांक कूट / Alphabet Code • प्र. #56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114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56. यदि 'INDIA' को '9-14-4-9-1' लिखा जाता है, तो 'DELHI' को क्या लिखा जाएगा?</a:t>
            </a:r>
          </a:p>
          <a:p>
            <a:pPr algn="ctr">
              <a:spcBef>
                <a:spcPts val="600"/>
              </a:spcBef>
              <a:defRPr sz="1450" b="1">
                <a:solidFill>
                  <a:srgbClr val="2563EB"/>
                </a:solidFill>
                <a:latin typeface="Segoe UI"/>
              </a:defRPr>
            </a:pPr>
            <a:r>
              <a:t>Q. 56. If 'INDIA' is coded as '9-14-4-9-1', then 'DELHI' is coded as:</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4-5-12-8-9</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4-5-11-8-9</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3-5-12-8-9</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4-6-12-8-9</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वास्तविक वर्णमाला क्रमांक: D=4, E=5, L=12, H=8, I=9 =&gt; '4-5-12-8-9'।</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लुप्त संख्या (मैट्रिक्स) / Missing Matrix Number • प्र. #57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115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57. दिए गए मैट्रिक्स में (?) के स्थान पर संख्या ज्ञात कीजिए: [3, 4, 5], [4, 5, 6], [5, 6, ?] जहां योग 12, 15, 18 है।</a:t>
            </a:r>
          </a:p>
          <a:p>
            <a:pPr algn="ctr">
              <a:spcBef>
                <a:spcPts val="600"/>
              </a:spcBef>
              <a:defRPr sz="1450" b="1">
                <a:solidFill>
                  <a:srgbClr val="2563EB"/>
                </a:solidFill>
                <a:latin typeface="Segoe UI"/>
              </a:defRPr>
            </a:pPr>
            <a:r>
              <a:t>Q. 57. Find the missing number (?) in the matrix: [3, 4, 5], [4, 5, 6], [5, 6, ?] where sums are 12, 15, 18.</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6</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7</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8</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9</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लुप्त संख्या (मैट्रिक्स) / Missing Matrix Number • प्र. #57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116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57. दिए गए मैट्रिक्स में (?) के स्थान पर संख्या ज्ञात कीजिए: [3, 4, 5], [4, 5, 6], [5, 6, ?] जहां योग 12, 15, 18 है।</a:t>
            </a:r>
          </a:p>
          <a:p>
            <a:pPr algn="ctr">
              <a:spcBef>
                <a:spcPts val="600"/>
              </a:spcBef>
              <a:defRPr sz="1450" b="1">
                <a:solidFill>
                  <a:srgbClr val="2563EB"/>
                </a:solidFill>
                <a:latin typeface="Segoe UI"/>
              </a:defRPr>
            </a:pPr>
            <a:r>
              <a:t>Q. 57. Find the missing number (?) in the matrix: [3, 4, 5], [4, 5, 6], [5, 6, ?] where sums are 12, 15, 18.</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6</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7</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8</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9</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तीसरी पंक्ति में 5, 6 के बाद 7 आएगा (5 + 6 + 7 = 18)।</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लुप्त संख्या (वृत्त) / Circle Quadrants • प्र. #58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117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58. एक वृत्त के चार भागों में 4, 9, 16 और (?) लिखे हैं। लुप्त संख्या क्या होगी?</a:t>
            </a:r>
          </a:p>
          <a:p>
            <a:pPr algn="ctr">
              <a:spcBef>
                <a:spcPts val="600"/>
              </a:spcBef>
              <a:defRPr sz="1450" b="1">
                <a:solidFill>
                  <a:srgbClr val="2563EB"/>
                </a:solidFill>
                <a:latin typeface="Segoe UI"/>
              </a:defRPr>
            </a:pPr>
            <a:r>
              <a:t>Q. 58. Four quadrants of a circle contain 4, 9, 16 and (?). What is the missing number?</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20</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24</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25</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30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लुप्त संख्या (वृत्त) / Circle Quadrants • प्र. #58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118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58. एक वृत्त के चार भागों में 4, 9, 16 और (?) लिखे हैं। लुप्त संख्या क्या होगी?</a:t>
            </a:r>
          </a:p>
          <a:p>
            <a:pPr algn="ctr">
              <a:spcBef>
                <a:spcPts val="600"/>
              </a:spcBef>
              <a:defRPr sz="1450" b="1">
                <a:solidFill>
                  <a:srgbClr val="2563EB"/>
                </a:solidFill>
                <a:latin typeface="Segoe UI"/>
              </a:defRPr>
            </a:pPr>
            <a:r>
              <a:t>Q. 58. Four quadrants of a circle contain 4, 9, 16 and (?). What is the missing number?</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20</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24</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25</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30</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क्रमशः प्राकृत संख्याओं के वर्ग: 2²=4, 3²=9, 4²=16, अतः 5² = 25।</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लुप्त संख्या (त्रिभुज) / Triangle Pattern • प्र. #59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119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59. त्रिभुज शीर्षों 2, 3, 4 का केंद्र 24 है (गुणनफल)। शीर्ष 2, 5, 6 होने पर केंद्र में क्या होगा?</a:t>
            </a:r>
          </a:p>
          <a:p>
            <a:pPr algn="ctr">
              <a:spcBef>
                <a:spcPts val="600"/>
              </a:spcBef>
              <a:defRPr sz="1450" b="1">
                <a:solidFill>
                  <a:srgbClr val="2563EB"/>
                </a:solidFill>
                <a:latin typeface="Segoe UI"/>
              </a:defRPr>
            </a:pPr>
            <a:r>
              <a:t>Q. 59. Triangle with vertices 2, 3, 4 has center 24 (product). What is the center for vertices 2, 5, 6?</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40</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50</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60</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70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लुप्त संख्या (त्रिभुज) / Triangle Pattern • प्र. #59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120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59. त्रिभुज शीर्षों 2, 3, 4 का केंद्र 24 है (गुणनफल)। शीर्ष 2, 5, 6 होने पर केंद्र में क्या होगा?</a:t>
            </a:r>
          </a:p>
          <a:p>
            <a:pPr algn="ctr">
              <a:spcBef>
                <a:spcPts val="600"/>
              </a:spcBef>
              <a:defRPr sz="1450" b="1">
                <a:solidFill>
                  <a:srgbClr val="2563EB"/>
                </a:solidFill>
                <a:latin typeface="Segoe UI"/>
              </a:defRPr>
            </a:pPr>
            <a:r>
              <a:t>Q. 59. Triangle with vertices 2, 3, 4 has center 24 (product). What is the center for vertices 2, 5, 6?</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40</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50</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60</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70</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केंद्र = तीनों शीर्षों का गुणनफल: 2 × 5 × 6 = 60।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लुप्त संख्या (वर्ग योग) / Sum of Squares • प्र. #60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121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60. यदि 2² + 3² = 13, 4² + 5² = 41 हो, तो 3 और 4 के लिए लुप्त संख्या क्या होगी?</a:t>
            </a:r>
          </a:p>
          <a:p>
            <a:pPr algn="ctr">
              <a:spcBef>
                <a:spcPts val="600"/>
              </a:spcBef>
              <a:defRPr sz="1450" b="1">
                <a:solidFill>
                  <a:srgbClr val="2563EB"/>
                </a:solidFill>
                <a:latin typeface="Segoe UI"/>
              </a:defRPr>
            </a:pPr>
            <a:r>
              <a:t>Q. 60. If 2² + 3² = 13, 4² + 5² = 41, then find the missing number for 3 and 4:</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20</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24</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25</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27</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लुप्त संख्या (वर्ग योग) / Sum of Squares • प्र. #60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122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60. यदि 2² + 3² = 13, 4² + 5² = 41 हो, तो 3 और 4 के लिए लुप्त संख्या क्या होगी?</a:t>
            </a:r>
          </a:p>
          <a:p>
            <a:pPr algn="ctr">
              <a:spcBef>
                <a:spcPts val="600"/>
              </a:spcBef>
              <a:defRPr sz="1450" b="1">
                <a:solidFill>
                  <a:srgbClr val="2563EB"/>
                </a:solidFill>
                <a:latin typeface="Segoe UI"/>
              </a:defRPr>
            </a:pPr>
            <a:r>
              <a:t>Q. 60. If 2² + 3² = 13, 4² + 5² = 41, then find the missing number for 3 and 4:</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20</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24</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25</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27</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नियम: a² + b² = 3² + 4² = 9 + 16 = 25।</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लुप्त संख्या (घन सम्मुख) / Opposite Cubes • प्र. #61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123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61. वृत्त में 3 के सामने 27 (3³), 4 के सामने 64 (4³) है, तो 5 के सामने क्या होगा?</a:t>
            </a:r>
          </a:p>
          <a:p>
            <a:pPr algn="ctr">
              <a:spcBef>
                <a:spcPts val="600"/>
              </a:spcBef>
              <a:defRPr sz="1450" b="1">
                <a:solidFill>
                  <a:srgbClr val="2563EB"/>
                </a:solidFill>
                <a:latin typeface="Segoe UI"/>
              </a:defRPr>
            </a:pPr>
            <a:r>
              <a:t>Q. 61. In a circle opposite to 3 is 27, opposite to 4 is 64. What is opposite to 5?</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100</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125</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150</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225</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लुप्त संख्या (घन सम्मुख) / Opposite Cubes • प्र. #61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124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61. वृत्त में 3 के सामने 27 (3³), 4 के सामने 64 (4³) है, तो 5 के सामने क्या होगा?</a:t>
            </a:r>
          </a:p>
          <a:p>
            <a:pPr algn="ctr">
              <a:spcBef>
                <a:spcPts val="600"/>
              </a:spcBef>
              <a:defRPr sz="1450" b="1">
                <a:solidFill>
                  <a:srgbClr val="2563EB"/>
                </a:solidFill>
                <a:latin typeface="Segoe UI"/>
              </a:defRPr>
            </a:pPr>
            <a:r>
              <a:t>Q. 61. In a circle opposite to 3 is 27, opposite to 4 is 64. What is opposite to 5?</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100</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125</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150</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225</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सम्मुख संख्या घन है: 5³ = 125।</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लुप्त संख्या (2x + 1) / Pattern • प्र. #62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125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62. निम्न क्रम में (?) का मान ज्ञात कीजिए: 7 -&gt; 15 -&gt; 31 -&gt; ?</a:t>
            </a:r>
          </a:p>
          <a:p>
            <a:pPr algn="ctr">
              <a:spcBef>
                <a:spcPts val="600"/>
              </a:spcBef>
              <a:defRPr sz="1450" b="1">
                <a:solidFill>
                  <a:srgbClr val="2563EB"/>
                </a:solidFill>
                <a:latin typeface="Segoe UI"/>
              </a:defRPr>
            </a:pPr>
            <a:r>
              <a:t>Q. 62. Find the value of (?) in the sequence: 7 -&gt; 15 -&gt; 31 -&gt;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61</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62</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63</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64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लुप्त संख्या (2x + 1) / Pattern • प्र. #62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126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62. निम्न क्रम में (?) का मान ज्ञात कीजिए: 7 -&gt; 15 -&gt; 31 -&gt; ?</a:t>
            </a:r>
          </a:p>
          <a:p>
            <a:pPr algn="ctr">
              <a:spcBef>
                <a:spcPts val="600"/>
              </a:spcBef>
              <a:defRPr sz="1450" b="1">
                <a:solidFill>
                  <a:srgbClr val="2563EB"/>
                </a:solidFill>
                <a:latin typeface="Segoe UI"/>
              </a:defRPr>
            </a:pPr>
            <a:r>
              <a:t>Q. 62. Find the value of (?) in the sequence: 7 -&gt; 15 -&gt; 31 -&gt;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61</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62</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63</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64</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नियम: (संख्या × 2) + 1। 31 × 2 + 1 = 63।</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लुप्त संख्या (योग नियम) / Sum Rule • प्र. #63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127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63. स्तंभ 1: 5+8=13; स्तंभ 2: 6+9=15; तो स्तंभ 3 में 7 + 10 = ?</a:t>
            </a:r>
          </a:p>
          <a:p>
            <a:pPr algn="ctr">
              <a:spcBef>
                <a:spcPts val="600"/>
              </a:spcBef>
              <a:defRPr sz="1450" b="1">
                <a:solidFill>
                  <a:srgbClr val="2563EB"/>
                </a:solidFill>
                <a:latin typeface="Segoe UI"/>
              </a:defRPr>
            </a:pPr>
            <a:r>
              <a:t>Q. 63. Col 1: 5+8=13; Col 2: 6+9=15; then in Col 3 what is 7 + 10 =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16</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17</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18</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19</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लुप्त संख्या (योग नियम) / Sum Rule • प्र. #63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128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63. स्तंभ 1: 5+8=13; स्तंभ 2: 6+9=15; तो स्तंभ 3 में 7 + 10 = ?</a:t>
            </a:r>
          </a:p>
          <a:p>
            <a:pPr algn="ctr">
              <a:spcBef>
                <a:spcPts val="600"/>
              </a:spcBef>
              <a:defRPr sz="1450" b="1">
                <a:solidFill>
                  <a:srgbClr val="2563EB"/>
                </a:solidFill>
                <a:latin typeface="Segoe UI"/>
              </a:defRPr>
            </a:pPr>
            <a:r>
              <a:t>Q. 63. Col 1: 5+8=13; Col 2: 6+9=15; then in Col 3 what is 7 + 10 =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16</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17</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18</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19</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पहली दो संख्याओं का योग: 7 + 10 = 17।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लुप्त संख्या (क्रॉस औसत) / Cross Pattern • प्र. #64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129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64. चारों ओर संख्याएं 10, 6, 8, 4 होने पर मध्य संख्या क्या होगी यदि नियम (योग ÷ 2) हो?</a:t>
            </a:r>
          </a:p>
          <a:p>
            <a:pPr algn="ctr">
              <a:spcBef>
                <a:spcPts val="600"/>
              </a:spcBef>
              <a:defRPr sz="1450" b="1">
                <a:solidFill>
                  <a:srgbClr val="2563EB"/>
                </a:solidFill>
                <a:latin typeface="Segoe UI"/>
              </a:defRPr>
            </a:pPr>
            <a:r>
              <a:t>Q. 64. If outer numbers are 10, 6, 8, 4 and rule is (Sum ÷ 2), what is the center?</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12</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14</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16</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18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लुप्त संख्या (क्रॉस औसत) / Cross Pattern • प्र. #64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130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64. चारों ओर संख्याएं 10, 6, 8, 4 होने पर मध्य संख्या क्या होगी यदि नियम (योग ÷ 2) हो?</a:t>
            </a:r>
          </a:p>
          <a:p>
            <a:pPr algn="ctr">
              <a:spcBef>
                <a:spcPts val="600"/>
              </a:spcBef>
              <a:defRPr sz="1450" b="1">
                <a:solidFill>
                  <a:srgbClr val="2563EB"/>
                </a:solidFill>
                <a:latin typeface="Segoe UI"/>
              </a:defRPr>
            </a:pPr>
            <a:r>
              <a:t>Q. 64. If outer numbers are 10, 6, 8, 4 and rule is (Sum ÷ 2), what is the center?</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12</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14</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16</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18</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(10 + 6 + 8 + 4) ÷ 2 = 28 ÷ 2 = 14।</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लुप्त संख्या (दोगुना) / Doubling Pattern • प्र. #65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131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65. चक्रव्यूह में लुप्त पद बताइए: 5, 10, 20, 40, ?</a:t>
            </a:r>
          </a:p>
          <a:p>
            <a:pPr algn="ctr">
              <a:spcBef>
                <a:spcPts val="600"/>
              </a:spcBef>
              <a:defRPr sz="1450" b="1">
                <a:solidFill>
                  <a:srgbClr val="2563EB"/>
                </a:solidFill>
                <a:latin typeface="Segoe UI"/>
              </a:defRPr>
            </a:pPr>
            <a:r>
              <a:t>Q. 65. State the missing term: 5, 10, 20, 40,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50</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60</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70</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80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लुप्त संख्या (दोगुना) / Doubling Pattern • प्र. #65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132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65. चक्रव्यूह में लुप्त पद बताइए: 5, 10, 20, 40, ?</a:t>
            </a:r>
          </a:p>
          <a:p>
            <a:pPr algn="ctr">
              <a:spcBef>
                <a:spcPts val="600"/>
              </a:spcBef>
              <a:defRPr sz="1450" b="1">
                <a:solidFill>
                  <a:srgbClr val="2563EB"/>
                </a:solidFill>
                <a:latin typeface="Segoe UI"/>
              </a:defRPr>
            </a:pPr>
            <a:r>
              <a:t>Q. 65. State the missing term: 5, 10, 20, 40,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50</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60</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70</a:t>
            </a:r>
          </a:p>
        </p:txBody>
      </p:sp>
      <p:sp>
        <p:nvSpPr>
          <p:cNvPr id="10" name="Rounded Rectangle 9"/>
          <p:cNvSpPr/>
          <p:nvPr/>
        </p:nvSpPr>
        <p:spPr>
          <a:xfrm>
            <a:off x="6291072"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(D)  80</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(D)</a:t>
            </a:r>
          </a:p>
          <a:p>
            <a:pPr>
              <a:spcBef>
                <a:spcPts val="300"/>
              </a:spcBef>
              <a:defRPr sz="1300" b="0">
                <a:solidFill>
                  <a:srgbClr val="1E293B"/>
                </a:solidFill>
                <a:latin typeface="Segoe UI"/>
              </a:defRPr>
            </a:pPr>
            <a:r>
              <a:t>💡 व्याख्या एवं ट्रिक (Explanation): प्रत्येक पद दोगुना: 40 × 2 = 80।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लुप्त संख्या (संक्रिया) / Operation Pattern • प्र. #66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133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66. यदि 3 * 4 = 14 (3×4+2), 5 * 6 = 32 हो, तो 7 * 8 = ?</a:t>
            </a:r>
          </a:p>
          <a:p>
            <a:pPr algn="ctr">
              <a:spcBef>
                <a:spcPts val="600"/>
              </a:spcBef>
              <a:defRPr sz="1450" b="1">
                <a:solidFill>
                  <a:srgbClr val="2563EB"/>
                </a:solidFill>
                <a:latin typeface="Segoe UI"/>
              </a:defRPr>
            </a:pPr>
            <a:r>
              <a:t>Q. 66. If 3 * 4 = 14, 5 * 6 = 32, then what is 7 * 8 =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54</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56</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58</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60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लुप्त संख्या (संक्रिया) / Operation Pattern • प्र. #66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134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66. यदि 3 * 4 = 14 (3×4+2), 5 * 6 = 32 हो, तो 7 * 8 = ?</a:t>
            </a:r>
          </a:p>
          <a:p>
            <a:pPr algn="ctr">
              <a:spcBef>
                <a:spcPts val="600"/>
              </a:spcBef>
              <a:defRPr sz="1450" b="1">
                <a:solidFill>
                  <a:srgbClr val="2563EB"/>
                </a:solidFill>
                <a:latin typeface="Segoe UI"/>
              </a:defRPr>
            </a:pPr>
            <a:r>
              <a:t>Q. 66. If 3 * 4 = 14, 5 * 6 = 32, then what is 7 * 8 =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54</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56</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58</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60</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नियम: a×b + 2। 7 × 8 + 2 = 56 + 2 = 58।</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गणितीय संक्रियाएं / Mathematical Operations • प्र. #67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135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67. यदि '+' का अर्थ '×', '-' का अर्थ '÷', '×' का अर्थ '-' और '÷' का अर्थ '+' हो, तो 12 + 4 ÷ 8 - 2 = ?</a:t>
            </a:r>
          </a:p>
          <a:p>
            <a:pPr algn="ctr">
              <a:spcBef>
                <a:spcPts val="600"/>
              </a:spcBef>
              <a:defRPr sz="1450" b="1">
                <a:solidFill>
                  <a:srgbClr val="2563EB"/>
                </a:solidFill>
                <a:latin typeface="Segoe UI"/>
              </a:defRPr>
            </a:pPr>
            <a:r>
              <a:t>Q. 67. If '+' means '×', '-' means '÷', '×' means '-' and '÷' means '+', then 12 + 4 ÷ 8 - 2 =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48</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50</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52</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54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गणितीय संक्रियाएं / Mathematical Operations • प्र. #67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136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67. यदि '+' का अर्थ '×', '-' का अर्थ '÷', '×' का अर्थ '-' और '÷' का अर्थ '+' हो, तो 12 + 4 ÷ 8 - 2 = ?</a:t>
            </a:r>
          </a:p>
          <a:p>
            <a:pPr algn="ctr">
              <a:spcBef>
                <a:spcPts val="600"/>
              </a:spcBef>
              <a:defRPr sz="1450" b="1">
                <a:solidFill>
                  <a:srgbClr val="2563EB"/>
                </a:solidFill>
                <a:latin typeface="Segoe UI"/>
              </a:defRPr>
            </a:pPr>
            <a:r>
              <a:t>Q. 67. If '+' means '×', '-' means '÷', '×' means '-' and '÷' means '+', then 12 + 4 ÷ 8 - 2 =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48</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50</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52</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54</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समीकरण: 12 × 4 + 8 ÷ 2 = 48 + 4 = 52।</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गणितीय संक्रियाएं / Symbol Substitution • प्र. #68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137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68. यदि 'P'='+', 'Q'='-', 'R'='×', 'S'='÷' हो, तो 18 R 2 P 12 S 4 = ?</a:t>
            </a:r>
          </a:p>
          <a:p>
            <a:pPr algn="ctr">
              <a:spcBef>
                <a:spcPts val="600"/>
              </a:spcBef>
              <a:defRPr sz="1450" b="1">
                <a:solidFill>
                  <a:srgbClr val="2563EB"/>
                </a:solidFill>
                <a:latin typeface="Segoe UI"/>
              </a:defRPr>
            </a:pPr>
            <a:r>
              <a:t>Q. 68. If 'P'='+', 'Q'='-', 'R'='×', 'S'='÷', then 18 R 2 P 12 S 4 =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36</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38</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39</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42</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गणितीय संक्रियाएं / Symbol Substitution • प्र. #68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138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68. यदि 'P'='+', 'Q'='-', 'R'='×', 'S'='÷' हो, तो 18 R 2 P 12 S 4 = ?</a:t>
            </a:r>
          </a:p>
          <a:p>
            <a:pPr algn="ctr">
              <a:spcBef>
                <a:spcPts val="600"/>
              </a:spcBef>
              <a:defRPr sz="1450" b="1">
                <a:solidFill>
                  <a:srgbClr val="2563EB"/>
                </a:solidFill>
                <a:latin typeface="Segoe UI"/>
              </a:defRPr>
            </a:pPr>
            <a:r>
              <a:t>Q. 68. If 'P'='+', 'Q'='-', 'R'='×', 'S'='÷', then 18 R 2 P 12 S 4 =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36</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38</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39</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42</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18 × 2 + 12 ÷ 4 = 36 + 3 = 39।</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गणितीय संक्रियाएं / BODMAS • प्र. #69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139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69. यदि '×' का अर्थ '+', '÷' का अर्थ '-' हो, तो 20 × 5 ÷ 10 का मान क्या होगा?</a:t>
            </a:r>
          </a:p>
          <a:p>
            <a:pPr algn="ctr">
              <a:spcBef>
                <a:spcPts val="600"/>
              </a:spcBef>
              <a:defRPr sz="1450" b="1">
                <a:solidFill>
                  <a:srgbClr val="2563EB"/>
                </a:solidFill>
                <a:latin typeface="Segoe UI"/>
              </a:defRPr>
            </a:pPr>
            <a:r>
              <a:t>Q. 69. If '×' means '+' and '÷' means '-', what is 20 × 5 ÷ 10?</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10</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15</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25</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30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गणितीय संक्रियाएं / BODMAS • प्र. #69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140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69. यदि '×' का अर्थ '+', '÷' का अर्थ '-' हो, तो 20 × 5 ÷ 10 का मान क्या होगा?</a:t>
            </a:r>
          </a:p>
          <a:p>
            <a:pPr algn="ctr">
              <a:spcBef>
                <a:spcPts val="600"/>
              </a:spcBef>
              <a:defRPr sz="1450" b="1">
                <a:solidFill>
                  <a:srgbClr val="2563EB"/>
                </a:solidFill>
                <a:latin typeface="Segoe UI"/>
              </a:defRPr>
            </a:pPr>
            <a:r>
              <a:t>Q. 69. If '×' means '+' and '÷' means '-', what is 20 × 5 ÷ 10?</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10</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15</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25</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30</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20 + 5 - 10 = 25 - 10 = 15।</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समीकरण सत्यापन / Equation Check • प्र. #70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141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70. यदि '+' का अर्थ '-' और '×' का अर्थ '÷' हो, तो सही समीकरण चुनिए:</a:t>
            </a:r>
          </a:p>
          <a:p>
            <a:pPr algn="ctr">
              <a:spcBef>
                <a:spcPts val="600"/>
              </a:spcBef>
              <a:defRPr sz="1450" b="1">
                <a:solidFill>
                  <a:srgbClr val="2563EB"/>
                </a:solidFill>
                <a:latin typeface="Segoe UI"/>
              </a:defRPr>
            </a:pPr>
            <a:r>
              <a:t>Q. 70. If '+' means '-' and '×' means '÷', choose the correct equation:</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20 × 4 + 2 = 3</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20 + 4 × 2 = 8</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16 × 4 + 2 = 4</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12 + 6 × 3 = 10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समीकरण सत्यापन / Equation Check • प्र. #70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142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70. यदि '+' का अर्थ '-' और '×' का अर्थ '÷' हो, तो सही समीकरण चुनिए:</a:t>
            </a:r>
          </a:p>
          <a:p>
            <a:pPr algn="ctr">
              <a:spcBef>
                <a:spcPts val="600"/>
              </a:spcBef>
              <a:defRPr sz="1450" b="1">
                <a:solidFill>
                  <a:srgbClr val="2563EB"/>
                </a:solidFill>
                <a:latin typeface="Segoe UI"/>
              </a:defRPr>
            </a:pPr>
            <a:r>
              <a:t>Q. 70. If '+' means '-' and '×' means '÷', choose the correct equation:</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20 × 4 + 2 = 3</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20 + 4 × 2 = 8</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16 × 4 + 2 = 4</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12 + 6 × 3 = 10</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विकल्प (A): 20 ÷ 4 - 2 = 5 - 2 = 3 (सत्य)।</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कूट संक्रिया / Operation Code • प्र. #71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143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71. यदि 8 - 4 = 32 (8×4) और 6 - 3 = 18 हो, तो 9 - 5 = ?</a:t>
            </a:r>
          </a:p>
          <a:p>
            <a:pPr algn="ctr">
              <a:spcBef>
                <a:spcPts val="600"/>
              </a:spcBef>
              <a:defRPr sz="1450" b="1">
                <a:solidFill>
                  <a:srgbClr val="2563EB"/>
                </a:solidFill>
                <a:latin typeface="Segoe UI"/>
              </a:defRPr>
            </a:pPr>
            <a:r>
              <a:t>Q. 71. If 8 - 4 = 32 and 6 - 3 = 18, then 9 - 5 =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40</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45</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50</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54</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कूट संक्रिया / Operation Code • प्र. #71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144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71. यदि 8 - 4 = 32 (8×4) और 6 - 3 = 18 हो, तो 9 - 5 = ?</a:t>
            </a:r>
          </a:p>
          <a:p>
            <a:pPr algn="ctr">
              <a:spcBef>
                <a:spcPts val="600"/>
              </a:spcBef>
              <a:defRPr sz="1450" b="1">
                <a:solidFill>
                  <a:srgbClr val="2563EB"/>
                </a:solidFill>
                <a:latin typeface="Segoe UI"/>
              </a:defRPr>
            </a:pPr>
            <a:r>
              <a:t>Q. 71. If 8 - 4 = 32 and 6 - 3 = 18, then 9 - 5 =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40</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45</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50</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54</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यहाँ '-' का अर्थ गुणा (×) है: 9 × 5 = 45।</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गणितीय संक्रियाएं / Operations • प्र. #72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145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72. यदि '+' = '÷', '÷' = '×', '×' = '-' हो, तो 36 + 6 ÷ 3 × 5 = ?</a:t>
            </a:r>
          </a:p>
          <a:p>
            <a:pPr algn="ctr">
              <a:spcBef>
                <a:spcPts val="600"/>
              </a:spcBef>
              <a:defRPr sz="1450" b="1">
                <a:solidFill>
                  <a:srgbClr val="2563EB"/>
                </a:solidFill>
                <a:latin typeface="Segoe UI"/>
              </a:defRPr>
            </a:pPr>
            <a:r>
              <a:t>Q. 72. If '+' = '÷', '÷' = '×', '×' = '-', then 36 + 6 ÷ 3 × 5 =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11</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13</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15</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18</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गणितीय संक्रियाएं / Operations • प्र. #72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146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72. यदि '+' = '÷', '÷' = '×', '×' = '-' हो, तो 36 + 6 ÷ 3 × 5 = ?</a:t>
            </a:r>
          </a:p>
          <a:p>
            <a:pPr algn="ctr">
              <a:spcBef>
                <a:spcPts val="600"/>
              </a:spcBef>
              <a:defRPr sz="1450" b="1">
                <a:solidFill>
                  <a:srgbClr val="2563EB"/>
                </a:solidFill>
                <a:latin typeface="Segoe UI"/>
              </a:defRPr>
            </a:pPr>
            <a:r>
              <a:t>Q. 72. If '+' = '÷', '÷' = '×', '×' = '-', then 36 + 6 ÷ 3 × 5 = ?</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11</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13</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15</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18</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36 ÷ 6 × 3 - 5 = 6 × 3 - 5 = 18 - 5 = 13।</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बीजीय मान / Algebraic Value • प्र. #73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147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73. यदि A=1, B=2, C=3, D=4 हो, तो (C × D) - B का मान क्या होगा?</a:t>
            </a:r>
          </a:p>
          <a:p>
            <a:pPr algn="ctr">
              <a:spcBef>
                <a:spcPts val="600"/>
              </a:spcBef>
              <a:defRPr sz="1450" b="1">
                <a:solidFill>
                  <a:srgbClr val="2563EB"/>
                </a:solidFill>
                <a:latin typeface="Segoe UI"/>
              </a:defRPr>
            </a:pPr>
            <a:r>
              <a:t>Q. 73. If A=1, B=2, C=3, D=4, what is the value of (C × D) - B?</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8</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10</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12</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14</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बीजीय मान / Algebraic Value • प्र. #73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148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73. यदि A=1, B=2, C=3, D=4 हो, तो (C × D) - B का मान क्या होगा?</a:t>
            </a:r>
          </a:p>
          <a:p>
            <a:pPr algn="ctr">
              <a:spcBef>
                <a:spcPts val="600"/>
              </a:spcBef>
              <a:defRPr sz="1450" b="1">
                <a:solidFill>
                  <a:srgbClr val="2563EB"/>
                </a:solidFill>
                <a:latin typeface="Segoe UI"/>
              </a:defRPr>
            </a:pPr>
            <a:r>
              <a:t>Q. 73. If A=1, B=2, C=3, D=4, what is the value of (C × D) - B?</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8</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10</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12</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14</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(3 × 4) - 2 = 12 - 2 = 10।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चिन्ह चयन / Sign Placement • प्र. #74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149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74. समीकरण 24 ? 6 ? 2 = 6 में प्रश्नचिन्हों के स्थान पर कौन-से चिन्ह आएंगे?</a:t>
            </a:r>
          </a:p>
          <a:p>
            <a:pPr algn="ctr">
              <a:spcBef>
                <a:spcPts val="600"/>
              </a:spcBef>
              <a:defRPr sz="1450" b="1">
                <a:solidFill>
                  <a:srgbClr val="2563EB"/>
                </a:solidFill>
                <a:latin typeface="Segoe UI"/>
              </a:defRPr>
            </a:pPr>
            <a:r>
              <a:t>Q. 74. Which signs will replace (?) in 24 ? 6 ? 2 = 6?</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 और + / ÷ and +</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 और × / ÷ and ×</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 और - / + and -</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 और ÷ / - and ÷</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चिन्ह चयन / Sign Placement • प्र. #74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150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74. समीकरण 24 ? 6 ? 2 = 6 में प्रश्नचिन्हों के स्थान पर कौन-से चिन्ह आएंगे?</a:t>
            </a:r>
          </a:p>
          <a:p>
            <a:pPr algn="ctr">
              <a:spcBef>
                <a:spcPts val="600"/>
              </a:spcBef>
              <a:defRPr sz="1450" b="1">
                <a:solidFill>
                  <a:srgbClr val="2563EB"/>
                </a:solidFill>
                <a:latin typeface="Segoe UI"/>
              </a:defRPr>
            </a:pPr>
            <a:r>
              <a:t>Q. 74. Which signs will replace (?) in 24 ? 6 ? 2 = 6?</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 और + / ÷ and +</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 और × / ÷ and ×</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 और - / + and -</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 और ÷ / - and ÷</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24 ÷ 6 + 2 = 4 + 2 = 6।</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रक्त संबंध / Blood Relations • प्र. #75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151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75. सुरेश ने कहा, 'वह लड़का मेरी माँ के इकलौते पुत्र का बेटा है।' सुरेश का उस लड़के से क्या संबंध है?</a:t>
            </a:r>
          </a:p>
          <a:p>
            <a:pPr algn="ctr">
              <a:spcBef>
                <a:spcPts val="600"/>
              </a:spcBef>
              <a:defRPr sz="1450" b="1">
                <a:solidFill>
                  <a:srgbClr val="2563EB"/>
                </a:solidFill>
                <a:latin typeface="Segoe UI"/>
              </a:defRPr>
            </a:pPr>
            <a:r>
              <a:t>Q. 75. Suresh said, 'That boy is the son of my mother's only son.' What is Suresh to that boy?</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चाचा / Uncle</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भाई / Brother</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पिता / Father</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दादा / Grandfather</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रक्त संबंध / Blood Relations • प्र. #75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152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75. सुरेश ने कहा, 'वह लड़का मेरी माँ के इकलौते पुत्र का बेटा है।' सुरेश का उस लड़के से क्या संबंध है?</a:t>
            </a:r>
          </a:p>
          <a:p>
            <a:pPr algn="ctr">
              <a:spcBef>
                <a:spcPts val="600"/>
              </a:spcBef>
              <a:defRPr sz="1450" b="1">
                <a:solidFill>
                  <a:srgbClr val="2563EB"/>
                </a:solidFill>
                <a:latin typeface="Segoe UI"/>
              </a:defRPr>
            </a:pPr>
            <a:r>
              <a:t>Q. 75. Suresh said, 'That boy is the son of my mother's only son.' What is Suresh to that boy?</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चाचा / Uncle</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भाई / Brother</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पिता / Father</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दादा / Grandfather</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सुरेश की माँ का इकलौता पुत्र स्वयं सुरेश है, और उसका बेटा सुरेश का पुत्र होगा। अतः सुरेश पिता (Father) है।</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रक्त संबंध / Family Tree • प्र. #76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153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76. A, B का भाई है। C, A की माँ है। D, C का पिता है। B का D से क्या संबंध है?</a:t>
            </a:r>
          </a:p>
          <a:p>
            <a:pPr algn="ctr">
              <a:spcBef>
                <a:spcPts val="600"/>
              </a:spcBef>
              <a:defRPr sz="1450" b="1">
                <a:solidFill>
                  <a:srgbClr val="2563EB"/>
                </a:solidFill>
                <a:latin typeface="Segoe UI"/>
              </a:defRPr>
            </a:pPr>
            <a:r>
              <a:t>Q. 76. A is brother of B. C is mother of A. D is father of C. What is B to D?</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पुत्र / Son</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पोता या नाती / Grandson</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भाई / Brother</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पिता / Father</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रक्त संबंध / Family Tree • प्र. #76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154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76. A, B का भाई है। C, A की माँ है। D, C का पिता है। B का D से क्या संबंध है?</a:t>
            </a:r>
          </a:p>
          <a:p>
            <a:pPr algn="ctr">
              <a:spcBef>
                <a:spcPts val="600"/>
              </a:spcBef>
              <a:defRPr sz="1450" b="1">
                <a:solidFill>
                  <a:srgbClr val="2563EB"/>
                </a:solidFill>
                <a:latin typeface="Segoe UI"/>
              </a:defRPr>
            </a:pPr>
            <a:r>
              <a:t>Q. 76. A is brother of B. C is mother of A. D is father of C. What is B to D?</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पुत्र / Son</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पोता या नाती / Grandson</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भाई / Brother</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पिता / Father</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C माँ है, और माँ के पिता D हैं। अतः B, D का नाती/पोता (Grandson) होगा।</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रक्त संबंध / Relation Puzzle • प्र. #77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155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77. राहुल ने कहा, 'सोनिया मेरी पत्नी के ससुर की इकलौती बेटी है।' सोनिया राहुल की क्या लगती है?</a:t>
            </a:r>
          </a:p>
          <a:p>
            <a:pPr algn="ctr">
              <a:spcBef>
                <a:spcPts val="600"/>
              </a:spcBef>
              <a:defRPr sz="1450" b="1">
                <a:solidFill>
                  <a:srgbClr val="2563EB"/>
                </a:solidFill>
                <a:latin typeface="Segoe UI"/>
              </a:defRPr>
            </a:pPr>
            <a:r>
              <a:t>Q. 77. Rahul said, 'Sonia is the only daughter of my wife's father-in-law.' Who is Sonia to Rahul?</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पत्नी / Wife</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बहन / Sister</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माँ / Mother</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भाभी / Sister-in-law</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रक्त संबंध / Relation Puzzle • प्र. #77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156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77. राहुल ने कहा, 'सोनिया मेरी पत्नी के ससुर की इकलौती बेटी है।' सोनिया राहुल की क्या लगती है?</a:t>
            </a:r>
          </a:p>
          <a:p>
            <a:pPr algn="ctr">
              <a:spcBef>
                <a:spcPts val="600"/>
              </a:spcBef>
              <a:defRPr sz="1450" b="1">
                <a:solidFill>
                  <a:srgbClr val="2563EB"/>
                </a:solidFill>
                <a:latin typeface="Segoe UI"/>
              </a:defRPr>
            </a:pPr>
            <a:r>
              <a:t>Q. 77. Rahul said, 'Sonia is the only daughter of my wife's father-in-law.' Who is Sonia to Rahul?</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पत्नी / Wife</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बहन / Sister</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माँ / Mother</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भाभी / Sister-in-law</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पत्नी के ससुर = राहुल के पिता। पिता की इकलौती बेटी = राहुल की बहन (Sister)।</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रक्त संबंध / Direct Relation • प्र. #78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157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78. एक पुरुष ने कहा, 'इस महिला के पति मेरे पिता के इकलौते पुत्र हैं।' वह महिला उस पुरुष की क्या है?</a:t>
            </a:r>
          </a:p>
          <a:p>
            <a:pPr algn="ctr">
              <a:spcBef>
                <a:spcPts val="600"/>
              </a:spcBef>
              <a:defRPr sz="1450" b="1">
                <a:solidFill>
                  <a:srgbClr val="2563EB"/>
                </a:solidFill>
                <a:latin typeface="Segoe UI"/>
              </a:defRPr>
            </a:pPr>
            <a:r>
              <a:t>Q. 78. A man said, 'This woman's husband is the only son of my father.' Who is she to him?</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बहन / Sister</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माँ / Mother</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पत्नी / Wife</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पुत्री / Daughter</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रक्त संबंध / Direct Relation • प्र. #78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158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78. एक पुरुष ने कहा, 'इस महिला के पति मेरे पिता के इकलौते पुत्र हैं।' वह महिला उस पुरुष की क्या है?</a:t>
            </a:r>
          </a:p>
          <a:p>
            <a:pPr algn="ctr">
              <a:spcBef>
                <a:spcPts val="600"/>
              </a:spcBef>
              <a:defRPr sz="1450" b="1">
                <a:solidFill>
                  <a:srgbClr val="2563EB"/>
                </a:solidFill>
                <a:latin typeface="Segoe UI"/>
              </a:defRPr>
            </a:pPr>
            <a:r>
              <a:t>Q. 78. A man said, 'This woman's husband is the only son of my father.' Who is she to him?</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बहन / Sister</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माँ / Mother</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पत्नी / Wife</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पुत्री / Daughter</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पिता का इकलौता पुत्र = स्वयं वह पुरुष। अतः वह महिला उसकी पत्नी (Wife) है।</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रक्त संबंध / Three Generations • प्र. #79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159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79. P, Q की बहन है। R, Q की माता है। S, R का पिता है। P का S से क्या संबंध है?</a:t>
            </a:r>
          </a:p>
          <a:p>
            <a:pPr algn="ctr">
              <a:spcBef>
                <a:spcPts val="600"/>
              </a:spcBef>
              <a:defRPr sz="1450" b="1">
                <a:solidFill>
                  <a:srgbClr val="2563EB"/>
                </a:solidFill>
                <a:latin typeface="Segoe UI"/>
              </a:defRPr>
            </a:pPr>
            <a:r>
              <a:t>Q. 79. P is sister of Q. R is mother of Q. S is father of R. What is P to S?</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पुत्री / Daughter</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नातिन / Granddaughter</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दादी / Grandmother</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माता / Mother</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रक्त संबंध / Three Generations • प्र. #79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160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79. P, Q की बहन है। R, Q की माता है। S, R का पिता है। P का S से क्या संबंध है?</a:t>
            </a:r>
          </a:p>
          <a:p>
            <a:pPr algn="ctr">
              <a:spcBef>
                <a:spcPts val="600"/>
              </a:spcBef>
              <a:defRPr sz="1450" b="1">
                <a:solidFill>
                  <a:srgbClr val="2563EB"/>
                </a:solidFill>
                <a:latin typeface="Segoe UI"/>
              </a:defRPr>
            </a:pPr>
            <a:r>
              <a:t>Q. 79. P is sister of Q. R is mother of Q. S is father of R. What is P to S?</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पुत्री / Daughter</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नातिन / Granddaughter</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दादी / Grandmother</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माता / Mother</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R की पुत्री P है, और R के पिता S हैं। अतः P, S की नातिन (Granddaughter) है।</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रक्त संबंध / Siblings • प्र. #80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161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80. रवि के पिता का एक पुत्र रोहन और एक पुत्री रेखा है। रेखा का रवि से क्या संबंध है?</a:t>
            </a:r>
          </a:p>
          <a:p>
            <a:pPr algn="ctr">
              <a:spcBef>
                <a:spcPts val="600"/>
              </a:spcBef>
              <a:defRPr sz="1450" b="1">
                <a:solidFill>
                  <a:srgbClr val="2563EB"/>
                </a:solidFill>
                <a:latin typeface="Segoe UI"/>
              </a:defRPr>
            </a:pPr>
            <a:r>
              <a:t>Q. 80. Ravi's father has a son Rohan and a daughter Rekha. What is Rekha to Ravi?</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माँ / Mother</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बहन / Sister</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चाची / Aunt</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भाभी / Sister-in-law</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रक्त संबंध / Siblings • प्र. #80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162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80. रवि के पिता का एक पुत्र रोहन और एक पुत्री रेखा है। रेखा का रवि से क्या संबंध है?</a:t>
            </a:r>
          </a:p>
          <a:p>
            <a:pPr algn="ctr">
              <a:spcBef>
                <a:spcPts val="600"/>
              </a:spcBef>
              <a:defRPr sz="1450" b="1">
                <a:solidFill>
                  <a:srgbClr val="2563EB"/>
                </a:solidFill>
                <a:latin typeface="Segoe UI"/>
              </a:defRPr>
            </a:pPr>
            <a:r>
              <a:t>Q. 80. Ravi's father has a son Rohan and a daughter Rekha. What is Rekha to Ravi?</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माँ / Mother</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बहन / Sister</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चाची / Aunt</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भाभी / Sister-in-law</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रवि के पिता की पुत्री रेखा है, अतः रेखा रवि की सगी बहन (Sister) है।</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दिशा और दूरी / Direction &amp; Distance • प्र. #81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163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81. रोहित उत्तर में 10 मी, दाएँ 5 मी, फिर दाएँ 10 मी चलता है। प्रारम्भिक स्थान से दूरी क्या है?</a:t>
            </a:r>
          </a:p>
          <a:p>
            <a:pPr algn="ctr">
              <a:spcBef>
                <a:spcPts val="600"/>
              </a:spcBef>
              <a:defRPr sz="1450" b="1">
                <a:solidFill>
                  <a:srgbClr val="2563EB"/>
                </a:solidFill>
                <a:latin typeface="Segoe UI"/>
              </a:defRPr>
            </a:pPr>
            <a:r>
              <a:t>Q. 81. Rohit walks 10m North, turns right and walks 5m, turns right and walks 10m. Distance from start?</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5 मीटर / 5m</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10 मीटर / 10m</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15 मीटर / 15m</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20 मीटर / 20m</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दिशा और दूरी / Direction &amp; Distance • प्र. #81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164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81. रोहित उत्तर में 10 मी, दाएँ 5 मी, फिर दाएँ 10 मी चलता है। प्रारम्भिक स्थान से दूरी क्या है?</a:t>
            </a:r>
          </a:p>
          <a:p>
            <a:pPr algn="ctr">
              <a:spcBef>
                <a:spcPts val="600"/>
              </a:spcBef>
              <a:defRPr sz="1450" b="1">
                <a:solidFill>
                  <a:srgbClr val="2563EB"/>
                </a:solidFill>
                <a:latin typeface="Segoe UI"/>
              </a:defRPr>
            </a:pPr>
            <a:r>
              <a:t>Q. 81. Rohit walks 10m North, turns right and walks 5m, turns right and walks 10m. Distance from start?</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5 मीटर / 5m</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10 मीटर / 10m</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15 मीटर / 15m</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20 मीटर / 20m</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उत्तर और दक्षिण की 10 मी दूरियां निरस्त हो गईं। वह प्रारंभिक स्थान से ठीक 5 मीटर पूर्व में है।</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दिशा परीक्षण / Facing Direction • प्र. #82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165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82. सूर्योदय के समय पूर्व की ओर मुँह करके खड़े होने पर आपकी बायीं ओर कौन-सी दिशा होगी?</a:t>
            </a:r>
          </a:p>
          <a:p>
            <a:pPr algn="ctr">
              <a:spcBef>
                <a:spcPts val="600"/>
              </a:spcBef>
              <a:defRPr sz="1450" b="1">
                <a:solidFill>
                  <a:srgbClr val="2563EB"/>
                </a:solidFill>
                <a:latin typeface="Segoe UI"/>
              </a:defRPr>
            </a:pPr>
            <a:r>
              <a:t>Q. 82. Facing East at sunrise, which direction will be to your left?</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दक्षिण / South</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उत्तर / North</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पश्चिम / West</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दक्षिण-पश्चिम / South-West</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दिशा परीक्षण / Facing Direction • प्र. #82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166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82. सूर्योदय के समय पूर्व की ओर मुँह करके खड़े होने पर आपकी बायीं ओर कौन-सी दिशा होगी?</a:t>
            </a:r>
          </a:p>
          <a:p>
            <a:pPr algn="ctr">
              <a:spcBef>
                <a:spcPts val="600"/>
              </a:spcBef>
              <a:defRPr sz="1450" b="1">
                <a:solidFill>
                  <a:srgbClr val="2563EB"/>
                </a:solidFill>
                <a:latin typeface="Segoe UI"/>
              </a:defRPr>
            </a:pPr>
            <a:r>
              <a:t>Q. 82. Facing East at sunrise, which direction will be to your left?</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दक्षिण / South</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उत्तर / North</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पश्चिम / West</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दक्षिण-पश्चिम / South-West</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पूर्व की ओर सम्मुख होने पर बायाँ हाथ उत्तर (North) दिशा की ओर होता है।</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पाइथागोरस दूरी / Pythagoras Distance • प्र. #83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167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83. एक व्यक्ति पूर्व में 3 किमी और उत्तर में 4 किमी चलता है। प्रारम्भिक बिंदु से सीधी दूरी क्या है?</a:t>
            </a:r>
          </a:p>
          <a:p>
            <a:pPr algn="ctr">
              <a:spcBef>
                <a:spcPts val="600"/>
              </a:spcBef>
              <a:defRPr sz="1450" b="1">
                <a:solidFill>
                  <a:srgbClr val="2563EB"/>
                </a:solidFill>
                <a:latin typeface="Segoe UI"/>
              </a:defRPr>
            </a:pPr>
            <a:r>
              <a:t>Q. 83. A person walks 3 km East and 4 km North. What is the straight-line distance from start?</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5 किमी / 5 km</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6 किमी / 6 km</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7 किमी / 7 km</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8 किमी / 8 km</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पाइथागोरस दूरी / Pythagoras Distance • प्र. #83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168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83. एक व्यक्ति पूर्व में 3 किमी और उत्तर में 4 किमी चलता है। प्रारम्भिक बिंदु से सीधी दूरी क्या है?</a:t>
            </a:r>
          </a:p>
          <a:p>
            <a:pPr algn="ctr">
              <a:spcBef>
                <a:spcPts val="600"/>
              </a:spcBef>
              <a:defRPr sz="1450" b="1">
                <a:solidFill>
                  <a:srgbClr val="2563EB"/>
                </a:solidFill>
                <a:latin typeface="Segoe UI"/>
              </a:defRPr>
            </a:pPr>
            <a:r>
              <a:t>Q. 83. A person walks 3 km East and 4 km North. What is the straight-line distance from start?</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5 किमी / 5 km</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6 किमी / 6 km</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7 किमी / 7 km</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8 किमी / 8 km</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पाइथागोरस प्रमेय: √(3² + 4²) = √(9 + 16) = √25 = 5 किमी।</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दिशा परिवर्तन / Turnings • प्र. #84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169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84. अमित दक्षिण की ओर जा रहा है और दो बार लगातार बाएँ मुड़ता है। अब वह किस दिशा में जा रहा है?</a:t>
            </a:r>
          </a:p>
          <a:p>
            <a:pPr algn="ctr">
              <a:spcBef>
                <a:spcPts val="600"/>
              </a:spcBef>
              <a:defRPr sz="1450" b="1">
                <a:solidFill>
                  <a:srgbClr val="2563EB"/>
                </a:solidFill>
                <a:latin typeface="Segoe UI"/>
              </a:defRPr>
            </a:pPr>
            <a:r>
              <a:t>Q. 84. Amit is going South and takes two consecutive left turns. Which direction is he facing now?</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पूर्व / East</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पश्चिम / West</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उत्तर / North</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दक्षिण / South</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दिशा परिवर्तन / Turnings • प्र. #84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170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84. अमित दक्षिण की ओर जा रहा है और दो बार लगातार बाएँ मुड़ता है। अब वह किस दिशा में जा रहा है?</a:t>
            </a:r>
          </a:p>
          <a:p>
            <a:pPr algn="ctr">
              <a:spcBef>
                <a:spcPts val="600"/>
              </a:spcBef>
              <a:defRPr sz="1450" b="1">
                <a:solidFill>
                  <a:srgbClr val="2563EB"/>
                </a:solidFill>
                <a:latin typeface="Segoe UI"/>
              </a:defRPr>
            </a:pPr>
            <a:r>
              <a:t>Q. 84. Amit is going South and takes two consecutive left turns. Which direction is he facing now?</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पूर्व / East</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पश्चिम / West</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उत्तर / North</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दक्षिण / South</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दक्षिण से पहला बायाँ = पूर्व; पूर्व से दूसरा बायाँ = उत्तर (North)।</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घड़ी दिशा / Clock Hands Direction • प्र. #85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171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85. 3:00 बजे मिनट की सुई उत्तर दिशा में है, तो घंटे की सुई किस दिशा में होगी?</a:t>
            </a:r>
          </a:p>
          <a:p>
            <a:pPr algn="ctr">
              <a:spcBef>
                <a:spcPts val="600"/>
              </a:spcBef>
              <a:defRPr sz="1450" b="1">
                <a:solidFill>
                  <a:srgbClr val="2563EB"/>
                </a:solidFill>
                <a:latin typeface="Segoe UI"/>
              </a:defRPr>
            </a:pPr>
            <a:r>
              <a:t>Q. 85. At 3:00, the minute hand points North. Which direction does the hour hand point?</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पश्चिम / West</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दक्षिण / South</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पूर्व / East</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उत्तर-पूर्व / North-East</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घड़ी दिशा / Clock Hands Direction • प्र. #85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172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85. 3:00 बजे मिनट की सुई उत्तर दिशा में है, तो घंटे की सुई किस दिशा में होगी?</a:t>
            </a:r>
          </a:p>
          <a:p>
            <a:pPr algn="ctr">
              <a:spcBef>
                <a:spcPts val="600"/>
              </a:spcBef>
              <a:defRPr sz="1450" b="1">
                <a:solidFill>
                  <a:srgbClr val="2563EB"/>
                </a:solidFill>
                <a:latin typeface="Segoe UI"/>
              </a:defRPr>
            </a:pPr>
            <a:r>
              <a:t>Q. 85. At 3:00, the minute hand points North. Which direction does the hour hand point?</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पश्चिम / West</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दक्षिण / South</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पूर्व / East</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उत्तर-पूर्व / North-East</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3:00 बजे घंटे की सुई 3 पर होती है जो उत्तर के लंबवत दाईं ओर अर्थात पूर्व (East) दिशा दर्शाएगी।</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सापेक्ष दिशा / Relative Direction • प्र. #86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173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86. मोहन पश्चिम की ओर 20 मी चला, फिर बाएँ मुड़कर 15 मी चला। अब वह प्रारंभिक स्थान के सापेक्ष किस दिशा में है?</a:t>
            </a:r>
          </a:p>
          <a:p>
            <a:pPr algn="ctr">
              <a:spcBef>
                <a:spcPts val="600"/>
              </a:spcBef>
              <a:defRPr sz="1450" b="1">
                <a:solidFill>
                  <a:srgbClr val="2563EB"/>
                </a:solidFill>
                <a:latin typeface="Segoe UI"/>
              </a:defRPr>
            </a:pPr>
            <a:r>
              <a:t>Q. 86. Mohan walked 20m West, then turned left and walked 15m. What is his direction from starting point?</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उत्तर-पूर्व / North-East</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दक्षिण-पश्चिम / South-West</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उत्तर-पश्चिम / North-West</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दक्षिण-पूर्व / South-East</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सापेक्ष दिशा / Relative Direction • प्र. #86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174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86. मोहन पश्चिम की ओर 20 मी चला, फिर बाएँ मुड़कर 15 मी चला। अब वह प्रारंभिक स्थान के सापेक्ष किस दिशा में है?</a:t>
            </a:r>
          </a:p>
          <a:p>
            <a:pPr algn="ctr">
              <a:spcBef>
                <a:spcPts val="600"/>
              </a:spcBef>
              <a:defRPr sz="1450" b="1">
                <a:solidFill>
                  <a:srgbClr val="2563EB"/>
                </a:solidFill>
                <a:latin typeface="Segoe UI"/>
              </a:defRPr>
            </a:pPr>
            <a:r>
              <a:t>Q. 86. Mohan walked 20m West, then turned left and walked 15m. What is his direction from starting point?</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उत्तर-पूर्व / North-East</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दक्षिण-पश्चिम / South-West</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उत्तर-पश्चिम / North-West</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दक्षिण-पूर्व / South-East</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पश्चिम और दक्षिण दोनों दिशाओं में चलने के कारण उसकी स्थिति दक्षिण-पश्चिम (South-West) है।</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वेन आरेख / Venn Diagram • प्र. #87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175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87. [ भारत, उत्तर प्रदेश, लखनऊ ] के बीच सही संबंध कौन-सा वेन आरेख दर्शाता है?</a:t>
            </a:r>
          </a:p>
          <a:p>
            <a:pPr algn="ctr">
              <a:spcBef>
                <a:spcPts val="600"/>
              </a:spcBef>
              <a:defRPr sz="1450" b="1">
                <a:solidFill>
                  <a:srgbClr val="2563EB"/>
                </a:solidFill>
                <a:latin typeface="Segoe UI"/>
              </a:defRPr>
            </a:pPr>
            <a:r>
              <a:t>Q. 87. Which Venn diagram correctly represents [ India, Uttar Pradesh, Lucknow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तीन संकेंद्रीय वृत्त / Three concentric circles</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तीन अलग वृत्त / Three separate circles</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दो प्रतिच्छेदी वृत्त / Two intersecting circles</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एक में दो / Two inside one</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वेन आरेख / Venn Diagram • प्र. #87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176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87. [ भारत, उत्तर प्रदेश, लखनऊ ] के बीच सही संबंध कौन-सा वेन आरेख दर्शाता है?</a:t>
            </a:r>
          </a:p>
          <a:p>
            <a:pPr algn="ctr">
              <a:spcBef>
                <a:spcPts val="600"/>
              </a:spcBef>
              <a:defRPr sz="1450" b="1">
                <a:solidFill>
                  <a:srgbClr val="2563EB"/>
                </a:solidFill>
                <a:latin typeface="Segoe UI"/>
              </a:defRPr>
            </a:pPr>
            <a:r>
              <a:t>Q. 87. Which Venn diagram correctly represents [ India, Uttar Pradesh, Lucknow ]?</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तीन संकेंद्रीय वृत्त / Three concentric circles</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तीन अलग वृत्त / Three separate circles</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दो प्रतिच्छेदी वृत्त / Two intersecting circles</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एक में दो / Two inside one</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लखनऊ ⊂ उत्तर प्रदेश ⊂ भारत (तीन संकेंद्रीय वृत्त)।</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वेन आरेख / Venn Diagram • प्र. #88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177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88. [ पशु, गाय, कुत्ता ] के लिए सर्वोत्तम वेन आरेख कौन-सा है?</a:t>
            </a:r>
          </a:p>
          <a:p>
            <a:pPr algn="ctr">
              <a:spcBef>
                <a:spcPts val="600"/>
              </a:spcBef>
              <a:defRPr sz="1450" b="1">
                <a:solidFill>
                  <a:srgbClr val="2563EB"/>
                </a:solidFill>
                <a:latin typeface="Segoe UI"/>
              </a:defRPr>
            </a:pPr>
            <a:r>
              <a:t>Q. 88. Which Venn diagram best represents [ Animals, Cow, Dog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एक बड़े वृत्त में दो अलग वृत्त / Two separate circles inside one</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तीन प्रतिच्छेदी वृत्त / Three intersecting circles</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तीन अलग वृत्त / Three separate circles</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दो वृत्त जुड़े हुए / Two linked circles</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वेन आरेख / Venn Diagram • प्र. #88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178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88. [ पशु, गाय, कुत्ता ] के लिए सर्वोत्तम वेन आरेख कौन-सा है?</a:t>
            </a:r>
          </a:p>
          <a:p>
            <a:pPr algn="ctr">
              <a:spcBef>
                <a:spcPts val="600"/>
              </a:spcBef>
              <a:defRPr sz="1450" b="1">
                <a:solidFill>
                  <a:srgbClr val="2563EB"/>
                </a:solidFill>
                <a:latin typeface="Segoe UI"/>
              </a:defRPr>
            </a:pPr>
            <a:r>
              <a:t>Q. 88. Which Venn diagram best represents [ Animals, Cow, Dog ]?</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एक बड़े वृत्त में दो अलग वृत्त / Two separate circles inside one</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तीन प्रतिच्छेदी वृत्त / Three intersecting circles</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तीन अलग वृत्त / Three separate circles</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दो वृत्त जुड़े हुए / Two linked circles</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गाय और कुत्ता दोनों अलग प्राणी हैं, पर दोनों पशु वर्ग में आते हैं।</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वेन आरेख / Overlapping Venn • प्र. #89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179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89. [ डॉक्टर, पुरुष, लेखक ] के बीच सही संबंध कौन-सा आरेख दर्शाता है?</a:t>
            </a:r>
          </a:p>
          <a:p>
            <a:pPr algn="ctr">
              <a:spcBef>
                <a:spcPts val="600"/>
              </a:spcBef>
              <a:defRPr sz="1450" b="1">
                <a:solidFill>
                  <a:srgbClr val="2563EB"/>
                </a:solidFill>
                <a:latin typeface="Segoe UI"/>
              </a:defRPr>
            </a:pPr>
            <a:r>
              <a:t>Q. 89. Which diagram represents the relation among [ Doctors, Men, Writers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तीन परस्पर काटने वाले वृत्त / Three overlapping circles</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तीन संकेंद्रीय वृत्त / Concentric circles</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दो वृत्त एक के अंदर / Two inside one</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तीन अलग वृत्त / Three separate</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वेन आरेख / Overlapping Venn • प्र. #89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180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89. [ डॉक्टर, पुरुष, लेखक ] के बीच सही संबंध कौन-सा आरेख दर्शाता है?</a:t>
            </a:r>
          </a:p>
          <a:p>
            <a:pPr algn="ctr">
              <a:spcBef>
                <a:spcPts val="600"/>
              </a:spcBef>
              <a:defRPr sz="1450" b="1">
                <a:solidFill>
                  <a:srgbClr val="2563EB"/>
                </a:solidFill>
                <a:latin typeface="Segoe UI"/>
              </a:defRPr>
            </a:pPr>
            <a:r>
              <a:t>Q. 89. Which diagram represents the relation among [ Doctors, Men, Writers ]?</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तीन परस्पर काटने वाले वृत्त / Three overlapping circles</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तीन संकेंद्रीय वृत्त / Concentric circles</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दो वृत्त एक के अंदर / Two inside one</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तीन अलग वृत्त / Three separate</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कुछ पुरुष डॉक्टर हैं और लेखक भी हो सकते हैं; तीनों में उभयनिष्ठ गुण संभव हैं।</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वेन आरेख / Class Venn • प्र. #90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181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90. [ सोना, धातु, चाँदी ] का सही निरूपण कौन-सा आरेख करता है?</a:t>
            </a:r>
          </a:p>
          <a:p>
            <a:pPr algn="ctr">
              <a:spcBef>
                <a:spcPts val="600"/>
              </a:spcBef>
              <a:defRPr sz="1450" b="1">
                <a:solidFill>
                  <a:srgbClr val="2563EB"/>
                </a:solidFill>
                <a:latin typeface="Segoe UI"/>
              </a:defRPr>
            </a:pPr>
            <a:r>
              <a:t>Q. 90. Which diagram correctly represents [ Gold, Metal, Silver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धातु वृत्त के अंदर सोना व चाँदी / Gold &amp; Silver inside Metal</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तीन अलग वृत्त / Three separate</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तीनों संकेंद्रीय / All concentric</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दो वृत्त कटे हुए / Two intersecting</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वेन आरेख / Class Venn • प्र. #90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182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90. [ सोना, धातु, चाँदी ] का सही निरूपण कौन-सा आरेख करता है?</a:t>
            </a:r>
          </a:p>
          <a:p>
            <a:pPr algn="ctr">
              <a:spcBef>
                <a:spcPts val="600"/>
              </a:spcBef>
              <a:defRPr sz="1450" b="1">
                <a:solidFill>
                  <a:srgbClr val="2563EB"/>
                </a:solidFill>
                <a:latin typeface="Segoe UI"/>
              </a:defRPr>
            </a:pPr>
            <a:r>
              <a:t>Q. 90. Which diagram correctly represents [ Gold, Metal, Silver ]?</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धातु वृत्त के अंदर सोना व चाँदी / Gold &amp; Silver inside Metal</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तीन अलग वृत्त / Three separate</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तीनों संकेंद्रीय / All concentric</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दो वृत्त कटे हुए / Two intersecting</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सोना और चाँदी दोनों भिन्न धातुएं हैं, पर दोनों 'धातु' वर्ग में आती हैं।</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वेन आरेख / Disjoint Venn • प्र. #91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183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91. [ फल, सेब, आलू ] के लिए सबसे उपयुक्त वेन आरेख चुनिए:</a:t>
            </a:r>
          </a:p>
          <a:p>
            <a:pPr algn="ctr">
              <a:spcBef>
                <a:spcPts val="600"/>
              </a:spcBef>
              <a:defRPr sz="1450" b="1">
                <a:solidFill>
                  <a:srgbClr val="2563EB"/>
                </a:solidFill>
                <a:latin typeface="Segoe UI"/>
              </a:defRPr>
            </a:pPr>
            <a:r>
              <a:t>Q. 91. Choose the most appropriate Venn diagram for [ Fruits, Apple, Potato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फल में सेब, और आलू बाहर अलग / Apple in Fruit, Potato outside</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तीनों अलग-अलग / Three separate</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तीनों संकेंद्रीय / Three concentric</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दो जुड़े हुए / Two linked</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वेन आरेख / Disjoint Venn • प्र. #91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184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91. [ फल, सेब, आलू ] के लिए सबसे उपयुक्त वेन आरेख चुनिए:</a:t>
            </a:r>
          </a:p>
          <a:p>
            <a:pPr algn="ctr">
              <a:spcBef>
                <a:spcPts val="600"/>
              </a:spcBef>
              <a:defRPr sz="1450" b="1">
                <a:solidFill>
                  <a:srgbClr val="2563EB"/>
                </a:solidFill>
                <a:latin typeface="Segoe UI"/>
              </a:defRPr>
            </a:pPr>
            <a:r>
              <a:t>Q. 91. Choose the most appropriate Venn diagram for [ Fruits, Apple, Potato ]:</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फल में सेब, और आलू बाहर अलग / Apple in Fruit, Potato outside</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तीनों अलग-अलग / Three separate</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तीनों संकेंद्रीय / Three concentric</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दो जुड़े हुए / Two linked</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सेब एक 'फल' है, जबकि आलू 'सब्जी' (भूमिगत तना) है जो बाहर रहेगा।</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वेन आरेख / Hierarchical Venn • प्र. #92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185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92. [ सप्ताह, दिन, वर्ष ] का सही वेन आरेख क्या होगा?</a:t>
            </a:r>
          </a:p>
          <a:p>
            <a:pPr algn="ctr">
              <a:spcBef>
                <a:spcPts val="600"/>
              </a:spcBef>
              <a:defRPr sz="1450" b="1">
                <a:solidFill>
                  <a:srgbClr val="2563EB"/>
                </a:solidFill>
                <a:latin typeface="Segoe UI"/>
              </a:defRPr>
            </a:pPr>
            <a:r>
              <a:t>Q. 92. What is the correct Venn diagram for [ Week, Day, Year ]?</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तीन संकेंद्रीय वृत्त / Three concentric circles (Day ⊂ Week ⊂ Year)</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तीन अलग वृत्त / Three separate circles</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दो अंदर एक बाहर / Two inside one</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तीन जुड़े हुए / Three linked</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वेन आरेख / Hierarchical Venn • प्र. #92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186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92. [ सप्ताह, दिन, वर्ष ] का सही वेन आरेख क्या होगा?</a:t>
            </a:r>
          </a:p>
          <a:p>
            <a:pPr algn="ctr">
              <a:spcBef>
                <a:spcPts val="600"/>
              </a:spcBef>
              <a:defRPr sz="1450" b="1">
                <a:solidFill>
                  <a:srgbClr val="2563EB"/>
                </a:solidFill>
                <a:latin typeface="Segoe UI"/>
              </a:defRPr>
            </a:pPr>
            <a:r>
              <a:t>Q. 92. What is the correct Venn diagram for [ Week, Day, Year ]?</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तीन संकेंद्रीय वृत्त / Three concentric circles (Day ⊂ Week ⊂ Year)</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तीन अलग वृत्त / Three separate circles</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दो अंदर एक बाहर / Two inside one</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तीन जुड़े हुए / Three linked</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दिन से सप्ताह और सप्ताह से वर्ष बनता है (Day ⊂ Week ⊂ Year)।</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रैंकिंग परीक्षण / Ranking Test • प्र. #93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187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93. 40 विद्यार्थियों की कक्षा में मोहन का स्थान ऊपर से 15वाँ है। नीचे से उसका स्थान क्या होगा?</a:t>
            </a:r>
          </a:p>
          <a:p>
            <a:pPr algn="ctr">
              <a:spcBef>
                <a:spcPts val="600"/>
              </a:spcBef>
              <a:defRPr sz="1450" b="1">
                <a:solidFill>
                  <a:srgbClr val="2563EB"/>
                </a:solidFill>
                <a:latin typeface="Segoe UI"/>
              </a:defRPr>
            </a:pPr>
            <a:r>
              <a:t>Q. 93. In a class of 40 students, Mohan ranks 15th from top. What is his rank from bottom?</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25वाँ / 25th</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26वाँ / 26th</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27वाँ / 27th</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28वाँ / 28th</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रैंकिंग परीक्षण / Ranking Test • प्र. #93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188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93. 40 विद्यार्थियों की कक्षा में मोहन का स्थान ऊपर से 15वाँ है। नीचे से उसका स्थान क्या होगा?</a:t>
            </a:r>
          </a:p>
          <a:p>
            <a:pPr algn="ctr">
              <a:spcBef>
                <a:spcPts val="600"/>
              </a:spcBef>
              <a:defRPr sz="1450" b="1">
                <a:solidFill>
                  <a:srgbClr val="2563EB"/>
                </a:solidFill>
                <a:latin typeface="Segoe UI"/>
              </a:defRPr>
            </a:pPr>
            <a:r>
              <a:t>Q. 93. In a class of 40 students, Mohan ranks 15th from top. What is his rank from bottom?</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25वाँ / 25th</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26वाँ / 26th</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27वाँ / 27th</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28वाँ / 28th</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सूत्र: नीचे से स्थान = कुल - ऊपर से स्थान + 1 = 40 - 15 + 1 = 26वाँ।</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रैंकिंग परीक्षण / Total Students • प्र. #94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189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94. एक पंक्ति में सीता बाएँ से 10वीं और दाएँ से 15वीं है। पंक्ति में कुल कितने विद्यार्थी हैं?</a:t>
            </a:r>
          </a:p>
          <a:p>
            <a:pPr algn="ctr">
              <a:spcBef>
                <a:spcPts val="600"/>
              </a:spcBef>
              <a:defRPr sz="1450" b="1">
                <a:solidFill>
                  <a:srgbClr val="2563EB"/>
                </a:solidFill>
                <a:latin typeface="Segoe UI"/>
              </a:defRPr>
            </a:pPr>
            <a:r>
              <a:t>Q. 94. In a row, Sita is 10th from left and 15th from right. Total students in the row?</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23</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24</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25</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26</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रैंकिंग परीक्षण / Total Students • प्र. #94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190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94. एक पंक्ति में सीता बाएँ से 10वीं और दाएँ से 15वीं है। पंक्ति में कुल कितने विद्यार्थी हैं?</a:t>
            </a:r>
          </a:p>
          <a:p>
            <a:pPr algn="ctr">
              <a:spcBef>
                <a:spcPts val="600"/>
              </a:spcBef>
              <a:defRPr sz="1450" b="1">
                <a:solidFill>
                  <a:srgbClr val="2563EB"/>
                </a:solidFill>
                <a:latin typeface="Segoe UI"/>
              </a:defRPr>
            </a:pPr>
            <a:r>
              <a:t>Q. 94. In a row, Sita is 10th from left and 15th from right. Total students in the row?</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23</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24</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25</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26</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सूत्र: कुल = बायाँ + दायाँ - 1 = 10 + 15 - 1 = 24 विद्यार्थी।</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तुलनात्मक क्रम / Comparison • प्र. #95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191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95. A, B से लम्बा है पर C से छोटा है। D, E से लम्बा है पर B से छोटा है। सबसे लम्बा कौन है?</a:t>
            </a:r>
          </a:p>
          <a:p>
            <a:pPr algn="ctr">
              <a:spcBef>
                <a:spcPts val="600"/>
              </a:spcBef>
              <a:defRPr sz="1450" b="1">
                <a:solidFill>
                  <a:srgbClr val="2563EB"/>
                </a:solidFill>
                <a:latin typeface="Segoe UI"/>
              </a:defRPr>
            </a:pPr>
            <a:r>
              <a:t>Q. 95. A is taller than B but shorter than C. D is taller than E but shorter than B. Who is tallest?</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A</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B</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C</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D</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तुलनात्मक क्रम / Comparison • प्र. #95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192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95. A, B से लम्बा है पर C से छोटा है। D, E से लम्बा है पर B से छोटा है। सबसे लम्बा कौन है?</a:t>
            </a:r>
          </a:p>
          <a:p>
            <a:pPr algn="ctr">
              <a:spcBef>
                <a:spcPts val="600"/>
              </a:spcBef>
              <a:defRPr sz="1450" b="1">
                <a:solidFill>
                  <a:srgbClr val="2563EB"/>
                </a:solidFill>
                <a:latin typeface="Segoe UI"/>
              </a:defRPr>
            </a:pPr>
            <a:r>
              <a:t>Q. 95. A is taller than B but shorter than C. D is taller than E but shorter than B. Who is tallest?</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A</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B</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C</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D</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क्रम: C &gt; A &gt; B &gt; D &gt; E। अतः सबसे लम्बा 'C' है।</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स्थान परिवर्तन / Interchanging Positions • प्र. #96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193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96. राम बाएँ से 8वाँ, श्याम दाएँ से 9वाँ है। स्थान बदलने पर राम बाएँ से 14वाँ हो जाता है। कुल कितने छात्र हैं?</a:t>
            </a:r>
          </a:p>
          <a:p>
            <a:pPr algn="ctr">
              <a:spcBef>
                <a:spcPts val="600"/>
              </a:spcBef>
              <a:defRPr sz="1450" b="1">
                <a:solidFill>
                  <a:srgbClr val="2563EB"/>
                </a:solidFill>
                <a:latin typeface="Segoe UI"/>
              </a:defRPr>
            </a:pPr>
            <a:r>
              <a:t>Q. 96. Ram is 8th from left, Shyam 9th from right. After swapping, Ram is 14th from left. Total students?</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21</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22</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23</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24</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स्थान परिवर्तन / Interchanging Positions • प्र. #96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194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96. राम बाएँ से 8वाँ, श्याम दाएँ से 9वाँ है। स्थान बदलने पर राम बाएँ से 14वाँ हो जाता है। कुल कितने छात्र हैं?</a:t>
            </a:r>
          </a:p>
          <a:p>
            <a:pPr algn="ctr">
              <a:spcBef>
                <a:spcPts val="600"/>
              </a:spcBef>
              <a:defRPr sz="1450" b="1">
                <a:solidFill>
                  <a:srgbClr val="2563EB"/>
                </a:solidFill>
                <a:latin typeface="Segoe UI"/>
              </a:defRPr>
            </a:pPr>
            <a:r>
              <a:t>Q. 96. Ram is 8th from left, Shyam 9th from right. After swapping, Ram is 14th from left. Total students?</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21</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22</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23</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24</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कुल = राम का नया बायाँ + श्याम का पुराना दायाँ - 1 = 14 + 9 - 1 = 22 छात्र।</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दर्पण प्रतिबिम्ब / Mirror Image • प्र. #97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195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97. यदि दर्पण को दाईं ओर रखा जाए, तो अक्षर समूह 'RED' का सही दर्पण प्रतिबिम्ब क्या होगा?</a:t>
            </a:r>
          </a:p>
          <a:p>
            <a:pPr algn="ctr">
              <a:spcBef>
                <a:spcPts val="600"/>
              </a:spcBef>
              <a:defRPr sz="1450" b="1">
                <a:solidFill>
                  <a:srgbClr val="2563EB"/>
                </a:solidFill>
                <a:latin typeface="Segoe UI"/>
              </a:defRPr>
            </a:pPr>
            <a:r>
              <a:t>Q. 97. If a mirror is placed on the right, what is the mirror image of 'RED'?</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DER</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ᗡƎЯ</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ЯƎD</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ᗡER</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दर्पण प्रतिबिम्ब / Mirror Image • प्र. #97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196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97. यदि दर्पण को दाईं ओर रखा जाए, तो अक्षर समूह 'RED' का सही दर्पण प्रतिबिम्ब क्या होगा?</a:t>
            </a:r>
          </a:p>
          <a:p>
            <a:pPr algn="ctr">
              <a:spcBef>
                <a:spcPts val="600"/>
              </a:spcBef>
              <a:defRPr sz="1450" b="1">
                <a:solidFill>
                  <a:srgbClr val="2563EB"/>
                </a:solidFill>
                <a:latin typeface="Segoe UI"/>
              </a:defRPr>
            </a:pPr>
            <a:r>
              <a:t>Q. 97. If a mirror is placed on the right, what is the mirror image of 'RED'?</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DER</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ᗡƎЯ</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ЯƎD</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ᗡER</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दर्पण में दायाँ-बायाँ बदल जाता है: D उल्टा ᗡ, E उल्टा Ǝ, R उल्टा Я बनता है =&gt; 'ᗡƎЯ'।</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घड़ी एवं कोण / Clock Angle • प्र. #98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197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98. घड़ी में ठीक 4:00 बजे दोनों सुइयों के बीच कितने अंश का कोण बनेगा?</a:t>
            </a:r>
          </a:p>
          <a:p>
            <a:pPr algn="ctr">
              <a:spcBef>
                <a:spcPts val="600"/>
              </a:spcBef>
              <a:defRPr sz="1450" b="1">
                <a:solidFill>
                  <a:srgbClr val="2563EB"/>
                </a:solidFill>
                <a:latin typeface="Segoe UI"/>
              </a:defRPr>
            </a:pPr>
            <a:r>
              <a:t>Q. 98. At 4:00, what is the angle between the two hands of a clock?</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90°</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100°</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120°</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150°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घड़ी एवं कोण / Clock Angle • प्र. #98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198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98. घड़ी में ठीक 4:00 बजे दोनों सुइयों के बीच कितने अंश का कोण बनेगा?</a:t>
            </a:r>
          </a:p>
          <a:p>
            <a:pPr algn="ctr">
              <a:spcBef>
                <a:spcPts val="600"/>
              </a:spcBef>
              <a:defRPr sz="1450" b="1">
                <a:solidFill>
                  <a:srgbClr val="2563EB"/>
                </a:solidFill>
                <a:latin typeface="Segoe UI"/>
              </a:defRPr>
            </a:pPr>
            <a:r>
              <a:t>Q. 98. At 4:00, what is the angle between the two hands of a clock?</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90°</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100°</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120°</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150°</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प्रत्येक घंटे के अंतराल में 30° का कोण बनता है: 4 × 30° = 120°।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कैलेंडर परीक्षण / Calendar Test • प्र. #99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199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99. यदि 1 जनवरी को सोमवार था, तो उसी साधारण वर्ष की 31 जनवरी को कौन-सा दिन होगा?</a:t>
            </a:r>
          </a:p>
          <a:p>
            <a:pPr algn="ctr">
              <a:spcBef>
                <a:spcPts val="600"/>
              </a:spcBef>
              <a:defRPr sz="1450" b="1">
                <a:solidFill>
                  <a:srgbClr val="2563EB"/>
                </a:solidFill>
                <a:latin typeface="Segoe UI"/>
              </a:defRPr>
            </a:pPr>
            <a:r>
              <a:t>Q. 99. If 1st January was Monday, what day was 31st January of the same ordinary year?</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सोमवार / Monday</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मंगलवार / Tuesday</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बुधवार / Wednesday</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रविवार / Sunday</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कैलेंडर परीक्षण / Calendar Test • प्र. #99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200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99. यदि 1 जनवरी को सोमवार था, तो उसी साधारण वर्ष की 31 जनवरी को कौन-सा दिन होगा?</a:t>
            </a:r>
          </a:p>
          <a:p>
            <a:pPr algn="ctr">
              <a:spcBef>
                <a:spcPts val="600"/>
              </a:spcBef>
              <a:defRPr sz="1450" b="1">
                <a:solidFill>
                  <a:srgbClr val="2563EB"/>
                </a:solidFill>
                <a:latin typeface="Segoe UI"/>
              </a:defRPr>
            </a:pPr>
            <a:r>
              <a:t>Q. 99. If 1st January was Monday, what day was 31st January of the same ordinary year?</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सोमवार / Monday</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मंगलवार / Tuesday</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बुधवार / Wednesday</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रविवार / Sunday</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कुल अंतर = 30 दिन। 30 ÷ 7 = 4 सप्ताह + 2 विषम दिन। सोमवार + 2 = बुधवार (Wednesday)।</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पासा परीक्षण / Dice Opposite • प्र. #100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201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100. एक मानक पासे (Standard Dice) में अंक '3' के विपरीत फलक पर कौन-सा अंक होगा?</a:t>
            </a:r>
          </a:p>
          <a:p>
            <a:pPr algn="ctr">
              <a:spcBef>
                <a:spcPts val="600"/>
              </a:spcBef>
              <a:defRPr sz="1450" b="1">
                <a:solidFill>
                  <a:srgbClr val="2563EB"/>
                </a:solidFill>
                <a:latin typeface="Segoe UI"/>
              </a:defRPr>
            </a:pPr>
            <a:r>
              <a:t>Q. 100. On a standard dice, what number is on the face opposite to '3'?</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2</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4</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5</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6</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पासा परीक्षण / Dice Opposite • प्र. #100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202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100. एक मानक पासे (Standard Dice) में अंक '3' के विपरीत फलक पर कौन-सा अंक होगा?</a:t>
            </a:r>
          </a:p>
          <a:p>
            <a:pPr algn="ctr">
              <a:spcBef>
                <a:spcPts val="600"/>
              </a:spcBef>
              <a:defRPr sz="1450" b="1">
                <a:solidFill>
                  <a:srgbClr val="2563EB"/>
                </a:solidFill>
                <a:latin typeface="Segoe UI"/>
              </a:defRPr>
            </a:pPr>
            <a:r>
              <a:t>Q. 100. On a standard dice, what number is on the face opposite to '3'?</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2</a:t>
            </a:r>
          </a:p>
        </p:txBody>
      </p:sp>
      <p:sp>
        <p:nvSpPr>
          <p:cNvPr id="8" name="Rounded Rectangle 7"/>
          <p:cNvSpPr/>
          <p:nvPr/>
        </p:nvSpPr>
        <p:spPr>
          <a:xfrm>
            <a:off x="6291072"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(B)  4</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5</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6</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(B)</a:t>
            </a:r>
          </a:p>
          <a:p>
            <a:pPr>
              <a:spcBef>
                <a:spcPts val="300"/>
              </a:spcBef>
              <a:defRPr sz="1300" b="0">
                <a:solidFill>
                  <a:srgbClr val="1E293B"/>
                </a:solidFill>
                <a:latin typeface="Segoe UI"/>
              </a:defRPr>
            </a:pPr>
            <a:r>
              <a:t>💡 व्याख्या एवं ट्रिक (Explanation): मानक पासे में किन्हीं दो विपरीत फलकों का योग 7 होता है: 7 - 3 = 4।</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आकृतियों की गणना / Counting Triangles • प्र. #101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203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101. एक वर्ग के दोनों विकर्ण खींचने पर उसके भीतर कुल कितने त्रिभुज बनते हैं?</a:t>
            </a:r>
          </a:p>
          <a:p>
            <a:pPr algn="ctr">
              <a:spcBef>
                <a:spcPts val="600"/>
              </a:spcBef>
              <a:defRPr sz="1450" b="1">
                <a:solidFill>
                  <a:srgbClr val="2563EB"/>
                </a:solidFill>
                <a:latin typeface="Segoe UI"/>
              </a:defRPr>
            </a:pPr>
            <a:r>
              <a:t>Q. 101. How many triangles are formed inside a square by drawing both diagonals?</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4</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6</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8</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10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आकृतियों की गणना / Counting Triangles • प्र. #101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204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101. एक वर्ग के दोनों विकर्ण खींचने पर उसके भीतर कुल कितने त्रिभुज बनते हैं?</a:t>
            </a:r>
          </a:p>
          <a:p>
            <a:pPr algn="ctr">
              <a:spcBef>
                <a:spcPts val="600"/>
              </a:spcBef>
              <a:defRPr sz="1450" b="1">
                <a:solidFill>
                  <a:srgbClr val="2563EB"/>
                </a:solidFill>
                <a:latin typeface="Segoe UI"/>
              </a:defRPr>
            </a:pPr>
            <a:r>
              <a:t>Q. 101. How many triangles are formed inside a square by drawing both diagonals?</a:t>
            </a:r>
          </a:p>
        </p:txBody>
      </p:sp>
      <p:sp>
        <p:nvSpPr>
          <p:cNvPr id="7" name="Rounded Rectangle 6"/>
          <p:cNvSpPr/>
          <p:nvPr/>
        </p:nvSpPr>
        <p:spPr>
          <a:xfrm>
            <a:off x="457200"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(A)  4</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6</a:t>
            </a:r>
          </a:p>
        </p:txBody>
      </p:sp>
      <p:sp>
        <p:nvSpPr>
          <p:cNvPr id="9" name="Rounded Rectangle 8"/>
          <p:cNvSpPr/>
          <p:nvPr/>
        </p:nvSpPr>
        <p:spPr>
          <a:xfrm>
            <a:off x="457200" y="3822191"/>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(C)  8</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10</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(C)</a:t>
            </a:r>
          </a:p>
          <a:p>
            <a:pPr>
              <a:spcBef>
                <a:spcPts val="300"/>
              </a:spcBef>
              <a:defRPr sz="1300" b="0">
                <a:solidFill>
                  <a:srgbClr val="1E293B"/>
                </a:solidFill>
                <a:latin typeface="Segoe UI"/>
              </a:defRPr>
            </a:pPr>
            <a:r>
              <a:t>💡 व्याख्या एवं ट्रिक (Explanation): वर्ग में दोनों विकर्ण खींचने पर 4 छोटे त्रिभुज बनते हैं। ट्रिक: 4 × 2 = 8 त्रिभुज।</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जल प्रतिबिम्ब / Water Image • प्र. #102  [UP NMMS Bilingual]</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205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102. अक्षर 'E' का जल प्रतिबिम्ब (Water Image) कैसा दिखाई देगा?</a:t>
            </a:r>
          </a:p>
          <a:p>
            <a:pPr algn="ctr">
              <a:spcBef>
                <a:spcPts val="600"/>
              </a:spcBef>
              <a:defRPr sz="1450" b="1">
                <a:solidFill>
                  <a:srgbClr val="2563EB"/>
                </a:solidFill>
                <a:latin typeface="Segoe UI"/>
              </a:defRPr>
            </a:pPr>
            <a:r>
              <a:t>Q. 102. What does the water image of letter 'E' look like?</a:t>
            </a:r>
          </a:p>
        </p:txBody>
      </p:sp>
      <p:sp>
        <p:nvSpPr>
          <p:cNvPr id="7" name="Rounded Rectangle 6"/>
          <p:cNvSpPr/>
          <p:nvPr/>
        </p:nvSpPr>
        <p:spPr>
          <a:xfrm>
            <a:off x="457200"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(A)  E (अपरिवर्तित / Unchanged)</a:t>
            </a:r>
          </a:p>
        </p:txBody>
      </p:sp>
      <p:sp>
        <p:nvSpPr>
          <p:cNvPr id="8" name="Rounded Rectangle 7"/>
          <p:cNvSpPr/>
          <p:nvPr/>
        </p:nvSpPr>
        <p:spPr>
          <a:xfrm>
            <a:off x="6291072" y="269748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(B)  Ǝ (उल्टा / Inverted)</a:t>
            </a:r>
          </a:p>
        </p:txBody>
      </p:sp>
      <p:sp>
        <p:nvSpPr>
          <p:cNvPr id="9" name="Rounded Rectangle 8"/>
          <p:cNvSpPr/>
          <p:nvPr/>
        </p:nvSpPr>
        <p:spPr>
          <a:xfrm>
            <a:off x="457200"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(C)  W</a:t>
            </a:r>
          </a:p>
        </p:txBody>
      </p:sp>
      <p:sp>
        <p:nvSpPr>
          <p:cNvPr id="10" name="Rounded Rectangle 9"/>
          <p:cNvSpPr/>
          <p:nvPr/>
        </p:nvSpPr>
        <p:spPr>
          <a:xfrm>
            <a:off x="6291072" y="3822191"/>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E293B"/>
                </a:solidFill>
                <a:latin typeface="Segoe UI"/>
              </a:defRPr>
            </a:pPr>
            <a:r>
              <a:t>(D)  M</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MAT • जल प्रतिबिम्ब / Water Image • प्र. #102  [UP NMMS Bilingual]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206 of 207</a:t>
            </a:r>
          </a:p>
        </p:txBody>
      </p:sp>
      <p:sp>
        <p:nvSpPr>
          <p:cNvPr id="6" name="Rounded Rectangle 5"/>
          <p:cNvSpPr/>
          <p:nvPr/>
        </p:nvSpPr>
        <p:spPr>
          <a:xfrm>
            <a:off x="457200" y="1051560"/>
            <a:ext cx="11277295" cy="1536192"/>
          </a:xfrm>
          <a:prstGeom prst="roundRect">
            <a:avLst/>
          </a:prstGeom>
          <a:solidFill>
            <a:srgbClr val="F0F9FF"/>
          </a:solidFill>
          <a:ln w="2540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lIns="274320" tIns="91440" bIns="91440"/>
          <a:lstStyle/>
          <a:p>
            <a:pPr algn="ctr">
              <a:defRPr sz="1650" b="1">
                <a:solidFill>
                  <a:srgbClr val="0F172A"/>
                </a:solidFill>
                <a:latin typeface="Segoe UI"/>
              </a:defRPr>
            </a:pPr>
            <a:r>
              <a:t>प्र. 102. अक्षर 'E' का जल प्रतिबिम्ब (Water Image) कैसा दिखाई देगा?</a:t>
            </a:r>
          </a:p>
          <a:p>
            <a:pPr algn="ctr">
              <a:spcBef>
                <a:spcPts val="600"/>
              </a:spcBef>
              <a:defRPr sz="1450" b="1">
                <a:solidFill>
                  <a:srgbClr val="2563EB"/>
                </a:solidFill>
                <a:latin typeface="Segoe UI"/>
              </a:defRPr>
            </a:pPr>
            <a:r>
              <a:t>Q. 102. What does the water image of letter 'E' look like?</a:t>
            </a:r>
          </a:p>
        </p:txBody>
      </p:sp>
      <p:sp>
        <p:nvSpPr>
          <p:cNvPr id="7" name="Rounded Rectangle 6"/>
          <p:cNvSpPr/>
          <p:nvPr/>
        </p:nvSpPr>
        <p:spPr>
          <a:xfrm>
            <a:off x="457200" y="269748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166534"/>
                </a:solidFill>
                <a:latin typeface="Segoe UI"/>
              </a:defRPr>
            </a:pPr>
            <a:r>
              <a:t>✅ (A)  E (अपरिवर्तित / Unchanged)</a:t>
            </a:r>
          </a:p>
        </p:txBody>
      </p:sp>
      <p:sp>
        <p:nvSpPr>
          <p:cNvPr id="8" name="Rounded Rectangle 7"/>
          <p:cNvSpPr/>
          <p:nvPr/>
        </p:nvSpPr>
        <p:spPr>
          <a:xfrm>
            <a:off x="6291072" y="269748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(B)  Ǝ (उल्टा / Inverted)</a:t>
            </a:r>
          </a:p>
        </p:txBody>
      </p:sp>
      <p:sp>
        <p:nvSpPr>
          <p:cNvPr id="9" name="Rounded Rectangle 8"/>
          <p:cNvSpPr/>
          <p:nvPr/>
        </p:nvSpPr>
        <p:spPr>
          <a:xfrm>
            <a:off x="457200"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(C)  W</a:t>
            </a:r>
          </a:p>
        </p:txBody>
      </p:sp>
      <p:sp>
        <p:nvSpPr>
          <p:cNvPr id="10" name="Rounded Rectangle 9"/>
          <p:cNvSpPr/>
          <p:nvPr/>
        </p:nvSpPr>
        <p:spPr>
          <a:xfrm>
            <a:off x="6291072" y="3822191"/>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400" b="1">
                <a:solidFill>
                  <a:srgbClr val="94A3B8"/>
                </a:solidFill>
                <a:latin typeface="Segoe UI"/>
              </a:defRPr>
            </a:pPr>
            <a:r>
              <a:t>(D)  M</a:t>
            </a:r>
          </a:p>
        </p:txBody>
      </p:sp>
      <p:sp>
        <p:nvSpPr>
          <p:cNvPr id="11" name="Rounded Rectangle 10"/>
          <p:cNvSpPr/>
          <p:nvPr/>
        </p:nvSpPr>
        <p:spPr>
          <a:xfrm>
            <a:off x="457200" y="4956048"/>
            <a:ext cx="11277295" cy="137160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00" b="1">
                <a:solidFill>
                  <a:srgbClr val="166534"/>
                </a:solidFill>
                <a:latin typeface="Segoe UI"/>
              </a:defRPr>
            </a:pPr>
            <a:r>
              <a:t>✅ सही उत्तर / Correct Option: (A)</a:t>
            </a:r>
          </a:p>
          <a:p>
            <a:pPr>
              <a:spcBef>
                <a:spcPts val="300"/>
              </a:spcBef>
              <a:defRPr sz="1300" b="0">
                <a:solidFill>
                  <a:srgbClr val="1E293B"/>
                </a:solidFill>
                <a:latin typeface="Segoe UI"/>
              </a:defRPr>
            </a:pPr>
            <a:r>
              <a:t>💡 व्याख्या एवं ट्रिक (Explanation): अक्षर 'E' क्षैतिज रूप से सममित (Horizontally Symmetric) है, अतः इसका जल प्रतिबिम्ब 'E' ही रहता है।</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 UP NMMS नवम्बर परीक्षा 2024-25 महामंथन</a:t>
            </a:r>
          </a:p>
          <a:p>
            <a:pPr>
              <a:defRPr sz="1350" b="1">
                <a:solidFill>
                  <a:srgbClr val="FFFFFF"/>
                </a:solidFill>
                <a:latin typeface="Segoe UI"/>
              </a:defRPr>
            </a:pPr>
            <a:r>
              <a:t>UP NMMS MAT महामंथन — सफलता का संकल्प एवं संपर्क सूत्र</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हेल्पलाइन / WhatsApp: +91 91101 13671  |  वेबसाइट: sagarcoaching.tech  |  Slide 207 of 207</a:t>
            </a:r>
          </a:p>
        </p:txBody>
      </p:sp>
      <p:sp>
        <p:nvSpPr>
          <p:cNvPr id="6" name="Rounded Rectangle 5"/>
          <p:cNvSpPr/>
          <p:nvPr/>
        </p:nvSpPr>
        <p:spPr>
          <a:xfrm>
            <a:off x="1371600" y="1371600"/>
            <a:ext cx="9448495" cy="4754880"/>
          </a:xfrm>
          <a:prstGeom prst="roundRect">
            <a:avLst/>
          </a:prstGeom>
          <a:solidFill>
            <a:srgbClr val="0F172A"/>
          </a:solidFill>
          <a:ln w="317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tIns="365760"/>
          <a:lstStyle/>
          <a:p>
            <a:pPr algn="ctr">
              <a:defRPr sz="2200" b="1">
                <a:solidFill>
                  <a:srgbClr val="D97706"/>
                </a:solidFill>
                <a:latin typeface="Segoe UI"/>
              </a:defRPr>
            </a:pPr>
            <a:r>
              <a:t>🏆 आपकी सफलता ही हमारा संकल्प है! 🏆</a:t>
            </a:r>
          </a:p>
          <a:p>
            <a:pPr algn="ctr">
              <a:spcBef>
                <a:spcPts val="1000"/>
              </a:spcBef>
              <a:defRPr sz="1800" b="1">
                <a:solidFill>
                  <a:srgbClr val="FFFFFF"/>
                </a:solidFill>
                <a:latin typeface="Segoe UI"/>
              </a:defRPr>
            </a:pPr>
            <a:r>
              <a:t>SAGAR COACHING CENTRE, BHAGWANPUR</a:t>
            </a:r>
          </a:p>
          <a:p>
            <a:pPr algn="ctr">
              <a:spcBef>
                <a:spcPts val="1000"/>
              </a:spcBef>
              <a:defRPr sz="1400">
                <a:solidFill>
                  <a:srgbClr val="E2E8F0"/>
                </a:solidFill>
                <a:latin typeface="Segoe UI"/>
              </a:defRPr>
            </a:pPr>
            <a:r>
              <a:t>उत्तर प्रदेश NMMS छात्रवृत्ति परीक्षा (₹48,000) में चयनित होने वाले सभी भावी मेधावियों को अग्रिम शुभकामनाएं!</a:t>
            </a:r>
          </a:p>
          <a:p>
            <a:pPr algn="ctr">
              <a:spcBef>
                <a:spcPts val="1600"/>
              </a:spcBef>
              <a:defRPr sz="1500" b="1">
                <a:solidFill>
                  <a:srgbClr val="D97706"/>
                </a:solidFill>
                <a:latin typeface="Segoe UI"/>
              </a:defRPr>
            </a:pPr>
            <a:r>
              <a:t>📞 ऑनलाइन टेस्ट, PDF नोट्स एवं सहायता हेतु: +91 91101 13671</a:t>
            </a:r>
            <a:br/>
            <a:r>
              <a:t>🌐 वेबसाइट: sagarcoaching.tech  |  📺 YouTube: Sagar Coaching Centre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