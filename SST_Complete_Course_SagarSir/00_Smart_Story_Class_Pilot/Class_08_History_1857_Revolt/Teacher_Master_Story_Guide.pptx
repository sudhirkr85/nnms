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A6CB-0C1B-1478-E887-B5B93F20EDF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7CFBFB59-8783-63FB-74E7-2C22378021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A4EEBF1-4032-E61D-2DD7-657D35658B7D}"/>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F887883D-48B9-BE12-F49E-5CCF8032422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AEE3A63-4F59-DD87-F28C-E1D5533C65B6}"/>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825285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B5679-9F91-B030-203F-301A3E71EE5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4F9FAA8-2139-DA53-2EE6-EC86BAEA24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756CB5-AA1A-554C-8C67-CF1CEA2EE97A}"/>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CD9F4DA5-738F-ECAB-6E91-F6469A920E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77A00F-B83C-3961-CEE1-BD58AC5497BC}"/>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232964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00A8-2F77-0C05-BE8A-0829D381D2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5F4DDC0-5CC8-D97D-558B-49DFA41662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FFE180-7056-1607-9D16-5970CD48F6D5}"/>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C0A0482F-1FA8-C651-2FFB-010861DDD21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6E1BF24-A7B4-716E-491B-686D54D130F4}"/>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6052943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7640C-4471-BF43-6E6A-5E173F7C736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A16505C-787B-3617-48FE-062DDB9F1FF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711C587-63B1-402A-020D-502E99215A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C607D8B2-7112-EF18-5887-28BFAE76ACF2}"/>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6" name="Footer Placeholder 5">
            <a:extLst>
              <a:ext uri="{FF2B5EF4-FFF2-40B4-BE49-F238E27FC236}">
                <a16:creationId xmlns:a16="http://schemas.microsoft.com/office/drawing/2014/main" id="{6FB416AB-ABC4-A4B3-7C3A-AF483BA3B49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F6A4952-6301-4C89-1C0F-C39211E716F7}"/>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15227172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B03B9-9409-1888-F716-182DA810E06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C9B73D6-9F05-399D-D12A-09DDFAC196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347C0A8-62E3-73A8-7342-26468DF9FE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F6EA45-4F84-F694-0B26-FCD44222AC3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6A9BCB-1B9D-FE9D-9F3B-4D0304FC58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917D8EF-540E-6420-DE6B-AA10C55DFAE8}"/>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8" name="Footer Placeholder 7">
            <a:extLst>
              <a:ext uri="{FF2B5EF4-FFF2-40B4-BE49-F238E27FC236}">
                <a16:creationId xmlns:a16="http://schemas.microsoft.com/office/drawing/2014/main" id="{75A7B266-0C57-BFEE-315E-E774ABB6AED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2FB896A-4310-03FE-70E2-C4450AA87EBC}"/>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107264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88F02-A561-AB91-6ADB-35F1B54742F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B1D5FFC-530E-A4DA-F39A-DC77E2648BD7}"/>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4" name="Footer Placeholder 3">
            <a:extLst>
              <a:ext uri="{FF2B5EF4-FFF2-40B4-BE49-F238E27FC236}">
                <a16:creationId xmlns:a16="http://schemas.microsoft.com/office/drawing/2014/main" id="{5DED1A8A-4353-D1EF-D229-847E13D6D4E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186FC9C-2BF3-577D-203B-B54F0BA881A1}"/>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2879774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02964C-387F-BA1A-8503-30AA63FF3FD3}"/>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3" name="Footer Placeholder 2">
            <a:extLst>
              <a:ext uri="{FF2B5EF4-FFF2-40B4-BE49-F238E27FC236}">
                <a16:creationId xmlns:a16="http://schemas.microsoft.com/office/drawing/2014/main" id="{C1BD42CF-C85F-F397-2BD1-7E78BCB95D4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1C7715E-005D-6853-56C2-9198A55A0C07}"/>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77982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382B6-E8C4-6ACB-789A-7E0B166128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CC7E3B4-38F4-BEE3-2E3C-39870CE427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4B55319-0B47-C8A6-543E-FDF97E0C76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2E7C63-F863-4C60-DF4E-749B3621B62D}"/>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6" name="Footer Placeholder 5">
            <a:extLst>
              <a:ext uri="{FF2B5EF4-FFF2-40B4-BE49-F238E27FC236}">
                <a16:creationId xmlns:a16="http://schemas.microsoft.com/office/drawing/2014/main" id="{D388660B-6D0E-0DD8-E203-8B42454E6A0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F45EB65-A6DA-632E-BE8E-E919760ACEFF}"/>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9611718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5AEE-153B-10B6-562F-4F6E266BB5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3875F1A-93A9-E587-B4C7-61D5A095EE8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C5F3D92-1D28-208D-5EFB-9DADC7B068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59515-3FCD-F863-9084-389BFAFA3946}"/>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6" name="Footer Placeholder 5">
            <a:extLst>
              <a:ext uri="{FF2B5EF4-FFF2-40B4-BE49-F238E27FC236}">
                <a16:creationId xmlns:a16="http://schemas.microsoft.com/office/drawing/2014/main" id="{0608E836-82F9-9D79-64DD-84A565BBEC4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5A25C3-4BCA-7570-F933-972DCE693F00}"/>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787782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5B448-C4AB-B21E-D49B-BB9C2F8A954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22CC82E-94C1-BC41-16BC-73569B2CD71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8982FA9-2038-EADD-1ACC-E50EB0AD720D}"/>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694DFE21-C97B-D640-61EA-29A2B93AA22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FF5A744-EF1A-A4BB-DDBD-3A373CE522BA}"/>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1162324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311655-B3AE-E478-77F7-836FB01BCC8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98F6746-ABAA-544F-3B7E-4D0636D498B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0C4AE54-70E3-AE85-3DA6-2B3105AB713E}"/>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0C26EE71-8888-96B7-F764-B5FD80F0DA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58FBEB8-627B-DEBA-20B1-9ACC8C0EB964}"/>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10692239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2D66362-CF72-3CE1-12BD-1A57F891405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16329A4-2EA5-E966-B26E-F3F3CF346C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DBE1E37-749C-3C8A-72F8-B889CE10C2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7C91FF9D-977E-F169-37DD-C905ED796B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BCD06E5-A777-560B-1027-243A95FD16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ACE4B5-824C-471A-A40B-833490F66DC1}" type="slidenum">
              <a:rPr lang="en-IN" smtClean="0"/>
              <a:t>‹#›</a:t>
            </a:fld>
            <a:endParaRPr lang="en-IN"/>
          </a:p>
        </p:txBody>
      </p:sp>
    </p:spTree>
    <p:extLst>
      <p:ext uri="{BB962C8B-B14F-4D97-AF65-F5344CB8AC3E}">
        <p14:creationId xmlns:p14="http://schemas.microsoft.com/office/powerpoint/2010/main" val="21578764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AB5CF30-0303-63C3-6DED-6A323E1D7E1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4F78BB6-A70B-16B5-E2D0-AE6DD262838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 </a:t>
            </a:r>
            <a:r>
              <a:rPr lang="en-IN" sz="1400" b="1">
                <a:solidFill>
                  <a:srgbClr val="F59E0B"/>
                </a:solidFill>
                <a:latin typeface="Segoe UI" panose="020B0502040204020203" pitchFamily="34" charset="0"/>
              </a:rPr>
              <a:t>SAGAR COACHING CENTRE BHAGWANPUR</a:t>
            </a:r>
          </a:p>
        </p:txBody>
      </p:sp>
      <p:sp>
        <p:nvSpPr>
          <p:cNvPr id="4" name="Rectangle: Rounded Corners 3">
            <a:extLst>
              <a:ext uri="{FF2B5EF4-FFF2-40B4-BE49-F238E27FC236}">
                <a16:creationId xmlns:a16="http://schemas.microsoft.com/office/drawing/2014/main" id="{0406B0F2-8D74-7251-A92D-4DDE0111882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0118C2D-578F-35C2-261E-389C4A4A1DF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254B0DBB-820F-256F-E83D-4410427066E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714500" y="1206500"/>
            <a:ext cx="1651000" cy="1651000"/>
          </a:xfrm>
          <a:prstGeom prst="rect">
            <a:avLst/>
          </a:prstGeom>
        </p:spPr>
      </p:pic>
      <p:sp>
        <p:nvSpPr>
          <p:cNvPr id="8" name="TextBox 7">
            <a:extLst>
              <a:ext uri="{FF2B5EF4-FFF2-40B4-BE49-F238E27FC236}">
                <a16:creationId xmlns:a16="http://schemas.microsoft.com/office/drawing/2014/main" id="{815D8B54-DAC5-50B2-D3FD-CAC4F852AA71}"/>
              </a:ext>
            </a:extLst>
          </p:cNvPr>
          <p:cNvSpPr txBox="1"/>
          <p:nvPr/>
        </p:nvSpPr>
        <p:spPr>
          <a:xfrm>
            <a:off x="355600" y="2984500"/>
            <a:ext cx="4368800" cy="1169551"/>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कोचिंग सेंटर ब्रांडिंग विवरण (</a:t>
            </a:r>
            <a:r>
              <a:rPr lang="en-IN" sz="1000">
                <a:solidFill>
                  <a:srgbClr val="CBD5E1"/>
                </a:solidFill>
                <a:latin typeface="Segoe UI" panose="020B0502040204020203" pitchFamily="34" charset="0"/>
              </a:rPr>
              <a:t>Branding Details):
* SAGAR COACHING CENTRE BHAGWANPUR
* </a:t>
            </a:r>
            <a:r>
              <a:rPr lang="hi-IN" sz="1000">
                <a:solidFill>
                  <a:srgbClr val="CBD5E1"/>
                </a:solidFill>
                <a:latin typeface="Segoe UI" panose="020B0502040204020203" pitchFamily="34" charset="0"/>
              </a:rPr>
              <a:t>राष्ट्रीय आय-सह-मेधा छात्रवृत्ति परीक्षा (</a:t>
            </a:r>
            <a:r>
              <a:rPr lang="en-IN" sz="1000">
                <a:solidFill>
                  <a:srgbClr val="CBD5E1"/>
                </a:solidFill>
                <a:latin typeface="Segoe UI" panose="020B0502040204020203" pitchFamily="34" charset="0"/>
              </a:rPr>
              <a:t>NMMS) • </a:t>
            </a:r>
            <a:r>
              <a:rPr lang="hi-IN" sz="1000">
                <a:solidFill>
                  <a:srgbClr val="CBD5E1"/>
                </a:solidFill>
                <a:latin typeface="Segoe UI" panose="020B0502040204020203" pitchFamily="34" charset="0"/>
              </a:rPr>
              <a:t>कक्षा 08 • इतिहास
* 1857 की महान क्रांति
* मार्गदर्शक: श्रवण कुमार 'सागर' (</a:t>
            </a:r>
            <a:r>
              <a:rPr lang="en-IN" sz="1000">
                <a:solidFill>
                  <a:srgbClr val="CBD5E1"/>
                </a:solidFill>
                <a:latin typeface="Segoe UI" panose="020B0502040204020203" pitchFamily="34" charset="0"/>
              </a:rPr>
              <a:t>Sagar Sir)
* </a:t>
            </a:r>
            <a:r>
              <a:rPr lang="hi-IN" sz="1000">
                <a:solidFill>
                  <a:srgbClr val="CBD5E1"/>
                </a:solidFill>
                <a:latin typeface="Segoe UI" panose="020B0502040204020203" pitchFamily="34" charset="0"/>
              </a:rPr>
              <a:t>सागर कोचिंग सेंटर, भगवानपुर (सुपौल)</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10DE4A8-C80E-920B-C4ED-4EBF6F4A5B5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C11AE21E-344C-286B-E342-32AC1CE275B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A7C8BB87-E8F8-CC82-3F78-37C507F2A957}"/>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स्वागत है प्यारे बच्चों सागर कोचिंग सेंटर भगवानपुर के इस विशेष डिजिटल मंच पर! आज की क्लास राष्ट्रीय आय-सह-मेधा छात्रवृत्ति परीक्षा (</a:t>
            </a:r>
            <a:r>
              <a:rPr lang="en-IN" sz="1100">
                <a:solidFill>
                  <a:srgbClr val="F8FAFC"/>
                </a:solidFill>
                <a:latin typeface="Segoe UI" panose="020B0502040204020203" pitchFamily="34" charset="0"/>
              </a:rPr>
              <a:t>NMMS) </a:t>
            </a:r>
            <a:r>
              <a:rPr lang="hi-IN" sz="1100">
                <a:solidFill>
                  <a:srgbClr val="F8FAFC"/>
                </a:solidFill>
                <a:latin typeface="Segoe UI" panose="020B0502040204020203" pitchFamily="34" charset="0"/>
              </a:rPr>
              <a:t>के इतिहास खंड का सबसे महत्वपूर्ण अध्याय है—1857 की महान क्रांति। पूरी क्लास को ध्यानपूर्वक समझें और अंत में दिए गए टेस्ट में अपना स्कोर चेक करें!</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3E49B58-DB55-0D75-2665-8DCC2BA6620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41A5E7D-8165-8940-96A4-2F542F3A3A8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629B8C52-2B2D-2EE1-56BA-A3DB68D63E3A}"/>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स्वागत पंच: 'कमर कस लीजिए बच्चों, आज की क्लास के बाद इतिहास रटना नहीं पड़ेगा, सीधा दिमाग में छप जाएगा!'
शायरी: </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21A5BDB-73D6-EDD1-6564-26B2F011CD7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9C0B003E-5314-1817-0390-4223C7C53D44}"/>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1839C3F5-1403-6578-CB72-9483C2F9761B}"/>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Cinematic 3D animation style, dramatic wide shot of mid-19th century British East India Company colonial officers and Indian sepoys, storm clouds gathering, 8k resolution.</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0894981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3BEE313-C373-FF23-4539-B50E5E24964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9EE1EB0-76EC-37EF-0545-1F52AF29DAD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 दृश्य 1: बारूद का ढेर — 1857 से पहले का सुलगता भारत (</a:t>
            </a:r>
            <a:r>
              <a:rPr lang="en-IN" sz="14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19D965D0-DBC5-29DB-2957-25703AAD6BC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5080F2B-CC52-CC9C-1E43-57AA977A3F0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2772886A-8545-4326-EB11-773BA0A4528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1E8CBD47-E240-B16D-3D49-84EC88EC85C4}"/>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a:t>
            </a:r>
            <a:r>
              <a:rPr lang="en-IN" sz="1000">
                <a:solidFill>
                  <a:srgbClr val="CBD5E1"/>
                </a:solidFill>
                <a:latin typeface="Segoe UI" panose="020B0502040204020203" pitchFamily="34" charset="0"/>
              </a:rPr>
              <a:t>Lord Dalhousie) </a:t>
            </a:r>
            <a:r>
              <a:rPr lang="hi-IN" sz="1000">
                <a:solidFill>
                  <a:srgbClr val="CBD5E1"/>
                </a:solidFill>
                <a:latin typeface="Segoe UI" panose="020B0502040204020203" pitchFamily="34" charset="0"/>
              </a:rPr>
              <a:t>की कुख्यात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द्वारा सतारा, झांसी, नागपुर का विलय
• 1856 में 'कुशासन' (</a:t>
            </a:r>
            <a:r>
              <a:rPr lang="en-IN" sz="1000">
                <a:solidFill>
                  <a:srgbClr val="CBD5E1"/>
                </a:solidFill>
                <a:latin typeface="Segoe UI" panose="020B0502040204020203" pitchFamily="34" charset="0"/>
              </a:rPr>
              <a:t>Misgovernance) </a:t>
            </a:r>
            <a:r>
              <a:rPr lang="hi-IN" sz="1000">
                <a:solidFill>
                  <a:srgbClr val="CBD5E1"/>
                </a:solidFill>
                <a:latin typeface="Segoe UI" panose="020B0502040204020203" pitchFamily="34" charset="0"/>
              </a:rPr>
              <a:t>का झूठा आरोप लगाकर अवध (</a:t>
            </a:r>
            <a:r>
              <a:rPr lang="en-IN" sz="1000">
                <a:solidFill>
                  <a:srgbClr val="CBD5E1"/>
                </a:solidFill>
                <a:latin typeface="Segoe UI" panose="020B0502040204020203" pitchFamily="34" charset="0"/>
              </a:rPr>
              <a:t>Awadh) </a:t>
            </a:r>
            <a:r>
              <a:rPr lang="hi-IN" sz="1000">
                <a:solidFill>
                  <a:srgbClr val="CBD5E1"/>
                </a:solidFill>
                <a:latin typeface="Segoe UI" panose="020B0502040204020203" pitchFamily="34" charset="0"/>
              </a:rPr>
              <a:t>का ब्रिटिश साम्राज्य में विलय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के तहत अंग्रेजों द्वारा हड़पा गया पहला राज्य 'सतारा' (</a:t>
            </a:r>
            <a:r>
              <a:rPr lang="en-IN" sz="1000">
                <a:solidFill>
                  <a:srgbClr val="CBD5E1"/>
                </a:solidFill>
                <a:latin typeface="Segoe UI" panose="020B0502040204020203" pitchFamily="34" charset="0"/>
              </a:rPr>
              <a:t>Satara - 1848)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C16DFA63-9190-F32E-7D56-08EF047F14F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F3FE646-8A33-E639-3635-571E97017C5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F45F7EC6-FDF0-6EA2-4C9A-C9E781DDD8BE}"/>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1857 की क्रांति अचानक नहीं हुई थी। अंग्रेज 1757 के प्लासी के युद्ध (</a:t>
            </a:r>
            <a:r>
              <a:rPr lang="en-IN" sz="1100">
                <a:solidFill>
                  <a:srgbClr val="F8FAFC"/>
                </a:solidFill>
                <a:latin typeface="Segoe UI" panose="020B0502040204020203" pitchFamily="34" charset="0"/>
              </a:rPr>
              <a:t>Battle of Plassey) </a:t>
            </a:r>
            <a:r>
              <a:rPr lang="hi-IN" sz="1100">
                <a:solidFill>
                  <a:srgbClr val="F8FAFC"/>
                </a:solidFill>
                <a:latin typeface="Segoe UI" panose="020B0502040204020203" pitchFamily="34" charset="0"/>
              </a:rPr>
              <a:t>से भारत को लूट रहे थे। गवर्नर जनरल लॉर्ड डलहौजी (</a:t>
            </a:r>
            <a:r>
              <a:rPr lang="en-IN" sz="1100">
                <a:solidFill>
                  <a:srgbClr val="F8FAFC"/>
                </a:solidFill>
                <a:latin typeface="Segoe UI" panose="020B0502040204020203" pitchFamily="34" charset="0"/>
              </a:rPr>
              <a:t>Lord Dalhousie) </a:t>
            </a:r>
            <a:r>
              <a:rPr lang="hi-IN" sz="1100">
                <a:solidFill>
                  <a:srgbClr val="F8FAFC"/>
                </a:solidFill>
                <a:latin typeface="Segoe UI" panose="020B0502040204020203" pitchFamily="34" charset="0"/>
              </a:rPr>
              <a:t>ने एक कुख्यात नियम निकाला—'हड़प नीति' (</a:t>
            </a:r>
            <a:r>
              <a:rPr lang="en-IN" sz="1100">
                <a:solidFill>
                  <a:srgbClr val="F8FAFC"/>
                </a:solidFill>
                <a:latin typeface="Segoe UI" panose="020B0502040204020203" pitchFamily="34" charset="0"/>
              </a:rPr>
              <a:t>Doctrine of Lapse)। </a:t>
            </a:r>
            <a:r>
              <a:rPr lang="hi-IN" sz="1100">
                <a:solidFill>
                  <a:srgbClr val="F8FAFC"/>
                </a:solidFill>
                <a:latin typeface="Segoe UI" panose="020B0502040204020203" pitchFamily="34" charset="0"/>
              </a:rPr>
              <a:t>जिस राजा का अपना सगा बेटा नहीं होगा, उसका राज्य अंग्रेज हड़प लेंगे! किसानों पर इतना भारी लगान (</a:t>
            </a:r>
            <a:r>
              <a:rPr lang="en-IN" sz="1100">
                <a:solidFill>
                  <a:srgbClr val="F8FAFC"/>
                </a:solidFill>
                <a:latin typeface="Segoe UI" panose="020B0502040204020203" pitchFamily="34" charset="0"/>
              </a:rPr>
              <a:t>Taxes) </a:t>
            </a:r>
            <a:r>
              <a:rPr lang="hi-IN" sz="1100">
                <a:solidFill>
                  <a:srgbClr val="F8FAFC"/>
                </a:solidFill>
                <a:latin typeface="Segoe UI" panose="020B0502040204020203" pitchFamily="34" charset="0"/>
              </a:rPr>
              <a:t>कि वे भुखमरी के कगार पर पहुंच गए। और सेना में? भारतीय सिपाही चाहे कितना भी बहादुर हो, उसे कभी सूबेदार (</a:t>
            </a:r>
            <a:r>
              <a:rPr lang="en-IN" sz="1100">
                <a:solidFill>
                  <a:srgbClr val="F8FAFC"/>
                </a:solidFill>
                <a:latin typeface="Segoe UI" panose="020B0502040204020203" pitchFamily="34" charset="0"/>
              </a:rPr>
              <a:t>Subedar) </a:t>
            </a:r>
            <a:r>
              <a:rPr lang="hi-IN" sz="1100">
                <a:solidFill>
                  <a:srgbClr val="F8FAFC"/>
                </a:solidFill>
                <a:latin typeface="Segoe UI" panose="020B0502040204020203" pitchFamily="34" charset="0"/>
              </a:rPr>
              <a:t>से ऊपर पद नहीं मिलता था। भारत अंदर ही अंदर बारूद का ढेर बन चुका था, बस एक माचिस की तीली की दरकार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D1315D1-42F2-8877-F378-69FA1768E86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9C93107-0DC2-DE39-878D-E39B17852524}"/>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0369353F-3B1A-5674-D4D8-5F2E965F27DF}"/>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शायरी: गुलामी की जंजीरें जब हद से ज्यादा कसने लगीं, अंग्रेजों की करतूतों पर मौत भी हंसने लगी!</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1B3B3638-14FB-4464-2322-3E30256BBBC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64B6D3A4-9762-155A-7481-A84C822D9965}"/>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B47FB4F8-143A-B2E3-46D4-C4EB5583E7EE}"/>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Dramatic historical scene of Lord Dalhousie signing annexation documents with impoverished Indian farmers in background, dark moody lighting,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04013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254155-636C-E246-9164-B183A3A92AE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83ACCD9-43C8-F14C-C3F2-1E3C47B7511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 दृश्य 2: आग में घी — चर्बी वाले कारतूस (</a:t>
            </a:r>
            <a:r>
              <a:rPr lang="en-IN" sz="1400" b="1">
                <a:solidFill>
                  <a:srgbClr val="F59E0B"/>
                </a:solidFill>
                <a:latin typeface="Segoe UI" panose="020B0502040204020203" pitchFamily="34" charset="0"/>
              </a:rPr>
              <a:t>Greased Cartridges) </a:t>
            </a:r>
            <a:r>
              <a:rPr lang="hi-IN" sz="1400" b="1">
                <a:solidFill>
                  <a:srgbClr val="F59E0B"/>
                </a:solidFill>
                <a:latin typeface="Segoe UI" panose="020B0502040204020203" pitchFamily="34" charset="0"/>
              </a:rPr>
              <a:t>का पर्दाफाश</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871AE4E7-5225-D700-B88E-E36DD69FE48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29DE217-3DFC-A128-6B23-A932EB94F64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88C09CC4-8087-7824-4CAF-0ADC6180A4A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52339FE0-9A8F-0467-AE29-09963225EBD3}"/>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दिसंबर 1856: पुरानी 'ब्राउन बैस' (</a:t>
            </a:r>
            <a:r>
              <a:rPr lang="en-IN" sz="1000">
                <a:solidFill>
                  <a:srgbClr val="CBD5E1"/>
                </a:solidFill>
                <a:latin typeface="Segoe UI" panose="020B0502040204020203" pitchFamily="34" charset="0"/>
              </a:rPr>
              <a:t>Brown Bess) </a:t>
            </a:r>
            <a:r>
              <a:rPr lang="hi-IN" sz="1000">
                <a:solidFill>
                  <a:srgbClr val="CBD5E1"/>
                </a:solidFill>
                <a:latin typeface="Segoe UI" panose="020B0502040204020203" pitchFamily="34" charset="0"/>
              </a:rPr>
              <a:t>की जगह नई 'एनफील्ड राइफल' (</a:t>
            </a:r>
            <a:r>
              <a:rPr lang="en-IN" sz="1000">
                <a:solidFill>
                  <a:srgbClr val="CBD5E1"/>
                </a:solidFill>
                <a:latin typeface="Segoe UI" panose="020B0502040204020203" pitchFamily="34" charset="0"/>
              </a:rPr>
              <a:t>Enfield P-53) </a:t>
            </a:r>
            <a:r>
              <a:rPr lang="hi-IN" sz="1000">
                <a:solidFill>
                  <a:srgbClr val="CBD5E1"/>
                </a:solidFill>
                <a:latin typeface="Segoe UI" panose="020B0502040204020203" pitchFamily="34" charset="0"/>
              </a:rPr>
              <a:t>लागू की गई
• कारतूस (</a:t>
            </a:r>
            <a:r>
              <a:rPr lang="en-IN" sz="1000">
                <a:solidFill>
                  <a:srgbClr val="CBD5E1"/>
                </a:solidFill>
                <a:latin typeface="Segoe UI" panose="020B0502040204020203" pitchFamily="34" charset="0"/>
              </a:rPr>
              <a:t>Cartridge) </a:t>
            </a:r>
            <a:r>
              <a:rPr lang="hi-IN" sz="1000">
                <a:solidFill>
                  <a:srgbClr val="CBD5E1"/>
                </a:solidFill>
                <a:latin typeface="Segoe UI" panose="020B0502040204020203" pitchFamily="34" charset="0"/>
              </a:rPr>
              <a:t>की चिकनी ग्रीस को बंदूक में भरने से पहले दाँतों (</a:t>
            </a:r>
            <a:r>
              <a:rPr lang="en-IN" sz="1000">
                <a:solidFill>
                  <a:srgbClr val="CBD5E1"/>
                </a:solidFill>
                <a:latin typeface="Segoe UI" panose="020B0502040204020203" pitchFamily="34" charset="0"/>
              </a:rPr>
              <a:t>Teeth) </a:t>
            </a:r>
            <a:r>
              <a:rPr lang="hi-IN" sz="1000">
                <a:solidFill>
                  <a:srgbClr val="CBD5E1"/>
                </a:solidFill>
                <a:latin typeface="Segoe UI" panose="020B0502040204020203" pitchFamily="34" charset="0"/>
              </a:rPr>
              <a:t>से काटना अनिवार्य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महा-विद्रोह का तात्कालिक कारण (</a:t>
            </a:r>
            <a:r>
              <a:rPr lang="en-IN" sz="1000">
                <a:solidFill>
                  <a:srgbClr val="CBD5E1"/>
                </a:solidFill>
                <a:latin typeface="Segoe UI" panose="020B0502040204020203" pitchFamily="34" charset="0"/>
              </a:rPr>
              <a:t>Immediate Cause) '</a:t>
            </a:r>
            <a:r>
              <a:rPr lang="hi-IN" sz="1000">
                <a:solidFill>
                  <a:srgbClr val="CBD5E1"/>
                </a:solidFill>
                <a:latin typeface="Segoe UI" panose="020B0502040204020203" pitchFamily="34" charset="0"/>
              </a:rPr>
              <a:t>चर्बी वाले कारतूस' (</a:t>
            </a:r>
            <a:r>
              <a:rPr lang="en-IN" sz="1000">
                <a:solidFill>
                  <a:srgbClr val="CBD5E1"/>
                </a:solidFill>
                <a:latin typeface="Segoe UI" panose="020B0502040204020203" pitchFamily="34" charset="0"/>
              </a:rPr>
              <a:t>Greased Cartridges) </a:t>
            </a:r>
            <a:r>
              <a:rPr lang="hi-IN" sz="1000">
                <a:solidFill>
                  <a:srgbClr val="CBD5E1"/>
                </a:solidFill>
                <a:latin typeface="Segoe UI" panose="020B0502040204020203" pitchFamily="34" charset="0"/>
              </a:rPr>
              <a:t>ही 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FFD7833B-8745-6F21-E31A-5BD025090C0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078883E-7580-1A8A-F7E2-6D4522D28AB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FE484ABE-6ACC-95E1-5435-94F3CFB959B1}"/>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अब सुनो वह घटना जिसने आग में घी का काम किया! दिसंबर 1856 में अंग्रेजों ने सेना में पुरानी 'ब्राउन बैस' (</a:t>
            </a:r>
            <a:r>
              <a:rPr lang="en-IN" sz="1100">
                <a:solidFill>
                  <a:srgbClr val="F8FAFC"/>
                </a:solidFill>
                <a:latin typeface="Segoe UI" panose="020B0502040204020203" pitchFamily="34" charset="0"/>
              </a:rPr>
              <a:t>Brown Bess) </a:t>
            </a:r>
            <a:r>
              <a:rPr lang="hi-IN" sz="1100">
                <a:solidFill>
                  <a:srgbClr val="F8FAFC"/>
                </a:solidFill>
                <a:latin typeface="Segoe UI" panose="020B0502040204020203" pitchFamily="34" charset="0"/>
              </a:rPr>
              <a:t>मस्कट हटाकर 'एनफील्ड </a:t>
            </a:r>
            <a:r>
              <a:rPr lang="en-IN" sz="1100">
                <a:solidFill>
                  <a:srgbClr val="F8FAFC"/>
                </a:solidFill>
                <a:latin typeface="Segoe UI" panose="020B0502040204020203" pitchFamily="34" charset="0"/>
              </a:rPr>
              <a:t>P-53' (Enfield P-53 Rifle) </a:t>
            </a:r>
            <a:r>
              <a:rPr lang="hi-IN" sz="110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a:t>
            </a:r>
            <a:r>
              <a:rPr lang="en-IN" sz="1100">
                <a:solidFill>
                  <a:srgbClr val="F8FAFC"/>
                </a:solidFill>
                <a:latin typeface="Segoe UI" panose="020B0502040204020203" pitchFamily="34" charset="0"/>
              </a:rPr>
              <a:t>Teeth) </a:t>
            </a:r>
            <a:r>
              <a:rPr lang="hi-IN" sz="1100">
                <a:solidFill>
                  <a:srgbClr val="F8FAFC"/>
                </a:solidFill>
                <a:latin typeface="Segoe UI" panose="020B0502040204020203" pitchFamily="34" charset="0"/>
              </a:rPr>
              <a:t>से काटना पड़ता था! जनवरी 1857 में दमदम (</a:t>
            </a:r>
            <a:r>
              <a:rPr lang="en-IN" sz="1100">
                <a:solidFill>
                  <a:srgbClr val="F8FAFC"/>
                </a:solidFill>
                <a:latin typeface="Segoe UI" panose="020B0502040204020203" pitchFamily="34" charset="0"/>
              </a:rPr>
              <a:t>Dum Dum) </a:t>
            </a:r>
            <a:r>
              <a:rPr lang="hi-IN" sz="1100">
                <a:solidFill>
                  <a:srgbClr val="F8FAFC"/>
                </a:solidFill>
                <a:latin typeface="Segoe UI" panose="020B0502040204020203" pitchFamily="34" charset="0"/>
              </a:rPr>
              <a:t>में एक खलासी ने खुलासा किया कि इस ग्रीस में गाय (</a:t>
            </a:r>
            <a:r>
              <a:rPr lang="en-IN" sz="1100">
                <a:solidFill>
                  <a:srgbClr val="F8FAFC"/>
                </a:solidFill>
                <a:latin typeface="Segoe UI" panose="020B0502040204020203" pitchFamily="34" charset="0"/>
              </a:rPr>
              <a:t>Cow) </a:t>
            </a:r>
            <a:r>
              <a:rPr lang="hi-IN" sz="1100">
                <a:solidFill>
                  <a:srgbClr val="F8FAFC"/>
                </a:solidFill>
                <a:latin typeface="Segoe UI" panose="020B0502040204020203" pitchFamily="34" charset="0"/>
              </a:rPr>
              <a:t>और सुअर (</a:t>
            </a:r>
            <a:r>
              <a:rPr lang="en-IN" sz="1100">
                <a:solidFill>
                  <a:srgbClr val="F8FAFC"/>
                </a:solidFill>
                <a:latin typeface="Segoe UI" panose="020B0502040204020203" pitchFamily="34" charset="0"/>
              </a:rPr>
              <a:t>Pig) </a:t>
            </a:r>
            <a:r>
              <a:rPr lang="hi-IN" sz="1100">
                <a:solidFill>
                  <a:srgbClr val="F8FAFC"/>
                </a:solidFill>
                <a:latin typeface="Segoe UI" panose="020B0502040204020203" pitchFamily="34" charset="0"/>
              </a:rPr>
              <a:t>की चर्बी है! गाय हिंदुओं के लिए पूज्य मां और सुअर मुस्लिमों के लिए हराम! सैनिकों को लगा कि अंग्रेज हमारी जमीन के बाद अब हमारा धर्म भी भ्रष्ट कर रहे हैं!</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E81A37F-5893-9BB7-A8D3-11D0DEC70FC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612B060A-DD16-B427-D004-5762F6CB740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204428F2-7BFE-5794-D657-A9EF5A733161}"/>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शायरी: गाय और सुअर की चर्बी से जब बारूद को सनाया था, अंग्रेजों ने खुद अपनी मौत का फरमान बनाया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4AC4CFD8-C6FA-B167-77E4-F4F32946DDC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DC6EE790-48A5-7AE5-2B92-650947D4F4C0}"/>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0A25E244-385C-4FB1-1735-577E494ECD51}"/>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Macro cinematic shot of an 1853 Enfield paper cartridge held in sepoy hands, glowing candlelight, intense suspense, 8k photorealistic.</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39902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0DCD51-2E96-B56F-77A5-E8452D684EB7}"/>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0ECFC16-F6F8-FA06-EB33-AB2654ECED6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4]: दृश्य 3: पहला महा-विस्फोट — अमर बलिदानी मंगल पांडे (</a:t>
            </a:r>
            <a:r>
              <a:rPr lang="en-IN" sz="1400" b="1">
                <a:solidFill>
                  <a:srgbClr val="F59E0B"/>
                </a:solidFill>
                <a:latin typeface="Segoe UI" panose="020B0502040204020203" pitchFamily="34" charset="0"/>
              </a:rPr>
              <a:t>Mangal Pandey)</a:t>
            </a:r>
          </a:p>
        </p:txBody>
      </p:sp>
      <p:sp>
        <p:nvSpPr>
          <p:cNvPr id="4" name="Rectangle: Rounded Corners 3">
            <a:extLst>
              <a:ext uri="{FF2B5EF4-FFF2-40B4-BE49-F238E27FC236}">
                <a16:creationId xmlns:a16="http://schemas.microsoft.com/office/drawing/2014/main" id="{E366A365-69C5-FCD7-6886-681A2F3B53A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12CF93C-25B3-931C-7911-C181A50DA209}"/>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
            <a:hlinkClick r:id="" action="ppaction://media"/>
            <a:extLst>
              <a:ext uri="{FF2B5EF4-FFF2-40B4-BE49-F238E27FC236}">
                <a16:creationId xmlns:a16="http://schemas.microsoft.com/office/drawing/2014/main" id="{F258AC00-0E02-65D0-6EC0-A1293D2FD17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DC92C852-4C6C-BAE1-C22A-0AF2D55F081F}"/>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29 </a:t>
            </a:r>
            <a:r>
              <a:rPr lang="hi-IN" sz="1000">
                <a:solidFill>
                  <a:srgbClr val="CBD5E1"/>
                </a:solidFill>
                <a:latin typeface="Segoe UI" panose="020B0502040204020203" pitchFamily="34" charset="0"/>
              </a:rPr>
              <a:t>मार्च 1857: बैरकपुर छावनी (</a:t>
            </a:r>
            <a:r>
              <a:rPr lang="en-IN" sz="1000">
                <a:solidFill>
                  <a:srgbClr val="CBD5E1"/>
                </a:solidFill>
                <a:latin typeface="Segoe UI" panose="020B0502040204020203" pitchFamily="34" charset="0"/>
              </a:rPr>
              <a:t>Barrackpore Cantonment, Bengal) </a:t>
            </a:r>
            <a:r>
              <a:rPr lang="hi-IN" sz="1000">
                <a:solidFill>
                  <a:srgbClr val="CBD5E1"/>
                </a:solidFill>
                <a:latin typeface="Segoe UI" panose="020B0502040204020203" pitchFamily="34" charset="0"/>
              </a:rPr>
              <a:t>में खुला ऐतिहासिक विद्रोह
• 34वीं बंगाल नेटिव इन्फैंट्री (34</a:t>
            </a:r>
            <a:r>
              <a:rPr lang="en-IN" sz="1000">
                <a:solidFill>
                  <a:srgbClr val="CBD5E1"/>
                </a:solidFill>
                <a:latin typeface="Segoe UI" panose="020B0502040204020203" pitchFamily="34" charset="0"/>
              </a:rPr>
              <a:t>th Bengal Native Infantry) </a:t>
            </a:r>
            <a:r>
              <a:rPr lang="hi-IN" sz="1000">
                <a:solidFill>
                  <a:srgbClr val="CBD5E1"/>
                </a:solidFill>
                <a:latin typeface="Segoe UI" panose="020B0502040204020203" pitchFamily="34" charset="0"/>
              </a:rPr>
              <a:t>के सिपाही मंगल पांडे द्वारा कारतूस का बहिष्कार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मंगल पांडे उत्तर प्रदेश के बलिया (</a:t>
            </a:r>
            <a:r>
              <a:rPr lang="en-IN" sz="1000">
                <a:solidFill>
                  <a:srgbClr val="CBD5E1"/>
                </a:solidFill>
                <a:latin typeface="Segoe UI" panose="020B0502040204020203" pitchFamily="34" charset="0"/>
              </a:rPr>
              <a:t>Ballia, UP) </a:t>
            </a:r>
            <a:r>
              <a:rPr lang="hi-IN" sz="1000">
                <a:solidFill>
                  <a:srgbClr val="CBD5E1"/>
                </a:solidFill>
                <a:latin typeface="Segoe UI" panose="020B0502040204020203" pitchFamily="34" charset="0"/>
              </a:rPr>
              <a:t>जिले के नगवा गांव के वीर सपूत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7BF2355F-E916-A4EB-C1F1-6F030D20BB6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8FD46AC-6F79-6495-469A-9FC1F94DB757}"/>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0446C546-86DA-9910-F676-88C3B4A6325A}"/>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नोट करो बच्चों—29 मार्च 1857! बंगाल की बैरकपुर छावनी (</a:t>
            </a:r>
            <a:r>
              <a:rPr lang="en-IN" sz="1100">
                <a:solidFill>
                  <a:srgbClr val="F8FAFC"/>
                </a:solidFill>
                <a:latin typeface="Segoe UI" panose="020B0502040204020203" pitchFamily="34" charset="0"/>
              </a:rPr>
              <a:t>Barrackpore Cantonment)! 34</a:t>
            </a:r>
            <a:r>
              <a:rPr lang="hi-IN" sz="1100">
                <a:solidFill>
                  <a:srgbClr val="F8FAFC"/>
                </a:solidFill>
                <a:latin typeface="Segoe UI" panose="020B0502040204020203" pitchFamily="34" charset="0"/>
              </a:rPr>
              <a:t>वीं बंगाल नेटिव इन्फैंट्री (34</a:t>
            </a:r>
            <a:r>
              <a:rPr lang="en-IN" sz="1100">
                <a:solidFill>
                  <a:srgbClr val="F8FAFC"/>
                </a:solidFill>
                <a:latin typeface="Segoe UI" panose="020B0502040204020203" pitchFamily="34" charset="0"/>
              </a:rPr>
              <a:t>th Bengal Native Infantry) </a:t>
            </a:r>
            <a:r>
              <a:rPr lang="hi-IN" sz="1100">
                <a:solidFill>
                  <a:srgbClr val="F8FAFC"/>
                </a:solidFill>
                <a:latin typeface="Segoe UI" panose="020B0502040204020203" pitchFamily="34" charset="0"/>
              </a:rPr>
              <a:t>का 29 साल का ब्राह्मण नौजवान—मंगल पांडे! मंगल पांडे ने साफ कह दिया—'मैं अपने धर्म से गद्दारी नहीं करूंगा!' जब सार्जेंट मेजर ह्यूसन (</a:t>
            </a:r>
            <a:r>
              <a:rPr lang="en-IN" sz="1100">
                <a:solidFill>
                  <a:srgbClr val="F8FAFC"/>
                </a:solidFill>
                <a:latin typeface="Segoe UI" panose="020B0502040204020203" pitchFamily="34" charset="0"/>
              </a:rPr>
              <a:t>Hughson) </a:t>
            </a:r>
            <a:r>
              <a:rPr lang="hi-IN" sz="1100">
                <a:solidFill>
                  <a:srgbClr val="F8FAFC"/>
                </a:solidFill>
                <a:latin typeface="Segoe UI" panose="020B0502040204020203" pitchFamily="34" charset="0"/>
              </a:rPr>
              <a:t>उसे पकड़ने आया, मंगल पांडे ने अपनी राइफल से उसे ढेर कर दिया! लेफ्टिनेंट बाऊ (</a:t>
            </a:r>
            <a:r>
              <a:rPr lang="en-IN" sz="1100">
                <a:solidFill>
                  <a:srgbClr val="F8FAFC"/>
                </a:solidFill>
                <a:latin typeface="Segoe UI" panose="020B0502040204020203" pitchFamily="34" charset="0"/>
              </a:rPr>
              <a:t>Lieutenant Baugh) </a:t>
            </a:r>
            <a:r>
              <a:rPr lang="hi-IN" sz="1100">
                <a:solidFill>
                  <a:srgbClr val="F8FAFC"/>
                </a:solidFill>
                <a:latin typeface="Segoe UI" panose="020B0502040204020203" pitchFamily="34" charset="0"/>
              </a:rPr>
              <a:t>पर भी हमला किया। पूरे ग्राउंड में खड़े भारतीय सैनिकों ने मंगल पांडे को छूने तक से मना कर दिया! अंग्रेजों में इतना डर था कि तय समय से 10 दिन पहले 8 अप्रैल 1857 को मंगल पांडे को फांसी (</a:t>
            </a:r>
            <a:r>
              <a:rPr lang="en-IN" sz="1100">
                <a:solidFill>
                  <a:srgbClr val="F8FAFC"/>
                </a:solidFill>
                <a:latin typeface="Segoe UI" panose="020B0502040204020203" pitchFamily="34" charset="0"/>
              </a:rPr>
              <a:t>Hanged) </a:t>
            </a:r>
            <a:r>
              <a:rPr lang="hi-IN" sz="1100">
                <a:solidFill>
                  <a:srgbClr val="F8FAFC"/>
                </a:solidFill>
                <a:latin typeface="Segoe UI" panose="020B0502040204020203" pitchFamily="34" charset="0"/>
              </a:rPr>
              <a:t>दे दी गई!</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8CF21ADF-2934-C14B-0608-3725908361F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27023060-9BC2-ED89-4A55-C0A9B9BAC35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108DC0BD-E37F-374A-87AE-E7F80E9FFE3F}"/>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ट्रिक: 'मंगल ने किया दंगल, 29 मार्च को बैरकपुर में 34वीं रेजिमेंट के संग!'
शायरी: हुकूमत का गुरूर था, बारूद का वो दौर था, अंग्रेजों की छाती पर मंगल पांडे का ज़ोर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1F655B63-9F36-5243-C04F-294DAC376CB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065D28CF-B05D-BAF1-9727-7E9C9BDA49AC}"/>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4E0C4E54-220B-59E0-5A35-9B3226B80F56}"/>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defiant shot of Indian sepoy Mangal Pandey in military uniform with smoking musket at Barrackpore parade grounds, morning sunrise, epic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315372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14A488-4F9C-F3A3-2ED7-B7F52798D5D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2A60F80-0A5E-D0A8-88ED-A71F75E5C90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5]: दृश्य 4: क्रांति का गुप्त संदेश — कमल का फूल और रोटी (</a:t>
            </a:r>
            <a:r>
              <a:rPr lang="en-IN" sz="14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089EAB6D-B552-A7C5-D6DD-9550EBD8E93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620CCFD-FD6D-ACD6-8632-192722B06D6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878072A1-DD3F-C838-35D4-E722C03CF20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0198126A-48CE-8047-32F9-45416240A755}"/>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क्रांति का गुप्त प्रतीक (</a:t>
            </a:r>
            <a:r>
              <a:rPr lang="en-IN" sz="1000">
                <a:solidFill>
                  <a:srgbClr val="CBD5E1"/>
                </a:solidFill>
                <a:latin typeface="Segoe UI" panose="020B0502040204020203" pitchFamily="34" charset="0"/>
              </a:rPr>
              <a:t>Secret Symbols): '</a:t>
            </a:r>
            <a:r>
              <a:rPr lang="hi-IN" sz="1000">
                <a:solidFill>
                  <a:srgbClr val="CBD5E1"/>
                </a:solidFill>
                <a:latin typeface="Segoe UI" panose="020B0502040204020203" pitchFamily="34" charset="0"/>
              </a:rPr>
              <a:t>लाल कमल का फूल' (</a:t>
            </a:r>
            <a:r>
              <a:rPr lang="en-IN" sz="1000">
                <a:solidFill>
                  <a:srgbClr val="CBD5E1"/>
                </a:solidFill>
                <a:latin typeface="Segoe UI" panose="020B0502040204020203" pitchFamily="34" charset="0"/>
              </a:rPr>
              <a:t>Lotus - </a:t>
            </a:r>
            <a:r>
              <a:rPr lang="hi-IN" sz="1000">
                <a:solidFill>
                  <a:srgbClr val="CBD5E1"/>
                </a:solidFill>
                <a:latin typeface="Segoe UI" panose="020B0502040204020203" pitchFamily="34" charset="0"/>
              </a:rPr>
              <a:t>सैनिकों हेतु) व 'चपाती/रोटी' (</a:t>
            </a:r>
            <a:r>
              <a:rPr lang="en-IN" sz="1000">
                <a:solidFill>
                  <a:srgbClr val="CBD5E1"/>
                </a:solidFill>
                <a:latin typeface="Segoe UI" panose="020B0502040204020203" pitchFamily="34" charset="0"/>
              </a:rPr>
              <a:t>Bread - </a:t>
            </a:r>
            <a:r>
              <a:rPr lang="hi-IN" sz="1000">
                <a:solidFill>
                  <a:srgbClr val="CBD5E1"/>
                </a:solidFill>
                <a:latin typeface="Segoe UI" panose="020B0502040204020203" pitchFamily="34" charset="0"/>
              </a:rPr>
              <a:t>जनता हेतु)
• क्रांति की पूर्व-निर्धारित योजना की तिथि 31 मई 1857 (</a:t>
            </a:r>
            <a:r>
              <a:rPr lang="en-IN" sz="1000">
                <a:solidFill>
                  <a:srgbClr val="CBD5E1"/>
                </a:solidFill>
                <a:latin typeface="Segoe UI" panose="020B0502040204020203" pitchFamily="34" charset="0"/>
              </a:rPr>
              <a:t>Planned Date: 31 May 1857) </a:t>
            </a:r>
            <a:r>
              <a:rPr lang="hi-IN" sz="1000">
                <a:solidFill>
                  <a:srgbClr val="CBD5E1"/>
                </a:solidFill>
                <a:latin typeface="Segoe UI" panose="020B0502040204020203" pitchFamily="34" charset="0"/>
              </a:rPr>
              <a:t>तय की गई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प्रथम स्वतंत्रता संग्राम का आधिकारिक प्रतीक चिह्न 'कमल और रोटी' (</a:t>
            </a:r>
            <a:r>
              <a:rPr lang="en-IN" sz="1000">
                <a:solidFill>
                  <a:srgbClr val="CBD5E1"/>
                </a:solidFill>
                <a:latin typeface="Segoe UI" panose="020B0502040204020203" pitchFamily="34" charset="0"/>
              </a:rPr>
              <a:t>Lotus and Bread)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CE796EB1-3899-6382-B06E-63CD668A51B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5756C5F-18A0-1EA5-5954-B4149361CE8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3808460C-D748-38D1-13BA-2FAE9161C5FD}"/>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a:t>
            </a:r>
            <a:r>
              <a:rPr lang="en-IN" sz="1100">
                <a:solidFill>
                  <a:srgbClr val="F8FAFC"/>
                </a:solidFill>
                <a:latin typeface="Segoe UI" panose="020B0502040204020203" pitchFamily="34" charset="0"/>
              </a:rPr>
              <a:t>Secret Symbols) </a:t>
            </a:r>
            <a:r>
              <a:rPr lang="hi-IN" sz="1100">
                <a:solidFill>
                  <a:srgbClr val="F8FAFC"/>
                </a:solidFill>
                <a:latin typeface="Segoe UI" panose="020B0502040204020203" pitchFamily="34" charset="0"/>
              </a:rPr>
              <a:t>चुने—'लाल कमल का फूल' (</a:t>
            </a:r>
            <a:r>
              <a:rPr lang="en-IN" sz="1100">
                <a:solidFill>
                  <a:srgbClr val="F8FAFC"/>
                </a:solidFill>
                <a:latin typeface="Segoe UI" panose="020B0502040204020203" pitchFamily="34" charset="0"/>
              </a:rPr>
              <a:t>Lotus - </a:t>
            </a:r>
            <a:r>
              <a:rPr lang="hi-IN" sz="1100">
                <a:solidFill>
                  <a:srgbClr val="F8FAFC"/>
                </a:solidFill>
                <a:latin typeface="Segoe UI" panose="020B0502040204020203" pitchFamily="34" charset="0"/>
              </a:rPr>
              <a:t>सैनिकों के लिए) और 'रोटी' (</a:t>
            </a:r>
            <a:r>
              <a:rPr lang="en-IN" sz="1100">
                <a:solidFill>
                  <a:srgbClr val="F8FAFC"/>
                </a:solidFill>
                <a:latin typeface="Segoe UI" panose="020B0502040204020203" pitchFamily="34" charset="0"/>
              </a:rPr>
              <a:t>Chapati - </a:t>
            </a:r>
            <a:r>
              <a:rPr lang="hi-IN" sz="1100">
                <a:solidFill>
                  <a:srgbClr val="F8FAFC"/>
                </a:solidFill>
                <a:latin typeface="Segoe UI" panose="020B0502040204020203" pitchFamily="34" charset="0"/>
              </a:rPr>
              <a:t>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A05B73C-2EAE-B0F7-0E94-F98C0E20B2C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76784FD-42E9-24DA-3CCE-EBDCE265CD9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151B5351-6B42-44EA-D84E-0FCB10CB06A1}"/>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शायरी: चुपके से रोटी बंटी, कमल का फूल मुस्काया था, अंग्रेजों को भनक न लगी, क्या तूफ़ान आने वाला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1F8676F-71E7-6087-2825-20BCA889515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94ADC4AE-C25C-6BC9-2167-F67D81611A48}"/>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69DB41EC-3A75-4414-5A3C-8FE0088034E1}"/>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Atmospheric night scene in 19th-century Indian village, secret exchange of chapati and red lotus under moonlight, warm lantern light,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265925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6B290A5-DC02-A490-CDA5-C82F744E8BD7}"/>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F34C7D0-0C7F-7491-CB42-70707E59EEB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6]: दृश्य 5: 10 मई 1857 — मेरठ का महा-विद्रोह (</a:t>
            </a:r>
            <a:r>
              <a:rPr lang="en-IN" sz="1400" b="1">
                <a:solidFill>
                  <a:srgbClr val="F59E0B"/>
                </a:solidFill>
                <a:latin typeface="Segoe UI" panose="020B0502040204020203" pitchFamily="34" charset="0"/>
              </a:rPr>
              <a:t>Meerut Mutiny) </a:t>
            </a:r>
            <a:r>
              <a:rPr lang="hi-IN" sz="1400" b="1">
                <a:solidFill>
                  <a:srgbClr val="F59E0B"/>
                </a:solidFill>
                <a:latin typeface="Segoe UI" panose="020B0502040204020203" pitchFamily="34" charset="0"/>
              </a:rPr>
              <a:t>और दिल्ली कूच</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52E6886D-D81B-131E-1795-4E279549F22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C62297F-6FEF-04DE-E989-844A934BAEF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delhi_red_fort_march">
            <a:hlinkClick r:id="" action="ppaction://media"/>
            <a:extLst>
              <a:ext uri="{FF2B5EF4-FFF2-40B4-BE49-F238E27FC236}">
                <a16:creationId xmlns:a16="http://schemas.microsoft.com/office/drawing/2014/main" id="{1F0794C5-6AE3-276E-76F6-25A534EA71D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F3E22ED9-567F-1F05-3B91-BB604DCD32E7}"/>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9 </a:t>
            </a:r>
            <a:r>
              <a:rPr lang="hi-IN" sz="1000">
                <a:solidFill>
                  <a:srgbClr val="CBD5E1"/>
                </a:solidFill>
                <a:latin typeface="Segoe UI" panose="020B0502040204020203" pitchFamily="34" charset="0"/>
              </a:rPr>
              <a:t>मई 1857: 85 भारतीय घुड़सवार सैनिकों (</a:t>
            </a:r>
            <a:r>
              <a:rPr lang="en-IN" sz="1000">
                <a:solidFill>
                  <a:srgbClr val="CBD5E1"/>
                </a:solidFill>
                <a:latin typeface="Segoe UI" panose="020B0502040204020203" pitchFamily="34" charset="0"/>
              </a:rPr>
              <a:t>Cavalry Soldiers) </a:t>
            </a:r>
            <a:r>
              <a:rPr lang="hi-IN" sz="1000">
                <a:solidFill>
                  <a:srgbClr val="CBD5E1"/>
                </a:solidFill>
                <a:latin typeface="Segoe UI" panose="020B0502040204020203" pitchFamily="34" charset="0"/>
              </a:rPr>
              <a:t>को 10-10 वर्ष का कठोर कारावास दिया गया
• 10 मई 1857 (रविवार शाम): मेरठ छावनी में खुला विद्रोह, जेल तोड़ी गई, 'मारो फिरंगी को' का उद्घोष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स्वतंत्रता संग्राम की औपचारिक शुरुआत 10 मई 1857 (10</a:t>
            </a:r>
            <a:r>
              <a:rPr lang="en-IN" sz="1000">
                <a:solidFill>
                  <a:srgbClr val="CBD5E1"/>
                </a:solidFill>
                <a:latin typeface="Segoe UI" panose="020B0502040204020203" pitchFamily="34" charset="0"/>
              </a:rPr>
              <a:t>th May 1857) </a:t>
            </a:r>
            <a:r>
              <a:rPr lang="hi-IN" sz="1000">
                <a:solidFill>
                  <a:srgbClr val="CBD5E1"/>
                </a:solidFill>
                <a:latin typeface="Segoe UI" panose="020B0502040204020203" pitchFamily="34" charset="0"/>
              </a:rPr>
              <a:t>को मेरठ से हुई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D946720-709E-BB01-52CB-86DB8A25204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F578D8C-BD54-43EE-1DA0-E3808DABFF4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C1868165-B80F-8D74-E90E-5B9887CC9639}"/>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याद रखो—10 मई 1857, रविवार की शाम! जगह: मेरठ छावनी (</a:t>
            </a:r>
            <a:r>
              <a:rPr lang="en-IN" sz="1100">
                <a:solidFill>
                  <a:srgbClr val="F8FAFC"/>
                </a:solidFill>
                <a:latin typeface="Segoe UI" panose="020B0502040204020203" pitchFamily="34" charset="0"/>
              </a:rPr>
              <a:t>Meerut Cantonment)। </a:t>
            </a:r>
            <a:r>
              <a:rPr lang="hi-IN" sz="1100">
                <a:solidFill>
                  <a:srgbClr val="F8FAFC"/>
                </a:solidFill>
                <a:latin typeface="Segoe UI" panose="020B0502040204020203" pitchFamily="34" charset="0"/>
              </a:rPr>
              <a:t>एक दिन पहले 85 सैनिकों (</a:t>
            </a:r>
            <a:r>
              <a:rPr lang="en-IN" sz="1100">
                <a:solidFill>
                  <a:srgbClr val="F8FAFC"/>
                </a:solidFill>
                <a:latin typeface="Segoe UI" panose="020B0502040204020203" pitchFamily="34" charset="0"/>
              </a:rPr>
              <a:t>Cavalry Soldiers) </a:t>
            </a:r>
            <a:r>
              <a:rPr lang="hi-IN" sz="1100">
                <a:solidFill>
                  <a:srgbClr val="F8FAFC"/>
                </a:solidFill>
                <a:latin typeface="Segoe UI" panose="020B0502040204020203" pitchFamily="34" charset="0"/>
              </a:rPr>
              <a:t>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के लिए दौड़ पड़े!</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2C419B49-44BC-8130-8537-9929D0C453F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B31E2673-4819-C7F0-A17E-85F4C3820C8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ED457679-3463-A67D-3E6A-7528B96DFE27}"/>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'मेरठ वालों ने ऐसा गदर मचाया कि अंग्रेजों को जूते पहनने तक की फुरसत नहीं मिली!'
शायरी: मेरठ की चिंगारी ने ऐसा शोला भड़काया, रातों-रात दिल्ली जाकर अंग्रेजों का तख्त हिलाया!</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D51965B5-0035-7C7F-5B89-B3B0032E481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4725C8D3-4BF9-A261-C381-17A810843F8A}"/>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41FBB400-85A5-D5FF-2ECB-CCB3952857E0}"/>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Dynamic night-to-dawn shot of rebel cavalry with flaming torches galloping across Yamuna bridge towards Delhi Red Fort, 8k epic scale.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990372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C84F45-9E7B-5165-EB1F-29CA1B073DFE}"/>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3165912-271F-EBCD-50FC-F00903348BD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7]: दृश्य 6: लाल किला और 82 वर्षीय शहंशाह — बहादुर शाह ज़फ़र (</a:t>
            </a:r>
            <a:r>
              <a:rPr lang="en-IN" sz="1400" b="1">
                <a:solidFill>
                  <a:srgbClr val="F59E0B"/>
                </a:solidFill>
                <a:latin typeface="Segoe UI" panose="020B0502040204020203" pitchFamily="34" charset="0"/>
              </a:rPr>
              <a:t>Bahadur Shah Zafar)</a:t>
            </a:r>
          </a:p>
        </p:txBody>
      </p:sp>
      <p:sp>
        <p:nvSpPr>
          <p:cNvPr id="4" name="Rectangle: Rounded Corners 3">
            <a:extLst>
              <a:ext uri="{FF2B5EF4-FFF2-40B4-BE49-F238E27FC236}">
                <a16:creationId xmlns:a16="http://schemas.microsoft.com/office/drawing/2014/main" id="{C9EBAD73-EE3A-7991-49CD-271C53ACBC9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0F41859-7312-53B0-5583-1C013B6F319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bahadur_shah_red_fort">
            <a:hlinkClick r:id="" action="ppaction://media"/>
            <a:extLst>
              <a:ext uri="{FF2B5EF4-FFF2-40B4-BE49-F238E27FC236}">
                <a16:creationId xmlns:a16="http://schemas.microsoft.com/office/drawing/2014/main" id="{65F7AF74-3116-4D7E-488C-634D25847E5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9B3327A4-6E43-BA4A-A3BC-1961A22D0ACA}"/>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82 </a:t>
            </a:r>
            <a:r>
              <a:rPr lang="hi-IN" sz="1000">
                <a:solidFill>
                  <a:srgbClr val="CBD5E1"/>
                </a:solidFill>
                <a:latin typeface="Segoe UI" panose="020B0502040204020203" pitchFamily="34" charset="0"/>
              </a:rPr>
              <a:t>वर्षीय अंतिम मुगल सम्राट (</a:t>
            </a:r>
            <a:r>
              <a:rPr lang="en-IN" sz="1000">
                <a:solidFill>
                  <a:srgbClr val="CBD5E1"/>
                </a:solidFill>
                <a:latin typeface="Segoe UI" panose="020B0502040204020203" pitchFamily="34" charset="0"/>
              </a:rPr>
              <a:t>Last Mughal Emperor) </a:t>
            </a:r>
            <a:r>
              <a:rPr lang="hi-IN" sz="1000">
                <a:solidFill>
                  <a:srgbClr val="CBD5E1"/>
                </a:solidFill>
                <a:latin typeface="Segoe UI" panose="020B0502040204020203" pitchFamily="34" charset="0"/>
              </a:rPr>
              <a:t>बहादुर शाह द्वितीय को क्रांति का सर्वोच्च नेता घोषित किया गया
• क्रांतिकारियों ने उन्हें 'शहंशाह-ए-हिंदुस्तान' (</a:t>
            </a:r>
            <a:r>
              <a:rPr lang="en-IN" sz="1000">
                <a:solidFill>
                  <a:srgbClr val="CBD5E1"/>
                </a:solidFill>
                <a:latin typeface="Segoe UI" panose="020B0502040204020203" pitchFamily="34" charset="0"/>
              </a:rPr>
              <a:t>Emperor of India) </a:t>
            </a:r>
            <a:r>
              <a:rPr lang="hi-IN" sz="1000">
                <a:solidFill>
                  <a:srgbClr val="CBD5E1"/>
                </a:solidFill>
                <a:latin typeface="Segoe UI" panose="020B0502040204020203" pitchFamily="34" charset="0"/>
              </a:rPr>
              <a:t>की पदवी से नवाजा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विद्रोह के बाद बहादुर शाह ज़फ़र को हुमायूं के मकबरे से पकड़कर 'रंगून' (</a:t>
            </a:r>
            <a:r>
              <a:rPr lang="en-IN" sz="1000">
                <a:solidFill>
                  <a:srgbClr val="CBD5E1"/>
                </a:solidFill>
                <a:latin typeface="Segoe UI" panose="020B0502040204020203" pitchFamily="34" charset="0"/>
              </a:rPr>
              <a:t>Rangoon, Myanmar) </a:t>
            </a:r>
            <a:r>
              <a:rPr lang="hi-IN" sz="1000">
                <a:solidFill>
                  <a:srgbClr val="CBD5E1"/>
                </a:solidFill>
                <a:latin typeface="Segoe UI" panose="020B0502040204020203" pitchFamily="34" charset="0"/>
              </a:rPr>
              <a:t>निर्वासित किया गया!</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2983E52-48A8-5152-08AC-1C6DA8F31B5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82445E6-98B8-2465-B0A1-426B1C16AFEB}"/>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709CC796-1C86-46D2-1CE0-470F447AF2B2}"/>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11 मई की सुबह जब विद्रोही सैनिक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में दाखिल हुए, तो उन्होंने 82 साल के बुजुर्ग अंतिम मुगल बादशाह बहादुर शाह ज़फ़र (</a:t>
            </a:r>
            <a:r>
              <a:rPr lang="en-IN" sz="1100">
                <a:solidFill>
                  <a:srgbClr val="F8FAFC"/>
                </a:solidFill>
                <a:latin typeface="Segoe UI" panose="020B0502040204020203" pitchFamily="34" charset="0"/>
              </a:rPr>
              <a:t>Last Mughal Emperor) </a:t>
            </a:r>
            <a:r>
              <a:rPr lang="hi-IN" sz="1100">
                <a:solidFill>
                  <a:srgbClr val="F8FAFC"/>
                </a:solidFill>
                <a:latin typeface="Segoe UI" panose="020B0502040204020203" pitchFamily="34" charset="0"/>
              </a:rPr>
              <a:t>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a:t>
            </a:r>
            <a:r>
              <a:rPr lang="en-IN" sz="1100">
                <a:solidFill>
                  <a:srgbClr val="F8FAFC"/>
                </a:solidFill>
                <a:latin typeface="Segoe UI" panose="020B0502040204020203" pitchFamily="34" charset="0"/>
              </a:rPr>
              <a:t>Emperor of India) </a:t>
            </a:r>
            <a:r>
              <a:rPr lang="hi-IN" sz="1100">
                <a:solidFill>
                  <a:srgbClr val="F8FAFC"/>
                </a:solidFill>
                <a:latin typeface="Segoe UI" panose="020B0502040204020203" pitchFamily="34" charset="0"/>
              </a:rPr>
              <a:t>घोषित किया गया। और वास्तविक सैन्य कमान (</a:t>
            </a:r>
            <a:r>
              <a:rPr lang="en-IN" sz="1100">
                <a:solidFill>
                  <a:srgbClr val="F8FAFC"/>
                </a:solidFill>
                <a:latin typeface="Segoe UI" panose="020B0502040204020203" pitchFamily="34" charset="0"/>
              </a:rPr>
              <a:t>Military Command) </a:t>
            </a:r>
            <a:r>
              <a:rPr lang="hi-IN" sz="1100">
                <a:solidFill>
                  <a:srgbClr val="F8FAFC"/>
                </a:solidFill>
                <a:latin typeface="Segoe UI" panose="020B0502040204020203" pitchFamily="34" charset="0"/>
              </a:rPr>
              <a:t>बरेली से आए जांबाज सिपाही 'जनरल बख्त खान' (</a:t>
            </a:r>
            <a:r>
              <a:rPr lang="en-IN" sz="1100">
                <a:solidFill>
                  <a:srgbClr val="F8FAFC"/>
                </a:solidFill>
                <a:latin typeface="Segoe UI" panose="020B0502040204020203" pitchFamily="34" charset="0"/>
              </a:rPr>
              <a:t>General Bakht Khan) </a:t>
            </a:r>
            <a:r>
              <a:rPr lang="hi-IN" sz="1100">
                <a:solidFill>
                  <a:srgbClr val="F8FAFC"/>
                </a:solidFill>
                <a:latin typeface="Segoe UI" panose="020B0502040204020203" pitchFamily="34" charset="0"/>
              </a:rPr>
              <a:t>ने संभाली!</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A13A15E6-D864-C37F-9795-305C80D958C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E9F58742-CE0C-9A42-E35E-9FDFAB1D861C}"/>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7FE48C01-66F4-74B5-3318-EE0B6E815396}"/>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बात: '82 की उम्र में लोग बिस्तर नहीं छोड़ते, उस उम्र में बादशाह जफ़र ने दुनिया की सबसे बड़ी ताकत को ललकारा था!'
शायरी: उम्र 82 की थी मगर, सीने में हिंदुस्तान था, लाल किले की दीवारों पर फिर से आजादी का ऐलान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8CC75CFC-FCD9-C7E0-6CBC-7F30D6E7EA4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391B1A1E-084C-0D90-A04E-C56514DEF651}"/>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2DAA2A60-5612-494B-5A63-6E0E5474B85D}"/>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Mughal Emperor Bahadur Shah Zafar seated in Diwan-i-Khas surrounded by armed rebel sepoys raising their swords in loyalty, 8k oil painting.</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199992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0BC94C-F508-07E2-3594-9FED0FB5D61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9F41FA9-24EC-BEEC-0D4E-1D0121ECEFB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8]: दृश्य 7: खूब लड़ी मर्दानी — झांसी की शेरनी रानी लक्ष्मीबाई (</a:t>
            </a:r>
            <a:r>
              <a:rPr lang="en-IN" sz="1400" b="1">
                <a:solidFill>
                  <a:srgbClr val="F59E0B"/>
                </a:solidFill>
                <a:latin typeface="Segoe UI" panose="020B0502040204020203" pitchFamily="34" charset="0"/>
              </a:rPr>
              <a:t>Rani Lakshmibai)</a:t>
            </a:r>
          </a:p>
        </p:txBody>
      </p:sp>
      <p:sp>
        <p:nvSpPr>
          <p:cNvPr id="4" name="Rectangle: Rounded Corners 3">
            <a:extLst>
              <a:ext uri="{FF2B5EF4-FFF2-40B4-BE49-F238E27FC236}">
                <a16:creationId xmlns:a16="http://schemas.microsoft.com/office/drawing/2014/main" id="{A5BEB069-5D82-8D34-FE17-8D0A6925B237}"/>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CDD2EB-2396-8141-1E06-1C03D6D550E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rani_lakshmibai">
            <a:hlinkClick r:id="" action="ppaction://media"/>
            <a:extLst>
              <a:ext uri="{FF2B5EF4-FFF2-40B4-BE49-F238E27FC236}">
                <a16:creationId xmlns:a16="http://schemas.microsoft.com/office/drawing/2014/main" id="{486B4151-FB6B-9D6E-2C35-F6BCCE420F08}"/>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F0D322E6-CB71-4A81-8688-D012FF0ACF46}"/>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द्वारा झांसी के अवैध विलय के विरोध में सिंहगर्जना: 'मैं अपनी झांसी कदापि नहीं दूंगी!'
• दत्तक पुत्र दामोदर राव (</a:t>
            </a:r>
            <a:r>
              <a:rPr lang="en-IN" sz="1000">
                <a:solidFill>
                  <a:srgbClr val="CBD5E1"/>
                </a:solidFill>
                <a:latin typeface="Segoe UI" panose="020B0502040204020203" pitchFamily="34" charset="0"/>
              </a:rPr>
              <a:t>Adopted Son: Damodar Rao) </a:t>
            </a:r>
            <a:r>
              <a:rPr lang="hi-IN" sz="1000">
                <a:solidFill>
                  <a:srgbClr val="CBD5E1"/>
                </a:solidFill>
                <a:latin typeface="Segoe UI" panose="020B0502040204020203" pitchFamily="34" charset="0"/>
              </a:rPr>
              <a:t>को पीठ पर बांधकर रणचंडी बन अंग्रेजों के छक्के छुड़ाए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ब्रिटिश सेनापति सर ह्यूरोज़ (</a:t>
            </a:r>
            <a:r>
              <a:rPr lang="en-IN" sz="1000">
                <a:solidFill>
                  <a:srgbClr val="CBD5E1"/>
                </a:solidFill>
                <a:latin typeface="Segoe UI" panose="020B0502040204020203" pitchFamily="34" charset="0"/>
              </a:rPr>
              <a:t>Sir Hugh Rose) </a:t>
            </a:r>
            <a:r>
              <a:rPr lang="hi-IN" sz="1000">
                <a:solidFill>
                  <a:srgbClr val="CBD5E1"/>
                </a:solidFill>
                <a:latin typeface="Segoe UI" panose="020B0502040204020203" pitchFamily="34" charset="0"/>
              </a:rPr>
              <a:t>ने रानी को 'क्रांतिकारियों में एकमात्र मर्द' (</a:t>
            </a:r>
            <a:r>
              <a:rPr lang="en-IN" sz="1000">
                <a:solidFill>
                  <a:srgbClr val="CBD5E1"/>
                </a:solidFill>
                <a:latin typeface="Segoe UI" panose="020B0502040204020203" pitchFamily="34" charset="0"/>
              </a:rPr>
              <a:t>Only Male Leader) </a:t>
            </a:r>
            <a:r>
              <a:rPr lang="hi-IN" sz="1000">
                <a:solidFill>
                  <a:srgbClr val="CBD5E1"/>
                </a:solidFill>
                <a:latin typeface="Segoe UI" panose="020B0502040204020203" pitchFamily="34" charset="0"/>
              </a:rPr>
              <a:t>कहा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77F41F4D-BCBD-8D08-B4A1-0194B324D57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556EEE09-7F3D-892A-362B-B58D653C856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F5975F09-6134-4DA3-976C-109E7ABBE79D}"/>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[आवाज़ बुलंद और जोशीली करें]: अब चलिए बुंदेलखंड (</a:t>
            </a:r>
            <a:r>
              <a:rPr lang="en-IN" sz="1100">
                <a:solidFill>
                  <a:srgbClr val="F8FAFC"/>
                </a:solidFill>
                <a:latin typeface="Segoe UI" panose="020B0502040204020203" pitchFamily="34" charset="0"/>
              </a:rPr>
              <a:t>Bundelkhand) </a:t>
            </a:r>
            <a:r>
              <a:rPr lang="hi-IN" sz="1100">
                <a:solidFill>
                  <a:srgbClr val="F8FAFC"/>
                </a:solidFill>
                <a:latin typeface="Segoe UI" panose="020B0502040204020203" pitchFamily="34" charset="0"/>
              </a:rPr>
              <a:t>की पावन माटी झांसी! राजा गंगाधर राव की मृत्यु के बाद डलहौजी ने उनके दत्तक पुत्र दामोदर राव (</a:t>
            </a:r>
            <a:r>
              <a:rPr lang="en-IN" sz="1100">
                <a:solidFill>
                  <a:srgbClr val="F8FAFC"/>
                </a:solidFill>
                <a:latin typeface="Segoe UI" panose="020B0502040204020203" pitchFamily="34" charset="0"/>
              </a:rPr>
              <a:t>Adopted Son: Damodar Rao) </a:t>
            </a:r>
            <a:r>
              <a:rPr lang="hi-IN" sz="1100">
                <a:solidFill>
                  <a:srgbClr val="F8FAFC"/>
                </a:solidFill>
                <a:latin typeface="Segoe UI" panose="020B0502040204020203" pitchFamily="34" charset="0"/>
              </a:rPr>
              <a:t>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a:t>
            </a:r>
            <a:r>
              <a:rPr lang="en-IN" sz="1100">
                <a:solidFill>
                  <a:srgbClr val="F8FAFC"/>
                </a:solidFill>
                <a:latin typeface="Segoe UI" panose="020B0502040204020203" pitchFamily="34" charset="0"/>
              </a:rPr>
              <a:t>Gwalior) </a:t>
            </a:r>
            <a:r>
              <a:rPr lang="hi-IN" sz="1100">
                <a:solidFill>
                  <a:srgbClr val="F8FAFC"/>
                </a:solidFill>
                <a:latin typeface="Segoe UI" panose="020B0502040204020203" pitchFamily="34" charset="0"/>
              </a:rPr>
              <a:t>में अंग्रेजों के छक्के छुड़ा दिए। अंग्रेज सेनापति सर ह्यूरोज़ (</a:t>
            </a:r>
            <a:r>
              <a:rPr lang="en-IN" sz="1100">
                <a:solidFill>
                  <a:srgbClr val="F8FAFC"/>
                </a:solidFill>
                <a:latin typeface="Segoe UI" panose="020B0502040204020203" pitchFamily="34" charset="0"/>
              </a:rPr>
              <a:t>Sir Hugh Rose) </a:t>
            </a:r>
            <a:r>
              <a:rPr lang="hi-IN" sz="1100">
                <a:solidFill>
                  <a:srgbClr val="F8FAFC"/>
                </a:solidFill>
                <a:latin typeface="Segoe UI" panose="020B0502040204020203" pitchFamily="34" charset="0"/>
              </a:rPr>
              <a:t>ने अपनी डायरी में लिखा—'क्रांतिकारियों में वह अकेली मर्द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E42083E1-6493-7D0F-9363-A409C19B91E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A9D5ED60-6EC0-C2EF-8A51-F4716C12236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932FED05-58DD-DBA3-71FA-F17E0F23DDAF}"/>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शायरी: सिंहासन हिल उठे राजवंशों ने भृकुटी तानी थी... खूब लड़ी मर्दानी वह तो झांसी वाली रानी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C1CC399-5AE1-E60B-0A7E-3327FF4B5B0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543CBA4-0B44-78B1-1C02-2F1398DBC6C4}"/>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A151B8F0-36DF-D01D-470E-28AF249DD3E3}"/>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action shot of Rani Lakshmibai on white stallion with child on back, brandishing sword in battle of Gwalior, golden sunset, 8k masterpiece.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28617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63B5022-49A2-4357-4DFF-25ADC14A64D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F806C38-1965-A7A0-0E16-C81FC132173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9]: दृश्य 8: बिहार के 80 वर्षीय बब्बर शेर — बाबू कुंवर सिंह (</a:t>
            </a:r>
            <a:r>
              <a:rPr lang="en-IN" sz="1400" b="1">
                <a:solidFill>
                  <a:srgbClr val="F59E0B"/>
                </a:solidFill>
                <a:latin typeface="Segoe UI" panose="020B0502040204020203" pitchFamily="34" charset="0"/>
              </a:rPr>
              <a:t>Babu Kunwar Singh)</a:t>
            </a:r>
          </a:p>
        </p:txBody>
      </p:sp>
      <p:sp>
        <p:nvSpPr>
          <p:cNvPr id="4" name="Rectangle: Rounded Corners 3">
            <a:extLst>
              <a:ext uri="{FF2B5EF4-FFF2-40B4-BE49-F238E27FC236}">
                <a16:creationId xmlns:a16="http://schemas.microsoft.com/office/drawing/2014/main" id="{C9BBF31B-62E7-3FF7-18E2-EBB3B4FD857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6AD6CF-4B3E-C023-531A-656F60204C4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kunwar_singh_ganga">
            <a:hlinkClick r:id="" action="ppaction://media"/>
            <a:extLst>
              <a:ext uri="{FF2B5EF4-FFF2-40B4-BE49-F238E27FC236}">
                <a16:creationId xmlns:a16="http://schemas.microsoft.com/office/drawing/2014/main" id="{C3DFE851-DE7C-26C5-46E5-A1F293FA576E}"/>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5C9922F1-5C41-84B2-2975-B11C04F88FA9}"/>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बिहार के जगदीशपुर/आरा (</a:t>
            </a:r>
            <a:r>
              <a:rPr lang="en-IN" sz="1000">
                <a:solidFill>
                  <a:srgbClr val="CBD5E1"/>
                </a:solidFill>
                <a:latin typeface="Segoe UI" panose="020B0502040204020203" pitchFamily="34" charset="0"/>
              </a:rPr>
              <a:t>Jagdishpur, Bihar) </a:t>
            </a:r>
            <a:r>
              <a:rPr lang="hi-IN" sz="1000">
                <a:solidFill>
                  <a:srgbClr val="CBD5E1"/>
                </a:solidFill>
                <a:latin typeface="Segoe UI" panose="020B0502040204020203" pitchFamily="34" charset="0"/>
              </a:rPr>
              <a:t>में 80 वर्षीय बाबू कुंवर सिंह का अदम्य शौर्य व छापामार युद्ध
• गंगा पार करते समय गोली लगने पर अपनी कटी कलाई (</a:t>
            </a:r>
            <a:r>
              <a:rPr lang="en-IN" sz="1000">
                <a:solidFill>
                  <a:srgbClr val="CBD5E1"/>
                </a:solidFill>
                <a:latin typeface="Segoe UI" panose="020B0502040204020203" pitchFamily="34" charset="0"/>
              </a:rPr>
              <a:t>Hand) </a:t>
            </a:r>
            <a:r>
              <a:rPr lang="hi-IN" sz="1000">
                <a:solidFill>
                  <a:srgbClr val="CBD5E1"/>
                </a:solidFill>
                <a:latin typeface="Segoe UI" panose="020B0502040204020203" pitchFamily="34" charset="0"/>
              </a:rPr>
              <a:t>मां गंगा को समर्पित कर दी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तात्या टोपे का वास्तविक नाम 'रामचंद्र पांडुरंग' (</a:t>
            </a:r>
            <a:r>
              <a:rPr lang="en-IN" sz="1000">
                <a:solidFill>
                  <a:srgbClr val="CBD5E1"/>
                </a:solidFill>
                <a:latin typeface="Segoe UI" panose="020B0502040204020203" pitchFamily="34" charset="0"/>
              </a:rPr>
              <a:t>Ramchandra Pandurang)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2E46D06D-DFA2-92B4-A4FA-58929CC1437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1EA5E63-B782-DE46-25D2-9D24C7A5198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8C4F833F-2DAA-DDB3-A9FF-E6D710867002}"/>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[श्रद्धा और गर्व का भाव]: अब अपने बिहार की शान सुनो बच्चों! जगदीशपुर/आरा (</a:t>
            </a:r>
            <a:r>
              <a:rPr lang="en-IN" sz="1100">
                <a:solidFill>
                  <a:srgbClr val="F8FAFC"/>
                </a:solidFill>
                <a:latin typeface="Segoe UI" panose="020B0502040204020203" pitchFamily="34" charset="0"/>
              </a:rPr>
              <a:t>Jagdishpur, Bihar) </a:t>
            </a:r>
            <a:r>
              <a:rPr lang="hi-IN" sz="1100">
                <a:solidFill>
                  <a:srgbClr val="F8FAFC"/>
                </a:solidFill>
                <a:latin typeface="Segoe UI" panose="020B0502040204020203" pitchFamily="34" charset="0"/>
              </a:rPr>
              <a:t>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a:t>
            </a:r>
            <a:r>
              <a:rPr lang="en-IN" sz="1100">
                <a:solidFill>
                  <a:srgbClr val="F8FAFC"/>
                </a:solidFill>
                <a:latin typeface="Segoe UI" panose="020B0502040204020203" pitchFamily="34" charset="0"/>
              </a:rPr>
              <a:t>Nana Saheb) </a:t>
            </a:r>
            <a:r>
              <a:rPr lang="hi-IN" sz="1100">
                <a:solidFill>
                  <a:srgbClr val="F8FAFC"/>
                </a:solidFill>
                <a:latin typeface="Segoe UI" panose="020B0502040204020203" pitchFamily="34" charset="0"/>
              </a:rPr>
              <a:t>और गुरिल्ला युद्ध (</a:t>
            </a:r>
            <a:r>
              <a:rPr lang="en-IN" sz="1100">
                <a:solidFill>
                  <a:srgbClr val="F8FAFC"/>
                </a:solidFill>
                <a:latin typeface="Segoe UI" panose="020B0502040204020203" pitchFamily="34" charset="0"/>
              </a:rPr>
              <a:t>Guerrilla Warfare) </a:t>
            </a:r>
            <a:r>
              <a:rPr lang="hi-IN" sz="1100">
                <a:solidFill>
                  <a:srgbClr val="F8FAFC"/>
                </a:solidFill>
                <a:latin typeface="Segoe UI" panose="020B0502040204020203" pitchFamily="34" charset="0"/>
              </a:rPr>
              <a:t>के सबसे बड़े महारथी तात्या टोपे (</a:t>
            </a:r>
            <a:r>
              <a:rPr lang="en-IN" sz="1100">
                <a:solidFill>
                  <a:srgbClr val="F8FAFC"/>
                </a:solidFill>
                <a:latin typeface="Segoe UI" panose="020B0502040204020203" pitchFamily="34" charset="0"/>
              </a:rPr>
              <a:t>Tatya Tope) </a:t>
            </a:r>
            <a:r>
              <a:rPr lang="hi-IN" sz="1100">
                <a:solidFill>
                  <a:srgbClr val="F8FAFC"/>
                </a:solidFill>
                <a:latin typeface="Segoe UI" panose="020B0502040204020203" pitchFamily="34" charset="0"/>
              </a:rPr>
              <a:t>ने अंग्रेजों की नाक में दम कर दिया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641C71F0-F283-B37A-1948-E16671AABFE7}"/>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19657B33-0163-137C-28A2-522120C58C6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4AABEF39-13F3-0B96-DCE9-31766C8ADE1A}"/>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बात: '80 साल की उम्र में लोग लाठी टेकते हैं, हमारे बाबू कुंवर सिंह ने अंग्रेजों की गर्दन टेकवा दी थी!'
शायरी: अस्सी बरस की उम्र में जागा जोश पुराना था, सब कहते हैं कुंवर सिंह भी बड़ा वीर मर्दाना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D5CF3C90-7156-DF06-FBE9-1E1F770BA08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9518A87-130E-ADEE-2051-4479720FEEE1}"/>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FA7E12F9-91B2-D71A-0DB8-32F2E4E62484}"/>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Epic painting of 80-year-old warrior Babu Kunwar Singh on a boat crossing Ganga river at night, sword in hand, dramatic fires reflecting on water,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9623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37D4A4B-6C6B-B2AE-ED1A-E65C4D65CB5D}"/>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26F9C3A-E247-A5EA-36AE-A9E93C1233F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10]: दृश्य 9: परिणाम और सीख — ईस्ट इंडिया कंपनी का अंत (</a:t>
            </a:r>
            <a:r>
              <a:rPr lang="en-IN" sz="1400" b="1">
                <a:solidFill>
                  <a:srgbClr val="F59E0B"/>
                </a:solidFill>
                <a:latin typeface="Segoe UI" panose="020B0502040204020203" pitchFamily="34" charset="0"/>
              </a:rPr>
              <a:t>End of Company Rule - 1858)</a:t>
            </a:r>
          </a:p>
        </p:txBody>
      </p:sp>
      <p:sp>
        <p:nvSpPr>
          <p:cNvPr id="4" name="Rectangle: Rounded Corners 3">
            <a:extLst>
              <a:ext uri="{FF2B5EF4-FFF2-40B4-BE49-F238E27FC236}">
                <a16:creationId xmlns:a16="http://schemas.microsoft.com/office/drawing/2014/main" id="{4C5DCD27-59E3-B46E-A436-F9BEE43F6D0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C88E993-40FF-BCA5-E3E8-1B806CA571B8}"/>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
            <a:hlinkClick r:id="" action="ppaction://media"/>
            <a:extLst>
              <a:ext uri="{FF2B5EF4-FFF2-40B4-BE49-F238E27FC236}">
                <a16:creationId xmlns:a16="http://schemas.microsoft.com/office/drawing/2014/main" id="{37F220CA-4201-F56E-6DFE-D0742D59156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56ABBF7F-2BFB-2D15-5405-B11D7441C7EC}"/>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1858 </a:t>
            </a:r>
            <a:r>
              <a:rPr lang="hi-IN" sz="1000">
                <a:solidFill>
                  <a:srgbClr val="CBD5E1"/>
                </a:solidFill>
                <a:latin typeface="Segoe UI" panose="020B0502040204020203" pitchFamily="34" charset="0"/>
              </a:rPr>
              <a:t>का भारत शासन अधिनियम (</a:t>
            </a:r>
            <a:r>
              <a:rPr lang="en-IN" sz="1000">
                <a:solidFill>
                  <a:srgbClr val="CBD5E1"/>
                </a:solidFill>
                <a:latin typeface="Segoe UI" panose="020B0502040204020203" pitchFamily="34" charset="0"/>
              </a:rPr>
              <a:t>Government of India Act 1858) </a:t>
            </a:r>
            <a:r>
              <a:rPr lang="hi-IN" sz="1000">
                <a:solidFill>
                  <a:srgbClr val="CBD5E1"/>
                </a:solidFill>
                <a:latin typeface="Segoe UI" panose="020B0502040204020203" pitchFamily="34" charset="0"/>
              </a:rPr>
              <a:t>ब्रिटिश संसद में पारित हुआ
• 100 वर्ष पुरानी ईस्ट इंडिया कंपनी (</a:t>
            </a:r>
            <a:r>
              <a:rPr lang="en-IN" sz="1000">
                <a:solidFill>
                  <a:srgbClr val="CBD5E1"/>
                </a:solidFill>
                <a:latin typeface="Segoe UI" panose="020B0502040204020203" pitchFamily="34" charset="0"/>
              </a:rPr>
              <a:t>East India Company) </a:t>
            </a:r>
            <a:r>
              <a:rPr lang="hi-IN" sz="1000">
                <a:solidFill>
                  <a:srgbClr val="CBD5E1"/>
                </a:solidFill>
                <a:latin typeface="Segoe UI" panose="020B0502040204020203" pitchFamily="34" charset="0"/>
              </a:rPr>
              <a:t>का शासन समाप्त; सीधा नियंत्रण ब्रिटिश क्राउन (</a:t>
            </a:r>
            <a:r>
              <a:rPr lang="en-IN" sz="1000">
                <a:solidFill>
                  <a:srgbClr val="CBD5E1"/>
                </a:solidFill>
                <a:latin typeface="Segoe UI" panose="020B0502040204020203" pitchFamily="34" charset="0"/>
              </a:rPr>
              <a:t>British Crown) </a:t>
            </a:r>
            <a:r>
              <a:rPr lang="hi-IN" sz="1000">
                <a:solidFill>
                  <a:srgbClr val="CBD5E1"/>
                </a:solidFill>
                <a:latin typeface="Segoe UI" panose="020B0502040204020203" pitchFamily="34" charset="0"/>
              </a:rPr>
              <a:t>के अधीन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भारत के अंतिम गवर्नर जनरल तथा प्रथम वायसराय 'लॉर्ड कैनिंग' (</a:t>
            </a:r>
            <a:r>
              <a:rPr lang="en-IN" sz="1000">
                <a:solidFill>
                  <a:srgbClr val="CBD5E1"/>
                </a:solidFill>
                <a:latin typeface="Segoe UI" panose="020B0502040204020203" pitchFamily="34" charset="0"/>
              </a:rPr>
              <a:t>Lord Canning) </a:t>
            </a:r>
            <a:r>
              <a:rPr lang="hi-IN" sz="1000">
                <a:solidFill>
                  <a:srgbClr val="CBD5E1"/>
                </a:solidFill>
                <a:latin typeface="Segoe UI" panose="020B0502040204020203" pitchFamily="34" charset="0"/>
              </a:rPr>
              <a:t>बने!</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28EB220-6138-FA8E-A132-F275863B80D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FC2D1E8-7A81-E91C-5B4E-A65343F4C5F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93C73F64-AB2F-90EB-6CD8-1A0407B0B70C}"/>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a:t>
            </a:r>
            <a:r>
              <a:rPr lang="en-IN" sz="1100">
                <a:solidFill>
                  <a:srgbClr val="F8FAFC"/>
                </a:solidFill>
                <a:latin typeface="Segoe UI" panose="020B0502040204020203" pitchFamily="34" charset="0"/>
              </a:rPr>
              <a:t>East India Company) </a:t>
            </a:r>
            <a:r>
              <a:rPr lang="hi-IN" sz="1100">
                <a:solidFill>
                  <a:srgbClr val="F8FAFC"/>
                </a:solidFill>
                <a:latin typeface="Segoe UI" panose="020B0502040204020203" pitchFamily="34" charset="0"/>
              </a:rPr>
              <a:t>की दुकान हमेशा के लिए बंद हो गई! 1858 में ब्रिटिश संसद द्वारा सीधा शासन ब्रिटिश क्राउन (</a:t>
            </a:r>
            <a:r>
              <a:rPr lang="en-IN" sz="1100">
                <a:solidFill>
                  <a:srgbClr val="F8FAFC"/>
                </a:solidFill>
                <a:latin typeface="Segoe UI" panose="020B0502040204020203" pitchFamily="34" charset="0"/>
              </a:rPr>
              <a:t>British Crown) </a:t>
            </a:r>
            <a:r>
              <a:rPr lang="hi-IN" sz="1100">
                <a:solidFill>
                  <a:srgbClr val="F8FAFC"/>
                </a:solidFill>
                <a:latin typeface="Segoe UI" panose="020B0502040204020203" pitchFamily="34" charset="0"/>
              </a:rPr>
              <a:t>के हाथ में गया, और भारत के गवर्नर जनरल को 'वायसराय' (</a:t>
            </a:r>
            <a:r>
              <a:rPr lang="en-IN" sz="1100">
                <a:solidFill>
                  <a:srgbClr val="F8FAFC"/>
                </a:solidFill>
                <a:latin typeface="Segoe UI" panose="020B0502040204020203" pitchFamily="34" charset="0"/>
              </a:rPr>
              <a:t>Viceroy) </a:t>
            </a:r>
            <a:r>
              <a:rPr lang="hi-IN" sz="1100">
                <a:solidFill>
                  <a:srgbClr val="F8FAFC"/>
                </a:solidFill>
                <a:latin typeface="Segoe UI" panose="020B0502040204020203" pitchFamily="34" charset="0"/>
              </a:rPr>
              <a:t>कहा जाने लगा। 1857 ने ही 1947 की आजादी की मजबूत नींव रखी!</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853211C1-D418-750A-3294-BA8A6849A8D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60AA078B-AA59-F9DE-8B85-960E6F4B4FB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858389D9-02CD-AEA4-5B4C-B60D2A6F6FA5}"/>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पंच: '1857 में भले ही ताज नहीं मिला, पर अंग्रेजों को यह समझ आ गया कि हिंदुस्तानी जब जागेंगे तो उनका बोरिया-बिस्तर बंध जाएगा!'
शायरी: हार कर भी वो जीत गए, आज़ादी की नींव सजाई थी, 1857 की चिंगारी ने 1947 की अलख जगाई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958FDE14-3466-68EB-1D65-75F1CE6191A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5ED2C11-E3FB-9BF0-71C7-87BD22CBADD6}"/>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B4728490-8B05-3801-D47B-D0BFA8BFAAA2}"/>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Allegorical historical visual: British East India Company flag dissolving, a bright dawn rising over India, inspiring patriotic atmosphere,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885783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90EF44-11D9-15F0-ACDB-0D0A4AC1C62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A233A8C-1518-4D2E-737C-A1FAD26ABDB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A895805B-840B-6BFA-B780-E51B3A540F4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5CCD647-CFDD-C750-5CD2-3D8A4A6D8AC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1876512-8FC6-88D2-2DBB-1FFC4227ED3A}"/>
              </a:ext>
            </a:extLst>
          </p:cNvPr>
          <p:cNvSpPr txBox="1"/>
          <p:nvPr/>
        </p:nvSpPr>
        <p:spPr>
          <a:xfrm>
            <a:off x="355600" y="1143000"/>
            <a:ext cx="4368800" cy="1869743"/>
          </a:xfrm>
          <a:prstGeom prst="rect">
            <a:avLst/>
          </a:prstGeom>
          <a:noFill/>
        </p:spPr>
        <p:txBody>
          <a:bodyPr vert="horz" wrap="square" rtlCol="0">
            <a:spAutoFit/>
          </a:bodyPr>
          <a:lstStyle/>
          <a:p>
            <a:r>
              <a:rPr lang="fr-FR" sz="1050">
                <a:solidFill>
                  <a:srgbClr val="F8FAFC"/>
                </a:solidFill>
                <a:latin typeface="Segoe UI" panose="020B0502040204020203" pitchFamily="34" charset="0"/>
              </a:rPr>
              <a:t>à¤ªà¥à¤°à¤¶à¥à¤¨:
प्र. 1. 1857 की महान क्रांति का प्रथम बिगुल 10 मई 1857 को किस छावनी से बजा था?
à¤µà¤¿à¤•à¤²à¥à¤ª:
(A)  बैरकपुर
(B)  मेरठ छावनी
(C)  दिल्ली
(D)  कानपुर
[à¤›à¤¾à¤¤à¥à¤° à¤‰à¤¤à¥à¤¤à¤° à¤¸à¥‹à¤š à¤°à¤¹à¥‡ à¤¹à¥ˆà¤‚...]</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9F608959-527F-CDF3-A3A3-E32E413907D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F706F0E-AA5A-50A4-A914-F77A60268C9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8CCBD8D2-87F0-757B-85B8-87311186E082}"/>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 1857 की महान क्रांति का प्रथम बिगुल 10 मई 1857 को किस छावनी से बजा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A056E48-BB34-076C-237C-5038643158A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096FF49-67AF-EA3A-4EE8-4FBB4FA3A64B}"/>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DCC56C9-9475-B371-DB57-920F2BC3E4D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C9E9CCF-629D-0BEC-91D5-D4644069014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DC4D35D-F82F-1E50-3E87-DD4D74EE046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741E0EC-3189-94B7-3838-F00603B769EA}"/>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2134392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D78CAD4-2081-C303-CF5B-B56215608B4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98E453A-B178-DA27-4E2B-002FBDAD523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 - Answer &amp; Explanation</a:t>
            </a:r>
          </a:p>
        </p:txBody>
      </p:sp>
      <p:sp>
        <p:nvSpPr>
          <p:cNvPr id="4" name="Rectangle: Rounded Corners 3">
            <a:extLst>
              <a:ext uri="{FF2B5EF4-FFF2-40B4-BE49-F238E27FC236}">
                <a16:creationId xmlns:a16="http://schemas.microsoft.com/office/drawing/2014/main" id="{17443E59-3B0C-AB4A-B6EA-B1BE8CA9B5D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41BB821-CA98-D970-6B80-9BD02BCA3BC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275BDC9-20F8-A114-6B77-1BCBBBB0F29F}"/>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 1857 की महान क्रांति का प्रथम बिगुल 10 मई 1857 को किस छावनी से बजा था?
</a:t>
            </a:r>
            <a:r>
              <a:rPr lang="en-IN" sz="1050">
                <a:solidFill>
                  <a:srgbClr val="F8FAFC"/>
                </a:solidFill>
                <a:latin typeface="Segoe UI" panose="020B0502040204020203" pitchFamily="34" charset="0"/>
              </a:rPr>
              <a:t>à¤¸à¤¹à¥€ à¤‰à¤¤à¥à¤¤à¤°: (B)
à¤µà¥à¤¯à¤¾à¤–à¥à¤¯à¤¾:
10 </a:t>
            </a:r>
            <a:r>
              <a:rPr lang="hi-IN" sz="1050">
                <a:solidFill>
                  <a:srgbClr val="F8FAFC"/>
                </a:solidFill>
                <a:latin typeface="Segoe UI" panose="020B0502040204020203" pitchFamily="34" charset="0"/>
              </a:rPr>
              <a:t>मई 1857 को मेरठ छावनी के सैनिकों ने खुला विद्रोह कर 'दिल्ली चलो' का नारा दिया।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01862B0-3500-57D1-8BAB-237C1716A6A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0805194-3459-4186-FB08-C960687EA6C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8FBC0437-E12F-414F-8742-9F40C0F8E5C4}"/>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10 </a:t>
            </a:r>
            <a:r>
              <a:rPr lang="hi-IN" sz="1100">
                <a:solidFill>
                  <a:srgbClr val="F8FAFC"/>
                </a:solidFill>
                <a:latin typeface="Segoe UI" panose="020B0502040204020203" pitchFamily="34" charset="0"/>
              </a:rPr>
              <a:t>मई 1857 को मेरठ छावनी के सैनिकों ने खुला विद्रोह कर 'दिल्ली चलो' का नारा दिया।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69A1A33-4E6B-B9CA-4FF1-9DB8FEF504A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D7F3A50-59B4-2669-BEEF-6EB52DDED00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3A7D053-9756-9BE4-7999-BFA30355E08E}"/>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9CFBE36-F91A-AEBE-E10E-4BD143A008F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78739E51-6BAF-D367-5466-405F109657B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C2EB83A-BFF9-4E83-CE6E-D5E92574F08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145625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4927FC-EE0F-0483-749A-52DAD5DAB1B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CE323AA-04B3-CBEF-12D6-0A7A2C5A3E7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65A116A4-995A-CEE8-4883-AE9DA19C224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D61396-6A7C-B7B6-EE78-CDBEBBE8CDF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D0B95D6-9511-C40D-A3A1-5BAB766C4529}"/>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भगत सिंह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वीर 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1AAE809-0F05-D88A-380B-B1CE0ECC790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4332B8D-D6D9-535A-CD95-49CE100F110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A16C4F3D-445F-36C1-CEF5-DD5D6E34B77D}"/>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2. 1857 की क्रांति के प्रथम बलिदानी सैनिक निम्नलिखित में से कौन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AE06B48-659D-B68B-C901-0978931D28E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FABEDCA-518F-2961-B3CE-BA4FF9BA2DC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D8099D8-3BB9-FA99-20D3-5E160EF5C6E5}"/>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788F61AD-4D94-18BB-D2B3-00AFCC5A589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1966600-7601-F849-436C-9F56B6A6ABB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C98ABD0-801F-8FB1-A13E-6BD4A206119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736182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309E2F-6AA8-583A-EA0F-8FC2B5D1BAA7}"/>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3D13E5B-AA00-49F0-E4D3-AE4591678E8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4746228F-3912-65E4-168C-4F8FD2E3965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0117D1E-B6C5-970D-4C57-60B7851737E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E2929EB-CC2C-5128-4F73-153A21892F72}"/>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5CEABFD9-2D3A-5B48-CB13-AC9AA89DBD9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AA50507-C27A-63A9-3C96-14620E43D59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E51C281-54BC-BFEB-E839-B7B83C3AEDA0}"/>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1210B918-3EB2-CBAD-5F18-930E9BDF655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A5ADDE4-ED96-E22C-DCB6-B31F6D3BB60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EE23622-E708-6FDF-E71A-5965185C0D8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B68C9D3-5747-D8A8-7921-0F6B8EA2857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B74C02A-0677-09D0-69E4-79DB2EEF6AF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ED180A6-8641-818F-F12B-C7D74C97150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794336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56507-28A9-7844-C006-611DB7D1FE9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F2894EE-4A12-6635-990A-C27ECE72557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85A4D9F5-EDCB-9DB8-C13A-4A0E16E9538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AEF93DE-D192-473B-D6F8-16EE87AC1DFD}"/>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7DEC3A1-1FE2-423B-781E-326B4CC33591}"/>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चर्बी वाले नए कारतूस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भारी लगान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सती प्रथा का अंत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रेलवे का निर्माण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AB3AA5D7-7925-537F-176D-CB8E43632CD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2EBE9C9-CF2D-C6E8-F096-5BC11F92D4C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45EBE27-7BCE-0E76-01C5-AB436AFA0C8F}"/>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3. 1857 की क्रांति का सबसे प्रमुख तात्कालिक कारण (</a:t>
            </a:r>
            <a:r>
              <a:rPr lang="en-IN" sz="1100">
                <a:solidFill>
                  <a:srgbClr val="F8FAFC"/>
                </a:solidFill>
                <a:latin typeface="Segoe UI" panose="020B0502040204020203" pitchFamily="34" charset="0"/>
              </a:rPr>
              <a:t>Immediate Cause) </a:t>
            </a:r>
            <a:r>
              <a:rPr lang="hi-IN" sz="1100">
                <a:solidFill>
                  <a:srgbClr val="F8FAFC"/>
                </a:solidFill>
                <a:latin typeface="Segoe UI" panose="020B0502040204020203" pitchFamily="34" charset="0"/>
              </a:rPr>
              <a:t>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566B87D-5955-B9C8-A626-E5DB20878FC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F1A14B5-1FF8-285E-874F-581EB9421AD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9528357-0A29-A3BE-297F-A912F1F1C76D}"/>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2ABD6F6-2C77-FE6F-C513-59FF8EDA6AA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B4E4DAC-8B17-13AA-A14C-9ADEBB826A2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18F6233-5611-B2E5-91A1-B384DA9C514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939667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B2D591-AB26-08A3-B92A-17DFA7294B2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15D484F-1D68-FDAC-6E98-B6855B7784E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 - Answer &amp; Explanation</a:t>
            </a:r>
          </a:p>
        </p:txBody>
      </p:sp>
      <p:sp>
        <p:nvSpPr>
          <p:cNvPr id="4" name="Rectangle: Rounded Corners 3">
            <a:extLst>
              <a:ext uri="{FF2B5EF4-FFF2-40B4-BE49-F238E27FC236}">
                <a16:creationId xmlns:a16="http://schemas.microsoft.com/office/drawing/2014/main" id="{CB8EFEC4-9CAB-0B5D-FDA7-2A7DF83B09E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7437A39-FC1C-C4E7-0458-8409B760406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A17E11C-4B67-390E-2222-8C63F0F1495D}"/>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03F8E8A-B6C1-7CBF-60FF-44F13E0BC71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C5C9450-E20F-913E-C909-5122DCB0D11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179A9C8-399D-5EAB-38DC-3EBC1713B65C}"/>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5A35447-F8BD-1AE5-CC3F-437D077088C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7A263EE-4709-45E5-B172-141EF9BE04B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BD7776E-C06A-B9D8-6735-628AF1BA63C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94FD151-1BD5-0683-E6C3-B6110A8CBB0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F839B2F-5F73-6F65-C0EC-B19FB481337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C2CC274-F173-575C-1E86-94BE46E2848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198280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FC0C07-E66F-3B1D-854C-8300C46D30E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FC8FE8F-71AF-41FB-66E9-50CA0701901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847F22FD-4010-76DC-2ED6-109AC4063E6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C6E4678-D9D0-253F-F86D-ED3B7859347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05D0964-FA0A-E673-29B2-2E2B9CC845E7}"/>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शाह आलम द्वितीय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(द्वितीय)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अकबर द्वितीय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आलमगीर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426F80C6-3391-985D-2D25-AB936E80508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5B738E1-939A-F898-25C2-FBFAA7155F37}"/>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22C1BF0B-2B94-90B3-35EF-7444B259EBD5}"/>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4. 1857 की क्रांति के समय अंतिम मुग़ल सम्राट कौन थे, जिन्हें क्रांति का नेता चुना गया?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A5C66CB-DF62-5A82-7DD5-9FB9D612DD8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03B761F-0ABB-AC66-3C49-B3F4F20AB9D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A5B0FBB-2279-FE4D-18C9-4172AEC935E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15B05AF5-8CAC-4848-CDA4-0D717B452B3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6CB3C4D-969B-AC47-2FDD-6844C5C5DB6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1BD7248-7A18-1FF3-2A2F-8E10C2D22A5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275360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05DC10D-FC1B-38F6-2A04-5FC1C2F1F85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246676B-7315-07A3-87F6-CBF6CDBCBDF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82796898-41DD-331A-B132-EB24F0184B4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6E1047A-0A33-A799-A0A6-4247BEACBB7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ADC53A6-C09F-1C07-610F-35CB9CF0E463}"/>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विद्रोहियों ने 82 वर्षीय बहादुर शाह जफर को भारत का सम्राट घोषित किया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AE57437F-7023-F18A-AFCC-2BAEA86DAD9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EED87F0-8C46-FED7-47DD-377693685BD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A554EB4F-682A-AA4B-4383-D2882E205C94}"/>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विद्रोहियों ने 82 वर्षीय बहादुर शाह जफर को भारत का सम्राट घोषित किया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46BDDD2-DEBA-F4A7-C559-EDB32B1C76B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CE9B61F-7F74-E273-7E2E-341DC88EAA4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363FF86-F80B-2ACB-1161-88D42CE4D240}"/>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0157239-8270-9A89-B6B8-F237073663C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D957C43-15E1-E191-E0EF-AB69FC889236}"/>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BEC1FFAF-3B73-C3C3-5FC1-C96ABFF3C25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891919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462FB20-DEBC-F63E-4624-ECED7E71E7A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48E5531-DD97-F681-3050-74787A8D40E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FF619054-B14B-6997-D252-7E8F992C1F8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14C7BBE-EA94-D33F-50EE-281CB372900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6C71FEC-27B7-290F-3EEF-1D3FD028F1FB}"/>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बाबू वीर कुंवर सिंह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खान बहादुर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लियाकत अली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636EFFD9-D678-D616-24C2-2D99801F8EF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3FD2445-83C4-6EAC-AB99-20576071A18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54F6A3F7-4B7A-ECB5-6F86-4043CB59ED5D}"/>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5. 1857 की क्रांति में बिहार के जगदीशपुर (आरा) से नेतृत्व किस वीर योद्धा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E508925-588C-B647-BA19-71F9FBF62C1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09622C6-AA8F-4AA6-D271-8E9887D249C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6BD5AD9-413E-46F7-6EBA-1487E8259F11}"/>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15A3E7F-BDAD-09E3-36BC-D9BBCBBE9BB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0FCD01-82E0-7041-2AEE-795F9A9BA27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76A7CD8-4092-2D0B-0793-B71E1C3583B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104729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859D76-C93B-810F-D138-6D90E4C8E69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3D5875C-470F-1124-7062-C8C224C6F37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14618471-AD79-F61C-60EC-C7126E6ACBA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325E38B-F4EB-5C80-BE44-00231A75E93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03D64B0-14F5-417F-6B15-5EF6C2001935}"/>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à¤¸à¤¹à¥€ à¤‰à¤¤à¥à¤¤à¤°: (B)
à¤µà¥à¤¯à¤¾à¤–à¥à¤¯à¤¾:
80 </a:t>
            </a:r>
            <a:r>
              <a:rPr lang="hi-IN" sz="1050">
                <a:solidFill>
                  <a:srgbClr val="F8FAFC"/>
                </a:solidFill>
                <a:latin typeface="Segoe UI" panose="020B0502040204020203" pitchFamily="34" charset="0"/>
              </a:rPr>
              <a:t>वर्ष के वृद्ध बाबू वीर कुंवर सिंह ने अदम्य वीरता से अंग्रेजों को हराया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D9E48C12-4E54-44B1-142E-EE47C0516D0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F666EDC-3109-C41A-3CAD-8AF060ECF33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EC9CEAF3-EAE3-3D0F-CFE6-E0ABB1AD371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80 </a:t>
            </a:r>
            <a:r>
              <a:rPr lang="hi-IN" sz="1100">
                <a:solidFill>
                  <a:srgbClr val="F8FAFC"/>
                </a:solidFill>
                <a:latin typeface="Segoe UI" panose="020B0502040204020203" pitchFamily="34" charset="0"/>
              </a:rPr>
              <a:t>वर्ष के वृद्ध बाबू वीर कुंवर सिंह ने अदम्य वीरता से अंग्रेजों को हराया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1C99831-059A-A353-85F0-31B369B07D0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F2FB022-E935-0327-3722-ABEF0C0D3DE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F68C978-8F42-41F0-4801-EF6576DDF56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A0B36B9-F613-0FC6-BDC1-74D5C0D535B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C74BD960-6FD7-8CBB-AABF-F54B5373A15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7EEEAD9-3F43-AA9F-F21D-DE9871BE16E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100281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574BD72-EE3E-4075-79F7-CE716D9495D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B84DBF9-4F97-1165-443A-E48BC235E89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D0397742-C61A-2524-46A3-C1520E7936D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BB38950-2A1E-F080-06FC-390EE680FB5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A944C429-6230-0729-678D-A0FDEF9E17B5}"/>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मनु (मणिकर्णिका)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पद्मावती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जीजाबाई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अहिल्याबाई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587C81CE-203B-E6A0-DAAA-74979156414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075A1FC-D906-108A-CBFD-3650D84E1EB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71F74EC-86A3-74DA-92F3-9DA91C538682}"/>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6. झांसी में 1857 की क्रांति का नेतृत्व करने वाली वीरांगना लक्ष्मीबाई के बचपन का नाम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5AA1993-27E7-E002-BD75-546F46CA2E3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19015D8-9C12-6AAE-6FD7-9A14F744BA3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D9A6EFA-00CF-6822-09D4-26688AA68D0A}"/>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671EE804-92AF-B045-B2DB-521C934B55F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F14765D-3351-8C59-8999-FFF164E1C6D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BAF2159-A15A-8B17-42CF-4622CF8FB98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70805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0EA970-DD23-2A16-26B1-1F4B5CA720A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7CC44B7-FAF8-EFC6-D3D0-06D00FFD522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7AE3C077-8D66-742D-50E3-00F79D51776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B6AA23C-C8CA-9553-8332-88A2A9B69CF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5E72D02-6121-AFA8-879E-9C42C249AF51}"/>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रानी लक्ष्मीबाई के बचपन का नाम मणिकर्णिका (मनु)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0A7ABA6-F20B-9A79-CB89-ABD17C527E3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03F93F6-567E-72AB-5351-563398F4683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E37B28E-6E78-89A3-8429-8403DB7D75B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रानी लक्ष्मीबाई के बचपन का नाम मणिकर्णिका (मनु)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2598949-930E-9C07-D409-48BA334D4F0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6353131-BBE2-B6E3-A3F9-2C6EE1D94BE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B8C5AB0-1800-D6EE-E7B0-A1685C4EFD9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08BE88A9-0849-CF31-6321-086B377EB36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C4488B7-B7E1-4153-1995-D9D44E350F1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66EB919-C04F-9B16-5296-C2C3077A311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5741226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C47444-1D11-E916-9BED-C252E4CE5E3D}"/>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5495F21-19D8-50A5-3BAB-268BBDF83FF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48D80854-6A6E-7179-6920-4A8E92BB80B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1C7184B-EB82-13F7-50CA-AAA61905EF18}"/>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5A866B0-A7D1-B630-BB00-C3DA23E30623}"/>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तीर और कमान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कमल का फूल और रोटी (चपाती)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तलवार और ढाल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तिरंगा झंडा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21928D73-5077-291B-A1C8-D4941C9C328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ACA0F2D-72F8-456F-7627-43D22A1A05A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93425B8-9575-1065-A6A3-94C52DBE392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7. 1857 की क्रांति का प्रचार करने हेतु गुप्त प्रतीक चिन्ह क्या तय किया गया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16DB5AD3-6BD9-8238-DA21-DD3871FBA737}"/>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C6F4454-3019-4F0F-90A1-A13A832B866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84FC92D-00DB-B8EB-6270-7E5BAFC56DB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A017EF8-4C7B-653D-A624-C7F0D0D35D45}"/>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EC08334-A145-938F-3B73-4E463BF446D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6349C2C-AB0A-CC3D-06CF-94776C5F2A1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412623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8712F6-663F-5DAA-B656-73FF9122ED1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9F73AC7-13C7-092C-EAE4-A44D9025697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9EAC5302-97A1-6BD3-24BE-2F6DFF74148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95B187E-08B3-974C-617D-2E509F01FEB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92E507BC-5194-BEB2-6811-9BC0416A5613}"/>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कमल और रोटी गांव-गांव क्रांति का संदेश पहुंचाने का गुप्त माध्यम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6D3DC84-B7B4-90BA-56CD-A5074A1056F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B21E7EA-36AE-2F09-41BF-F8D80D60C5DB}"/>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21632B6-0471-6F7D-9D74-1B4F9F5CDDDA}"/>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कमल और रोटी गांव-गांव क्रांति का संदेश पहुंचाने का गुप्त माध्यम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8867935-5B78-B166-20F5-8AA7C44A2B6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67D84DB-5FA8-9EFC-6305-DEAC54FAF42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5EF56202-445B-5BB8-FC19-4025569D144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F941BC6F-6F0C-0173-31EA-EBF773A29E7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9F86035-DE44-E9B6-CF6D-8561E04331B5}"/>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07E0FDB-7815-8397-3D88-BCE6D88558A2}"/>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026580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FFE83B-F8AF-0484-DA2A-A20C824A800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7583EC2-4B12-3A99-6270-8240C27B7D7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06553FCD-E394-6E8E-DEDA-019A4242AB4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943F8DC-1116-7CEF-7FCF-BF013150121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AC94EFFB-8760-BCD3-98EE-592409C10337}"/>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(धोंधू पंत)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FCC5AE67-7EB6-D82C-2E25-F04F659D199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82D6DBB-C8AD-C175-9933-37C65EA86CE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F489D6B-4658-0517-7B3A-95B84C3285D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8. कानपुर में 1857 की क्रांति का नेतृत्व किसने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554CADB-B767-BD15-7A93-B9AC67FC4B4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5773C17-AB12-D36B-8A95-DF4B468FC12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A7DB850-58DF-18C2-B082-72306FACAC0F}"/>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682BBC5-09B5-9EA4-BB8A-2ACB10FB321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061DA48-1F94-25C7-669D-54BF48436DC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F6EE641-F184-55CD-C929-919D59E7F4B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359485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ED6AB7-2E37-BD9D-5434-9BB36CC16B3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2003528-4152-201E-659A-F351701A6CE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 - Answer &amp; Explanation</a:t>
            </a:r>
          </a:p>
        </p:txBody>
      </p:sp>
      <p:sp>
        <p:nvSpPr>
          <p:cNvPr id="4" name="Rectangle: Rounded Corners 3">
            <a:extLst>
              <a:ext uri="{FF2B5EF4-FFF2-40B4-BE49-F238E27FC236}">
                <a16:creationId xmlns:a16="http://schemas.microsoft.com/office/drawing/2014/main" id="{465886DE-7771-6684-38B0-01F5F5E631A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66A13FE-3581-FA2E-8F11-9C22C6D6919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43EFCDA-27F1-6417-8C66-1A00CD923563}"/>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पेशवा बाजीराव द्वितीय के दत्तक पुत्र नाना साहेब ने कानपुर से नेतृत्व किया।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7883729-FAF1-7F4A-5CAE-A44520F52EF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4569A4E-87B9-8052-D716-DF964748DD0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6DFADBE-F45F-7271-5709-E91E1FCEBE38}"/>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पेशवा बाजीराव द्वितीय के दत्तक पुत्र नाना साहेब ने कानपुर से नेतृत्व किया।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D4331DB-18A0-1FED-6E80-242437B9D37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24AFC92-5DF7-1958-038C-EA0A5E8F263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B2AFF5C-718A-727F-DFB1-0AD489DB874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26977790-8CCB-2AA7-C635-5FAA1778183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73B66050-9341-03BF-3E55-FF3CF673057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80958B5C-8FE5-4725-BAA8-546306BF1B0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768517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CAC33E-AFF2-7351-19A2-C343DBA13E7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4B53E8D-578E-FD5E-7715-A0091226968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ED0DAA64-3AD3-0040-EBB1-112E7C64A23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BBF912F-D11C-F482-6E9D-D580AC8E826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FE7133A-D466-220F-1913-6D9FC58C92C8}"/>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(रामचंद्र पांडुरंग)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बख्त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हकीम खां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0AEDB16-7ED6-AD4E-635D-A5236386EF9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C3FE3DB-1085-B9B4-12C4-A2F59430F62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243399A3-67E4-3411-5D6E-DA5BF2C2D401}"/>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9. नाना साहेब के प्रसिद्ध और वीर सेनापति का क्या नाम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D6956F4-8EA0-426C-2CAE-2FF528AB121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329FF4E-F55D-B6CD-2885-27C54C25632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B95B863-DD2D-5DBB-7D39-3F4DDE1E461A}"/>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4A93D08A-8402-7B16-1EFA-624CCEE17DA5}"/>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2F1D7C3-D1E1-DF65-4A5F-EAE25F965A76}"/>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7993381F-3E00-F96A-154D-945C6676AF6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739231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421197-AF10-8F23-3E9B-0AA8CA2F6AB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5471214-822D-CEE4-3228-DEFFCC6C489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92BC050F-D615-3B46-EB73-2B951E080E0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178A029-F3B2-A058-177B-F203E7BCD74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1209C5E-5DC8-425E-3AE4-9C81FC46BAAE}"/>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तात्या टोपे नाना साहेब के मुख्य सेनापति थे और छापामार युद्ध में निपुण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958CE05C-5C79-E930-B363-034DBE0D83A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552C3D1-E2F9-F2E2-03FE-CC26970E508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34064EE-DD12-A15C-BA20-B0A540AF458D}"/>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तात्या टोपे नाना साहेब के मुख्य सेनापति थे और छापामार युद्ध में निपुण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1A31E46-A817-8668-B795-117BCB560D2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9B8D494-B777-1FF5-249C-2885F5056AD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976DFCFA-C16F-73EA-83C7-F9D0B412A1E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A34A8A3-0F58-CB99-366F-F45BA1FA378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1CDDBBD-0A87-1CD4-19F5-C8B2B42C744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2B695BF-7663-3157-3A0B-E17EA4AAA479}"/>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135149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0EBEDC-EA9F-BD10-0DAE-03C6CAE76951}"/>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7826040-0B93-E868-EB15-FCB95713B0D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81BFDE5A-5A7E-F0F1-CD2A-3A0CCB929A5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68D5341-2183-D6BF-872F-3CE25DF8EBA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1ACA09F-EB4B-C07B-F78E-74230881DCD6}"/>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बेगम हजरत महल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सरोजिनी नायडू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एनी बेसेंट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FDEE6F9C-5FD5-3500-EB6A-517E3274600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9B89440-5351-B590-C5F8-BFE23FBD53A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4000EDA-4D20-86FC-9B32-A7B3BF432DBE}"/>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10. लखनऊ (अवध) में 1857 की क्रांति का नेतृत्व किस साहसी महिला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C01740E-FDA7-76DE-0E3B-BEB1F0BBB8F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749102B-6EB3-7123-7942-F1A1C413F90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06663922-692C-8A03-88D5-56CDFDEEFE1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1007989-3DAF-827E-1513-C6E0448820E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57AA5FD-7B08-2283-B07F-C8809C0D8EA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94AD8676-CEF8-4E0A-A3FE-491E711320F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741272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278FEAF-2E65-1A76-6AA5-66FA7D1A67A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A2BFFBC-E1C9-E951-2B45-3B24CDEBE28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3CF1335E-3A71-9464-4582-1DD3B930677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A4FB2B6-A16B-380B-084F-DCB85D635AC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A46998F-0AD8-F580-B864-95B9B3CA94D3}"/>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BABDFE3A-426A-666E-E19D-415ECB5108E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DFF3972-F20D-DE9E-ADE8-333B7AE04CA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C64F3E3-8894-8914-9E3B-1E3B324FFCC9}"/>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FA3A414-0DFD-0DFA-E94E-456BC2A6253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C57ACB4-D6E3-40A3-1453-4DF3F8F9937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BAB4F84-9ECC-B509-08F9-1EED26B4F96A}"/>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678B56A6-98E3-A7B3-118C-A6A3027D0B1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6B0CA3F-178A-A833-0D4B-C74BE74A997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5CB6626B-1464-C2F2-06C8-39D30205BEEE}"/>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6896420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8845</Words>
  <Application>Microsoft Office PowerPoint</Application>
  <PresentationFormat>Custom</PresentationFormat>
  <Paragraphs>270</Paragraphs>
  <Slides>30</Slides>
  <Notes>0</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2026-10-24T13:26:35Z</dcterms:created>
  <dcterms:modified xsi:type="dcterms:W3CDTF">2026-10-24T13:26:35Z</dcterms:modified>
</cp:coreProperties>
</file>