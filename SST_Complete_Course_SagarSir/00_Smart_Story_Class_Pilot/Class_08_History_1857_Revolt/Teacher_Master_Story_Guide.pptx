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2462A-7778-99FA-1D86-12244CFD4B3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3367C37-476A-9489-D769-13B6C0AEFF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03BA8BC-E08E-1CC2-6B09-905ABDAB6278}"/>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46CC568C-FB3B-26AE-23BE-5BF53986A6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65F78A-AE3C-CB93-695D-66721A3D1CC2}"/>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199880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DF5C1-C09A-C1C4-711B-66A89F38069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6774A8B-BB1E-5E7D-9F71-79F7B97B81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615417-AF9B-ACCB-B664-F939F776F4E7}"/>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3FB887A3-1921-D55B-5A8B-497DFD6A7AF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29B7F1-F31E-FA91-407C-F2780017E86A}"/>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3461099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1ACA72-0DC1-F569-344B-09EBED5F927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F0191C3-4802-BDB2-92D1-FC959BC0C2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3D17CB-795F-6343-A177-ACF34C86E762}"/>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4A4B3B69-77FB-D48E-11AA-3B1FDD3602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C9282AF-6CD2-7F2E-1E51-1356FC3178B5}"/>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1100200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9BA7A-4103-422E-6794-AF8F7D62FFE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1F004CA-2CE4-058D-7F4E-B619A1681B8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82E3FCE-9CB0-5B4C-785B-A9AF3339B6D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62E62F0-E169-8CA8-F080-1E0C4073FFF5}"/>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6" name="Footer Placeholder 5">
            <a:extLst>
              <a:ext uri="{FF2B5EF4-FFF2-40B4-BE49-F238E27FC236}">
                <a16:creationId xmlns:a16="http://schemas.microsoft.com/office/drawing/2014/main" id="{83588365-E7FD-EAD4-2E2E-664B26ED1BE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62EF258-ABB6-15A1-BEC2-A73BDCA81C79}"/>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4068013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979E1-B2E4-5547-7A73-B6088C4D0F6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2DA3C61-713B-9844-33CE-984581FD91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0E565AD-B0F1-B049-96E8-424B4E0345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2DDAB95-5F60-4052-E6CE-6882CAF5CC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370AF9-F6AC-D367-18B8-E628A3374F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9483524-4EC2-3C8E-9C5C-127BC2B4222A}"/>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8" name="Footer Placeholder 7">
            <a:extLst>
              <a:ext uri="{FF2B5EF4-FFF2-40B4-BE49-F238E27FC236}">
                <a16:creationId xmlns:a16="http://schemas.microsoft.com/office/drawing/2014/main" id="{7B3FCA76-1AED-E8A3-74D4-EC6C4E39782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A6521F-9D0B-38ED-BBEF-123A6ED126B1}"/>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4171510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DB541-894C-17FF-69A8-633F9164964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FC90FC3-7955-4E75-5445-634CCA122BCF}"/>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4" name="Footer Placeholder 3">
            <a:extLst>
              <a:ext uri="{FF2B5EF4-FFF2-40B4-BE49-F238E27FC236}">
                <a16:creationId xmlns:a16="http://schemas.microsoft.com/office/drawing/2014/main" id="{F5BD63BA-124E-39C0-1E0B-08E44F18121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E28FDE6-6DC4-5386-CD0A-AC1392854FC4}"/>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34623307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C7B82C-E3C9-8FB4-FFBB-DC6266D3CC47}"/>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3" name="Footer Placeholder 2">
            <a:extLst>
              <a:ext uri="{FF2B5EF4-FFF2-40B4-BE49-F238E27FC236}">
                <a16:creationId xmlns:a16="http://schemas.microsoft.com/office/drawing/2014/main" id="{238D4175-BF16-79A7-0D20-A8DCAE1628C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4C01155C-5B5F-9F1F-BEAA-C4EBD3638656}"/>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637211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868A91-2743-9D31-CB52-7C238713F8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9B7472F-0B93-0D3D-DAE1-174908E29D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9C33A9C-8664-0738-43E3-32E4E16B49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71F861-6DC0-535A-E21C-00BB2DA31CA5}"/>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6" name="Footer Placeholder 5">
            <a:extLst>
              <a:ext uri="{FF2B5EF4-FFF2-40B4-BE49-F238E27FC236}">
                <a16:creationId xmlns:a16="http://schemas.microsoft.com/office/drawing/2014/main" id="{8DD6BE35-A107-0A2B-02BA-9FBCEB8A451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0A8CC33-B46B-7585-C6FE-C5DBAB1A5838}"/>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22997467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76634-CEBA-2D26-57DE-F791FB6779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DEC540C-4578-A0F5-10E2-CBD85F412A1C}"/>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CCE67D4-9276-B757-BCC1-0ACD653A26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9001A8-C8D3-7FC5-F6FC-C17F0FE2D8E1}"/>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6" name="Footer Placeholder 5">
            <a:extLst>
              <a:ext uri="{FF2B5EF4-FFF2-40B4-BE49-F238E27FC236}">
                <a16:creationId xmlns:a16="http://schemas.microsoft.com/office/drawing/2014/main" id="{C2EC114F-A3C4-8F08-4446-08F670BFF13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34E1318-5BC7-C8A6-0C50-C04D00C496B1}"/>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16730409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0A78D-9AD1-B6C2-CA6B-D5E92F305F9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A3D615-962B-521E-1D25-9E3DA0D8C4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53D143F-FEB0-E5D5-F207-E57727DA4765}"/>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6C3AA0D8-1CF0-828F-65A5-C1CCA7C0E2A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7FF190A-A8A4-60F8-F934-87EEE1893720}"/>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40638218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84522D-4576-94F1-277C-5B052B21CE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053FE69-0DE4-FFA5-ED5F-D61BB47EB2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F9D7D8F-B77B-A4A8-83BA-63EFB28DBE13}"/>
              </a:ext>
            </a:extLst>
          </p:cNvPr>
          <p:cNvSpPr>
            <a:spLocks noGrp="1"/>
          </p:cNvSpPr>
          <p:nvPr>
            <p:ph type="dt" sz="half" idx="10"/>
          </p:nvPr>
        </p:nvSpPr>
        <p:spPr/>
        <p:txBody>
          <a:body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FB6D80D2-8D62-2C7C-4796-3E3A76A6E8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C519166-E03F-454D-FB4B-7322144DA9AD}"/>
              </a:ext>
            </a:extLst>
          </p:cNvPr>
          <p:cNvSpPr>
            <a:spLocks noGrp="1"/>
          </p:cNvSpPr>
          <p:nvPr>
            <p:ph type="sldNum" sz="quarter" idx="12"/>
          </p:nvPr>
        </p:nvSpPr>
        <p:spPr/>
        <p:txBody>
          <a:bodyPr/>
          <a:lstStyle/>
          <a:p>
            <a:fld id="{438DDB5F-3E37-46D8-B14D-72BF4BBC9AEB}" type="slidenum">
              <a:rPr lang="en-IN" smtClean="0"/>
              <a:t>‹#›</a:t>
            </a:fld>
            <a:endParaRPr lang="en-IN"/>
          </a:p>
        </p:txBody>
      </p:sp>
    </p:spTree>
    <p:extLst>
      <p:ext uri="{BB962C8B-B14F-4D97-AF65-F5344CB8AC3E}">
        <p14:creationId xmlns:p14="http://schemas.microsoft.com/office/powerpoint/2010/main" val="1778970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44AB4F-2898-AE88-B9EF-7C86FB9C46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A6E05D2-FF30-ADC4-8FFA-28E2868EA3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4209059-9A87-9186-2B1D-E932708CEA6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94ACA0-2E14-4E90-8B6F-2D6612850F4F}" type="datetimeFigureOut">
              <a:rPr lang="en-IN" smtClean="0"/>
              <a:t>29-10-2026</a:t>
            </a:fld>
            <a:endParaRPr lang="en-IN"/>
          </a:p>
        </p:txBody>
      </p:sp>
      <p:sp>
        <p:nvSpPr>
          <p:cNvPr id="5" name="Footer Placeholder 4">
            <a:extLst>
              <a:ext uri="{FF2B5EF4-FFF2-40B4-BE49-F238E27FC236}">
                <a16:creationId xmlns:a16="http://schemas.microsoft.com/office/drawing/2014/main" id="{E79BFBED-E7DA-3639-7CE8-0EFE773CA5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0506668-6C7A-840E-8DB4-2A6BEA4D6BF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38DDB5F-3E37-46D8-B14D-72BF4BBC9AEB}" type="slidenum">
              <a:rPr lang="en-IN" smtClean="0"/>
              <a:t>‹#›</a:t>
            </a:fld>
            <a:endParaRPr lang="en-IN"/>
          </a:p>
        </p:txBody>
      </p:sp>
    </p:spTree>
    <p:extLst>
      <p:ext uri="{BB962C8B-B14F-4D97-AF65-F5344CB8AC3E}">
        <p14:creationId xmlns:p14="http://schemas.microsoft.com/office/powerpoint/2010/main" val="4678624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6.mp4"/><Relationship Id="rId1" Type="http://schemas.microsoft.com/office/2007/relationships/media" Target="../media/media6.mp4"/><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7.mp4"/><Relationship Id="rId1" Type="http://schemas.microsoft.com/office/2007/relationships/media" Target="../media/media7.mp4"/><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8.mp4"/><Relationship Id="rId1" Type="http://schemas.microsoft.com/office/2007/relationships/media" Target="../media/media8.mp4"/><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86101F-3BCF-906B-2052-3A977C832F79}"/>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EDCF6C37-5C79-C2B4-CFA9-9515F1F65AA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 </a:t>
            </a:r>
            <a:r>
              <a:rPr lang="en-IN" sz="1400" b="1">
                <a:solidFill>
                  <a:srgbClr val="F59E0B"/>
                </a:solidFill>
                <a:latin typeface="Segoe UI" panose="020B0502040204020203" pitchFamily="34" charset="0"/>
              </a:rPr>
              <a:t>SAGAR COACHING CENTRE BHAGWANPUR</a:t>
            </a:r>
          </a:p>
        </p:txBody>
      </p:sp>
      <p:sp>
        <p:nvSpPr>
          <p:cNvPr id="4" name="Rectangle: Rounded Corners 3">
            <a:extLst>
              <a:ext uri="{FF2B5EF4-FFF2-40B4-BE49-F238E27FC236}">
                <a16:creationId xmlns:a16="http://schemas.microsoft.com/office/drawing/2014/main" id="{78F16A7D-FBEE-87EB-7A75-1D979B4F519C}"/>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A97CBA5-0E45-374B-B00A-0FB2E16C0CE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EA76DCDC-14DF-912A-63CF-1DEC17E2DCC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714500" y="1206500"/>
            <a:ext cx="1651000" cy="1651000"/>
          </a:xfrm>
          <a:prstGeom prst="rect">
            <a:avLst/>
          </a:prstGeom>
        </p:spPr>
      </p:pic>
      <p:sp>
        <p:nvSpPr>
          <p:cNvPr id="8" name="TextBox 7">
            <a:extLst>
              <a:ext uri="{FF2B5EF4-FFF2-40B4-BE49-F238E27FC236}">
                <a16:creationId xmlns:a16="http://schemas.microsoft.com/office/drawing/2014/main" id="{91BA5B5B-D694-7C2D-7C1C-755C1D46CC7D}"/>
              </a:ext>
            </a:extLst>
          </p:cNvPr>
          <p:cNvSpPr txBox="1"/>
          <p:nvPr/>
        </p:nvSpPr>
        <p:spPr>
          <a:xfrm>
            <a:off x="355600" y="2984500"/>
            <a:ext cx="4368800" cy="1169551"/>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कोचिंग सेंटर ब्रांडिंग विवरण (</a:t>
            </a:r>
            <a:r>
              <a:rPr lang="en-IN" sz="1000">
                <a:solidFill>
                  <a:srgbClr val="CBD5E1"/>
                </a:solidFill>
                <a:latin typeface="Segoe UI" panose="020B0502040204020203" pitchFamily="34" charset="0"/>
              </a:rPr>
              <a:t>Branding Details):
* SAGAR COACHING CENTRE BHAGWANPUR
* </a:t>
            </a:r>
            <a:r>
              <a:rPr lang="hi-IN" sz="1000">
                <a:solidFill>
                  <a:srgbClr val="CBD5E1"/>
                </a:solidFill>
                <a:latin typeface="Segoe UI" panose="020B0502040204020203" pitchFamily="34" charset="0"/>
              </a:rPr>
              <a:t>राष्ट्रीय आय-सह-मेधा छात्रवृत्ति परीक्षा (</a:t>
            </a:r>
            <a:r>
              <a:rPr lang="en-IN" sz="1000">
                <a:solidFill>
                  <a:srgbClr val="CBD5E1"/>
                </a:solidFill>
                <a:latin typeface="Segoe UI" panose="020B0502040204020203" pitchFamily="34" charset="0"/>
              </a:rPr>
              <a:t>NMMS) • </a:t>
            </a:r>
            <a:r>
              <a:rPr lang="hi-IN" sz="1000">
                <a:solidFill>
                  <a:srgbClr val="CBD5E1"/>
                </a:solidFill>
                <a:latin typeface="Segoe UI" panose="020B0502040204020203" pitchFamily="34" charset="0"/>
              </a:rPr>
              <a:t>कक्षा 08 • इतिहास
* 1857 की महान क्रांति
* मार्गदर्शक: श्रवण कुमार 'सागर' (</a:t>
            </a:r>
            <a:r>
              <a:rPr lang="en-IN" sz="1000">
                <a:solidFill>
                  <a:srgbClr val="CBD5E1"/>
                </a:solidFill>
                <a:latin typeface="Segoe UI" panose="020B0502040204020203" pitchFamily="34" charset="0"/>
              </a:rPr>
              <a:t>Sagar Sir)
* </a:t>
            </a:r>
            <a:r>
              <a:rPr lang="hi-IN" sz="1000">
                <a:solidFill>
                  <a:srgbClr val="CBD5E1"/>
                </a:solidFill>
                <a:latin typeface="Segoe UI" panose="020B0502040204020203" pitchFamily="34" charset="0"/>
              </a:rPr>
              <a:t>सागर कोचिंग सेंटर, भगवानपुर (सुपौल)</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88B24C9D-0ED2-B48F-8349-0675CB688E4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F218715-CBAC-01DC-EDD2-439B4DCB1D1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EDAAE7EF-68F2-8ABA-527B-6E677B3D6ED3}"/>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स्वागत है प्यारे बच्चों सागर कोचिंग सेंटर भगवानपुर के इस विशेष डिजिटल मंच पर! आज की क्लास राष्ट्रीय आय-सह-मेधा छात्रवृत्ति परीक्षा (</a:t>
            </a:r>
            <a:r>
              <a:rPr lang="en-IN" sz="1100">
                <a:solidFill>
                  <a:srgbClr val="F8FAFC"/>
                </a:solidFill>
                <a:latin typeface="Segoe UI" panose="020B0502040204020203" pitchFamily="34" charset="0"/>
              </a:rPr>
              <a:t>NMMS) </a:t>
            </a:r>
            <a:r>
              <a:rPr lang="hi-IN" sz="1100">
                <a:solidFill>
                  <a:srgbClr val="F8FAFC"/>
                </a:solidFill>
                <a:latin typeface="Segoe UI" panose="020B0502040204020203" pitchFamily="34" charset="0"/>
              </a:rPr>
              <a:t>के इतिहास खंड का सबसे महत्वपूर्ण अध्याय है—1857 की महान क्रांति। पूरी क्लास को ध्यानपूर्वक समझें और अंत में दिए गए टेस्ट में अपना स्कोर चेक करें!</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60F16AD3-0F7F-5AF8-D49C-BB83D0D13BD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1F5D306-5C46-4114-1135-113287F16FE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B4D7A2C8-7397-A0F8-F497-7EA3D4186AA5}"/>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स्वागत पंच: 'कमर कस लीजिए बच्चों, आज की क्लास के बाद इतिहास रटना नहीं पड़ेगा, सीधा दिमाग में छप जाएगा!'
शायरी: </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B24779B7-5D2E-56FB-D8FE-74A017AC822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F2541E9C-1F66-E536-E838-E868FE5A9FB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5B61DA73-BE7A-479E-6CF1-E5ADE909DEE4}"/>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Cinematic 3D animation style, dramatic wide shot of mid-19th century British East India Company colonial officers and Indian sepoys, storm clouds gathering, 8k resolution.</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479357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7F81967-8F6E-2DE1-4EE0-5B33BD02A20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6622F35-9AC9-80DC-00F8-DB25DA49E2E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 दृश्य 1: बारूद का ढेर — 1857 से पहले का सुलगता भारत (</a:t>
            </a:r>
            <a:r>
              <a:rPr lang="en-IN" sz="14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2B2D2229-3349-58F4-95C1-DC3A1B0E7B9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C5317F5-09F4-0C50-6DCB-BF224E612B4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dalhousie_decree">
            <a:hlinkClick r:id="" action="ppaction://media"/>
            <a:extLst>
              <a:ext uri="{FF2B5EF4-FFF2-40B4-BE49-F238E27FC236}">
                <a16:creationId xmlns:a16="http://schemas.microsoft.com/office/drawing/2014/main" id="{0B3CC8CE-BDBE-8869-CAA8-E04CAA9CD03B}"/>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C0944290-1145-1AE0-F0AF-664E88A3118C}"/>
              </a:ext>
            </a:extLst>
          </p:cNvPr>
          <p:cNvSpPr txBox="1"/>
          <p:nvPr/>
        </p:nvSpPr>
        <p:spPr>
          <a:xfrm>
            <a:off x="355600" y="3746500"/>
            <a:ext cx="4368800" cy="1785104"/>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1801 </a:t>
            </a:r>
            <a:r>
              <a:rPr lang="hi-IN" sz="1000">
                <a:solidFill>
                  <a:srgbClr val="CBD5E1"/>
                </a:solidFill>
                <a:latin typeface="Segoe UI" panose="020B0502040204020203" pitchFamily="34" charset="0"/>
              </a:rPr>
              <a:t>में अवध पर 'सहायक संधि' थोपी गई, और 1856 में 'कुशासन' का झूठा आरोप लगाकर अवध को ब्रिटिश साम्राज्य में मिलाया गया (अंग्रेजों द्वारा हड़पी गई अंतिम प्रमुख रियासत)।
• 1830 में ईसाई मिशनरियों को खुली छूट, 1849 में डलहौजी द्वारा मुग़लों को लाल किला खाली करने का आदेश, तथा 1850 में ईसाई धर्म अपनाने पर पैतृक संपत्ति अधिकार कानून बना।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'माझा प्रवास' के लेखक 'विष्णुभट्ट गोडसे' थे, अवध पर सहायक संधि 1801 में थोपी गई और अंतिम विलय 1856 में हुआ!</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15FC4E2-30B5-FFF6-CE30-D1C2EF97D3F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A3ACDDAB-7CEC-1820-6305-DB0DEB64797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62B0CB1B-E7DE-6237-BDA5-D21E768940A6}"/>
              </a:ext>
            </a:extLst>
          </p:cNvPr>
          <p:cNvSpPr txBox="1"/>
          <p:nvPr/>
        </p:nvSpPr>
        <p:spPr>
          <a:xfrm>
            <a:off x="5143500" y="1066800"/>
            <a:ext cx="6667500" cy="178510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1857 की क्रांति रातों-रात नहीं भड़की थी, इसकी जड़ें 50 साल पहले से सुलग रही थीं! सन 1801 में अंग्रेजों ने अवध पर वेलेस्ली की 'सहायक संधि' थोप दी। फिर 1830 के बाद ईसाई मिशनरियों को भारत में खुलकर धर्म परिवर्तन कराने की छूट दी गई। 1849 में घमंडी गवर्नर जनरल डलहौजी ने ऐलान कर दिया कि 80 पार के मुग़ल बादशाह बहादुर शाह जफर के मरते ही उनके परिवार को लाल किले से बेदखल कर दिया जाएगा! 1850 में उन्होंने कानून पास किया कि जो हिंदू ईसाई बनेगा, उसे पिता की संपत्ति मिलेगी, जिससे आदिवासियों व आम जनता में भारी खलबली मच गई। फिर 1856 में दो बड़े जुल्म हुए—पहला, नवाब वाजिद अली शाह पर कुशासन का झूठा आरोप लगाकर अवध को अंतिम रियासत के रूप में हड़प लिया, और दूसरा, भारतीय सैनिकों के लिए समुद्र पार (काला पानी) जाना अनिवार्य कर दिया जिसे हिंदू सैनिक धर्म भ्रष्ट होना मानते थे। मथुरा जा रहे यात्री विष्णुभट्ट गोडसे ने अपनी प्रसिद्ध पुस्तक 'माझा प्रवास' में लिखा कि कैसे अंग्रेज 84 नए नियम बनाकर हिंदुस्तानियों का धर्म नष्ट करना चाहते थे और पूरे देश में बगावत की ज्वाला सुलग रही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399B2EAB-C729-31C6-12C5-119F453150E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2B5B6FB-3E56-AF56-7CB1-62BBDB1A7E0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06FB67EC-3601-725A-46AB-0EEA51A88A5A}"/>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सोचते थे कि कानून की आड़ में धर्म और रियासतें लूट लेंगे, लेकिन जब जनता का सब्र टूटा तो 1857 में ब्रिटिश हुकूमत की ईंट से ईंट बज गई!'
शायरी: गुलामी की जंजीरें जब हद से ज्यादा कसने लगीं, अंग्रेजों की करतूतों पर मौत भी हंसने लगी!</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3B82A8A-738C-296A-9717-CE2C149463F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D350BC1-01E2-275A-EB05-A3BB2BA7719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B175037A-B1BA-6D0A-3350-AE40FA7EFAE7}"/>
              </a:ext>
            </a:extLst>
          </p:cNvPr>
          <p:cNvSpPr txBox="1"/>
          <p:nvPr/>
        </p:nvSpPr>
        <p:spPr>
          <a:xfrm>
            <a:off x="5143500" y="5613400"/>
            <a:ext cx="6667500" cy="553998"/>
          </a:xfrm>
          <a:prstGeom prst="rect">
            <a:avLst/>
          </a:prstGeom>
          <a:noFill/>
        </p:spPr>
        <p:txBody>
          <a:bodyPr vert="horz" wrap="square" rtlCol="0">
            <a:spAutoFit/>
          </a:bodyPr>
          <a:lstStyle/>
          <a:p>
            <a:r>
              <a:rPr lang="en-IN" sz="1000">
                <a:solidFill>
                  <a:srgbClr val="E2E8F0"/>
                </a:solidFill>
                <a:latin typeface="Segoe UI" panose="020B0502040204020203" pitchFamily="34" charset="0"/>
              </a:rPr>
              <a:t>Cinematic dramatic historical visual of British Governor-General Lord Dalhousie seated at high mahogany desk in Calcutta Council chamber, signing 1850s annexation and military decrees with quill pen, large 19th century British map of Awadh and India on the wall, dark atmospheric mood, candlelit shadows, hyper-realistic, 8k --ar 16:9</a:t>
            </a:r>
          </a:p>
        </p:txBody>
      </p:sp>
    </p:spTree>
    <p:extLst>
      <p:ext uri="{BB962C8B-B14F-4D97-AF65-F5344CB8AC3E}">
        <p14:creationId xmlns:p14="http://schemas.microsoft.com/office/powerpoint/2010/main" val="3783964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71AF808-4455-28C3-543C-155E6FB2D5EF}"/>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C8AC8DC-3ADA-0720-C70F-D5A558A2C5E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 दृश्य 2: आग में घी — चर्बी वाले कारतूस (</a:t>
            </a:r>
            <a:r>
              <a:rPr lang="en-IN" sz="1400" b="1">
                <a:solidFill>
                  <a:srgbClr val="F59E0B"/>
                </a:solidFill>
                <a:latin typeface="Segoe UI" panose="020B0502040204020203" pitchFamily="34" charset="0"/>
              </a:rPr>
              <a:t>Greased Cartridges) </a:t>
            </a:r>
            <a:r>
              <a:rPr lang="hi-IN" sz="1400" b="1">
                <a:solidFill>
                  <a:srgbClr val="F59E0B"/>
                </a:solidFill>
                <a:latin typeface="Segoe UI" panose="020B0502040204020203" pitchFamily="34" charset="0"/>
              </a:rPr>
              <a:t>का पर्दाफाश</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2F2E0A90-5A64-E3F0-42CD-EA4616A8143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F1AABF8-B7BD-1408-B622-CCF142027DA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greased_cartridge">
            <a:hlinkClick r:id="" action="ppaction://media"/>
            <a:extLst>
              <a:ext uri="{FF2B5EF4-FFF2-40B4-BE49-F238E27FC236}">
                <a16:creationId xmlns:a16="http://schemas.microsoft.com/office/drawing/2014/main" id="{B3D7C032-E491-058C-EB77-8FE5A9D6FB2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E3616C3A-1768-9F5E-9E95-D996AAD8C554}"/>
              </a:ext>
            </a:extLst>
          </p:cNvPr>
          <p:cNvSpPr txBox="1"/>
          <p:nvPr/>
        </p:nvSpPr>
        <p:spPr>
          <a:xfrm>
            <a:off x="355600" y="3746500"/>
            <a:ext cx="4368800" cy="1631216"/>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दिसंबर 1856: पुरानी 'ब्राउन बैस' (</a:t>
            </a:r>
            <a:r>
              <a:rPr lang="en-IN" sz="1000">
                <a:solidFill>
                  <a:srgbClr val="CBD5E1"/>
                </a:solidFill>
                <a:latin typeface="Segoe UI" panose="020B0502040204020203" pitchFamily="34" charset="0"/>
              </a:rPr>
              <a:t>Brown Bess) </a:t>
            </a:r>
            <a:r>
              <a:rPr lang="hi-IN" sz="1000">
                <a:solidFill>
                  <a:srgbClr val="CBD5E1"/>
                </a:solidFill>
                <a:latin typeface="Segoe UI" panose="020B0502040204020203" pitchFamily="34" charset="0"/>
              </a:rPr>
              <a:t>की जगह नई 'एनफील्ड </a:t>
            </a:r>
            <a:r>
              <a:rPr lang="en-IN" sz="1000">
                <a:solidFill>
                  <a:srgbClr val="CBD5E1"/>
                </a:solidFill>
                <a:latin typeface="Segoe UI" panose="020B0502040204020203" pitchFamily="34" charset="0"/>
              </a:rPr>
              <a:t>P-53 </a:t>
            </a:r>
            <a:r>
              <a:rPr lang="hi-IN" sz="1000">
                <a:solidFill>
                  <a:srgbClr val="CBD5E1"/>
                </a:solidFill>
                <a:latin typeface="Segoe UI" panose="020B0502040204020203" pitchFamily="34" charset="0"/>
              </a:rPr>
              <a:t>राइफल' (</a:t>
            </a:r>
            <a:r>
              <a:rPr lang="en-IN" sz="1000">
                <a:solidFill>
                  <a:srgbClr val="CBD5E1"/>
                </a:solidFill>
                <a:latin typeface="Segoe UI" panose="020B0502040204020203" pitchFamily="34" charset="0"/>
              </a:rPr>
              <a:t>Enfield Rifle) </a:t>
            </a:r>
            <a:r>
              <a:rPr lang="hi-IN" sz="1000">
                <a:solidFill>
                  <a:srgbClr val="CBD5E1"/>
                </a:solidFill>
                <a:latin typeface="Segoe UI" panose="020B0502040204020203" pitchFamily="34" charset="0"/>
              </a:rPr>
              <a:t>का प्रयोग शुरू किया गया।
• 1857 विद्रोह का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कारतूस के खोल पर 'गाय और सुअर की चर्बी' का लेप, जिसे लोड करने से पहले सैनिकों को दांत से काटना पड़ता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महा-विद्रोह का प्रमुख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चर्बी वाले कारतूसों' (</a:t>
            </a:r>
            <a:r>
              <a:rPr lang="en-IN" sz="1000">
                <a:solidFill>
                  <a:srgbClr val="CBD5E1"/>
                </a:solidFill>
                <a:latin typeface="Segoe UI" panose="020B0502040204020203" pitchFamily="34" charset="0"/>
              </a:rPr>
              <a:t>Greased Cartridges) </a:t>
            </a:r>
            <a:r>
              <a:rPr lang="hi-IN" sz="1000">
                <a:solidFill>
                  <a:srgbClr val="CBD5E1"/>
                </a:solidFill>
                <a:latin typeface="Segoe UI" panose="020B0502040204020203" pitchFamily="34" charset="0"/>
              </a:rPr>
              <a:t>का प्रयोग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07793BFF-4E21-809F-217A-24797BC5959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631E7FBD-55E4-4C19-32D9-A5344E655C4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CC608281-05D0-FC6F-C819-CF300E86F83C}"/>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अब सुनो वह घटना जिसने आग में घी का काम किया! दिसंबर 1856 में अंग्रेजों ने सेना में पुरानी 'ब्राउन बैस' (</a:t>
            </a:r>
            <a:r>
              <a:rPr lang="en-IN" sz="1100">
                <a:solidFill>
                  <a:srgbClr val="F8FAFC"/>
                </a:solidFill>
                <a:latin typeface="Segoe UI" panose="020B0502040204020203" pitchFamily="34" charset="0"/>
              </a:rPr>
              <a:t>Brown Bess) </a:t>
            </a:r>
            <a:r>
              <a:rPr lang="hi-IN" sz="1100">
                <a:solidFill>
                  <a:srgbClr val="F8FAFC"/>
                </a:solidFill>
                <a:latin typeface="Segoe UI" panose="020B0502040204020203" pitchFamily="34" charset="0"/>
              </a:rPr>
              <a:t>मस्कट हटाकर 'एनफील्ड </a:t>
            </a:r>
            <a:r>
              <a:rPr lang="en-IN" sz="1100">
                <a:solidFill>
                  <a:srgbClr val="F8FAFC"/>
                </a:solidFill>
                <a:latin typeface="Segoe UI" panose="020B0502040204020203" pitchFamily="34" charset="0"/>
              </a:rPr>
              <a:t>P-53' (Enfield P-53 Rifle) </a:t>
            </a:r>
            <a:r>
              <a:rPr lang="hi-IN" sz="110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a:t>
            </a:r>
            <a:r>
              <a:rPr lang="en-IN" sz="1100">
                <a:solidFill>
                  <a:srgbClr val="F8FAFC"/>
                </a:solidFill>
                <a:latin typeface="Segoe UI" panose="020B0502040204020203" pitchFamily="34" charset="0"/>
              </a:rPr>
              <a:t>Teeth) </a:t>
            </a:r>
            <a:r>
              <a:rPr lang="hi-IN" sz="1100">
                <a:solidFill>
                  <a:srgbClr val="F8FAFC"/>
                </a:solidFill>
                <a:latin typeface="Segoe UI" panose="020B0502040204020203" pitchFamily="34" charset="0"/>
              </a:rPr>
              <a:t>से काटना पड़ता था! जनवरी 1857 में दमदम (</a:t>
            </a:r>
            <a:r>
              <a:rPr lang="en-IN" sz="1100">
                <a:solidFill>
                  <a:srgbClr val="F8FAFC"/>
                </a:solidFill>
                <a:latin typeface="Segoe UI" panose="020B0502040204020203" pitchFamily="34" charset="0"/>
              </a:rPr>
              <a:t>Dum Dum) </a:t>
            </a:r>
            <a:r>
              <a:rPr lang="hi-IN" sz="1100">
                <a:solidFill>
                  <a:srgbClr val="F8FAFC"/>
                </a:solidFill>
                <a:latin typeface="Segoe UI" panose="020B0502040204020203" pitchFamily="34" charset="0"/>
              </a:rPr>
              <a:t>में एक खलासी ने खुलासा किया कि इस ग्रीस में गाय (</a:t>
            </a:r>
            <a:r>
              <a:rPr lang="en-IN" sz="1100">
                <a:solidFill>
                  <a:srgbClr val="F8FAFC"/>
                </a:solidFill>
                <a:latin typeface="Segoe UI" panose="020B0502040204020203" pitchFamily="34" charset="0"/>
              </a:rPr>
              <a:t>Cow) </a:t>
            </a:r>
            <a:r>
              <a:rPr lang="hi-IN" sz="1100">
                <a:solidFill>
                  <a:srgbClr val="F8FAFC"/>
                </a:solidFill>
                <a:latin typeface="Segoe UI" panose="020B0502040204020203" pitchFamily="34" charset="0"/>
              </a:rPr>
              <a:t>और सुअर (</a:t>
            </a:r>
            <a:r>
              <a:rPr lang="en-IN" sz="1100">
                <a:solidFill>
                  <a:srgbClr val="F8FAFC"/>
                </a:solidFill>
                <a:latin typeface="Segoe UI" panose="020B0502040204020203" pitchFamily="34" charset="0"/>
              </a:rPr>
              <a:t>Pig) </a:t>
            </a:r>
            <a:r>
              <a:rPr lang="hi-IN" sz="1100">
                <a:solidFill>
                  <a:srgbClr val="F8FAFC"/>
                </a:solidFill>
                <a:latin typeface="Segoe UI" panose="020B0502040204020203" pitchFamily="34" charset="0"/>
              </a:rPr>
              <a:t>की चर्बी है! गाय हिंदुओं के लिए पूज्य मां और सुअर मुस्लिमों के लिए हराम! सैनिकों को लगा कि अंग्रेज हमारी जमीन के बाद अब हमारा धर्म भी भ्रष्ट कर रहे हैं!</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94EDF34C-1C78-757C-5E5C-709A2398E1A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0F87975-D06F-F97B-FAFD-BA43BF374CB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0A059422-00C8-FBB5-2AAC-AB89C845C1DD}"/>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शायरी: गाय और सुअर की चर्बी से जब बारूद को सनाया था, अंग्रेजों ने खुद अपनी मौत का फरमान बनाया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ECD27E2E-A3D7-F889-157D-9431C7A6F065}"/>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FD8BD48-F03B-8AD3-3D88-C0E021A74B83}"/>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0493FD85-3FB0-BD86-E9B4-42A49DB5DB2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Macro cinematic shot of an 1853 Enfield paper cartridge held in sepoy hands, glowing candlelight, intense suspense, 8k photorealistic.</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88789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0B2A43-8BD8-CF5D-14A5-D8EAC2D51F22}"/>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488A409-7927-9FAF-C81C-D2CE4F02CCF7}"/>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4]: दृश्य 3: पहला महा-विस्फोट — अमर बलिदानी मंगल पांडे (</a:t>
            </a:r>
            <a:r>
              <a:rPr lang="en-IN" sz="1400" b="1">
                <a:solidFill>
                  <a:srgbClr val="F59E0B"/>
                </a:solidFill>
                <a:latin typeface="Segoe UI" panose="020B0502040204020203" pitchFamily="34" charset="0"/>
              </a:rPr>
              <a:t>Mangal Pandey)</a:t>
            </a:r>
          </a:p>
        </p:txBody>
      </p:sp>
      <p:sp>
        <p:nvSpPr>
          <p:cNvPr id="4" name="Rectangle: Rounded Corners 3">
            <a:extLst>
              <a:ext uri="{FF2B5EF4-FFF2-40B4-BE49-F238E27FC236}">
                <a16:creationId xmlns:a16="http://schemas.microsoft.com/office/drawing/2014/main" id="{A24A3854-2610-0CF0-DF53-9EC2C4871A76}"/>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D938EB4-FF73-588A-51FC-7CD1825521D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_parade">
            <a:hlinkClick r:id="" action="ppaction://media"/>
            <a:extLst>
              <a:ext uri="{FF2B5EF4-FFF2-40B4-BE49-F238E27FC236}">
                <a16:creationId xmlns:a16="http://schemas.microsoft.com/office/drawing/2014/main" id="{41FED47B-7335-BEAA-6692-2DAF57DA99B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EF681976-6AB2-4645-C082-9FAA1C220147}"/>
              </a:ext>
            </a:extLst>
          </p:cNvPr>
          <p:cNvSpPr txBox="1"/>
          <p:nvPr/>
        </p:nvSpPr>
        <p:spPr>
          <a:xfrm>
            <a:off x="355600" y="3746500"/>
            <a:ext cx="4368800" cy="1631216"/>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29 </a:t>
            </a:r>
            <a:r>
              <a:rPr lang="hi-IN" sz="1000">
                <a:solidFill>
                  <a:srgbClr val="CBD5E1"/>
                </a:solidFill>
                <a:latin typeface="Segoe UI" panose="020B0502040204020203" pitchFamily="34" charset="0"/>
              </a:rPr>
              <a:t>मार्च 1857: बैरकपुर छावनी (बंगाल) में 34वीं बंगाल नेटिव इन्फैंट्री के वीर सिपाही मंगल पांडे ने चर्बी वाले कारतूस के विरोध में अंग्रेज सार्जेंट ह्यूजसन और वॉघ पर गोली चलाई।
• 8 अप्रैल 1857: समय से 10 दिन पहले ही अंग्रेजों ने बैरकपुर में क्रांतिकारी मंगल पांडे को फांसी के फंदे पर लटका दिया।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मंगल पांडे ने 29 मार्च 1857 को बैरकपुर में विद्रोह किया था और उन्हें 8 अप्रैल 1857 को फांसी दी गई (रेजिमेंट: 34वीं नेटिव इन्फैंट्री)!</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709BE15-8BAD-FA16-1DED-4DEF2D7571E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5A4CE7E-3F56-FD4A-1719-004CB9BB170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5526A5B7-A903-A910-872D-97EEB3C43444}"/>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नोट करो बच्चों—29 मार्च 1857! बंगाल की बैरकपुर छावनी (</a:t>
            </a:r>
            <a:r>
              <a:rPr lang="en-IN" sz="1100">
                <a:solidFill>
                  <a:srgbClr val="F8FAFC"/>
                </a:solidFill>
                <a:latin typeface="Segoe UI" panose="020B0502040204020203" pitchFamily="34" charset="0"/>
              </a:rPr>
              <a:t>Barrackpore Cantonment)! 34</a:t>
            </a:r>
            <a:r>
              <a:rPr lang="hi-IN" sz="1100">
                <a:solidFill>
                  <a:srgbClr val="F8FAFC"/>
                </a:solidFill>
                <a:latin typeface="Segoe UI" panose="020B0502040204020203" pitchFamily="34" charset="0"/>
              </a:rPr>
              <a:t>वीं बंगाल नेटिव इन्फैंट्री (34</a:t>
            </a:r>
            <a:r>
              <a:rPr lang="en-IN" sz="1100">
                <a:solidFill>
                  <a:srgbClr val="F8FAFC"/>
                </a:solidFill>
                <a:latin typeface="Segoe UI" panose="020B0502040204020203" pitchFamily="34" charset="0"/>
              </a:rPr>
              <a:t>th Bengal Native Infantry) </a:t>
            </a:r>
            <a:r>
              <a:rPr lang="hi-IN" sz="1100">
                <a:solidFill>
                  <a:srgbClr val="F8FAFC"/>
                </a:solidFill>
                <a:latin typeface="Segoe UI" panose="020B0502040204020203" pitchFamily="34" charset="0"/>
              </a:rPr>
              <a:t>का 29 साल का ब्राह्मण नौजवान—मंगल पांडे! मंगल पांडे ने साफ कह दिया—'मैं अपने धर्म से गद्दारी नहीं करूंगा!' जब सार्जेंट मेजर ह्यूसन (</a:t>
            </a:r>
            <a:r>
              <a:rPr lang="en-IN" sz="1100">
                <a:solidFill>
                  <a:srgbClr val="F8FAFC"/>
                </a:solidFill>
                <a:latin typeface="Segoe UI" panose="020B0502040204020203" pitchFamily="34" charset="0"/>
              </a:rPr>
              <a:t>Hughson) </a:t>
            </a:r>
            <a:r>
              <a:rPr lang="hi-IN" sz="1100">
                <a:solidFill>
                  <a:srgbClr val="F8FAFC"/>
                </a:solidFill>
                <a:latin typeface="Segoe UI" panose="020B0502040204020203" pitchFamily="34" charset="0"/>
              </a:rPr>
              <a:t>उसे पकड़ने आया, मंगल पांडे ने अपनी राइफल से उसे ढेर कर दिया! लेफ्टिनेंट बाऊ (</a:t>
            </a:r>
            <a:r>
              <a:rPr lang="en-IN" sz="1100">
                <a:solidFill>
                  <a:srgbClr val="F8FAFC"/>
                </a:solidFill>
                <a:latin typeface="Segoe UI" panose="020B0502040204020203" pitchFamily="34" charset="0"/>
              </a:rPr>
              <a:t>Lieutenant Baugh) </a:t>
            </a:r>
            <a:r>
              <a:rPr lang="hi-IN" sz="1100">
                <a:solidFill>
                  <a:srgbClr val="F8FAFC"/>
                </a:solidFill>
                <a:latin typeface="Segoe UI" panose="020B0502040204020203" pitchFamily="34" charset="0"/>
              </a:rPr>
              <a:t>पर भी हमला किया। पूरे ग्राउंड में खड़े भारतीय सैनिकों ने मंगल पांडे को छूने तक से मना कर दिया! अंग्रेजों में इतना डर था कि तय समय से 10 दिन पहले 8 अप्रैल 1857 को मंगल पांडे को फांसी (</a:t>
            </a:r>
            <a:r>
              <a:rPr lang="en-IN" sz="1100">
                <a:solidFill>
                  <a:srgbClr val="F8FAFC"/>
                </a:solidFill>
                <a:latin typeface="Segoe UI" panose="020B0502040204020203" pitchFamily="34" charset="0"/>
              </a:rPr>
              <a:t>Hanged) </a:t>
            </a:r>
            <a:r>
              <a:rPr lang="hi-IN" sz="1100">
                <a:solidFill>
                  <a:srgbClr val="F8FAFC"/>
                </a:solidFill>
                <a:latin typeface="Segoe UI" panose="020B0502040204020203" pitchFamily="34" charset="0"/>
              </a:rPr>
              <a:t>दे दी गई!</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0868456B-C370-2441-5EDC-4F1F2854C4A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686C3D3-32A0-1485-E80E-5DBB63BB9FD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5F0020ED-40D0-DA42-3DC6-DFACC52697B0}"/>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ट्रिक: 'मंगल ने किया दंगल, 29 मार्च को बैरकपुर में 34वीं रेजिमेंट के संग!'
शायरी: हुकूमत का गुरूर था, बारूद का वो दौर था, अंग्रेजों की छाती पर मंगल पांडे का ज़ोर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C4B619B4-A46D-BBC1-6755-9555D7CF4DC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61EB99CB-4F2E-193A-0B4B-E4EFCBCF2379}"/>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BE63AE5E-5A27-F346-24C4-C503C685F6F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defiant shot of Indian sepoy Mangal Pandey in military uniform with smoking musket at Barrackpore parade grounds, morning sunrise, epic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524101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06E6C89-9311-FCB6-1810-CC536974EED5}"/>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66DBEE1-1A74-5689-49C0-D5814947AA0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5]: दृश्य 4: क्रांति का गुप्त संदेश — कमल का फूल और रोटी (</a:t>
            </a:r>
            <a:r>
              <a:rPr lang="en-IN" sz="14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1C6681E4-090B-637D-7C4F-EA6D58FDB5D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86C13AE-C3D2-D308-E4F7-A0AC6F3766D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C1E56475-74FF-EA4F-402D-8355A574A62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1453CAA2-27D1-6597-D162-CD00B67F892A}"/>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गुप्त प्रतीक (</a:t>
            </a:r>
            <a:r>
              <a:rPr lang="en-IN" sz="1000">
                <a:solidFill>
                  <a:srgbClr val="CBD5E1"/>
                </a:solidFill>
                <a:latin typeface="Segoe UI" panose="020B0502040204020203" pitchFamily="34" charset="0"/>
              </a:rPr>
              <a:t>Secret Symbols): '</a:t>
            </a:r>
            <a:r>
              <a:rPr lang="hi-IN" sz="1000">
                <a:solidFill>
                  <a:srgbClr val="CBD5E1"/>
                </a:solidFill>
                <a:latin typeface="Segoe UI" panose="020B0502040204020203" pitchFamily="34" charset="0"/>
              </a:rPr>
              <a:t>लाल कमल का फूल' (</a:t>
            </a:r>
            <a:r>
              <a:rPr lang="en-IN" sz="1000">
                <a:solidFill>
                  <a:srgbClr val="CBD5E1"/>
                </a:solidFill>
                <a:latin typeface="Segoe UI" panose="020B0502040204020203" pitchFamily="34" charset="0"/>
              </a:rPr>
              <a:t>Lotus - </a:t>
            </a:r>
            <a:r>
              <a:rPr lang="hi-IN" sz="1000">
                <a:solidFill>
                  <a:srgbClr val="CBD5E1"/>
                </a:solidFill>
                <a:latin typeface="Segoe UI" panose="020B0502040204020203" pitchFamily="34" charset="0"/>
              </a:rPr>
              <a:t>सैनिकों हेतु) व 'चपाती/रोटी' (</a:t>
            </a:r>
            <a:r>
              <a:rPr lang="en-IN" sz="1000">
                <a:solidFill>
                  <a:srgbClr val="CBD5E1"/>
                </a:solidFill>
                <a:latin typeface="Segoe UI" panose="020B0502040204020203" pitchFamily="34" charset="0"/>
              </a:rPr>
              <a:t>Bread - </a:t>
            </a:r>
            <a:r>
              <a:rPr lang="hi-IN" sz="1000">
                <a:solidFill>
                  <a:srgbClr val="CBD5E1"/>
                </a:solidFill>
                <a:latin typeface="Segoe UI" panose="020B0502040204020203" pitchFamily="34" charset="0"/>
              </a:rPr>
              <a:t>जनता हेतु)
• क्रांति की पूर्व-निर्धारित योजना की तिथि 31 मई 1857 (</a:t>
            </a:r>
            <a:r>
              <a:rPr lang="en-IN" sz="1000">
                <a:solidFill>
                  <a:srgbClr val="CBD5E1"/>
                </a:solidFill>
                <a:latin typeface="Segoe UI" panose="020B0502040204020203" pitchFamily="34" charset="0"/>
              </a:rPr>
              <a:t>Planned Date: 31 May 1857) </a:t>
            </a:r>
            <a:r>
              <a:rPr lang="hi-IN" sz="1000">
                <a:solidFill>
                  <a:srgbClr val="CBD5E1"/>
                </a:solidFill>
                <a:latin typeface="Segoe UI" panose="020B0502040204020203" pitchFamily="34" charset="0"/>
              </a:rPr>
              <a:t>तय की गई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प्रथम स्वतंत्रता संग्राम का आधिकारिक प्रतीक चिह्न 'कमल और रोटी' (</a:t>
            </a:r>
            <a:r>
              <a:rPr lang="en-IN" sz="1000">
                <a:solidFill>
                  <a:srgbClr val="CBD5E1"/>
                </a:solidFill>
                <a:latin typeface="Segoe UI" panose="020B0502040204020203" pitchFamily="34" charset="0"/>
              </a:rPr>
              <a:t>Lotus and Bread)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E2CCE3B4-719F-3F17-6011-B12F339D7C9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74234F2-55BD-E693-F6E0-C62E47859D3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5F964934-98D2-88D4-01DD-C462AC1D8074}"/>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a:t>
            </a:r>
            <a:r>
              <a:rPr lang="en-IN" sz="1100">
                <a:solidFill>
                  <a:srgbClr val="F8FAFC"/>
                </a:solidFill>
                <a:latin typeface="Segoe UI" panose="020B0502040204020203" pitchFamily="34" charset="0"/>
              </a:rPr>
              <a:t>Secret Symbols) </a:t>
            </a:r>
            <a:r>
              <a:rPr lang="hi-IN" sz="1100">
                <a:solidFill>
                  <a:srgbClr val="F8FAFC"/>
                </a:solidFill>
                <a:latin typeface="Segoe UI" panose="020B0502040204020203" pitchFamily="34" charset="0"/>
              </a:rPr>
              <a:t>चुने—'लाल कमल का फूल' (</a:t>
            </a:r>
            <a:r>
              <a:rPr lang="en-IN" sz="1100">
                <a:solidFill>
                  <a:srgbClr val="F8FAFC"/>
                </a:solidFill>
                <a:latin typeface="Segoe UI" panose="020B0502040204020203" pitchFamily="34" charset="0"/>
              </a:rPr>
              <a:t>Lotus - </a:t>
            </a:r>
            <a:r>
              <a:rPr lang="hi-IN" sz="1100">
                <a:solidFill>
                  <a:srgbClr val="F8FAFC"/>
                </a:solidFill>
                <a:latin typeface="Segoe UI" panose="020B0502040204020203" pitchFamily="34" charset="0"/>
              </a:rPr>
              <a:t>सैनिकों के लिए) और 'रोटी' (</a:t>
            </a:r>
            <a:r>
              <a:rPr lang="en-IN" sz="1100">
                <a:solidFill>
                  <a:srgbClr val="F8FAFC"/>
                </a:solidFill>
                <a:latin typeface="Segoe UI" panose="020B0502040204020203" pitchFamily="34" charset="0"/>
              </a:rPr>
              <a:t>Chapati - </a:t>
            </a:r>
            <a:r>
              <a:rPr lang="hi-IN" sz="1100">
                <a:solidFill>
                  <a:srgbClr val="F8FAFC"/>
                </a:solidFill>
                <a:latin typeface="Segoe UI" panose="020B0502040204020203" pitchFamily="34" charset="0"/>
              </a:rPr>
              <a:t>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705C6F2F-28EA-B501-B827-5CAB4D273E7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B824F7FC-9A90-66F6-218B-02C862E3C87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CAE83A72-9B3E-BD9F-A760-ABBC8ADF6C0D}"/>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शायरी: चुपके से रोटी बंटी, कमल का फूल मुस्काया था, अंग्रेजों को भनक न लगी, क्या तूफ़ान आने वाला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266322CB-DB37-6CB7-A76B-019EDDD3B2F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D8AC2A1C-A51C-DDCA-409E-1309752566E8}"/>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E8374869-BF4C-685F-9A7F-08530D3AC530}"/>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Atmospheric night scene in 19th-century Indian village, secret exchange of chapati and red lotus under moonlight, warm lantern light,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156341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CCFBF6C-1485-302F-1ED1-9E4A1D14B131}"/>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FE748A0-258D-2ACB-59B7-0F48F284AB9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6]: दृश्य 5: 10 मई 1857 — मेरठ का महा-विद्रोह (</a:t>
            </a:r>
            <a:r>
              <a:rPr lang="en-IN" sz="1400" b="1">
                <a:solidFill>
                  <a:srgbClr val="F59E0B"/>
                </a:solidFill>
                <a:latin typeface="Segoe UI" panose="020B0502040204020203" pitchFamily="34" charset="0"/>
              </a:rPr>
              <a:t>Meerut Mutiny) </a:t>
            </a:r>
            <a:r>
              <a:rPr lang="hi-IN" sz="1400" b="1">
                <a:solidFill>
                  <a:srgbClr val="F59E0B"/>
                </a:solidFill>
                <a:latin typeface="Segoe UI" panose="020B0502040204020203" pitchFamily="34" charset="0"/>
              </a:rPr>
              <a:t>और दिल्ली कूच</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04DCE841-0537-BBF1-B9BD-7C6C3CC2378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E9C67FD-A3E4-2850-5348-901EF0F7CD8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eerut_cavalry_charge">
            <a:hlinkClick r:id="" action="ppaction://media"/>
            <a:extLst>
              <a:ext uri="{FF2B5EF4-FFF2-40B4-BE49-F238E27FC236}">
                <a16:creationId xmlns:a16="http://schemas.microsoft.com/office/drawing/2014/main" id="{996D5B43-98EB-6EF2-0D7B-3A2CFEC61138}"/>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9E629A63-0B35-A257-D458-03B68857933C}"/>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शुरुआत: 10 मई 1857 को मेरठ छावनी (</a:t>
            </a:r>
            <a:r>
              <a:rPr lang="en-IN" sz="1000">
                <a:solidFill>
                  <a:srgbClr val="CBD5E1"/>
                </a:solidFill>
                <a:latin typeface="Segoe UI" panose="020B0502040204020203" pitchFamily="34" charset="0"/>
              </a:rPr>
              <a:t>Meerut Cantonment) </a:t>
            </a:r>
            <a:r>
              <a:rPr lang="hi-IN" sz="1000">
                <a:solidFill>
                  <a:srgbClr val="CBD5E1"/>
                </a:solidFill>
                <a:latin typeface="Segoe UI" panose="020B0502040204020203" pitchFamily="34" charset="0"/>
              </a:rPr>
              <a:t>से 1857 के प्रथम स्वतंत्रता संग्राम की विधिवत शुरुआत हुई।
• 3री कैवलरी के 85 सिपाहियों ने चर्बी वाले कारतूस छूने से इनकार किया, कोर्ट मार्शल के बाद भड़की बगावत ने अंग्रेजी हुकूमत को थर्रा दिया।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क्रांति की विधिवत शुरुआत 10 मई 1857 को 'मेरठ छावनी' (</a:t>
            </a:r>
            <a:r>
              <a:rPr lang="en-IN" sz="1000">
                <a:solidFill>
                  <a:srgbClr val="CBD5E1"/>
                </a:solidFill>
                <a:latin typeface="Segoe UI" panose="020B0502040204020203" pitchFamily="34" charset="0"/>
              </a:rPr>
              <a:t>Meerut) </a:t>
            </a:r>
            <a:r>
              <a:rPr lang="hi-IN" sz="1000">
                <a:solidFill>
                  <a:srgbClr val="CBD5E1"/>
                </a:solidFill>
                <a:latin typeface="Segoe UI" panose="020B0502040204020203" pitchFamily="34" charset="0"/>
              </a:rPr>
              <a:t>से हुई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9046473-687A-A3DD-C70E-FF2014F2012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B9DE323-6A91-2C23-3675-41C1E1C8FFEB}"/>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56290DB7-7F9B-A1A7-4F55-3C8939640544}"/>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याद रखो—10 मई 1857, रविवार की शाम! जगह: मेरठ छावनी (</a:t>
            </a:r>
            <a:r>
              <a:rPr lang="en-IN" sz="1100">
                <a:solidFill>
                  <a:srgbClr val="F8FAFC"/>
                </a:solidFill>
                <a:latin typeface="Segoe UI" panose="020B0502040204020203" pitchFamily="34" charset="0"/>
              </a:rPr>
              <a:t>Meerut Cantonment)। </a:t>
            </a:r>
            <a:r>
              <a:rPr lang="hi-IN" sz="1100">
                <a:solidFill>
                  <a:srgbClr val="F8FAFC"/>
                </a:solidFill>
                <a:latin typeface="Segoe UI" panose="020B0502040204020203" pitchFamily="34" charset="0"/>
              </a:rPr>
              <a:t>एक दिन पहले 85 सैनिकों (</a:t>
            </a:r>
            <a:r>
              <a:rPr lang="en-IN" sz="1100">
                <a:solidFill>
                  <a:srgbClr val="F8FAFC"/>
                </a:solidFill>
                <a:latin typeface="Segoe UI" panose="020B0502040204020203" pitchFamily="34" charset="0"/>
              </a:rPr>
              <a:t>Cavalry Soldiers) </a:t>
            </a:r>
            <a:r>
              <a:rPr lang="hi-IN" sz="1100">
                <a:solidFill>
                  <a:srgbClr val="F8FAFC"/>
                </a:solidFill>
                <a:latin typeface="Segoe UI" panose="020B0502040204020203" pitchFamily="34" charset="0"/>
              </a:rPr>
              <a:t>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के लिए दौड़ पड़े!</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9B3C14F3-1BEF-5AB3-B4E3-DA9509373A7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DE56871A-D6E5-1D15-E03E-D8FF2446377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47A54C7A-648A-4076-0098-9062C1157F05}"/>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'मेरठ वालों ने ऐसा गदर मचाया कि अंग्रेजों को जूते पहनने तक की फुरसत नहीं मिली!'
शायरी: मेरठ की चिंगारी ने ऐसा शोला भड़काया, रातों-रात दिल्ली जाकर अंग्रेजों का तख्त हिलाया!</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6E75580-8763-D34E-55A3-7D13781C9A2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118B4ED6-56D0-3AE5-2DC8-1CA27E31FC90}"/>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97071C02-1742-72E4-70B9-2909F217F19E}"/>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Dynamic night-to-dawn shot of rebel cavalry with flaming torches galloping across Yamuna bridge towards Delhi Red Fort, 8k epic scale.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44276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5EF2CB1-5B4D-D0A0-CF3C-A47CF4E171FB}"/>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07F4C68-AF88-90D6-40AC-B265BF18CE9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7]: दृश्य 6: लाल किला और 82 वर्षीय शहंशाह — बहादुर शाह जफर (</a:t>
            </a:r>
            <a:r>
              <a:rPr lang="en-IN" sz="1400" b="1">
                <a:solidFill>
                  <a:srgbClr val="F59E0B"/>
                </a:solidFill>
                <a:latin typeface="Segoe UI" panose="020B0502040204020203" pitchFamily="34" charset="0"/>
              </a:rPr>
              <a:t>Bahadur Shah Zafar)</a:t>
            </a:r>
          </a:p>
        </p:txBody>
      </p:sp>
      <p:sp>
        <p:nvSpPr>
          <p:cNvPr id="4" name="Rectangle: Rounded Corners 3">
            <a:extLst>
              <a:ext uri="{FF2B5EF4-FFF2-40B4-BE49-F238E27FC236}">
                <a16:creationId xmlns:a16="http://schemas.microsoft.com/office/drawing/2014/main" id="{01074999-3A8A-4FCB-84E9-780BB5C7C66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4B41311-DC15-2CFF-7A77-5459923C772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bahadur_shah_zinat_mahal">
            <a:hlinkClick r:id="" action="ppaction://media"/>
            <a:extLst>
              <a:ext uri="{FF2B5EF4-FFF2-40B4-BE49-F238E27FC236}">
                <a16:creationId xmlns:a16="http://schemas.microsoft.com/office/drawing/2014/main" id="{7A668BDD-9359-B6F3-5BB6-F27AD878EBA4}"/>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0064E192-02B0-B49E-80C5-94A72426EF3F}"/>
              </a:ext>
            </a:extLst>
          </p:cNvPr>
          <p:cNvSpPr txBox="1"/>
          <p:nvPr/>
        </p:nvSpPr>
        <p:spPr>
          <a:xfrm>
            <a:off x="355600" y="3746500"/>
            <a:ext cx="4368800" cy="1938992"/>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कैनिंग का फैसला: गवर्नर जनरल लॉर्ड कैनिंग ने घोषित किया कि बहादुर शाह जफर 'आखिरी मुग़ल बादशाह' होंगे और उनके बाद वारिस केवल 'राजकुमार' कहलाएंगे।
• 82 वर्षीय शहंशाह का नेतृत्व: 11 मई 1857 को सिपाहियों ने बहादुर शाह जफर को 'शहंशाह-ए-हिंदुस्तान' घोषित किया; अंग्रेजों ने सितंबर 1857 में दिल्ली पर पुनः क्रूर कब्ज़ा किया (1859 तक संपूर्ण दमन)।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लॉर्ड कैनिंग ने जफर को अंतिम मुग़ल बादशाह घोषित किया था; अक्टूबर 1858 में जफर व ज़ीनत महल को रंगून जेल भेजा गया जहाँ 1862 में उनका निधन हुआ!</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E0402E14-624C-D472-3325-E51ABB609FE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BD55DEE-B300-5EC3-9877-332F2C97FF6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979981D1-BE16-4925-A109-B5C428DC74C7}"/>
              </a:ext>
            </a:extLst>
          </p:cNvPr>
          <p:cNvSpPr txBox="1"/>
          <p:nvPr/>
        </p:nvSpPr>
        <p:spPr>
          <a:xfrm>
            <a:off x="5143500" y="1066800"/>
            <a:ext cx="6667500" cy="1446550"/>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11 मई की सुबह लाल किले में घुड़सवार सिपाहियों की भीड़ लग गई। उन्होंने 82 साल के बुजुर्ग बहादुर शाह जफर से कहा—'हुजूर, अपनी सल्तनत वापस लीजिए और इस क्रांति की कमान संभालिए!' पहले गवर्नर जनरल कैनिंग ने कानून बनाया था कि जफर के बाद कोई मुग़ल बादशाह नहीं होगा। लेकिन जफर ने हिम्मत दिखाई और पूरे देश के राजाओं को अंग्रेजों के खिलाफ चिट्ठियां लिखीं। अंग्रेजों ने सितंबर 1857 में जॉन निकोलसन के नेतृत्व में दिल्ली पर दोबारा खूनी कब्जा किया और जफर के शहजादों को गोली मार दी। इसके बाद अक्टूबर 1858 में 82 साल के बुजुर्ग जफर और उनकी प्रिय बेगम ज़ीनत महल को बैलगाड़ी और जहाज से बर्मा (म्यांमार) की 'रंगून जेल' भेज दिया गया। वहीं 1862 में उन्होंने अंतिम सांस ली। जफर ने कब्र पर खुद लिखा था: 'कितना बदनसीब है ज़फ़र दफ़्न के लिए, दो गज़ ज़मीं भी न मिली कू-ए-यार में!'</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227E7E15-EFDF-AE4D-4848-5EDECA4FA5E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9CA2F0D2-3196-B1CA-90A7-150C4B58562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5E38CD69-E300-6113-83E5-FD586A3ECE6A}"/>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'82 साल की उम्र में लोग लाठी टेकते हैं, उस उम्र में बहादुर शाह जफर ने दुनिया की सबसे जालिम सल्तनत की जड़ें हिला दी थीं!'
शायरी: उम्र 82 की थी मगर, सीने में हिंदुस्तान था, लाल किले की दीवारों पर फिर से आजादी का ऐलान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0E9B0C6B-ADC3-4296-7270-9C3238EBD21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35A1FF66-B3F3-BD1E-2EAF-98677E818E42}"/>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D2526AD5-F056-0380-22E0-34DD18BF1B44}"/>
              </a:ext>
            </a:extLst>
          </p:cNvPr>
          <p:cNvSpPr txBox="1"/>
          <p:nvPr/>
        </p:nvSpPr>
        <p:spPr>
          <a:xfrm>
            <a:off x="5143500" y="5613400"/>
            <a:ext cx="6667500" cy="553998"/>
          </a:xfrm>
          <a:prstGeom prst="rect">
            <a:avLst/>
          </a:prstGeom>
          <a:noFill/>
        </p:spPr>
        <p:txBody>
          <a:bodyPr vert="horz" wrap="square" rtlCol="0">
            <a:spAutoFit/>
          </a:bodyPr>
          <a:lstStyle/>
          <a:p>
            <a:r>
              <a:rPr lang="en-IN" sz="1000">
                <a:solidFill>
                  <a:srgbClr val="E2E8F0"/>
                </a:solidFill>
                <a:latin typeface="Segoe UI" panose="020B0502040204020203" pitchFamily="34" charset="0"/>
              </a:rPr>
              <a:t>Poignant cinematic shot of aged Mughal Emperor Bahadur Shah Zafar seated on antique ornate chair in Red Fort Diwan-i-Khas, Queen Zinat Mahal standing gracefully beside him, armed sepoys offering swords, dusty warm shafts of sunlight cutting through marble arches, high emotional depth, ultra-detailed 8k --ar 16:9</a:t>
            </a:r>
          </a:p>
        </p:txBody>
      </p:sp>
    </p:spTree>
    <p:extLst>
      <p:ext uri="{BB962C8B-B14F-4D97-AF65-F5344CB8AC3E}">
        <p14:creationId xmlns:p14="http://schemas.microsoft.com/office/powerpoint/2010/main" val="753928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8A9705B-F4E6-5C31-0294-F2D4F2EEA5F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2EB9E9F-1D33-F689-EC10-ED829B8C0CB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8]: दृश्य 7: खूब लड़ी मर्दानी — झांसी की शेरनी रानी लक्ष्मीबाई (</a:t>
            </a:r>
            <a:r>
              <a:rPr lang="en-IN" sz="1400" b="1">
                <a:solidFill>
                  <a:srgbClr val="F59E0B"/>
                </a:solidFill>
                <a:latin typeface="Segoe UI" panose="020B0502040204020203" pitchFamily="34" charset="0"/>
              </a:rPr>
              <a:t>Rani Lakshmibai)</a:t>
            </a:r>
          </a:p>
        </p:txBody>
      </p:sp>
      <p:sp>
        <p:nvSpPr>
          <p:cNvPr id="4" name="Rectangle: Rounded Corners 3">
            <a:extLst>
              <a:ext uri="{FF2B5EF4-FFF2-40B4-BE49-F238E27FC236}">
                <a16:creationId xmlns:a16="http://schemas.microsoft.com/office/drawing/2014/main" id="{B1000878-5EE7-82DA-833F-5BC2434A266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54A60F-C88E-DEA7-B5EC-866BB30E51B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rani_lakshmibai">
            <a:hlinkClick r:id="" action="ppaction://media"/>
            <a:extLst>
              <a:ext uri="{FF2B5EF4-FFF2-40B4-BE49-F238E27FC236}">
                <a16:creationId xmlns:a16="http://schemas.microsoft.com/office/drawing/2014/main" id="{572685A3-78E7-2302-ECFF-57247F7883F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48671C7A-696D-6535-55EF-C4EA4C3B1F61}"/>
              </a:ext>
            </a:extLst>
          </p:cNvPr>
          <p:cNvSpPr txBox="1"/>
          <p:nvPr/>
        </p:nvSpPr>
        <p:spPr>
          <a:xfrm>
            <a:off x="355600" y="3746500"/>
            <a:ext cx="4368800" cy="1785104"/>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डलहौजी की हड़प नीति का विरोध: राजा गंगाधर राव के निधन के बाद डलहौजी ने उनके दत्तक पुत्र आनंद राव (दामोदर राव) को झांसी की गद्दी देने से मना किया—रानी ने कहा 'मैं अपनी झांसी नहीं दूंगी!'
• कालपी और ग्वालियर में महा-संग्राम: रानी लक्ष्मीबाई ने तात्या टोपे के साथ मिलकर ग्वालियर के किले पर विजय प्राप्त की और ब्रिटिश सेनापति ह्यूरोज (</a:t>
            </a:r>
            <a:r>
              <a:rPr lang="en-IN" sz="1000">
                <a:solidFill>
                  <a:srgbClr val="CBD5E1"/>
                </a:solidFill>
                <a:latin typeface="Segoe UI" panose="020B0502040204020203" pitchFamily="34" charset="0"/>
              </a:rPr>
              <a:t>Hugh Rose) </a:t>
            </a:r>
            <a:r>
              <a:rPr lang="hi-IN" sz="1000">
                <a:solidFill>
                  <a:srgbClr val="CBD5E1"/>
                </a:solidFill>
                <a:latin typeface="Segoe UI" panose="020B0502040204020203" pitchFamily="34" charset="0"/>
              </a:rPr>
              <a:t>के छक्के छुड़ा दिए।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रानी लक्ष्मीबाई का अमर बलिदान 'जून 1858' (18 जून 1858) में ग्वालियर के निकट हुआ था; उनके बचपन का नाम 'मनु / मणिकर्णिका'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3C71E66C-0B99-52E3-68F2-9DC4B5AC64E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4A2897B6-B659-2C86-D8AC-57ADA805711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4F25CA92-1D17-DECB-D084-67182BAD9C98}"/>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[आवाज़ बुलंद और जोशीली करें]: अब चलिए बुंदेलखंड (</a:t>
            </a:r>
            <a:r>
              <a:rPr lang="en-IN" sz="1100">
                <a:solidFill>
                  <a:srgbClr val="F8FAFC"/>
                </a:solidFill>
                <a:latin typeface="Segoe UI" panose="020B0502040204020203" pitchFamily="34" charset="0"/>
              </a:rPr>
              <a:t>Bundelkhand) </a:t>
            </a:r>
            <a:r>
              <a:rPr lang="hi-IN" sz="1100">
                <a:solidFill>
                  <a:srgbClr val="F8FAFC"/>
                </a:solidFill>
                <a:latin typeface="Segoe UI" panose="020B0502040204020203" pitchFamily="34" charset="0"/>
              </a:rPr>
              <a:t>की पावन माटी झांसी! राजा गंगाधर राव की मृत्यु के बाद डलहौजी ने उनके दत्तक पुत्र दामोदर राव (</a:t>
            </a:r>
            <a:r>
              <a:rPr lang="en-IN" sz="1100">
                <a:solidFill>
                  <a:srgbClr val="F8FAFC"/>
                </a:solidFill>
                <a:latin typeface="Segoe UI" panose="020B0502040204020203" pitchFamily="34" charset="0"/>
              </a:rPr>
              <a:t>Adopted Son: Damodar Rao) </a:t>
            </a:r>
            <a:r>
              <a:rPr lang="hi-IN" sz="1100">
                <a:solidFill>
                  <a:srgbClr val="F8FAFC"/>
                </a:solidFill>
                <a:latin typeface="Segoe UI" panose="020B0502040204020203" pitchFamily="34" charset="0"/>
              </a:rPr>
              <a:t>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a:t>
            </a:r>
            <a:r>
              <a:rPr lang="en-IN" sz="1100">
                <a:solidFill>
                  <a:srgbClr val="F8FAFC"/>
                </a:solidFill>
                <a:latin typeface="Segoe UI" panose="020B0502040204020203" pitchFamily="34" charset="0"/>
              </a:rPr>
              <a:t>Gwalior) </a:t>
            </a:r>
            <a:r>
              <a:rPr lang="hi-IN" sz="1100">
                <a:solidFill>
                  <a:srgbClr val="F8FAFC"/>
                </a:solidFill>
                <a:latin typeface="Segoe UI" panose="020B0502040204020203" pitchFamily="34" charset="0"/>
              </a:rPr>
              <a:t>में अंग्रेजों के छक्के छुड़ा दिए। अंग्रेज सेनापति सर ह्यूरोज़ (</a:t>
            </a:r>
            <a:r>
              <a:rPr lang="en-IN" sz="1100">
                <a:solidFill>
                  <a:srgbClr val="F8FAFC"/>
                </a:solidFill>
                <a:latin typeface="Segoe UI" panose="020B0502040204020203" pitchFamily="34" charset="0"/>
              </a:rPr>
              <a:t>Sir Hugh Rose) </a:t>
            </a:r>
            <a:r>
              <a:rPr lang="hi-IN" sz="1100">
                <a:solidFill>
                  <a:srgbClr val="F8FAFC"/>
                </a:solidFill>
                <a:latin typeface="Segoe UI" panose="020B0502040204020203" pitchFamily="34" charset="0"/>
              </a:rPr>
              <a:t>ने अपनी डायरी में लिखा—'क्रांतिकारियों में वह अकेली मर्द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0B5DB711-1E09-D710-47CA-6D58BC3CF6E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F944ADEF-05E7-AC38-A32A-450BDBD5285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6508976A-E887-78FB-6717-A35BE858F81E}"/>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शायरी: सिंहासन हिल उठे राजवंशों ने भृकुटी तानी थी... खूब लड़ी मर्दानी वह तो झांसी वाली रानी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50326BA9-01AF-A59E-ADF5-6921B807FF0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4612A435-1261-7C13-02B4-D4D256049F55}"/>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D0F36032-764A-E751-FD63-32AE3CBDE45C}"/>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action shot of Rani Lakshmibai on white stallion with child on back, brandishing sword in battle of Gwalior, golden sunset, 8k masterpiece.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589434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42D42A-F95D-A0CB-A180-5A7E518E1293}"/>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9AAFB06-6F5B-BB62-6B6F-119ADF8B3BF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9]: दृश्य 8: प्रमुख महानायक — नाना साहेब, वीर कुंवर सिंह व बिरजिस कद्र</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9493386A-3492-2E98-84E0-3EB0961095A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D5F9BA-F76F-FAB3-41B2-7B4025B6DB4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kunwar_singh_ganga">
            <a:hlinkClick r:id="" action="ppaction://media"/>
            <a:extLst>
              <a:ext uri="{FF2B5EF4-FFF2-40B4-BE49-F238E27FC236}">
                <a16:creationId xmlns:a16="http://schemas.microsoft.com/office/drawing/2014/main" id="{6CC3E42B-43A1-252B-73D6-94B98C9419EA}"/>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275DC27D-985D-AF5A-7D1C-F5F5611E3066}"/>
              </a:ext>
            </a:extLst>
          </p:cNvPr>
          <p:cNvSpPr txBox="1"/>
          <p:nvPr/>
        </p:nvSpPr>
        <p:spPr>
          <a:xfrm>
            <a:off x="355600" y="3746500"/>
            <a:ext cx="4368800" cy="1938992"/>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नाना साहेब (कानपुर): पेशवा बाजीराव द्वितीय के दत्तक पुत्र; अंग्रेजों ने इनकी </a:t>
            </a:r>
            <a:r>
              <a:rPr lang="en-IN" sz="1000">
                <a:solidFill>
                  <a:srgbClr val="CBD5E1"/>
                </a:solidFill>
                <a:latin typeface="Segoe UI" panose="020B0502040204020203" pitchFamily="34" charset="0"/>
              </a:rPr>
              <a:t>₹8 </a:t>
            </a:r>
            <a:r>
              <a:rPr lang="hi-IN" sz="1000">
                <a:solidFill>
                  <a:srgbClr val="CBD5E1"/>
                </a:solidFill>
                <a:latin typeface="Segoe UI" panose="020B0502040204020203" pitchFamily="34" charset="0"/>
              </a:rPr>
              <a:t>लाख पेंशन बंद कर दी थी, इन्होंने बिठूर (कानपुर) से तात्या टोपे व अजीमुल्ला खां के साथ बगावत की।
• बेगम हज़रत महल व बिरजिस कद्र (लखनऊ): नवाब वाजिद अली शाह के पुत्र 'बिरजिस कद्र' को लखनऊ का नया नवाब बनाया गया; मार्च 1858 में लखनऊ पर अंग्रेजों का दोबारा कब्जा हुआ।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नाना साहेब पेशवा बाजीराव </a:t>
            </a:r>
            <a:r>
              <a:rPr lang="en-IN" sz="1000">
                <a:solidFill>
                  <a:srgbClr val="CBD5E1"/>
                </a:solidFill>
                <a:latin typeface="Segoe UI" panose="020B0502040204020203" pitchFamily="34" charset="0"/>
              </a:rPr>
              <a:t>II </a:t>
            </a:r>
            <a:r>
              <a:rPr lang="hi-IN" sz="1000">
                <a:solidFill>
                  <a:srgbClr val="CBD5E1"/>
                </a:solidFill>
                <a:latin typeface="Segoe UI" panose="020B0502040204020203" pitchFamily="34" charset="0"/>
              </a:rPr>
              <a:t>के दत्तक पुत्र थे (कानपुर), लखनऊ का नवाब बिरजिस कद्र को बनाया गया, तथा वीर कुंवर सिंह बिहार (जगदीशपुर) से संबंधित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352C75B-F6CD-E83D-B182-1FD83D2A0F3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3804E60-5945-D60A-03A8-715B59D2795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508A99BA-A5D7-E353-2EBC-8BFDE2BA6B22}"/>
              </a:ext>
            </a:extLst>
          </p:cNvPr>
          <p:cNvSpPr txBox="1"/>
          <p:nvPr/>
        </p:nvSpPr>
        <p:spPr>
          <a:xfrm>
            <a:off x="5143500" y="1066800"/>
            <a:ext cx="6667500" cy="1446550"/>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इस क्रांति में पूरे भारत से एक से बढ़कर एक सूरमा कूदे थे! कानपुर में पेशवा बाजीराव द्वितीय के दत्तक पुत्र नाना साहेब धोंधूपंत ने अंग्रेजों की ईंट से ईंट बजा दी, क्योंकि अंग्रेजों ने उनका हक छीनकर पेंशन रोक दी थी। लखनऊ में बेगम हजरत महल ने अपने छोटे बेटे 'बिरजिस कद्र' को लखनऊ का नवाब बना दिया और बेगम ने खुद हाथी पर बैठकर जंग लड़ी (मार्च 1858 में अंग्रेजों ने भारी फौज के साथ लखनऊ पर कब्जा किया)। और हमारे अपने बिहार के भोजपुर (जगदीशपुर) में 80 साल के बुजुर्ग बब्बर शेर बाबू वीर कुंवर सिंह ने अंग्रेजों के दांत खट्टे कर दिए। जब गंगा नदी पार करते वक्त अंग्रेज सिपाही की जहरीली गोली उनकी बांह में लगी, तो उन्होंने अपनी ही तलवार से अपना बायां हाथ काटकर गंगा मैया को चढ़ा दिया और कहा—'हे गंगा मैया, अपने इस बेटे की यह तुच्छ भेंट स्वीकार करो!' ऐसे थे हमारे पुरखे!</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0AA8DEF6-9C8E-4181-93B8-3D9FF9A1450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D1331089-4734-FE03-7A7A-0C842CC6008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6D25250D-94EA-3412-C0E0-524D8BCC23A9}"/>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'80 की उम्र में लोग पोते खिलाते हैं, उस उम्र में वीर कुंवर सिंह और नाना साहेब ने अंग्रेजों की पलटन को छठी का दूध याद दिला दिया था!'
शायरी: अस्सी बरस की उम्र में जागा जोश पुराना था, सब कहते हैं कुंवर सिंह भी बड़ा वीर मर्दाना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BE238696-1144-F432-6BBB-7257FBFE4B6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745E24A8-6942-B3B2-AB29-EAA32FA33FD6}"/>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0DBC0EDD-C9DD-C6D7-CE21-A73EA5E8C928}"/>
              </a:ext>
            </a:extLst>
          </p:cNvPr>
          <p:cNvSpPr txBox="1"/>
          <p:nvPr/>
        </p:nvSpPr>
        <p:spPr>
          <a:xfrm>
            <a:off x="5143500" y="5613400"/>
            <a:ext cx="6667500" cy="553998"/>
          </a:xfrm>
          <a:prstGeom prst="rect">
            <a:avLst/>
          </a:prstGeom>
          <a:noFill/>
        </p:spPr>
        <p:txBody>
          <a:bodyPr vert="horz" wrap="square" rtlCol="0">
            <a:spAutoFit/>
          </a:bodyPr>
          <a:lstStyle/>
          <a:p>
            <a:r>
              <a:rPr lang="en-IN" sz="1000">
                <a:solidFill>
                  <a:srgbClr val="E2E8F0"/>
                </a:solidFill>
                <a:latin typeface="Segoe UI" panose="020B0502040204020203" pitchFamily="34" charset="0"/>
              </a:rPr>
              <a:t>Cinematic dramatic historical artwork of 80-year-old Veer Kunwar Singh on white war horse leading rebel army, Nana Saheb in Maratha turban, dusty battlefield, flags waving, golden sun rays breaking through smoky clouds, hyper-detailed, 8k --ar 16:9</a:t>
            </a:r>
          </a:p>
        </p:txBody>
      </p:sp>
    </p:spTree>
    <p:extLst>
      <p:ext uri="{BB962C8B-B14F-4D97-AF65-F5344CB8AC3E}">
        <p14:creationId xmlns:p14="http://schemas.microsoft.com/office/powerpoint/2010/main" val="2468879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0D39DCF-AB15-9548-5A67-FC2AF942265F}"/>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0B853AB-285B-A695-6329-319B8CD1E6A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10]: दृश्य 9: परिणाम और सीख — 1858 का अधिनियम एवं प्रथम वायसराय</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1981FBFE-AD1B-5E2A-8066-27872F8BA9D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97BDFA5-DD65-B260-9468-75BF9939EFA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rangoon_exile_bars">
            <a:hlinkClick r:id="" action="ppaction://media"/>
            <a:extLst>
              <a:ext uri="{FF2B5EF4-FFF2-40B4-BE49-F238E27FC236}">
                <a16:creationId xmlns:a16="http://schemas.microsoft.com/office/drawing/2014/main" id="{8BABEC1E-080B-BE66-C0F4-4397B661567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2232DF66-5403-BDFE-EC64-771BE3111850}"/>
              </a:ext>
            </a:extLst>
          </p:cNvPr>
          <p:cNvSpPr txBox="1"/>
          <p:nvPr/>
        </p:nvSpPr>
        <p:spPr>
          <a:xfrm>
            <a:off x="355600" y="3746500"/>
            <a:ext cx="4368800" cy="1938992"/>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1858 </a:t>
            </a:r>
            <a:r>
              <a:rPr lang="hi-IN" sz="1000">
                <a:solidFill>
                  <a:srgbClr val="CBD5E1"/>
                </a:solidFill>
                <a:latin typeface="Segoe UI" panose="020B0502040204020203" pitchFamily="34" charset="0"/>
              </a:rPr>
              <a:t>का भारत सरकार अधिनियम: ब्रिटिश संसद ने ईस्ट इंडिया कंपनी का 100 वर्ष पुराना (1757-1857) व्यापारिक व राजनीतिक शासन हमेशा के लिए समाप्त कर दिया।
• महारानी विक्टोरिया का शासन (</a:t>
            </a:r>
            <a:r>
              <a:rPr lang="en-IN" sz="1000">
                <a:solidFill>
                  <a:srgbClr val="CBD5E1"/>
                </a:solidFill>
                <a:latin typeface="Segoe UI" panose="020B0502040204020203" pitchFamily="34" charset="0"/>
              </a:rPr>
              <a:t>Crown Rule): </a:t>
            </a:r>
            <a:r>
              <a:rPr lang="hi-IN" sz="1000">
                <a:solidFill>
                  <a:srgbClr val="CBD5E1"/>
                </a:solidFill>
                <a:latin typeface="Segoe UI" panose="020B0502040204020203" pitchFamily="34" charset="0"/>
              </a:rPr>
              <a:t>भारत की सत्ता सीधे ब्रिटिश क्राउन के अधीन आ गई; 1858 में गवर्नर जनरल के पद को 'वायसराय' (</a:t>
            </a:r>
            <a:r>
              <a:rPr lang="en-IN" sz="1000">
                <a:solidFill>
                  <a:srgbClr val="CBD5E1"/>
                </a:solidFill>
                <a:latin typeface="Segoe UI" panose="020B0502040204020203" pitchFamily="34" charset="0"/>
              </a:rPr>
              <a:t>Viceroy) </a:t>
            </a:r>
            <a:r>
              <a:rPr lang="hi-IN" sz="1000">
                <a:solidFill>
                  <a:srgbClr val="CBD5E1"/>
                </a:solidFill>
                <a:latin typeface="Segoe UI" panose="020B0502040204020203" pitchFamily="34" charset="0"/>
              </a:rPr>
              <a:t>का ओहदा दिया गया।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1858 के अधिनियम द्वारा ईस्ट इंडिया कंपनी का शासन समाप्त हुआ, तथा भारत के अंतिम गवर्नर जनरल व प्रथम वायसराय 'लॉर्ड कैनिंग' (1858) बने!</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4859DE2A-71CC-A43A-C1FC-C2D6F77647EF}"/>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5D15EFF-45BA-4724-5FBD-D1E0629AAC2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2D857CEE-6066-9FAA-2218-1DA7766932DA}"/>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भले ही 1857 में हम अंग्रेजों को पूरी तरह बाहर नहीं निकाल पाए, लेकिन इस महा-विस्फोट ने लंदन में बैठी ब्रिटिश हुकूमत की चूलें हिला दीं! ब्रिटिश संसद ने 1858 में 'गवर्नमेंट ऑफ इंडिया एक्ट' पास करके ईस्ट इंडिया कंपनी की दुकान हमेशा के लिए बंद कर दी। अब भारत पर कंपनी का नहीं, सीधे महारानी विक्टोरिया (ब्रिटिश क्राउन) का शासन शुरू हुआ। गवर्नर जनरल का पदनाम बदलकर 'वायसराय' कर दिया गया और लॉर्ड कैनिंग देश के पहले वायसराय बने। राजाओं को राज्य हड़पने की नीति (हड़प नीति) को बंद करने का वादा करना पड़ा। 1857 की क्रांति वह नींव का पत्थर थी, जिसने 1947 की आजादी की इमारत खड़ी की!</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C30069C9-69CF-135E-1FE6-E5665ED1C9E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3FADD2E0-0CC1-3A61-B305-331C3AA4F9A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241D86B9-246F-F04C-F57F-903042DE41A1}"/>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'1857 में भारत हारा नहीं था, बल्कि उसने अंग्रेजों को यह समझा दिया था कि हिंदुस्तानी शेर जब एक बार दहाड़ता है, तो लंदन तक की सल्तनत कांप उठती है!'
शायरी: हार कर भी वो जीत गए, आज़ादी की नींव सजाई थी, 1857 की चिंगारी ने 1947 की अलख जगाई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732A9887-8FF0-88C3-148C-E6FC06D5DB5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08656CAB-8951-29EF-92EF-19B794FB49DE}"/>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7E237FCE-1D88-9524-5F80-3476C2D00B6C}"/>
              </a:ext>
            </a:extLst>
          </p:cNvPr>
          <p:cNvSpPr txBox="1"/>
          <p:nvPr/>
        </p:nvSpPr>
        <p:spPr>
          <a:xfrm>
            <a:off x="5143500" y="5613400"/>
            <a:ext cx="6667500" cy="553998"/>
          </a:xfrm>
          <a:prstGeom prst="rect">
            <a:avLst/>
          </a:prstGeom>
          <a:noFill/>
        </p:spPr>
        <p:txBody>
          <a:bodyPr vert="horz" wrap="square" rtlCol="0">
            <a:spAutoFit/>
          </a:bodyPr>
          <a:lstStyle/>
          <a:p>
            <a:r>
              <a:rPr lang="en-IN" sz="1000">
                <a:solidFill>
                  <a:srgbClr val="E2E8F0"/>
                </a:solidFill>
                <a:latin typeface="Segoe UI" panose="020B0502040204020203" pitchFamily="34" charset="0"/>
              </a:rPr>
              <a:t>Allegorical majestic historical scene: The tearing down of the British East India Company flag and the reading of Queen Victoria 1858 Proclamation in Allahabad Durbar by Lord Canning, brilliant sunrise over Indian soil, cinematic movie atmosphere, 8k --ar 16:9</a:t>
            </a:r>
          </a:p>
        </p:txBody>
      </p:sp>
    </p:spTree>
    <p:extLst>
      <p:ext uri="{BB962C8B-B14F-4D97-AF65-F5344CB8AC3E}">
        <p14:creationId xmlns:p14="http://schemas.microsoft.com/office/powerpoint/2010/main" val="1345042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708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EA05B6-7AED-773B-46B7-79D12F0823C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CBAB2DF-009F-9A4A-6053-6CF9249A28E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0CF279ED-F22E-084B-0C53-C3FD241B807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B028F73-13B7-1D91-02AA-865B36FAC07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64AB6AA5-DEFF-76D0-4524-B722FC326397}"/>
              </a:ext>
            </a:extLst>
          </p:cNvPr>
          <p:cNvSpPr txBox="1"/>
          <p:nvPr/>
        </p:nvSpPr>
        <p:spPr>
          <a:xfrm>
            <a:off x="355600" y="1143000"/>
            <a:ext cx="4368800" cy="1869743"/>
          </a:xfrm>
          <a:prstGeom prst="rect">
            <a:avLst/>
          </a:prstGeom>
          <a:noFill/>
        </p:spPr>
        <p:txBody>
          <a:bodyPr vert="horz" wrap="square" rtlCol="0">
            <a:spAutoFit/>
          </a:bodyPr>
          <a:lstStyle/>
          <a:p>
            <a:r>
              <a:rPr lang="fr-FR" sz="1050">
                <a:solidFill>
                  <a:srgbClr val="F8FAFC"/>
                </a:solidFill>
                <a:latin typeface="Segoe UI" panose="020B0502040204020203" pitchFamily="34" charset="0"/>
              </a:rPr>
              <a:t>à¤ªà¥à¤°à¤¶à¥à¤¨:
प्र. 1. 1857 की महान क्रांति का प्रथम बिगुल 10 मई 1857 को किस छावनी से बजा था?
à¤µà¤¿à¤•à¤²à¥à¤ª:
(A)  बैरकपुर
(B)  मेरठ छावनी
(C)  दिल्ली
(D)  कानपुर
[à¤›à¤¾à¤¤à¥à¤° à¤‰à¤¤à¥à¤¤à¤° à¤¸à¥‹à¤š à¤°à¤¹à¥‡ à¤¹à¥ˆà¤‚...]</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74E6D55-4327-F87D-09C9-48E8BF02319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8C675DF-18BB-8EA6-6EB2-4CF0D704DBA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E53CB3D-F6AD-6541-83FE-677FC8C8254F}"/>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 1857 की महान क्रांति का प्रथम बिगुल 10 मई 1857 को किस छावनी से बजा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80CBBE4-B625-742F-5D03-B3888DA1CAC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3D9C204-944C-9EC7-E904-C6196A90AEF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0808DBA5-ED02-4317-A0FC-3F395501BB1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0AC3CD9-FCE5-579C-4E54-55608BCD3BE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8097DE8-2AE9-101E-72E1-BF2EEA7CD300}"/>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2FE06A0-0C2C-BD02-1143-7EE6ACB15774}"/>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89845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989706A-65CE-3DDA-63B7-B5B77B79CE9E}"/>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56BC520-1083-E748-F5B6-C7F2E16B120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 - Answer &amp; Explanation</a:t>
            </a:r>
          </a:p>
        </p:txBody>
      </p:sp>
      <p:sp>
        <p:nvSpPr>
          <p:cNvPr id="4" name="Rectangle: Rounded Corners 3">
            <a:extLst>
              <a:ext uri="{FF2B5EF4-FFF2-40B4-BE49-F238E27FC236}">
                <a16:creationId xmlns:a16="http://schemas.microsoft.com/office/drawing/2014/main" id="{0542C75E-82A6-5812-0CFB-3900E1992025}"/>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6B20EBB-F27E-93EC-11C9-5A25E43E691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FEE0BA0-B5D5-E9D4-BEB8-0B54C533DAAB}"/>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 1857 की महान क्रांति का प्रथम बिगुल 10 मई 1857 को किस छावनी से बजा था?
</a:t>
            </a:r>
            <a:r>
              <a:rPr lang="en-IN" sz="1050">
                <a:solidFill>
                  <a:srgbClr val="F8FAFC"/>
                </a:solidFill>
                <a:latin typeface="Segoe UI" panose="020B0502040204020203" pitchFamily="34" charset="0"/>
              </a:rPr>
              <a:t>à¤¸à¤¹à¥€ à¤‰à¤¤à¥à¤¤à¤°: (B)
à¤µà¥à¤¯à¤¾à¤–à¥à¤¯à¤¾:
10 </a:t>
            </a:r>
            <a:r>
              <a:rPr lang="hi-IN" sz="1050">
                <a:solidFill>
                  <a:srgbClr val="F8FAFC"/>
                </a:solidFill>
                <a:latin typeface="Segoe UI" panose="020B0502040204020203" pitchFamily="34" charset="0"/>
              </a:rPr>
              <a:t>मई 1857 को मेरठ छावनी के सैनिकों ने खुला विद्रोह कर 'दिल्ली चलो' का नारा दिया।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6F2E536-F30A-94CE-03BB-623245824FB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E860D3B-3871-45D3-25CA-B17EA1D9505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62E1A1F-30C2-B628-6BDA-A1EDCABD0BFF}"/>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10 </a:t>
            </a:r>
            <a:r>
              <a:rPr lang="hi-IN" sz="1100">
                <a:solidFill>
                  <a:srgbClr val="F8FAFC"/>
                </a:solidFill>
                <a:latin typeface="Segoe UI" panose="020B0502040204020203" pitchFamily="34" charset="0"/>
              </a:rPr>
              <a:t>मई 1857 को मेरठ छावनी के सैनिकों ने खुला विद्रोह कर 'दिल्ली चलो' का नारा दिया।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3DC02C0-B4D6-1DC6-6211-69D78BD9E85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E34AF59-D980-E60E-FFCD-99077AA86E3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E450EEF-E6B2-F652-F9C9-B6DD74E537F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3031083-8C5A-2E1A-D147-93D27F11F55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2B49299-F428-E891-2E1B-C58C6268C188}"/>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FFEB1B6-D01C-AB69-126A-501EDD3E9D14}"/>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4867310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29C4F8F-3559-D1C0-6669-62556D9FF6AE}"/>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733A0C5-ED2B-4A8C-4E30-8550272FDD1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C32EA4E1-DD98-F656-3722-B92ACA592AC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867A0DA-ACBB-2CF6-0769-96E11E7EFEB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620B748-2A54-7898-8E32-736AC1F65D3D}"/>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भगत सिंह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AC3139B8-524D-7761-CA19-62BD564167C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5021F5A-D89F-CE68-FE1E-C76B62B8C5F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E0FF4CE-C5D9-7AB0-1075-B3A215D8501D}"/>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2. 1857 की क्रांति के प्रथम बलिदानी सैनिक निम्नलिखित में से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E7F0704-5B09-A2CE-6E22-D9498D5356A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CB5401F5-9F67-E594-72C5-89A22218F1D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B77E462-791F-77CF-26D1-28D98A33342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A5740CEB-523D-FAAC-0DA5-416579777BE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5D002B-AE55-4FC4-D10F-F8FF8C06D53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5D07E3F4-ADA2-8A35-BC05-5D8FDFED4F37}"/>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198868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42F8880-0BA0-2C25-70B3-DB8976A8F267}"/>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C703715-3C77-2A56-3642-D3546E864F5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666838C8-723C-ECFF-32C1-220ED0700A2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F141E66-147D-E1B8-CE18-FD0918D6B1C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AFD5DA2-5898-3634-0D16-C6BC1E2D83FF}"/>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C9FC0791-624C-FD49-45EF-F526D0FF1254}"/>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7E4B8F1-C6A8-AC4B-D59E-142FAE79962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17411DCF-0907-BFB9-8D4F-557E054E834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48A9897F-2BD2-A392-FBC2-35517221ECE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8B80207-11E5-2A51-84BF-E1CA5D030D8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F72EE17-99AD-1123-06BA-7E79CF00A50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E440706-7D84-EABD-F376-B6CC1B7C878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2CF5ABF-77A2-789A-FB6E-E8F262B7CD6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5F5D5125-58EC-113C-B6C7-825293DD8A4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37531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A1DED58-5B7E-40DA-B9B2-F4DD89860862}"/>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0976E33-82B0-CEBD-8BAC-C76B053415F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7B25FB0E-47C9-E89F-7C84-FEF2521EC79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A973D52-C274-0533-4B43-9A45E2C704B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FBEEA11-3921-FA4F-B63E-FEC908992D4B}"/>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चर्बी वाले नए कारतूस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भारी लगान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सती प्रथा का अंत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रेलवे का निर्माण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0CFFFCAA-E6EA-F90D-7AE6-12D388F3EBD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6E15D90-21CD-9072-3559-778F6B1E346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8C9E08D-69F1-CFCF-7169-7C9F0E99209F}"/>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3. 1857 की क्रांति का सबसे प्रमुख तात्कालिक कारण (</a:t>
            </a:r>
            <a:r>
              <a:rPr lang="en-IN" sz="1100">
                <a:solidFill>
                  <a:srgbClr val="F8FAFC"/>
                </a:solidFill>
                <a:latin typeface="Segoe UI" panose="020B0502040204020203" pitchFamily="34" charset="0"/>
              </a:rPr>
              <a:t>Immediate Cause) </a:t>
            </a:r>
            <a:r>
              <a:rPr lang="hi-IN" sz="1100">
                <a:solidFill>
                  <a:srgbClr val="F8FAFC"/>
                </a:solidFill>
                <a:latin typeface="Segoe UI" panose="020B0502040204020203" pitchFamily="34" charset="0"/>
              </a:rPr>
              <a:t>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C429FC5-5CEA-D5DF-8F48-C5DA98732B8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6843E435-0A36-097F-B614-4731A4FF2E2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32A1FA81-FC67-7A67-44D0-EF2FD357DF3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E4B5CF7-8A1C-8F1E-FB5C-A77B06DA5FD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2101954-C348-6ED0-31E5-4A10033DCB95}"/>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DC29DC2E-0C49-076D-C3F9-60B52788085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413402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222F19A-0371-A856-7F5B-2C5819AF947B}"/>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1623E4D-BB01-9937-DA1D-B56417332E1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 - Answer &amp; Explanation</a:t>
            </a:r>
          </a:p>
        </p:txBody>
      </p:sp>
      <p:sp>
        <p:nvSpPr>
          <p:cNvPr id="4" name="Rectangle: Rounded Corners 3">
            <a:extLst>
              <a:ext uri="{FF2B5EF4-FFF2-40B4-BE49-F238E27FC236}">
                <a16:creationId xmlns:a16="http://schemas.microsoft.com/office/drawing/2014/main" id="{2BE68203-BDCE-BBE0-5805-AD1E1FFE246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4FAD23B-AC19-BB32-3896-0343DB50F4F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062CB3A-1E9A-7066-AF06-1DDC14B3DC23}"/>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62994B71-DD31-4545-C003-6A5958F25F2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2666177-D589-D6BB-27F5-ADE481E828EB}"/>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1A17651-874D-DC55-DE24-52D5634C9DCA}"/>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9F8E02A-A2FC-AAF0-40BF-C8A95ED924B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F5EEFC1-6337-2271-283F-03755028FD8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3943A99-110D-C908-53AC-6F8020B8C55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992E12A-17DF-0AE3-F8F6-F75D7E33D3E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8A87BEFB-AF89-F42B-0104-59D9DDB6F8E9}"/>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035E7E0-1ADA-8E3F-3023-849CA1E59B7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0128935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3B4E61A-1C54-0D67-C12D-9ACF000CF53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EF60C16-1CCD-30A4-091C-DFCECB287A9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730481A2-CFD3-A5CE-D4B3-D5D9947CCF0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6EC045E-F86D-F8FF-A700-D1D6B8528F4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C251B7E-A543-AA6A-10A9-5C702ECBEAF3}"/>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शाह आलम द्वितीय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(द्वितीय)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अकबर द्वितीय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आलमगीर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5C82F15C-50C2-C2E5-79CD-5989D9FE203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5BAB3B3-DECE-DC14-F9BD-12A42465270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ED15A9B-E4AB-D238-C954-EFDBEE2BFEA5}"/>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4. 1857 की क्रांति के समय अंतिम मुग़ल सम्राट कौन थे, जिन्हें क्रांति का नेता चुना गया?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970D8D7-469B-75EA-6D06-2B6F02A2AA8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8931DEC-345C-C8FC-E2AA-4986421773A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8F73AAD-7886-30D2-D6C1-D70250C4543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346286A7-9520-9FE4-B1A6-8E4584C6D5C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1B534B4-45B9-6341-F927-DF12D44CC66C}"/>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F6B2F8B-AB39-47E1-CEE1-2250045CE3C1}"/>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912217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B96F923-CBA1-EA74-E196-27D09CBD70D0}"/>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DE462BB-ED97-9909-DFC9-FF6FF0F9F94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E87FC884-167A-0D1B-FC8A-B171746BDEE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811CA18-FC28-52C5-95DE-161F2F12E4B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6667E6C-1782-66B5-7E3E-9765F2EC8EC0}"/>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71C67BF9-72EC-1663-D989-6976EC834A0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2D1D45A-70E1-076A-19CE-D4934EFB123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3667F523-A97A-4BEB-778B-680531883843}"/>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B363128-2660-B4E2-CBA3-C849CCDCB3F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B00CED6-406A-5D9C-EAEA-BB604490755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4136E9E-4927-41D5-189D-ED41A7197B9E}"/>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B19FDA0F-4933-1504-BDE2-A2A81947385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1F0A967-AF91-43E3-D529-C6A7595FDFE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24BCEE4-9345-1EFF-B022-50384B6D8147}"/>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034719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FF04DCE-D2F9-9909-6291-3F535307F750}"/>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5B22AF3-53C3-5B25-D48D-CEE62130E0FC}"/>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A6684F13-F258-D266-0677-B17C721E7BBC}"/>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27EE585-5323-6C98-F0F6-4E934595872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70F88A29-7F9A-5FCC-BC83-9054A102563B}"/>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बाबू वीर कुंवर सिंह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लियाकत अली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E98C2397-3A9B-9297-EB7F-08BFF7254EBF}"/>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B6FB2DE-A758-091F-6720-1A6A85A9B07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F107160-FC2F-C2C0-DBDB-9DED66821EC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5. 1857 की क्रांति में बिहार के जगदीशपुर (आरा) से नेतृत्व किस वीर योद्धा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C4C4CD0-2B69-6910-43FD-B53380315FD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28B2C82-F6C1-9891-DD00-F21DF029425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3BAB31B9-FB7A-C746-A078-476D4F7AB0D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E0507B3-5FF4-BBD6-5A41-284ECD134DF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F052BB6-DBB3-B49D-B731-BF7BBBE521D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380B285-56CE-26B3-33A3-1E9E6CEAD867}"/>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563694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C77DD7-4B2E-1268-A214-A16F4792BF51}"/>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EA0DC326-A22C-3180-9514-D0F265681FE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03E19FD5-C8A0-1F31-2BD7-4EB98469B67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3AFB3B5-DAB2-34C9-0A9E-F659ECAD2C8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F7DF537D-A298-3F46-8D94-D279CAABC2C5}"/>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à¤¸à¤¹à¥€ à¤‰à¤¤à¥à¤¤à¤°: (B)
à¤µà¥à¤¯à¤¾à¤–à¥à¤¯à¤¾:
80 </a:t>
            </a:r>
            <a:r>
              <a:rPr lang="hi-IN" sz="1050">
                <a:solidFill>
                  <a:srgbClr val="F8FAFC"/>
                </a:solidFill>
                <a:latin typeface="Segoe UI" panose="020B0502040204020203" pitchFamily="34" charset="0"/>
              </a:rPr>
              <a:t>वर्ष के वृद्ध बाबू वीर कुंवर सिंह ने अदम्य वीरता से अंग्रेजों को हराया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B0787E3-EFBD-09E3-AB10-6E8507B66D0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851E6BA-A056-4FF0-F4E0-E3A80EA81D1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06875CD-49E9-3DE4-DBDA-6EAFA97BB8E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80 </a:t>
            </a:r>
            <a:r>
              <a:rPr lang="hi-IN" sz="1100">
                <a:solidFill>
                  <a:srgbClr val="F8FAFC"/>
                </a:solidFill>
                <a:latin typeface="Segoe UI" panose="020B0502040204020203" pitchFamily="34" charset="0"/>
              </a:rPr>
              <a:t>वर्ष के वृद्ध बाबू वीर कुंवर सिंह ने अदम्य वीरता से अंग्रेजों को हराया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5FFAAB9-52DD-8A35-8139-BED192FCA9A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737C6475-207A-7C27-40F4-CB221C1224A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87DCFF2-9E9C-2E6A-1E03-C8FA0F9093C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0468680-E73F-AD45-251B-2D13DA8C796D}"/>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8FAEE11-68E0-C710-C9B5-44007946284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7E089C4E-8572-02A6-B1CE-22C4D33E887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611238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F7D7511-F06E-C31B-55EA-46CA5B36EDF5}"/>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BE4036C-0BE2-5E55-57CA-EA5866253243}"/>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E25451A4-3B1A-2A1B-CD9E-D23346B0D13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B480550-2789-202E-C1B3-44D99E990A2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5D3A0AA-8508-DA4A-FE1F-F6BD117B1208}"/>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मनु (मणिकर्णिका)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पद्मावती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जीजाबाई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अहिल्याबाई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8B10B3F0-4A2D-EC62-3E80-4352D2AEEFF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7FA4C71-D14A-E1BA-D439-7C9B4C1EABF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B9407DDE-DC4B-0C4F-1656-1EAED94A222E}"/>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6. झांसी में 1857 की क्रांति का नेतृत्व करने वाली वीरांगना लक्ष्मीबाई के बचपन का नाम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159F391-5C23-C5B1-FA8C-21CB7D2B496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18497D6-18C6-5DFE-6C5B-C84F190C82E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BC11AD14-2720-D32E-05F6-AB78E0BE8170}"/>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D2915316-1405-ADE6-D8AD-6EA73DAFFEF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411D9F9-D290-542F-29D0-F192737F7EA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859ACFC8-2E8C-9D6F-4B6B-49F0DAC95BC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8570082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A6D14A-0A91-33BB-DDA0-96B3563EC5BC}"/>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C7501C6-D1DD-6954-26F6-9740D97A9AB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948F8603-690F-214D-4EF9-B26B8FF90A3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C6BBF65-25D5-D043-646C-D2222B1338C3}"/>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96C7CF7F-4149-2C21-A740-95D5852B530D}"/>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रानी लक्ष्मीबाई के बचपन का नाम मणिकर्णिका (मनु)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C76F0EE-1C05-5E2A-4EF3-8D6CF917D11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318F3A5E-283B-CA7C-BFA4-029D76B08CB8}"/>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8C501F59-B639-7AC7-3833-D649B6706B0B}"/>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रानी लक्ष्मीबाई के बचपन का नाम मणिकर्णिका (मनु)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232799E9-6B4F-38BF-EC90-530429BDAE81}"/>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728FF90-5E20-989E-6A46-78FAB930E44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80861D7-4E8F-A29A-85B6-3DC1D52E4CFC}"/>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2C8E6CF-7C53-BCBE-3273-68D76312866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7DBF47F8-EF81-D533-E81B-D977B61DEA1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234C7FDC-0FDC-A3C0-BDB6-D9470B5CEA2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352536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6AF3B1-9463-9E6E-E8C8-BE0F566D2AF2}"/>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D2C67D8-C904-FFD5-93C1-61A1F6FA7BB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CC379912-ABFB-ECEB-162B-4E26BC5E04E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B28A473-B5B2-4512-6BD0-7CEFB7696A7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BB41F0C4-6B9E-7181-0D81-7641C0DD5F6C}"/>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विष्णुभट्ट गोडसे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सूबेदार सीताराम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बंकिमचंद्र चटर्जी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सावरकर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5E30B97B-43DD-0751-7A37-3ECEC0FC405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0985FC2-838E-B684-60A4-328F2879EAF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0377E6E-D3B8-90ED-6F46-138EE33313BA}"/>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B7E0BC6-3B7A-9E4A-4375-BCFA7FA6D0A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0313B0C1-08C8-2399-85C1-E4D07AB1FC3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5C03C85-7261-A84F-4A5D-727144A3DEF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CF4F65E-30DB-8253-FD2E-B1DD14A3F37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A8A954C-74BB-87C4-C4C5-CC8D96CCB51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F263B0D1-2DAE-8BF5-018D-A2CE3B7370B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2715312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6254C24-5892-8715-2921-8CF9E860C88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D754AA0-8CFA-0A8A-D4B4-45704486A85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94C29BD7-5F0B-A70E-6C99-5B485307561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ED09AD-E581-CAE0-E691-31B4B972E468}"/>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3538F473-FA26-A517-556E-2771681222CE}"/>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से पूर्व की घटनाओं एवं जन-असंतोष का सजीव वर्णन करने वाली प्रसिद्ध पुस्तक 'माझा प्रवास' के लेखक कौन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महाराष्ट्र के मथुरा जा रहे ब्राह्मण यात्री विष्णुभट्ट गोडसे ने अपनी मराठी पुस्तक 'माझा प्रवास' में 1857 की क्रांति की पूर्व-घटनाओं का प्रत्यक्षदर्शी वर्णन किया है।</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8BBF685-3D41-A3C6-53D2-826D46F8B2C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4158D1A-2B20-6AED-0577-0FC43F8AC1A2}"/>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3D89DAF2-FE1A-FC52-C0A2-CF2FCB2E82D9}"/>
              </a:ext>
            </a:extLst>
          </p:cNvPr>
          <p:cNvSpPr txBox="1"/>
          <p:nvPr/>
        </p:nvSpPr>
        <p:spPr>
          <a:xfrm>
            <a:off x="5143500" y="1066800"/>
            <a:ext cx="6667500" cy="769441"/>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महाराष्ट्र के मथुरा जा रहे ब्राह्मण यात्री विष्णुभट्ट गोडसे ने अपनी मराठी पुस्तक 'माझा प्रवास' में 1857 की क्रांति की पूर्व-घटनाओं का प्रत्यक्षदर्शी वर्णन किया है।</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245AA69-9672-EBCE-C1FE-B0CA109731E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F70C72C-B649-A924-2E44-BCB36EAE6EE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13EB0FF-AC7C-4088-A2BA-09397AA72CF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5441FAC-E34E-01D5-236C-BB383DE5ACC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7421395-781B-F8BA-2D17-2580AFC76614}"/>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21C175F1-0292-976B-0B93-F796146B979F}"/>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1311772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6EFABA7-CFAA-A56F-8FC8-25D1AE8D27C0}"/>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DFF53D0-7697-4834-FC13-2EA6FA4B231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44E43FB7-2370-BB3C-73E9-95865BC1952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CCD2C66-B20F-2DD1-A25A-ACB0798CC4A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FC3D93F7-4B78-B3B9-48D4-E73212C13BFB}"/>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(धोंधू पंत)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E9FFA3E-2812-4973-C805-7666062004B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87E9368-5658-9DBC-6BFD-0C1B6C1EFC0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51E195C-E59A-3D93-35D8-1B6A4C95E1C7}"/>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8. कानपुर में 1857 की क्रांति का नेतृत्व किसने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FD7F529-7193-D33D-CFB8-17FD339621B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C100C4D-699D-7E35-89FE-544E83CCC36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2BD5E91-0969-206B-07D0-E30E70B8A0E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B43D071-14A5-4FD2-DF3D-C9EA1A3FF86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BF8AA2F-A709-9684-1163-3578A433D64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B8F3E1B4-1301-5177-6379-6CEFCDFA575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6654609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8833955-2770-2FF4-123A-180122E66D9A}"/>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CBD38C4-700F-2446-600C-569D419A0C7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 - Answer &amp; Explanation</a:t>
            </a:r>
          </a:p>
        </p:txBody>
      </p:sp>
      <p:sp>
        <p:nvSpPr>
          <p:cNvPr id="4" name="Rectangle: Rounded Corners 3">
            <a:extLst>
              <a:ext uri="{FF2B5EF4-FFF2-40B4-BE49-F238E27FC236}">
                <a16:creationId xmlns:a16="http://schemas.microsoft.com/office/drawing/2014/main" id="{0386FAD3-98F3-7C83-5765-13E5B18025F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E0314DB-A159-2DB6-0CB4-B2AA325BCE8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68AB04D-9DAB-2844-EB51-EBC8386DDEFF}"/>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पेशवा बाजीराव द्वितीय के दत्तक पुत्र नाना साहेब ने कानपुर से नेतृत्व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E7A282EF-45E0-4757-E883-3D6351CED6C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2DB7F0F-6844-0549-1226-82632BF17EE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9A6A46D-5250-6E46-FE89-C7B318FA2900}"/>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पेशवा बाजीराव द्वितीय के दत्तक पुत्र नाना साहेब ने कानपुर से नेतृत्व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301F753-EBA0-FC9F-CB06-ACC87C9E19E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E88B7D0-4DF4-E035-7637-46BBE577D37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214A7E7-FF6D-2626-B7C5-C93937938536}"/>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7447A7C-556B-447F-9D8C-A3A37EDF596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0BCC371-1DCD-7B0D-20A8-63E28D92D3D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E74ECB7-F8CF-6458-7CFF-88C296AD63A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376798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3AA6D0A-23E6-FF5D-9150-218B49439070}"/>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DEA8684-BA1A-4E99-0DBE-FC12080A2D9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1D42AFF2-CC29-B8D0-6020-D4AA279B2F5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289864-8914-9060-5615-001440E8585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A8FCC78-9455-FE4A-09EE-1CB25B830BED}"/>
              </a:ext>
            </a:extLst>
          </p:cNvPr>
          <p:cNvSpPr txBox="1"/>
          <p:nvPr/>
        </p:nvSpPr>
        <p:spPr>
          <a:xfrm>
            <a:off x="355600" y="1143000"/>
            <a:ext cx="4368800" cy="203132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
</a:t>
            </a:r>
            <a:r>
              <a:rPr lang="en-IN" sz="1050">
                <a:solidFill>
                  <a:srgbClr val="F8FAFC"/>
                </a:solidFill>
                <a:latin typeface="Segoe UI" panose="020B0502040204020203" pitchFamily="34" charset="0"/>
              </a:rPr>
              <a:t>à¤µà¤¿à¤•à¤²à¥à¤ª:
(A)  1856 </a:t>
            </a:r>
            <a:r>
              <a:rPr lang="hi-IN" sz="1050">
                <a:solidFill>
                  <a:srgbClr val="F8FAFC"/>
                </a:solidFill>
                <a:latin typeface="Segoe UI" panose="020B0502040204020203" pitchFamily="34" charset="0"/>
              </a:rPr>
              <a:t>में
(</a:t>
            </a:r>
            <a:r>
              <a:rPr lang="en-IN" sz="1050">
                <a:solidFill>
                  <a:srgbClr val="F8FAFC"/>
                </a:solidFill>
                <a:latin typeface="Segoe UI" panose="020B0502040204020203" pitchFamily="34" charset="0"/>
              </a:rPr>
              <a:t>B)  1857 </a:t>
            </a:r>
            <a:r>
              <a:rPr lang="hi-IN" sz="1050">
                <a:solidFill>
                  <a:srgbClr val="F8FAFC"/>
                </a:solidFill>
                <a:latin typeface="Segoe UI" panose="020B0502040204020203" pitchFamily="34" charset="0"/>
              </a:rPr>
              <a:t>में
(</a:t>
            </a:r>
            <a:r>
              <a:rPr lang="en-IN" sz="1050">
                <a:solidFill>
                  <a:srgbClr val="F8FAFC"/>
                </a:solidFill>
                <a:latin typeface="Segoe UI" panose="020B0502040204020203" pitchFamily="34" charset="0"/>
              </a:rPr>
              <a:t>C)  1858 </a:t>
            </a:r>
            <a:r>
              <a:rPr lang="hi-IN" sz="1050">
                <a:solidFill>
                  <a:srgbClr val="F8FAFC"/>
                </a:solidFill>
                <a:latin typeface="Segoe UI" panose="020B0502040204020203" pitchFamily="34" charset="0"/>
              </a:rPr>
              <a:t>में
(</a:t>
            </a:r>
            <a:r>
              <a:rPr lang="en-IN" sz="1050">
                <a:solidFill>
                  <a:srgbClr val="F8FAFC"/>
                </a:solidFill>
                <a:latin typeface="Segoe UI" panose="020B0502040204020203" pitchFamily="34" charset="0"/>
              </a:rPr>
              <a:t>D)  1862 </a:t>
            </a:r>
            <a:r>
              <a:rPr lang="hi-IN" sz="1050">
                <a:solidFill>
                  <a:srgbClr val="F8FAFC"/>
                </a:solidFill>
                <a:latin typeface="Segoe UI" panose="020B0502040204020203" pitchFamily="34" charset="0"/>
              </a:rPr>
              <a:t>में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26C44528-7E1B-58A9-A3E1-6410A540854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9C33DC8-9B2F-72B2-08FD-A1E7F7402AA8}"/>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D93894CA-26D6-BEB2-D695-75E192871723}"/>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E14FEE62-BDE4-DB12-C021-551419AF997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62DA2CB-2E47-1E2B-4D26-CFDC0707EF8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EBCAE815-1CC1-64F5-5D31-495768F4E3BE}"/>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0DA1B37E-B315-CF6D-D58B-B5CECEA29CE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FBEDEEE-F082-02EB-F0B1-5B220732E28C}"/>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E07500E2-C0CF-5339-8BFB-49390919054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436083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91C27F-9E94-DB67-3188-6DB63990AFEC}"/>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24DDBAA-6B8C-F59A-E957-2AFA8D0C218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9B68C143-E6C3-9878-160D-4083B2C07943}"/>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F136C90-5D02-1683-4415-379F8F2C226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9D20692-EC4C-E87E-8DD3-D79283DD3B53}"/>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ब्रिटिश संसद ने किस वर्ष 'भारत सरकार अधिनियम' पारित कर कंपनी का शासन समाप्त किया तथा गवर्नर जनरल को 'वायसराय' का ओहदा दिया?
</a:t>
            </a:r>
            <a:r>
              <a:rPr lang="en-IN" sz="1050">
                <a:solidFill>
                  <a:srgbClr val="F8FAFC"/>
                </a:solidFill>
                <a:latin typeface="Segoe UI" panose="020B0502040204020203" pitchFamily="34" charset="0"/>
              </a:rPr>
              <a:t>à¤¸à¤¹à¥€ à¤‰à¤¤à¥à¤¤à¤°: (C)
à¤µà¥à¤¯à¤¾à¤–à¥à¤¯à¤¾:
1858 </a:t>
            </a:r>
            <a:r>
              <a:rPr lang="hi-IN" sz="1050">
                <a:solidFill>
                  <a:srgbClr val="F8FAFC"/>
                </a:solidFill>
                <a:latin typeface="Segoe UI" panose="020B0502040204020203" pitchFamily="34" charset="0"/>
              </a:rPr>
              <a:t>के भारत सरकार अधिनियम द्वारा ईस्ट इंडिया कंपनी के सारे अधिकार ब्रिटिश ताज (क्राउन) को सौंपे गए और लॉर्ड कैनिंग प्रथम वायसराय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46D9C5A6-5F3D-2CDF-9D6B-65970C18C5B3}"/>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559F1C1-BC71-C619-8C19-DC6BB6618F6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A2CCA664-04A0-7EA2-9E82-AFB755EE9528}"/>
              </a:ext>
            </a:extLst>
          </p:cNvPr>
          <p:cNvSpPr txBox="1"/>
          <p:nvPr/>
        </p:nvSpPr>
        <p:spPr>
          <a:xfrm>
            <a:off x="5143500" y="1066800"/>
            <a:ext cx="6667500" cy="769441"/>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C)।
1858 </a:t>
            </a:r>
            <a:r>
              <a:rPr lang="hi-IN" sz="1100">
                <a:solidFill>
                  <a:srgbClr val="F8FAFC"/>
                </a:solidFill>
                <a:latin typeface="Segoe UI" panose="020B0502040204020203" pitchFamily="34" charset="0"/>
              </a:rPr>
              <a:t>के भारत सरकार अधिनियम द्वारा ईस्ट इंडिया कंपनी के सारे अधिकार ब्रिटिश ताज (क्राउन) को सौंपे गए और लॉर्ड कैनिंग प्रथम वायसराय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19E59754-9E66-327A-ED23-1E58724646E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AF89526-F0E9-22E7-A183-8D55BCC7369D}"/>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9475F0B9-447E-6BB5-D1C7-B30F7897D7C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6B394C8-C33A-A506-FDB5-93643934A4D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18A542A-285E-3E6B-E26B-D24958C4370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0EEBE31-8222-E36F-1C37-992521A12AF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9429137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525B6F-49DB-B620-F374-9F219381B658}"/>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193E722-7BFE-8598-3230-C37749FB754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F1288FB6-A624-2873-DB1D-456E7D8F928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726D997-2E9D-F1BA-B359-3B4EFBADD1F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2B63D0B4-A096-BFD7-71C1-0BD156CADFA0}"/>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1857 की क्रांति के दौरान लखनऊ (अवध) में जनता एवं सिपाहियों द्वारा किसे नया नवाब घोषित किया गया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वाजिद अली शाह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बिरजिस कद्र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खान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B3E0D3D-FF06-6908-070F-7E6EA4805B7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53B0B31-389C-D210-609C-DB2BAA25540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541C7ED-4FA3-A7C7-1D6F-7437622023B4}"/>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10. 1857 की क्रांति के दौरान लखनऊ (अवध) में जनता एवं सिपाहियों द्वारा किसे नया नवाब घोषित किया गया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06DF237-4AC8-C4D6-FCA5-56495F21673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37B457B-B2DF-9C33-7026-6E6A9B2D949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8597410-EA03-9FF6-12DC-22D307E1A4E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A3985EDE-754B-64E7-2404-F0EC1FCDD72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D56C00A-AAF9-F93B-5CA2-E96B93694D7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C11969EA-C73C-F1C9-1D80-DDD55141C84B}"/>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5861738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E389857-5FAC-4F52-45D9-81A3CDE17464}"/>
              </a:ext>
            </a:extLst>
          </p:cNvPr>
          <p:cNvSpPr/>
          <p:nvPr/>
        </p:nvSpPr>
        <p:spPr>
          <a:xfrm>
            <a:off x="0" y="0"/>
            <a:ext cx="12192000" cy="584200"/>
          </a:xfrm>
          <a:prstGeom prst="rect">
            <a:avLst/>
          </a:prstGeom>
          <a:solidFill>
            <a:srgbClr val="1E233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35615E2-CB61-EE91-0079-7F1B9688C3F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35CD41B9-5795-5BD8-0138-FB45F79DBA5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5F2B25A-E040-BB6B-7398-162BF84C4B1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4027806-DD54-9593-604C-BAB710A8B2E4}"/>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1857 की क्रांति के दौरान लखनऊ (अवध) में जनता एवं सिपाहियों द्वारा किसे नया नवाब घोषित किया गया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लखनऊ में बेगम हज़रत महल के 11 वर्षीय पुत्र 'बिरजिस कद्र' को नवाब बनाया गया। मार्च 1858 में अंग्रेजों ने लखनऊ पर पुनः कब्जा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F46A1FDC-522C-0943-A54D-8817C5B5F5E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C61B413-8C3E-4BE2-B1D8-31E06BF0399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6473300-4B62-4DF7-FA28-3DB9822F33AE}"/>
              </a:ext>
            </a:extLst>
          </p:cNvPr>
          <p:cNvSpPr txBox="1"/>
          <p:nvPr/>
        </p:nvSpPr>
        <p:spPr>
          <a:xfrm>
            <a:off x="5143500" y="1066800"/>
            <a:ext cx="6667500" cy="769441"/>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लखनऊ में बेगम हज़रत महल के 11 वर्षीय पुत्र 'बिरजिस कद्र' को नवाब बनाया गया। मार्च 1858 में अंग्रेजों ने लखनऊ पर पुनः कब्जा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ABC15E2-7E25-1F83-E4EC-E71E7191564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5487A95-9208-4447-A003-82D8F109F73B}"/>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EFAF8983-200E-9369-2FEE-1E1E62D5383E}"/>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A9B2E3F-AA27-38DD-0FE0-84B93E09751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C6C8382-2E75-875D-6AC9-6290DF6FA60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CB9233EA-9EAD-EE68-BCAA-E62DA049E3F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9043520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9566</Words>
  <Application>Microsoft Office PowerPoint</Application>
  <PresentationFormat>Custom</PresentationFormat>
  <Paragraphs>270</Paragraphs>
  <Slides>30</Slides>
  <Notes>0</Notes>
  <HiddenSlides>0</HiddenSlides>
  <MMClips>8</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2026-10-29T05:31:33Z</dcterms:created>
  <dcterms:modified xsi:type="dcterms:W3CDTF">2026-10-29T05:31:33Z</dcterms:modified>
</cp:coreProperties>
</file>