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72AC0-8F98-306A-5F41-2EE0E661CEC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1AC22B38-7984-0E0A-4144-590C0F70D3C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E9FB123-4908-4B01-0478-50CD2A964B1B}"/>
              </a:ext>
            </a:extLst>
          </p:cNvPr>
          <p:cNvSpPr>
            <a:spLocks noGrp="1"/>
          </p:cNvSpPr>
          <p:nvPr>
            <p:ph type="dt" sz="half" idx="10"/>
          </p:nvPr>
        </p:nvSpPr>
        <p:spPr/>
        <p:txBody>
          <a:bodyPr/>
          <a:lstStyle/>
          <a:p>
            <a:fld id="{B152D41D-7CF5-42AB-90D3-8609ECCAFF41}" type="datetimeFigureOut">
              <a:rPr lang="en-IN" smtClean="0"/>
              <a:t>24-10-2026</a:t>
            </a:fld>
            <a:endParaRPr lang="en-IN"/>
          </a:p>
        </p:txBody>
      </p:sp>
      <p:sp>
        <p:nvSpPr>
          <p:cNvPr id="5" name="Footer Placeholder 4">
            <a:extLst>
              <a:ext uri="{FF2B5EF4-FFF2-40B4-BE49-F238E27FC236}">
                <a16:creationId xmlns:a16="http://schemas.microsoft.com/office/drawing/2014/main" id="{20712359-6BFD-A0A5-0B43-65C85D68ACA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66A77AF-7E2F-3E0C-4236-55F4CB34F356}"/>
              </a:ext>
            </a:extLst>
          </p:cNvPr>
          <p:cNvSpPr>
            <a:spLocks noGrp="1"/>
          </p:cNvSpPr>
          <p:nvPr>
            <p:ph type="sldNum" sz="quarter" idx="12"/>
          </p:nvPr>
        </p:nvSpPr>
        <p:spPr/>
        <p:txBody>
          <a:bodyPr/>
          <a:lstStyle/>
          <a:p>
            <a:fld id="{26A92793-CCA3-4CE5-B231-725AF13D9372}" type="slidenum">
              <a:rPr lang="en-IN" smtClean="0"/>
              <a:t>‹#›</a:t>
            </a:fld>
            <a:endParaRPr lang="en-IN"/>
          </a:p>
        </p:txBody>
      </p:sp>
    </p:spTree>
    <p:extLst>
      <p:ext uri="{BB962C8B-B14F-4D97-AF65-F5344CB8AC3E}">
        <p14:creationId xmlns:p14="http://schemas.microsoft.com/office/powerpoint/2010/main" val="1491344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F946E-0E93-9F22-C4E0-F9361CF17D6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6772AAD-B948-9FF8-2AE5-43EEBC262B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178A1D5-0F67-E7AD-3DDE-0A7EAD6142C2}"/>
              </a:ext>
            </a:extLst>
          </p:cNvPr>
          <p:cNvSpPr>
            <a:spLocks noGrp="1"/>
          </p:cNvSpPr>
          <p:nvPr>
            <p:ph type="dt" sz="half" idx="10"/>
          </p:nvPr>
        </p:nvSpPr>
        <p:spPr/>
        <p:txBody>
          <a:bodyPr/>
          <a:lstStyle/>
          <a:p>
            <a:fld id="{B152D41D-7CF5-42AB-90D3-8609ECCAFF41}" type="datetimeFigureOut">
              <a:rPr lang="en-IN" smtClean="0"/>
              <a:t>24-10-2026</a:t>
            </a:fld>
            <a:endParaRPr lang="en-IN"/>
          </a:p>
        </p:txBody>
      </p:sp>
      <p:sp>
        <p:nvSpPr>
          <p:cNvPr id="5" name="Footer Placeholder 4">
            <a:extLst>
              <a:ext uri="{FF2B5EF4-FFF2-40B4-BE49-F238E27FC236}">
                <a16:creationId xmlns:a16="http://schemas.microsoft.com/office/drawing/2014/main" id="{DEF40AB9-36E5-C5C4-68B1-5CC470719A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DF25D0C-C751-FE67-C443-8A419282773C}"/>
              </a:ext>
            </a:extLst>
          </p:cNvPr>
          <p:cNvSpPr>
            <a:spLocks noGrp="1"/>
          </p:cNvSpPr>
          <p:nvPr>
            <p:ph type="sldNum" sz="quarter" idx="12"/>
          </p:nvPr>
        </p:nvSpPr>
        <p:spPr/>
        <p:txBody>
          <a:bodyPr/>
          <a:lstStyle/>
          <a:p>
            <a:fld id="{26A92793-CCA3-4CE5-B231-725AF13D9372}" type="slidenum">
              <a:rPr lang="en-IN" smtClean="0"/>
              <a:t>‹#›</a:t>
            </a:fld>
            <a:endParaRPr lang="en-IN"/>
          </a:p>
        </p:txBody>
      </p:sp>
    </p:spTree>
    <p:extLst>
      <p:ext uri="{BB962C8B-B14F-4D97-AF65-F5344CB8AC3E}">
        <p14:creationId xmlns:p14="http://schemas.microsoft.com/office/powerpoint/2010/main" val="30347695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95AEE-3E40-0A31-80FA-B81FF92E447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C49D0FA6-D176-5BE1-DAC5-85D1772FE7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2D9465-1624-0BAA-8581-228604ABE9F2}"/>
              </a:ext>
            </a:extLst>
          </p:cNvPr>
          <p:cNvSpPr>
            <a:spLocks noGrp="1"/>
          </p:cNvSpPr>
          <p:nvPr>
            <p:ph type="dt" sz="half" idx="10"/>
          </p:nvPr>
        </p:nvSpPr>
        <p:spPr/>
        <p:txBody>
          <a:bodyPr/>
          <a:lstStyle/>
          <a:p>
            <a:fld id="{B152D41D-7CF5-42AB-90D3-8609ECCAFF41}" type="datetimeFigureOut">
              <a:rPr lang="en-IN" smtClean="0"/>
              <a:t>24-10-2026</a:t>
            </a:fld>
            <a:endParaRPr lang="en-IN"/>
          </a:p>
        </p:txBody>
      </p:sp>
      <p:sp>
        <p:nvSpPr>
          <p:cNvPr id="5" name="Footer Placeholder 4">
            <a:extLst>
              <a:ext uri="{FF2B5EF4-FFF2-40B4-BE49-F238E27FC236}">
                <a16:creationId xmlns:a16="http://schemas.microsoft.com/office/drawing/2014/main" id="{A2DFC572-F7E3-F502-B9CD-EE6A4066F03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63C2996-C884-78DB-F79A-316C7BA7C1E6}"/>
              </a:ext>
            </a:extLst>
          </p:cNvPr>
          <p:cNvSpPr>
            <a:spLocks noGrp="1"/>
          </p:cNvSpPr>
          <p:nvPr>
            <p:ph type="sldNum" sz="quarter" idx="12"/>
          </p:nvPr>
        </p:nvSpPr>
        <p:spPr/>
        <p:txBody>
          <a:bodyPr/>
          <a:lstStyle/>
          <a:p>
            <a:fld id="{26A92793-CCA3-4CE5-B231-725AF13D9372}" type="slidenum">
              <a:rPr lang="en-IN" smtClean="0"/>
              <a:t>‹#›</a:t>
            </a:fld>
            <a:endParaRPr lang="en-IN"/>
          </a:p>
        </p:txBody>
      </p:sp>
    </p:spTree>
    <p:extLst>
      <p:ext uri="{BB962C8B-B14F-4D97-AF65-F5344CB8AC3E}">
        <p14:creationId xmlns:p14="http://schemas.microsoft.com/office/powerpoint/2010/main" val="16449437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55B14-2902-5949-8AC4-A4572D1EE40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CDA0DD8-9A0D-4600-AB79-FA9FA33EC1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DAE33E81-BD5E-DB1F-AFF5-57A6FD8008C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85D3DD4-7023-D36E-61EE-B086C1D1D57A}"/>
              </a:ext>
            </a:extLst>
          </p:cNvPr>
          <p:cNvSpPr>
            <a:spLocks noGrp="1"/>
          </p:cNvSpPr>
          <p:nvPr>
            <p:ph type="dt" sz="half" idx="10"/>
          </p:nvPr>
        </p:nvSpPr>
        <p:spPr/>
        <p:txBody>
          <a:bodyPr/>
          <a:lstStyle/>
          <a:p>
            <a:fld id="{B152D41D-7CF5-42AB-90D3-8609ECCAFF41}" type="datetimeFigureOut">
              <a:rPr lang="en-IN" smtClean="0"/>
              <a:t>24-10-2026</a:t>
            </a:fld>
            <a:endParaRPr lang="en-IN"/>
          </a:p>
        </p:txBody>
      </p:sp>
      <p:sp>
        <p:nvSpPr>
          <p:cNvPr id="6" name="Footer Placeholder 5">
            <a:extLst>
              <a:ext uri="{FF2B5EF4-FFF2-40B4-BE49-F238E27FC236}">
                <a16:creationId xmlns:a16="http://schemas.microsoft.com/office/drawing/2014/main" id="{6A27A3A0-2BBF-EC5D-9863-77EF6BBE7F2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8EB19D3-E9F1-E9BF-AC8F-3D2C277A4776}"/>
              </a:ext>
            </a:extLst>
          </p:cNvPr>
          <p:cNvSpPr>
            <a:spLocks noGrp="1"/>
          </p:cNvSpPr>
          <p:nvPr>
            <p:ph type="sldNum" sz="quarter" idx="12"/>
          </p:nvPr>
        </p:nvSpPr>
        <p:spPr/>
        <p:txBody>
          <a:bodyPr/>
          <a:lstStyle/>
          <a:p>
            <a:fld id="{26A92793-CCA3-4CE5-B231-725AF13D9372}" type="slidenum">
              <a:rPr lang="en-IN" smtClean="0"/>
              <a:t>‹#›</a:t>
            </a:fld>
            <a:endParaRPr lang="en-IN"/>
          </a:p>
        </p:txBody>
      </p:sp>
    </p:spTree>
    <p:extLst>
      <p:ext uri="{BB962C8B-B14F-4D97-AF65-F5344CB8AC3E}">
        <p14:creationId xmlns:p14="http://schemas.microsoft.com/office/powerpoint/2010/main" val="26374521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71906-B1FE-4289-22CC-43E8441BE35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E547C90-C88E-9D77-B680-92DF0D79C3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5D008A-E9E7-10D7-9413-AF5BB6B5A4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2E5AF22B-0741-C12B-03FC-6D8951C71D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D503E87-EBB6-4EF6-D673-1D61A8A7DB5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E20A77B-7CFF-393C-45B2-D6ACD3AFF0B2}"/>
              </a:ext>
            </a:extLst>
          </p:cNvPr>
          <p:cNvSpPr>
            <a:spLocks noGrp="1"/>
          </p:cNvSpPr>
          <p:nvPr>
            <p:ph type="dt" sz="half" idx="10"/>
          </p:nvPr>
        </p:nvSpPr>
        <p:spPr/>
        <p:txBody>
          <a:bodyPr/>
          <a:lstStyle/>
          <a:p>
            <a:fld id="{B152D41D-7CF5-42AB-90D3-8609ECCAFF41}" type="datetimeFigureOut">
              <a:rPr lang="en-IN" smtClean="0"/>
              <a:t>24-10-2026</a:t>
            </a:fld>
            <a:endParaRPr lang="en-IN"/>
          </a:p>
        </p:txBody>
      </p:sp>
      <p:sp>
        <p:nvSpPr>
          <p:cNvPr id="8" name="Footer Placeholder 7">
            <a:extLst>
              <a:ext uri="{FF2B5EF4-FFF2-40B4-BE49-F238E27FC236}">
                <a16:creationId xmlns:a16="http://schemas.microsoft.com/office/drawing/2014/main" id="{A7B464DA-E3D1-F11F-4D18-1CC4EA4C569A}"/>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28C122FB-CCBB-24D1-B04B-B4E34779D5B3}"/>
              </a:ext>
            </a:extLst>
          </p:cNvPr>
          <p:cNvSpPr>
            <a:spLocks noGrp="1"/>
          </p:cNvSpPr>
          <p:nvPr>
            <p:ph type="sldNum" sz="quarter" idx="12"/>
          </p:nvPr>
        </p:nvSpPr>
        <p:spPr/>
        <p:txBody>
          <a:bodyPr/>
          <a:lstStyle/>
          <a:p>
            <a:fld id="{26A92793-CCA3-4CE5-B231-725AF13D9372}" type="slidenum">
              <a:rPr lang="en-IN" smtClean="0"/>
              <a:t>‹#›</a:t>
            </a:fld>
            <a:endParaRPr lang="en-IN"/>
          </a:p>
        </p:txBody>
      </p:sp>
    </p:spTree>
    <p:extLst>
      <p:ext uri="{BB962C8B-B14F-4D97-AF65-F5344CB8AC3E}">
        <p14:creationId xmlns:p14="http://schemas.microsoft.com/office/powerpoint/2010/main" val="42599579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8F5E40-C30B-5F5B-5145-BA70F1B0512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37B5A5F9-ACBE-F333-34A1-4676A6D953D2}"/>
              </a:ext>
            </a:extLst>
          </p:cNvPr>
          <p:cNvSpPr>
            <a:spLocks noGrp="1"/>
          </p:cNvSpPr>
          <p:nvPr>
            <p:ph type="dt" sz="half" idx="10"/>
          </p:nvPr>
        </p:nvSpPr>
        <p:spPr/>
        <p:txBody>
          <a:bodyPr/>
          <a:lstStyle/>
          <a:p>
            <a:fld id="{B152D41D-7CF5-42AB-90D3-8609ECCAFF41}" type="datetimeFigureOut">
              <a:rPr lang="en-IN" smtClean="0"/>
              <a:t>24-10-2026</a:t>
            </a:fld>
            <a:endParaRPr lang="en-IN"/>
          </a:p>
        </p:txBody>
      </p:sp>
      <p:sp>
        <p:nvSpPr>
          <p:cNvPr id="4" name="Footer Placeholder 3">
            <a:extLst>
              <a:ext uri="{FF2B5EF4-FFF2-40B4-BE49-F238E27FC236}">
                <a16:creationId xmlns:a16="http://schemas.microsoft.com/office/drawing/2014/main" id="{D2CDB7DB-664B-F58F-4494-32BB4AE68DC5}"/>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CDADEA3A-B8D6-C41C-25E5-DB2800C8CF3A}"/>
              </a:ext>
            </a:extLst>
          </p:cNvPr>
          <p:cNvSpPr>
            <a:spLocks noGrp="1"/>
          </p:cNvSpPr>
          <p:nvPr>
            <p:ph type="sldNum" sz="quarter" idx="12"/>
          </p:nvPr>
        </p:nvSpPr>
        <p:spPr/>
        <p:txBody>
          <a:bodyPr/>
          <a:lstStyle/>
          <a:p>
            <a:fld id="{26A92793-CCA3-4CE5-B231-725AF13D9372}" type="slidenum">
              <a:rPr lang="en-IN" smtClean="0"/>
              <a:t>‹#›</a:t>
            </a:fld>
            <a:endParaRPr lang="en-IN"/>
          </a:p>
        </p:txBody>
      </p:sp>
    </p:spTree>
    <p:extLst>
      <p:ext uri="{BB962C8B-B14F-4D97-AF65-F5344CB8AC3E}">
        <p14:creationId xmlns:p14="http://schemas.microsoft.com/office/powerpoint/2010/main" val="36729110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9D076DB-E1E0-9340-5B1E-7ACC416CB284}"/>
              </a:ext>
            </a:extLst>
          </p:cNvPr>
          <p:cNvSpPr>
            <a:spLocks noGrp="1"/>
          </p:cNvSpPr>
          <p:nvPr>
            <p:ph type="dt" sz="half" idx="10"/>
          </p:nvPr>
        </p:nvSpPr>
        <p:spPr/>
        <p:txBody>
          <a:bodyPr/>
          <a:lstStyle/>
          <a:p>
            <a:fld id="{B152D41D-7CF5-42AB-90D3-8609ECCAFF41}" type="datetimeFigureOut">
              <a:rPr lang="en-IN" smtClean="0"/>
              <a:t>24-10-2026</a:t>
            </a:fld>
            <a:endParaRPr lang="en-IN"/>
          </a:p>
        </p:txBody>
      </p:sp>
      <p:sp>
        <p:nvSpPr>
          <p:cNvPr id="3" name="Footer Placeholder 2">
            <a:extLst>
              <a:ext uri="{FF2B5EF4-FFF2-40B4-BE49-F238E27FC236}">
                <a16:creationId xmlns:a16="http://schemas.microsoft.com/office/drawing/2014/main" id="{594292F3-BF0D-4020-68C9-4C203F3E4594}"/>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42728085-D274-2C1F-23ED-E8F3DCB97533}"/>
              </a:ext>
            </a:extLst>
          </p:cNvPr>
          <p:cNvSpPr>
            <a:spLocks noGrp="1"/>
          </p:cNvSpPr>
          <p:nvPr>
            <p:ph type="sldNum" sz="quarter" idx="12"/>
          </p:nvPr>
        </p:nvSpPr>
        <p:spPr/>
        <p:txBody>
          <a:bodyPr/>
          <a:lstStyle/>
          <a:p>
            <a:fld id="{26A92793-CCA3-4CE5-B231-725AF13D9372}" type="slidenum">
              <a:rPr lang="en-IN" smtClean="0"/>
              <a:t>‹#›</a:t>
            </a:fld>
            <a:endParaRPr lang="en-IN"/>
          </a:p>
        </p:txBody>
      </p:sp>
    </p:spTree>
    <p:extLst>
      <p:ext uri="{BB962C8B-B14F-4D97-AF65-F5344CB8AC3E}">
        <p14:creationId xmlns:p14="http://schemas.microsoft.com/office/powerpoint/2010/main" val="3146846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6F923-306E-11F2-6C42-6B32023336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79762ABD-583D-BEA8-59E6-9BE9FA1CC32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80E62F3-19AE-5FC4-3AF8-912F9A93AF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FCE77D-CD2E-DBE6-BFFA-186367EEEA1B}"/>
              </a:ext>
            </a:extLst>
          </p:cNvPr>
          <p:cNvSpPr>
            <a:spLocks noGrp="1"/>
          </p:cNvSpPr>
          <p:nvPr>
            <p:ph type="dt" sz="half" idx="10"/>
          </p:nvPr>
        </p:nvSpPr>
        <p:spPr/>
        <p:txBody>
          <a:bodyPr/>
          <a:lstStyle/>
          <a:p>
            <a:fld id="{B152D41D-7CF5-42AB-90D3-8609ECCAFF41}" type="datetimeFigureOut">
              <a:rPr lang="en-IN" smtClean="0"/>
              <a:t>24-10-2026</a:t>
            </a:fld>
            <a:endParaRPr lang="en-IN"/>
          </a:p>
        </p:txBody>
      </p:sp>
      <p:sp>
        <p:nvSpPr>
          <p:cNvPr id="6" name="Footer Placeholder 5">
            <a:extLst>
              <a:ext uri="{FF2B5EF4-FFF2-40B4-BE49-F238E27FC236}">
                <a16:creationId xmlns:a16="http://schemas.microsoft.com/office/drawing/2014/main" id="{E6B0555C-C9AA-A00F-E827-1141E004EF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F40DEFF-48B6-DB0D-F0DE-25E6117ABFD8}"/>
              </a:ext>
            </a:extLst>
          </p:cNvPr>
          <p:cNvSpPr>
            <a:spLocks noGrp="1"/>
          </p:cNvSpPr>
          <p:nvPr>
            <p:ph type="sldNum" sz="quarter" idx="12"/>
          </p:nvPr>
        </p:nvSpPr>
        <p:spPr/>
        <p:txBody>
          <a:bodyPr/>
          <a:lstStyle/>
          <a:p>
            <a:fld id="{26A92793-CCA3-4CE5-B231-725AF13D9372}" type="slidenum">
              <a:rPr lang="en-IN" smtClean="0"/>
              <a:t>‹#›</a:t>
            </a:fld>
            <a:endParaRPr lang="en-IN"/>
          </a:p>
        </p:txBody>
      </p:sp>
    </p:spTree>
    <p:extLst>
      <p:ext uri="{BB962C8B-B14F-4D97-AF65-F5344CB8AC3E}">
        <p14:creationId xmlns:p14="http://schemas.microsoft.com/office/powerpoint/2010/main" val="3751864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1C915-4F1E-4788-68D8-7A6F8F9303C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A036A47B-6797-A3EB-D829-2264A99C1ED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9B64494B-1677-9F85-8981-02FDFFF8F9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5FA581-ED6C-3FBB-593B-203A53079681}"/>
              </a:ext>
            </a:extLst>
          </p:cNvPr>
          <p:cNvSpPr>
            <a:spLocks noGrp="1"/>
          </p:cNvSpPr>
          <p:nvPr>
            <p:ph type="dt" sz="half" idx="10"/>
          </p:nvPr>
        </p:nvSpPr>
        <p:spPr/>
        <p:txBody>
          <a:bodyPr/>
          <a:lstStyle/>
          <a:p>
            <a:fld id="{B152D41D-7CF5-42AB-90D3-8609ECCAFF41}" type="datetimeFigureOut">
              <a:rPr lang="en-IN" smtClean="0"/>
              <a:t>24-10-2026</a:t>
            </a:fld>
            <a:endParaRPr lang="en-IN"/>
          </a:p>
        </p:txBody>
      </p:sp>
      <p:sp>
        <p:nvSpPr>
          <p:cNvPr id="6" name="Footer Placeholder 5">
            <a:extLst>
              <a:ext uri="{FF2B5EF4-FFF2-40B4-BE49-F238E27FC236}">
                <a16:creationId xmlns:a16="http://schemas.microsoft.com/office/drawing/2014/main" id="{F9AABE1E-3C16-75CB-8E98-590932A0CE9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6DF9929-920B-1F7C-9100-A25C802B2796}"/>
              </a:ext>
            </a:extLst>
          </p:cNvPr>
          <p:cNvSpPr>
            <a:spLocks noGrp="1"/>
          </p:cNvSpPr>
          <p:nvPr>
            <p:ph type="sldNum" sz="quarter" idx="12"/>
          </p:nvPr>
        </p:nvSpPr>
        <p:spPr/>
        <p:txBody>
          <a:bodyPr/>
          <a:lstStyle/>
          <a:p>
            <a:fld id="{26A92793-CCA3-4CE5-B231-725AF13D9372}" type="slidenum">
              <a:rPr lang="en-IN" smtClean="0"/>
              <a:t>‹#›</a:t>
            </a:fld>
            <a:endParaRPr lang="en-IN"/>
          </a:p>
        </p:txBody>
      </p:sp>
    </p:spTree>
    <p:extLst>
      <p:ext uri="{BB962C8B-B14F-4D97-AF65-F5344CB8AC3E}">
        <p14:creationId xmlns:p14="http://schemas.microsoft.com/office/powerpoint/2010/main" val="26807139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AD62F-4D28-1BF3-1A6C-75269A9EF320}"/>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B161B29-8D32-133B-7276-CDBE6BDF876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975ED66-6641-CA06-5FF1-D195A36BAB7D}"/>
              </a:ext>
            </a:extLst>
          </p:cNvPr>
          <p:cNvSpPr>
            <a:spLocks noGrp="1"/>
          </p:cNvSpPr>
          <p:nvPr>
            <p:ph type="dt" sz="half" idx="10"/>
          </p:nvPr>
        </p:nvSpPr>
        <p:spPr/>
        <p:txBody>
          <a:bodyPr/>
          <a:lstStyle/>
          <a:p>
            <a:fld id="{B152D41D-7CF5-42AB-90D3-8609ECCAFF41}" type="datetimeFigureOut">
              <a:rPr lang="en-IN" smtClean="0"/>
              <a:t>24-10-2026</a:t>
            </a:fld>
            <a:endParaRPr lang="en-IN"/>
          </a:p>
        </p:txBody>
      </p:sp>
      <p:sp>
        <p:nvSpPr>
          <p:cNvPr id="5" name="Footer Placeholder 4">
            <a:extLst>
              <a:ext uri="{FF2B5EF4-FFF2-40B4-BE49-F238E27FC236}">
                <a16:creationId xmlns:a16="http://schemas.microsoft.com/office/drawing/2014/main" id="{808F9D1F-562D-D602-E8F1-9C984749F20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3EE577B-84A0-105E-6DF1-895CF4615067}"/>
              </a:ext>
            </a:extLst>
          </p:cNvPr>
          <p:cNvSpPr>
            <a:spLocks noGrp="1"/>
          </p:cNvSpPr>
          <p:nvPr>
            <p:ph type="sldNum" sz="quarter" idx="12"/>
          </p:nvPr>
        </p:nvSpPr>
        <p:spPr/>
        <p:txBody>
          <a:bodyPr/>
          <a:lstStyle/>
          <a:p>
            <a:fld id="{26A92793-CCA3-4CE5-B231-725AF13D9372}" type="slidenum">
              <a:rPr lang="en-IN" smtClean="0"/>
              <a:t>‹#›</a:t>
            </a:fld>
            <a:endParaRPr lang="en-IN"/>
          </a:p>
        </p:txBody>
      </p:sp>
    </p:spTree>
    <p:extLst>
      <p:ext uri="{BB962C8B-B14F-4D97-AF65-F5344CB8AC3E}">
        <p14:creationId xmlns:p14="http://schemas.microsoft.com/office/powerpoint/2010/main" val="3045627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1DAF887-E715-5422-F77A-9CE9A6D807C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63B2679-AD8A-7278-1CE2-E436A8E6760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8C8E49E-D513-3E53-8AAE-56A9729F059B}"/>
              </a:ext>
            </a:extLst>
          </p:cNvPr>
          <p:cNvSpPr>
            <a:spLocks noGrp="1"/>
          </p:cNvSpPr>
          <p:nvPr>
            <p:ph type="dt" sz="half" idx="10"/>
          </p:nvPr>
        </p:nvSpPr>
        <p:spPr/>
        <p:txBody>
          <a:bodyPr/>
          <a:lstStyle/>
          <a:p>
            <a:fld id="{B152D41D-7CF5-42AB-90D3-8609ECCAFF41}" type="datetimeFigureOut">
              <a:rPr lang="en-IN" smtClean="0"/>
              <a:t>24-10-2026</a:t>
            </a:fld>
            <a:endParaRPr lang="en-IN"/>
          </a:p>
        </p:txBody>
      </p:sp>
      <p:sp>
        <p:nvSpPr>
          <p:cNvPr id="5" name="Footer Placeholder 4">
            <a:extLst>
              <a:ext uri="{FF2B5EF4-FFF2-40B4-BE49-F238E27FC236}">
                <a16:creationId xmlns:a16="http://schemas.microsoft.com/office/drawing/2014/main" id="{94B04FF5-BBAE-1CBE-191F-2D1F558427B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0741342-3400-E0E5-87F0-D02EC0099E8C}"/>
              </a:ext>
            </a:extLst>
          </p:cNvPr>
          <p:cNvSpPr>
            <a:spLocks noGrp="1"/>
          </p:cNvSpPr>
          <p:nvPr>
            <p:ph type="sldNum" sz="quarter" idx="12"/>
          </p:nvPr>
        </p:nvSpPr>
        <p:spPr/>
        <p:txBody>
          <a:bodyPr/>
          <a:lstStyle/>
          <a:p>
            <a:fld id="{26A92793-CCA3-4CE5-B231-725AF13D9372}" type="slidenum">
              <a:rPr lang="en-IN" smtClean="0"/>
              <a:t>‹#›</a:t>
            </a:fld>
            <a:endParaRPr lang="en-IN"/>
          </a:p>
        </p:txBody>
      </p:sp>
    </p:spTree>
    <p:extLst>
      <p:ext uri="{BB962C8B-B14F-4D97-AF65-F5344CB8AC3E}">
        <p14:creationId xmlns:p14="http://schemas.microsoft.com/office/powerpoint/2010/main" val="29299635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5B7138-6AC0-15C6-CFAF-FD8D2BF1018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65B75B1-CE70-67C0-03FF-5716CC3A81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901D29-8A6A-F675-6384-13886335DE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152D41D-7CF5-42AB-90D3-8609ECCAFF41}" type="datetimeFigureOut">
              <a:rPr lang="en-IN" smtClean="0"/>
              <a:t>24-10-2026</a:t>
            </a:fld>
            <a:endParaRPr lang="en-IN"/>
          </a:p>
        </p:txBody>
      </p:sp>
      <p:sp>
        <p:nvSpPr>
          <p:cNvPr id="5" name="Footer Placeholder 4">
            <a:extLst>
              <a:ext uri="{FF2B5EF4-FFF2-40B4-BE49-F238E27FC236}">
                <a16:creationId xmlns:a16="http://schemas.microsoft.com/office/drawing/2014/main" id="{5B20B74F-3878-32F5-544F-9457E51FB3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2878A77-1C87-32AA-7AC7-A3F5EA658D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6A92793-CCA3-4CE5-B231-725AF13D9372}" type="slidenum">
              <a:rPr lang="en-IN" smtClean="0"/>
              <a:t>‹#›</a:t>
            </a:fld>
            <a:endParaRPr lang="en-IN"/>
          </a:p>
        </p:txBody>
      </p:sp>
    </p:spTree>
    <p:extLst>
      <p:ext uri="{BB962C8B-B14F-4D97-AF65-F5344CB8AC3E}">
        <p14:creationId xmlns:p14="http://schemas.microsoft.com/office/powerpoint/2010/main" val="12018458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A56D453-5062-97FF-85B5-D948CE88378A}"/>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B6EDB63-968B-4BAC-4DFD-12DC413E6579}"/>
              </a:ext>
            </a:extLst>
          </p:cNvPr>
          <p:cNvSpPr txBox="1"/>
          <p:nvPr/>
        </p:nvSpPr>
        <p:spPr>
          <a:xfrm>
            <a:off x="254000" y="76200"/>
            <a:ext cx="11684000" cy="323165"/>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1]: 1857 की महान क्रांति: भारत का प्रथम स्वतंत्रता संग्राम</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F7C7EA17-1080-226E-543D-8B965BEB1A9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254C0C8-AFEF-BD42-2F3F-3269F452240A}"/>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6" name="mangal_pandey">
            <a:hlinkClick r:id="" action="ppaction://media"/>
            <a:extLst>
              <a:ext uri="{FF2B5EF4-FFF2-40B4-BE49-F238E27FC236}">
                <a16:creationId xmlns:a16="http://schemas.microsoft.com/office/drawing/2014/main" id="{0CFC1CF4-010C-3C2B-870D-67D55555BF9B}"/>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633E5EC6-F848-1482-9C1D-B2BA1721A715}"/>
              </a:ext>
            </a:extLst>
          </p:cNvPr>
          <p:cNvSpPr txBox="1"/>
          <p:nvPr/>
        </p:nvSpPr>
        <p:spPr>
          <a:xfrm>
            <a:off x="355600" y="3746500"/>
            <a:ext cx="4368800" cy="1223412"/>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100 </a:t>
            </a:r>
            <a:r>
              <a:rPr lang="hi-IN" sz="1050">
                <a:solidFill>
                  <a:srgbClr val="CBD5E1"/>
                </a:solidFill>
                <a:latin typeface="Segoe UI" panose="020B0502040204020203" pitchFamily="34" charset="0"/>
              </a:rPr>
              <a:t>साल का ब्रिटिश ईस्ट इंडिया कंपनी का भीषण शोषण और अत्याचार
• किसानों, देशी राजाओं और भारतीय सैनिकों में सुलगता गहरा जन-आक्रोश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मंत्र: 1857 की क्रांति को वी.डी. सावरकर ने 'भारत का प्रथम स्वतंत्रता संग्राम' कहा था!</a:t>
            </a:r>
            <a:endParaRPr lang="en-IN" sz="105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989E289C-B9DC-783A-784B-67978ECD759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E9C7B157-0854-3F28-3CFA-2EDAFE979A32}"/>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0" name="TextBox 9">
            <a:extLst>
              <a:ext uri="{FF2B5EF4-FFF2-40B4-BE49-F238E27FC236}">
                <a16:creationId xmlns:a16="http://schemas.microsoft.com/office/drawing/2014/main" id="{E8981AD4-4BCB-1EDA-11FD-A914B4E7F364}"/>
              </a:ext>
            </a:extLst>
          </p:cNvPr>
          <p:cNvSpPr txBox="1"/>
          <p:nvPr/>
        </p:nvSpPr>
        <p:spPr>
          <a:xfrm>
            <a:off x="5143500" y="1066800"/>
            <a:ext cx="6667500" cy="800219"/>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प्यारे बच्चों, आज हम इतिहास की उस घटना को जीने जा रहे हैं जिसने अंग्रेजों की 100 साल पुरानी सल्तनत की चूलें हिला दी थीं! आज कोई रट्टा नहीं, बल्कि एक 3</a:t>
            </a:r>
            <a:r>
              <a:rPr lang="en-IN" sz="1150">
                <a:solidFill>
                  <a:srgbClr val="F8FAFC"/>
                </a:solidFill>
                <a:latin typeface="Segoe UI" panose="020B0502040204020203" pitchFamily="34" charset="0"/>
              </a:rPr>
              <a:t>D </a:t>
            </a:r>
            <a:r>
              <a:rPr lang="hi-IN" sz="1150">
                <a:solidFill>
                  <a:srgbClr val="F8FAFC"/>
                </a:solidFill>
                <a:latin typeface="Segoe UI" panose="020B0502040204020203" pitchFamily="34" charset="0"/>
              </a:rPr>
              <a:t>फिल्म की तरह हम देखेंगे कि कैसे मंगल पांडे से लेकर झांसी की रानी तक ने अपनी जान की बाजी लगाकर भारत की आजादी की पहली चिंगारी जलाई थी। आराम से बैठिए और इस रोमांचक गाथा का आनंद लीजिए!</a:t>
            </a:r>
            <a:endParaRPr lang="en-IN" sz="115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53E0ADF7-2417-7E27-8D8B-959880D415E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F973FD0A-9EEC-466D-CF81-1F951A29FF13}"/>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3" name="TextBox 12">
            <a:extLst>
              <a:ext uri="{FF2B5EF4-FFF2-40B4-BE49-F238E27FC236}">
                <a16:creationId xmlns:a16="http://schemas.microsoft.com/office/drawing/2014/main" id="{BB42B12D-748C-022A-0986-C7253E0A6BED}"/>
              </a:ext>
            </a:extLst>
          </p:cNvPr>
          <p:cNvSpPr txBox="1"/>
          <p:nvPr/>
        </p:nvSpPr>
        <p:spPr>
          <a:xfrm>
            <a:off x="5143500" y="4368800"/>
            <a:ext cx="6667500" cy="577081"/>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बच्चों से पूछें: 'सोचो अगर आपके घर पर कोई किराएदार आकर कहे कि आज से घर मेरा है, तो आप क्या करोगे? बस यही गुस्सा था 1857 का!'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कहानी ऐसी जो दिमाग में छप जाए | </a:t>
            </a:r>
            <a:r>
              <a:rPr lang="en-IN" sz="1050">
                <a:solidFill>
                  <a:srgbClr val="FEF3C7"/>
                </a:solidFill>
                <a:latin typeface="Segoe UI" panose="020B0502040204020203" pitchFamily="34" charset="0"/>
              </a:rPr>
              <a:t>NMMS </a:t>
            </a:r>
            <a:r>
              <a:rPr lang="hi-IN" sz="1050">
                <a:solidFill>
                  <a:srgbClr val="FEF3C7"/>
                </a:solidFill>
                <a:latin typeface="Segoe UI" panose="020B0502040204020203" pitchFamily="34" charset="0"/>
              </a:rPr>
              <a:t>परीक्षा में 5 नंबर पक्के!</a:t>
            </a:r>
            <a:endParaRPr lang="en-IN" sz="105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D5A42D9A-B072-24E1-1E86-F7A7F3E7ECDD}"/>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342B71F8-CFEA-8FD1-08D0-2B9C641410D5}"/>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6" name="TextBox 15">
            <a:extLst>
              <a:ext uri="{FF2B5EF4-FFF2-40B4-BE49-F238E27FC236}">
                <a16:creationId xmlns:a16="http://schemas.microsoft.com/office/drawing/2014/main" id="{F6F90F29-02A8-C4D3-5D4C-65F78AB4DBFE}"/>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Cinematic 3D animation style, dramatic wide shot of mid-19th century British East India Company colonial officers and Indian sepoys, storm clouds gathering, 8k resolution.</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758239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F73782-6AC6-FBFB-F7BA-19C3E05E302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DBA44D7-37E1-253C-0F89-5A3A31FA0F4B}"/>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2]: दृश्य 1: बारूद का ढेर — 1857 से पहले का सुलगता भारत</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8588B89F-0021-F61D-A19D-E3F671D6F63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1598DD7-39B4-B3CF-E14C-AB36905E2B8D}"/>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BA2214FF-9F74-6106-A92D-AFDCC350447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8EC0828E-6133-44BE-657F-29795FAB3E75}"/>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लॉर्ड डलहौजी की कुख्यात 'हड़प नीति' (सतारा, झांसी, नागपुर, संबलपुर का विलय)
• 1856 में कुशासन का झूठा आरोप लगाकर अवध का नवाब वाजिद अली शाह से छीना जाना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हड़प नीति (</a:t>
            </a:r>
            <a:r>
              <a:rPr lang="en-IN" sz="1050">
                <a:solidFill>
                  <a:srgbClr val="CBD5E1"/>
                </a:solidFill>
                <a:latin typeface="Segoe UI" panose="020B0502040204020203" pitchFamily="34" charset="0"/>
              </a:rPr>
              <a:t>Doctrine of Lapse) </a:t>
            </a:r>
            <a:r>
              <a:rPr lang="hi-IN" sz="1050">
                <a:solidFill>
                  <a:srgbClr val="CBD5E1"/>
                </a:solidFill>
                <a:latin typeface="Segoe UI" panose="020B0502040204020203" pitchFamily="34" charset="0"/>
              </a:rPr>
              <a:t>के तहत सबसे पहले 'सतारा' (1848) को हड़पा गया 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54F9B239-64EB-7B18-A691-65F3FB335827}"/>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A17D6869-AD15-455D-AF14-F4945A920E5C}"/>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B99A52BA-2639-5042-1DD7-2AD0489A7E6F}"/>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बच्चों, 1857 की क्रांति अचानक नहीं हुई थी। अंग्रेज 1757 के प्लासी युद्ध से भारत को लूट रहे थे। लॉर्ड डलहौजी ने एक घटिया नियम निकाला—'हड़प नीति' (</a:t>
            </a:r>
            <a:r>
              <a:rPr lang="en-IN" sz="1150">
                <a:solidFill>
                  <a:srgbClr val="F8FAFC"/>
                </a:solidFill>
                <a:latin typeface="Segoe UI" panose="020B0502040204020203" pitchFamily="34" charset="0"/>
              </a:rPr>
              <a:t>Doctrine of Lapse)। </a:t>
            </a:r>
            <a:r>
              <a:rPr lang="hi-IN" sz="1150">
                <a:solidFill>
                  <a:srgbClr val="F8FAFC"/>
                </a:solidFill>
                <a:latin typeface="Segoe UI" panose="020B0502040204020203" pitchFamily="34" charset="0"/>
              </a:rPr>
              <a:t>जिस राजा का अपना सगा बेटा नहीं होगा, उसका राज्य अंग्रेज हड़प लेंगे! किसानों पर इतना लगान कि भूखे मरने लगे। और सेना में? भारतीय सिपाही चाहे कितना भी बहादुर हो, उसे कभी सूबेदार से ऊपर पद नहीं मिलता था। भारत अंदर ही अंदर बारूद का ढेर बन चुका था, बस एक माचिस की तीली की दरकार थी!</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C16B88BF-5827-F4D6-8F07-82ABB4CDFF3B}"/>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231E749E-9A5C-54A9-7D73-DDFA9436737A}"/>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3CD0BB34-9787-2AE3-30E4-E08E2662D58A}"/>
              </a:ext>
            </a:extLst>
          </p:cNvPr>
          <p:cNvSpPr txBox="1"/>
          <p:nvPr/>
        </p:nvSpPr>
        <p:spPr>
          <a:xfrm>
            <a:off x="5143500" y="4368800"/>
            <a:ext cx="6667500" cy="577081"/>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पंच: 'अंग्रेज सोचते थे कि भारतीय कभी नहीं बोलेंगे, पर शांत नदी जब उफनती है तो बड़े-बड़े पुल बहा ले जाती है!'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गुलामी की जंजीरें जब हद से ज्यादा कसने लगीं, अंग्रेजों की करतूतों पर मौत भी हंसने लगी!</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7EE93306-FB6A-375D-FABF-5591DC71450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ED94885-20B3-3CCC-FD7C-135012527434}"/>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F428D4CC-07F3-2533-1412-6B4B0F884635}"/>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Dramatic historical scene of Lord Dalhousie signing annexation documents with impoverished Indian farmers in background, dark moody lighting,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7847381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27D2667-2F24-7EF6-3ECB-673D3FC769D4}"/>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221B7B5-6C22-404C-82A2-CC80081EC1B3}"/>
              </a:ext>
            </a:extLst>
          </p:cNvPr>
          <p:cNvSpPr txBox="1"/>
          <p:nvPr/>
        </p:nvSpPr>
        <p:spPr>
          <a:xfrm>
            <a:off x="254000" y="76200"/>
            <a:ext cx="11684000" cy="323165"/>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3]: दृश्य 2: आग में घी — चर्बी वाले कारतूस का पर्दाफाश</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00918369-CDA5-629A-7732-D5F2EAD5437A}"/>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C75EBE5-80D7-AA57-C919-B838E3BEC8CE}"/>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00E8054A-BE03-7737-270A-EAF3940346B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05332B0C-40F4-2219-DAAD-3479011E170E}"/>
              </a:ext>
            </a:extLst>
          </p:cNvPr>
          <p:cNvSpPr txBox="1"/>
          <p:nvPr/>
        </p:nvSpPr>
        <p:spPr>
          <a:xfrm>
            <a:off x="355600" y="3746500"/>
            <a:ext cx="4368800" cy="1384995"/>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दिसंबर 1856: पुरानी 'ब्राउन बैस' की जगह नई 'एनफील्ड </a:t>
            </a:r>
            <a:r>
              <a:rPr lang="en-IN" sz="1050">
                <a:solidFill>
                  <a:srgbClr val="CBD5E1"/>
                </a:solidFill>
                <a:latin typeface="Segoe UI" panose="020B0502040204020203" pitchFamily="34" charset="0"/>
              </a:rPr>
              <a:t>P-53' </a:t>
            </a:r>
            <a:r>
              <a:rPr lang="hi-IN" sz="1050">
                <a:solidFill>
                  <a:srgbClr val="CBD5E1"/>
                </a:solidFill>
                <a:latin typeface="Segoe UI" panose="020B0502040204020203" pitchFamily="34" charset="0"/>
              </a:rPr>
              <a:t>राइफल लागू की गई
• कारतूस की ग्रीस को बंदूक में भरने से पहले दाँतों से काटना अनिवार्य था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1857 विद्रोह का तात्कालिक कारण (</a:t>
            </a:r>
            <a:r>
              <a:rPr lang="en-IN" sz="1050">
                <a:solidFill>
                  <a:srgbClr val="CBD5E1"/>
                </a:solidFill>
                <a:latin typeface="Segoe UI" panose="020B0502040204020203" pitchFamily="34" charset="0"/>
              </a:rPr>
              <a:t>Immediate Cause) '</a:t>
            </a:r>
            <a:r>
              <a:rPr lang="hi-IN" sz="1050">
                <a:solidFill>
                  <a:srgbClr val="CBD5E1"/>
                </a:solidFill>
                <a:latin typeface="Segoe UI" panose="020B0502040204020203" pitchFamily="34" charset="0"/>
              </a:rPr>
              <a:t>चर्बी वाले कारतूस' ही 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C81D9658-B7E9-7FB9-CD9C-D1640873D4F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E29CD771-85B3-CF51-3E8C-87E7EB5729ED}"/>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D7A51049-44BB-CA0C-7345-682D5DC2EC1B}"/>
              </a:ext>
            </a:extLst>
          </p:cNvPr>
          <p:cNvSpPr txBox="1"/>
          <p:nvPr/>
        </p:nvSpPr>
        <p:spPr>
          <a:xfrm>
            <a:off x="5143500" y="1066800"/>
            <a:ext cx="6667500" cy="1154162"/>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अब सुनो वह घटना जिसने आग में घी का काम किया! दिसंबर 1856 में अंग्रेजों ने सेना में पुरानी 'ब्राउन बैस' मस्कट हटाकर 'एनफील्ड </a:t>
            </a:r>
            <a:r>
              <a:rPr lang="en-IN" sz="1150">
                <a:solidFill>
                  <a:srgbClr val="F8FAFC"/>
                </a:solidFill>
                <a:latin typeface="Segoe UI" panose="020B0502040204020203" pitchFamily="34" charset="0"/>
              </a:rPr>
              <a:t>P-53' </a:t>
            </a:r>
            <a:r>
              <a:rPr lang="hi-IN" sz="1150">
                <a:solidFill>
                  <a:srgbClr val="F8FAFC"/>
                </a:solidFill>
                <a:latin typeface="Segoe UI" panose="020B0502040204020203" pitchFamily="34" charset="0"/>
              </a:rPr>
              <a:t>राइफल दी। इसमें जो गोली लगती थी, उस पर सीलबंद ग्रीस लगी होती थी ताकि नमी न आए। और राइफल में डालने से पहले उस ग्रीस को दाँतों से काटना पड़ता था! जनवरी 1857 में दमदम में एक खलासी ने खुलासा किया कि इस ग्रीस में गाय और सुअर की चर्बी है! गाय हिंदुओं के लिए पूज्य मां और सुअर मुस्लिमों के लिए हराम! सैनिकों को लगा कि अंग्रेज हमारी जमीन के बाद अब हमारा धर्म भी भ्रष्ट कर रहे हैं!</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185549C1-4496-A318-2385-6C02B69F5C4D}"/>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3E882058-5B04-C2B4-5E2F-7BF1E111EACC}"/>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649168D4-13BB-33D3-BC7A-D5989BE654CE}"/>
              </a:ext>
            </a:extLst>
          </p:cNvPr>
          <p:cNvSpPr txBox="1"/>
          <p:nvPr/>
        </p:nvSpPr>
        <p:spPr>
          <a:xfrm>
            <a:off x="5143500" y="4368800"/>
            <a:ext cx="6667500" cy="738664"/>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मजेदार डायलॉग: 'अंग्रेज सोचे चुपचाप दांत से कटवा लेंगे, सैनिकों ने कहा—दांत से कारतूस नहीं, अब तुम्हारी गर्दन कटेगी!'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गाय और सुअर की चर्बी से जब बारूद को सनाया था, अंग्रेजों ने खुद अपनी मौत का फरमान बनाया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A46FA788-3602-C46D-1A68-CBFBBB97705D}"/>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627C300-E1F7-A900-D11C-D6578FF80D24}"/>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D6DFC629-323A-6557-295D-856808DC95B7}"/>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Macro cinematic shot of an 1853 Enfield paper cartridge held in sepoy hands, glowing candlelight, intense suspense, 8k photorealistic.</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0129661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993642E-D7C3-E4CA-F1A8-ACDBE11A3D75}"/>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D636848-C45E-6D3B-47E7-F2B7E30D48CA}"/>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4]: दृश्य 3: पहला महा-विस्फोट — अमर बलिदानी मंगल पांडे</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6C11F170-8924-5C02-4CFD-D07DB55D69EB}"/>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8FDA025-E751-32A1-D8F8-2489DE596E0E}"/>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6" name="mangal_pandey">
            <a:hlinkClick r:id="" action="ppaction://media"/>
            <a:extLst>
              <a:ext uri="{FF2B5EF4-FFF2-40B4-BE49-F238E27FC236}">
                <a16:creationId xmlns:a16="http://schemas.microsoft.com/office/drawing/2014/main" id="{F254DF4C-B686-86C0-F97A-09EE8541C771}"/>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41AC40D0-8696-A4E6-9E45-50B84F0B499C}"/>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29 </a:t>
            </a:r>
            <a:r>
              <a:rPr lang="hi-IN" sz="1050">
                <a:solidFill>
                  <a:srgbClr val="CBD5E1"/>
                </a:solidFill>
                <a:latin typeface="Segoe UI" panose="020B0502040204020203" pitchFamily="34" charset="0"/>
              </a:rPr>
              <a:t>मार्च 1857: बैरकपुर (बंगाल) में चर्बी वाले कारतूस के विरुद्ध पहला खुला विद्रोह
• 34वीं बंगाल नेटिव इन्फैंट्री के सिपाही मंगल पांडे ने अंग्रेज अफसरों पर गोली चलाई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मंगल पांडे उत्तर प्रदेश के बलिया जिले के नगवा गांव के निवासी थे!</a:t>
            </a:r>
            <a:endParaRPr lang="en-IN" sz="105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E40CCE36-46D1-5EE8-E39E-6169578A3060}"/>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9FF4BDBF-C7AF-BA69-4B59-BBE7C1AEB0BB}"/>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0" name="TextBox 9">
            <a:extLst>
              <a:ext uri="{FF2B5EF4-FFF2-40B4-BE49-F238E27FC236}">
                <a16:creationId xmlns:a16="http://schemas.microsoft.com/office/drawing/2014/main" id="{995FEAC4-3F6B-A5DA-3069-C623E3F57467}"/>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तारीख नोट करो बच्चों—29 मार्च 1857! बंगाल की बैरकपुर छावनी! 34वीं बंगाल नेटिव इन्फैंट्री का 29 साल का ब्राह्मण नौजवान—मंगल पांडे! मंगल पांडे ने साफ कह दिया—'मैं अपने धर्म से गद्दारी नहीं करूंगा!' जब सार्जेंट मेजर ह्यूसन उसे पकड़ने आया, मंगल पांडे ने अपनी राइफल से उसे ढेर कर दिया! लेफ्टिनेंट बाऊ पर भी तलवार से हमला किया। पूरे ग्राउंड में खड़े भारतीय सैनिकों ने मंगल पांडे को छूने तक से मना कर दिया! अंग्रेजों में इतना डर था कि तय समय से 10 दिन पहले 8 अप्रैल 1857 को मंगल पांडे को फांसी दे दी गई!</a:t>
            </a:r>
            <a:endParaRPr lang="en-IN" sz="115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4925311E-F4C5-BD4C-1EA2-3590594E3F9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DED3B765-8A0C-3383-8D8B-4429667E79BE}"/>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3" name="TextBox 12">
            <a:extLst>
              <a:ext uri="{FF2B5EF4-FFF2-40B4-BE49-F238E27FC236}">
                <a16:creationId xmlns:a16="http://schemas.microsoft.com/office/drawing/2014/main" id="{4DC7B228-541A-837F-1BD0-1CAA3F1EAE51}"/>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ट्रिक: 'मंगल ने किया दंगल, 29 मार्च को बैरकपुर में 34वीं रेजिमेंट के संग!'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हुकूमत का गुरूर था, बारूद का वो दौर था, अंग्रेजों की छाती पर मंगल पांडे का ज़ोर था!</a:t>
            </a:r>
            <a:endParaRPr lang="en-IN" sz="105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33E2C1F1-C7C4-046E-EA21-126B10A3F63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A375BA48-2A7E-F005-422D-AF615ED78266}"/>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6" name="TextBox 15">
            <a:extLst>
              <a:ext uri="{FF2B5EF4-FFF2-40B4-BE49-F238E27FC236}">
                <a16:creationId xmlns:a16="http://schemas.microsoft.com/office/drawing/2014/main" id="{EA8B8340-9F62-8FBA-1B48-F3268F393208}"/>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Heroic defiant shot of Indian sepoy Mangal Pandey in military uniform with smoking musket at Barrackpore parade grounds, morning sunrise, epic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20722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6A5133E-5B18-B098-F61C-C866C99A1A4C}"/>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AA22CAF-FCD6-5793-0DAF-A262FDD9514F}"/>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5]: दृश्य 4: क्रांति का गुप्त संदेश — कमल का फूल और रोटी</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EF4F87D5-0E09-B5AC-87AF-87B05E0B704B}"/>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C58927B-F7DF-8C68-1AF3-A64E4D161EEE}"/>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981ACA0A-A136-48F5-3A60-293A27BE07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77991B57-7547-831A-0AE9-5D241841072E}"/>
              </a:ext>
            </a:extLst>
          </p:cNvPr>
          <p:cNvSpPr txBox="1"/>
          <p:nvPr/>
        </p:nvSpPr>
        <p:spPr>
          <a:xfrm>
            <a:off x="355600" y="3746500"/>
            <a:ext cx="4368800" cy="1384995"/>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क्रांति का गुप्त प्रतीक: 'कमल का फूल' (सैनिकों हेतु) व 'चपाती/रोटी' (नागरिकों हेतु)
• क्रांति की पूर्व-निर्धारित योजना की तिथि '31 मई 1857' रखी गई थी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1857 की क्रांति का औपचारिक प्रतीक चिह्न 'कमल और रोटी' (</a:t>
            </a:r>
            <a:r>
              <a:rPr lang="en-IN" sz="1050">
                <a:solidFill>
                  <a:srgbClr val="CBD5E1"/>
                </a:solidFill>
                <a:latin typeface="Segoe UI" panose="020B0502040204020203" pitchFamily="34" charset="0"/>
              </a:rPr>
              <a:t>Lotus and Bread) </a:t>
            </a:r>
            <a:r>
              <a:rPr lang="hi-IN" sz="1050">
                <a:solidFill>
                  <a:srgbClr val="CBD5E1"/>
                </a:solidFill>
                <a:latin typeface="Segoe UI" panose="020B0502040204020203" pitchFamily="34" charset="0"/>
              </a:rPr>
              <a:t>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F396FA87-318A-52C2-8F67-8AC822B02337}"/>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CECDB880-094D-280A-5387-FE6720F4C4F0}"/>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AB1C37A8-763C-B4A8-325F-08764A39E3F1}"/>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बच्चों, आज हमारे पास फोन और इंटरनेट है। पर सोचो 1857 में बिना मोबाइल के पूरे देश में क्रांति की सूचना कैसे पहुंची? हमारे पुरखों का दिमाग देखो! उन्होंने दो गुप्त प्रतीक चुने—'कमल का फूल' (सैनिकों के लिए) और 'रोटी' (गांव-गांव के लोगों के लिए)। एक गांव का चौकीदार दूसरे गांव में जाकर गर्म रोटी देता और कहता—'रोटी खाओ और ऐसी ही पांच रोटियां अगले गांव भेजो!' अंग्रेज अफसर हैरान थे कि रोटियां क्यों घूम रही हैं। जब तक अंग्रेजों को समझ आता, तब तक लाखों लोग क्रांति के लिए तैयार हो चुके थे!</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5A9A8119-F5EE-9D66-2812-409B5FE8AADE}"/>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D024D1F3-2D48-5B1E-A76A-B017E3301F7F}"/>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F6AC96F8-6D99-AC46-48EC-BC51F327B469}"/>
              </a:ext>
            </a:extLst>
          </p:cNvPr>
          <p:cNvSpPr txBox="1"/>
          <p:nvPr/>
        </p:nvSpPr>
        <p:spPr>
          <a:xfrm>
            <a:off x="5143500" y="4368800"/>
            <a:ext cx="6667500" cy="577081"/>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पंच: 'अंग्रेज जासूस दूरबीन घिसते रह गए, और हमारे पुरखों ने रोटी-रोटी में पूरी क्रांति खड़ी कर दी!'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चुपके से रोटी बंटी, कमल का फूल मुस्काया था, अंग्रेजों को भनक न लगी, क्या तूफ़ान आने वाला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19E6CFED-C29F-879D-6203-34C8C22BECF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CF27F2FB-9A38-5FE4-5CAE-4114EC5875DE}"/>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7B4F1ABC-9096-D3FD-032E-95529AA2F24F}"/>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Atmospheric night scene in 19th-century Indian village, secret exchange of chapati and red lotus under moonlight, warm lantern light,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30775451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F623D9-A360-4586-52E4-6A554D2F73D0}"/>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9576098-DF4B-7748-A880-F96826D80B0B}"/>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6]: दृश्य 5: 10 मई 1857 — मेरठ का महा-विद्रोह और दिल्ली कूच</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A0B46536-B793-A1A9-1E5B-855B8DAD5D9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664019F-511F-72A1-86A2-165CC77492A4}"/>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6377205F-DCEB-9115-7A6E-D09334C3931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50222E95-A0D7-B7B4-C80C-6EAEC0E93D1B}"/>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10 </a:t>
            </a:r>
            <a:r>
              <a:rPr lang="hi-IN" sz="1050">
                <a:solidFill>
                  <a:srgbClr val="CBD5E1"/>
                </a:solidFill>
                <a:latin typeface="Segoe UI" panose="020B0502040204020203" pitchFamily="34" charset="0"/>
              </a:rPr>
              <a:t>मई 1857: मेरठ छावनी से क्रांति का वास्तविक और ऐतिहासिक शंखनाद हुआ
• सैनिकों ने जेल तोड़कर 85 क्रांतिकारी भाइयों को मुक्त कराया और दिल्ली कूच किया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1857 के स्वतंत्रता संग्राम की आधिकारिक शुरुआत 10 मई 1857 को मेरठ से हुई!</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A0524245-B9E7-ABDF-C2E8-1AF7782E63E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E79F6EDD-87AF-57A5-59BE-6AC45FB87663}"/>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CB58619A-5B1D-D934-9AB3-A18F294D339D}"/>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तारीख याद रखो—10 मई 1857, रविवार की शाम! जगह: मेरठ छावनी। एक दिन पहले 85 सैनिकों को 10-10 साल की सजा देकर बेड़ियों में जकड़ दिया गया था। मेरठ की जनता और महिलाओं ने बाकी सैनिकों को धिक्कारा—'तुम्हारे भाई जेल में हैं और तुम यहाँ घूम रहे हो?' सैनिकों का खून खौल उठा! 10 मई की शाम जेल के ताले तोड़ दिए गए, अफसरों को मार गिराया और नारा गूंजा—'मारो फिरंगी को!' उसी रात सैनिक घोड़ों पर सवार होकर रातों-रात 60 किमी दूर दिल्ली के लिए दौड़ पड़े और सुबह लाल किले पर दस्तक दी!</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BF2EFB39-EAB6-199A-EC02-5C8B02969B71}"/>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58F932ED-0FC8-E71A-D0A7-FD7404CA8715}"/>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ED02BA46-E664-51E1-4810-10DE70A9CC50}"/>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पंच: 'मेरठ वालों ने ऐसा गदर मचाया कि अंग्रेजों को जूते पहनने तक की फुरसत नहीं मिली!'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मेरठ की चिंगारी ने ऐसा शोला भड़काया, रातों-रात दिल्ली जाकर अंग्रेजों का तख्त हिलाया!</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FEB654C7-BC52-45A7-81CE-A442EED7F8C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3A205F9B-1E30-F4E0-8A13-41C5F8064FE5}"/>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5DC7DB6E-F997-328E-374A-F29E7212E697}"/>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Dynamic night-to-dawn shot of rebel cavalry with flaming torches galloping across Yamuna bridge towards Delhi Red Fort, 8k epic scale.</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696325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ED35749-7CD0-3CAA-9B8B-AF1BC4267E9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0AF6A92-B8B8-1D65-319C-DBD952142751}"/>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7]: दृश्य 6: लाल किला और 82 वर्षीय शहंशाह — बहादुर शाह ज़फ़र</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35418CAA-36F5-984E-09D0-C2D398F23BF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4AB9BD4-B5A6-53A9-7FB0-50541BBBFF07}"/>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0598A963-DBA4-E7B8-A01D-E3C49FBD905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FC293C81-A1CA-51BF-6D43-5C1B87185958}"/>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82 </a:t>
            </a:r>
            <a:r>
              <a:rPr lang="hi-IN" sz="1050">
                <a:solidFill>
                  <a:srgbClr val="CBD5E1"/>
                </a:solidFill>
                <a:latin typeface="Segoe UI" panose="020B0502040204020203" pitchFamily="34" charset="0"/>
              </a:rPr>
              <a:t>वर्षीय अंतिम मुगल सम्राट बहादुर शाह द्वितीय (ज़फ़र) को क्रांति का नेता चुना गया
• सैन्य संचालन के लिए बरेली से आए 'जनरल बख्त खान' को मुख्य सेनापति बनाया गया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विद्रोह के दमन के बाद बहादुर शाह को हुमायूं के मकबरे से पकड़कर 'रंगून' भेजा गया!</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9867D37F-E4CE-24C3-0588-208651D0212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28886A19-7E8C-954E-A011-E6AB8926EAE4}"/>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6D85EAB5-5600-65CE-9E69-06F690D85EC3}"/>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11 मई की सुबह जब विद्रोही सैनिक लाल किले में दाखिल हुए, तो उन्होंने 82 साल के बुजुर्ग मुगल बादशाह बहादुर शाह ज़फ़र से कहा—'हुजूर, पूरे देश को एक सूत्र में पिरोने के लिए हमें आपके नाम की जरूरत है!' 82 वर्ष की ढलती उम्र में भी बादशाह ने देश के लिए सिर पर कांटों का ताज पहना। उन्हें 'शहंशाह-ए-हिंदुस्तान' घोषित किया गया। और सैन्य कमान संभाली बरेली से आए जांबाज सिपाही 'जनरल बख्त खान' ने! दिल्ली एक बार फिर भारत के अपने हाथों में थी!</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F973211D-771D-728F-4AC2-63740A5F380D}"/>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DA4FF44D-0226-6C84-1E01-907D26085E05}"/>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F7C81C35-A7DC-A243-EA5C-38223D7AC718}"/>
              </a:ext>
            </a:extLst>
          </p:cNvPr>
          <p:cNvSpPr txBox="1"/>
          <p:nvPr/>
        </p:nvSpPr>
        <p:spPr>
          <a:xfrm>
            <a:off x="5143500" y="4368800"/>
            <a:ext cx="6667500" cy="738664"/>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बात: '82 की उम्र में लोग बिस्तर नहीं छोड़ते, उस उम्र में बादशाह जफ़र ने दुनिया की सबसे बड़ी ताकत को ललकारा था!'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उम्र 82 की थी मगर, सीने में हिंदुस्तान था, लाल किले की दीवारों पर फिर से आजादी का ऐलान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8AD44016-9C30-FCDB-E4A0-57FD9EAB8F49}"/>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5EA3F2D7-43AF-A2A7-53A1-4C73610F734A}"/>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31BAF0FA-285B-6E82-4C42-55A2A1D9D08C}"/>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Mughal Emperor Bahadur Shah Zafar seated in Diwan-i-Khas surrounded by armed rebel sepoys raising their swords in loyalty, 8k oil painting.</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658876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890DB7-94E7-E999-27E5-41573973A31D}"/>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0C7A7F5-35C8-BE65-C4B3-1419C75276CC}"/>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8]: दृश्य 7: खूब लड़ी मर्दानी — झांसी की शेरनी रानी लक्ष्मीबाई</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EE9F1B69-D3FF-9736-67D4-6D15E284D760}"/>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9CE9B9D-7891-0833-AA7F-0628163E4247}"/>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769DBFCD-53BB-B3BB-9D08-F87BB6005C2C}"/>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BCBFABD4-48B5-0044-30A9-4E108B7B43E7}"/>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हड़प नीति' के तहत झांसी के विलय के विरोध में वीरांगना लक्ष्मीबाई का महा-विद्रोह
• दत्तक पुत्र दामोदर राव को पीठ पर बांधकर दोनों हाथों में तलवार लिए रणभूमि में कूदना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ब्रिटिश सेनापति सर ह्यूरोज़ ने रानी को 'क्रांतिकारियों में एकमात्र पुरुष/मर्द' कहा 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54C2EBB2-FC3F-0C7F-1111-BA7A60172294}"/>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CD393839-6CAE-6845-4E62-E2E972828694}"/>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F782B46A-8A87-9BC2-7DDE-23A2E901BD93}"/>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[आवाज़ बुलंद और जोशीली करें]: अब चलिए बुंदेलखंड की पावन माटी झांसी! राजा गंगाधर राव की मृत्यु के बाद डलहौजी ने उनके दत्तक पुत्र दामोदर राव को राजा मानने से मना कर दिया। रानी लक्ष्मीबाई ने सिंहनी की तरह दहाड़ लगाई—'मैं अपनी झांसी कदापि नहीं दूंगी!' जब अंग्रेजों ने झांसी का किला घेरा, तो 22 साल की रानी अपने बच्चे को पीठ पर बांधकर घोड़े से किले की दीवार से छलांग लगा गईं! ग्वालियर में अंग्रेजों के छक्के छुड़ा दिए। अंग्रेज सेनापति सर ह्यूरोज़ ने अपनी डायरी में लिखा—'क्रांतिकारियों में वह अकेली मर्द थी!'</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953B3099-BF7A-A22F-F3C8-8BAF2976C2E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AC343069-B174-40E5-461A-1AFCD1419137}"/>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1F32C718-C992-ACB0-3547-4B56B3025A5A}"/>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पंच: 'अंग्रेज सोचे औरत है, दबा लेंगे। रानी ने ऐसा पानी पिलाया कि अंग्रेजी जनरलों को दिन में तारे दिख गए!'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सिंहासन हिल उठे राजवंशों ने भृकुटी तानी थी... खूब लड़ी मर्दानी वह तो झांसी वाली रानी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DF85CBE8-0A82-4B61-87A4-7B412F873C8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C832CBC8-0925-C488-FD9A-B2638CFA1158}"/>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62F06AA4-3D40-98C1-DF03-25511E4FCE91}"/>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Heroic action shot of Rani Lakshmibai on white stallion with child on back, brandishing sword in battle of Gwalior, golden sunset, 8k masterpiece.</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9763983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48201AF-763A-8956-37F7-DFC240058498}"/>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2ECCA02-39E7-09DC-D9F6-BC6316077603}"/>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9]: दृश्य 8: बिहार के 80 वर्षीय बब्बर शेर — बाबू कुंवर सिंह व तात्या टोपे</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9FDD40BD-2F0B-061D-9059-ED843B455677}"/>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04C397E-3125-739A-72F7-3D32C53992EF}"/>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2B3E48C9-401A-269F-1657-56F76FFE641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DE3C2CC5-63E7-CD93-F819-B47C6AD4FD01}"/>
              </a:ext>
            </a:extLst>
          </p:cNvPr>
          <p:cNvSpPr txBox="1"/>
          <p:nvPr/>
        </p:nvSpPr>
        <p:spPr>
          <a:xfrm>
            <a:off x="355600" y="3746500"/>
            <a:ext cx="4368800" cy="1384995"/>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बिहार (जगदीशपुर/आरा): 80 वर्षीय बाबू कुंवर सिंह व अमर सिंह का अदम्य नेतृत्व
• कानपुर: पेशवा बाजीराव के दत्तक पुत्र नाना साहेब (धोंधूपंत) व तात्या टोपे का मोर्चा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तात्या टोपे का वास्तविक नाम 'रामचंद्र पांडुरंग' 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D15591F0-8655-2F9A-4BA5-E7827748780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B2DC55C2-4D26-C46B-C925-C88C3745BCFD}"/>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B6219152-DDD1-D2D5-69C4-D8FEF7C0FC1B}"/>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[श्रद्धा और गर्व का भाव]: अब अपने बिहार की शान सुनो बच्चों! जगदीशपुर (आरा) के 80 साल के जमींदार बाबू कुंवर सिंह! जब गंगा नदी पार करते हुए अंग्रेजों की तोप का गोला उनकी कलाई में लगा, तो जहर पूरे शरीर में न फैले, इसलिए कुंवर सिंह ने अपनी ही तलवार से अपनी कलाई काटकर गंगा मैया को समर्पित कर दी! कहा—'हे गंगा मैया, अपने इस बेटे की अंतिम भेंट स्वीकार करो!' और कानपुर में? नाना साहेब और गुरिल्ला युद्ध के सबसे बड़े महारथी तात्या टोपे (रामचंद्र पांडुरंग) ने अंग्रेजों की नाक में दम कर दिया था!</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344D651F-8241-89B6-C515-07FC6038E7A6}"/>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0C8AA7C5-FD9F-0411-3994-301425E3D6F1}"/>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03068384-ED01-B955-9D41-7FE47CCB234A}"/>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बात: '80 साल की उम्र में लोग लाठी टेकते हैं, हमारे बाबू कुंवर सिंह ने अंग्रेजों की गर्दन टेकवा दी थी!'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अस्सी बरस की उम्र में जागा जोश पुराना था, सब कहते हैं कुंवर सिंह भी बड़ा वीर मर्दाना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E42962BE-A00B-B4DD-155E-E1F155951260}"/>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0625ECF1-4E2E-C636-993C-55840BBEFD4A}"/>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D808CF17-5E7B-4BC5-1283-2D9DA528DB1A}"/>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Epic painting of 80-year-old warrior Babu Kunwar Singh on a boat crossing Ganga river at night, sword in hand, dramatic fires reflecting on water,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34593062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53AF459-44F6-6E2F-4459-3F4782F127AC}"/>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4C23BED-E8F9-0CF9-F6CE-689D14A55460}"/>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10]: दृश्य 9: परिणाम और सीख — ईस्ट इंडिया कंपनी का अंत (1858)</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3CE7CB1C-44F3-4047-B50C-7EA9A1E5D923}"/>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8D46367-75D2-87E9-9335-9EB2B056D57B}"/>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6" name="mangal_pandey">
            <a:hlinkClick r:id="" action="ppaction://media"/>
            <a:extLst>
              <a:ext uri="{FF2B5EF4-FFF2-40B4-BE49-F238E27FC236}">
                <a16:creationId xmlns:a16="http://schemas.microsoft.com/office/drawing/2014/main" id="{FE35309D-BF36-2A8B-F4DA-61A434F6A10B}"/>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2E717566-C415-0578-26BE-807A5B11F120}"/>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1858 </a:t>
            </a:r>
            <a:r>
              <a:rPr lang="hi-IN" sz="1050">
                <a:solidFill>
                  <a:srgbClr val="CBD5E1"/>
                </a:solidFill>
                <a:latin typeface="Segoe UI" panose="020B0502040204020203" pitchFamily="34" charset="0"/>
              </a:rPr>
              <a:t>का भारत शासन अधिनियम (</a:t>
            </a:r>
            <a:r>
              <a:rPr lang="en-IN" sz="1050">
                <a:solidFill>
                  <a:srgbClr val="CBD5E1"/>
                </a:solidFill>
                <a:latin typeface="Segoe UI" panose="020B0502040204020203" pitchFamily="34" charset="0"/>
              </a:rPr>
              <a:t>Government of India Act 1858) </a:t>
            </a:r>
            <a:r>
              <a:rPr lang="hi-IN" sz="1050">
                <a:solidFill>
                  <a:srgbClr val="CBD5E1"/>
                </a:solidFill>
                <a:latin typeface="Segoe UI" panose="020B0502040204020203" pitchFamily="34" charset="0"/>
              </a:rPr>
              <a:t>पारित हुआ
• ईस्ट इंडिया कंपनी का शासन समाप्त; ब्रिटिश क्राउन का सीधा नियंत्रण स्थापित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महारानी विक्टोरिया का घोषणापत्र 1 नवंबर 1858 को इलाहाबाद दरबार में पढ़ा गया!</a:t>
            </a:r>
            <a:endParaRPr lang="en-IN" sz="105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BCFC8F48-3702-1ABD-D344-45139646196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45C7D996-D328-85E6-99ED-CBBD88C548DA}"/>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0" name="TextBox 9">
            <a:extLst>
              <a:ext uri="{FF2B5EF4-FFF2-40B4-BE49-F238E27FC236}">
                <a16:creationId xmlns:a16="http://schemas.microsoft.com/office/drawing/2014/main" id="{5D8BEF3C-7A09-3B79-4203-68D977752565}"/>
              </a:ext>
            </a:extLst>
          </p:cNvPr>
          <p:cNvSpPr txBox="1"/>
          <p:nvPr/>
        </p:nvSpPr>
        <p:spPr>
          <a:xfrm>
            <a:off x="5143500" y="1066800"/>
            <a:ext cx="6667500" cy="1154162"/>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बच्चों, सवाल उठता है कि जब इतने वीर लड़े तो 1857 में ही आजादी क्यों नहीं मिली? क्योंकि विद्रोह समय से पहले भड़क गया, अंग्रेजों के पास टेलीग्राफ और आधुनिक तोपें थीं, और कुछ देशी राजाओं ने गद्दारी की। लेकिन क्या हमारे पुरखों का खून व्यर्थ गया? बिल्कुल नहीं! अंग्रेजों की 100 साल पुरानी ईस्ट इंडिया कंपनी की दुकान हमेशा के लिए बंद हो गई! 1858 में ब्रिटिश महारानी विक्टोरिया ने सीधा शासन अपने हाथ में लिया, और भारत के गवर्नर जनरल को 'वायसराय' कहा जाने लगा। 1857 ने ही 1947 की आजादी की मजबूत नींव रखी!</a:t>
            </a:r>
            <a:endParaRPr lang="en-IN" sz="115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789B6542-8FE0-C16C-37E6-6F101D565FC8}"/>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58C3D121-EA2F-1031-6977-AA31A1624B96}"/>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3" name="TextBox 12">
            <a:extLst>
              <a:ext uri="{FF2B5EF4-FFF2-40B4-BE49-F238E27FC236}">
                <a16:creationId xmlns:a16="http://schemas.microsoft.com/office/drawing/2014/main" id="{A8F6CF63-86C4-C30E-6452-31846C9020C7}"/>
              </a:ext>
            </a:extLst>
          </p:cNvPr>
          <p:cNvSpPr txBox="1"/>
          <p:nvPr/>
        </p:nvSpPr>
        <p:spPr>
          <a:xfrm>
            <a:off x="5143500" y="4368800"/>
            <a:ext cx="6667500" cy="738664"/>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पंच: '1857 में भले ही ताज नहीं मिला, पर अंग्रेजों को यह समझ आ गया कि हिंदुस्तानी जब जागेंगे तो उनका बोरिया-बिस्तर बंध जाएगा!'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हार कर भी वो जीत गए, आज़ादी की नींव सजाई थी, 1857 की चिंगारी ने 1947 की अलख जगाई थी!</a:t>
            </a:r>
            <a:endParaRPr lang="en-IN" sz="105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C38832D2-21FE-6590-12FA-CB7CE3C321CC}"/>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C01B84C9-3872-49B9-C760-C1CED5E5137B}"/>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6" name="TextBox 15">
            <a:extLst>
              <a:ext uri="{FF2B5EF4-FFF2-40B4-BE49-F238E27FC236}">
                <a16:creationId xmlns:a16="http://schemas.microsoft.com/office/drawing/2014/main" id="{8BA83EAF-DB5D-F413-5B91-85AE5A5B2823}"/>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Allegorical historical visual: British East India Company flag dissolving, a bright dawn rising over India, inspiring patriotic atmosphere,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394647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32241A-6E0B-B7CB-59F4-F1F041521839}"/>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C68FBC9-2B60-2F7E-28B1-3315CAB55877}"/>
              </a:ext>
            </a:extLst>
          </p:cNvPr>
          <p:cNvSpPr txBox="1"/>
          <p:nvPr/>
        </p:nvSpPr>
        <p:spPr>
          <a:xfrm>
            <a:off x="254000" y="76200"/>
            <a:ext cx="11684000" cy="323165"/>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11]: NMMS परीक्षा महा-अभ्यास (प्रश्न 1 से 5)</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C108534A-A3F6-F70A-57E7-352EEC4B3CA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E8DA0E1-1C34-0122-0A34-7CC6043E2FF0}"/>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A44BE079-8735-D5BF-A470-0DDC0F17E9BE}"/>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4190E446-0A98-A8AF-805E-DB0FAB4C8A67}"/>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à¤Ÿà¥‡à¤¸à¥à¤Ÿ à¤ªà¥à¤°à¤¶à¥à¤¨:
</a:t>
            </a:r>
            <a:r>
              <a:rPr lang="hi-IN" sz="1050">
                <a:solidFill>
                  <a:srgbClr val="CBD5E1"/>
                </a:solidFill>
                <a:latin typeface="Segoe UI" panose="020B0502040204020203" pitchFamily="34" charset="0"/>
              </a:rPr>
              <a:t>प्र. 1: 1857 के विद्रोह की पहली गोली किस तिथि को चलाई गई थी? ➡️ 29 मार्च 1857 (बैरकपुर, मंगल पांडे)
प्र. 2: मंगल पांडे किस इन्फैंट्री रेजिमेंट के सिपाही थे? ➡️ 34वीं बंगाल नेटिव इन्फैंट्री
प्र. 3: 1857 की क्रांति का औपचारिक प्रतीक चिह्न क्या था? ➡️ कमल और रोटी (</a:t>
            </a:r>
            <a:r>
              <a:rPr lang="en-IN" sz="1050">
                <a:solidFill>
                  <a:srgbClr val="CBD5E1"/>
                </a:solidFill>
                <a:latin typeface="Segoe UI" panose="020B0502040204020203" pitchFamily="34" charset="0"/>
              </a:rPr>
              <a:t>Lotus and Bread)</a:t>
            </a:r>
          </a:p>
        </p:txBody>
      </p:sp>
      <p:sp>
        <p:nvSpPr>
          <p:cNvPr id="9" name="Rectangle: Rounded Corners 8">
            <a:extLst>
              <a:ext uri="{FF2B5EF4-FFF2-40B4-BE49-F238E27FC236}">
                <a16:creationId xmlns:a16="http://schemas.microsoft.com/office/drawing/2014/main" id="{E88A5102-EE61-A613-FE19-5B698CE6F8C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CA2F321D-F619-8B1E-4166-1DD3E6AFD316}"/>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B38E9BF5-4685-877D-3280-1FFB25CA84E5}"/>
              </a:ext>
            </a:extLst>
          </p:cNvPr>
          <p:cNvSpPr txBox="1"/>
          <p:nvPr/>
        </p:nvSpPr>
        <p:spPr>
          <a:xfrm>
            <a:off x="5143500" y="1066800"/>
            <a:ext cx="6667500" cy="446276"/>
          </a:xfrm>
          <a:prstGeom prst="rect">
            <a:avLst/>
          </a:prstGeom>
          <a:noFill/>
        </p:spPr>
        <p:txBody>
          <a:bodyPr vert="horz" wrap="square" rtlCol="0">
            <a:spAutoFit/>
          </a:bodyPr>
          <a:lstStyle/>
          <a:p>
            <a:r>
              <a:rPr lang="hi-IN" sz="1150">
                <a:solidFill>
                  <a:srgbClr val="F8FAFC"/>
                </a:solidFill>
                <a:latin typeface="Segoe UI" panose="020B0502040204020203" pitchFamily="34" charset="0"/>
              </a:rPr>
              <a:t>[10 सेकंड काउंटडाउन चैलेंज]: अब बारी है बच्चों के इम्तिहान की! सवाल पढ़कर बच्चों से कहें: 'आपके पास हैं 10 सेकंड... 10, 9, 8... जो पहले बताएगा वो बनेगा आज की क्लास का बाहुबली!'</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6C0198B9-CA45-00D9-11C6-2C54AF1C606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961A6AF-94E2-0214-9ACC-A6FBC1374DD8}"/>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DD792C14-D566-85AD-6085-8E1DE689EDEB}"/>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कहो: 'जो बच्चा पांचों सही जवाब देगा, वो बनेगा आज की क्लास का बाहुबली!'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पढ़ी हुई कहानी को अब सवालों में उतारो, 10 में से 10 लाकर परीक्षा में परचम लहराओ!</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EF2994B2-637C-BFD8-CF10-7B47F5C4260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59A35FCB-1053-58F8-87A0-ED146A805A87}"/>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F136CF13-786F-0B1E-5FF3-0A646EB09A40}"/>
              </a:ext>
            </a:extLst>
          </p:cNvPr>
          <p:cNvSpPr txBox="1"/>
          <p:nvPr/>
        </p:nvSpPr>
        <p:spPr>
          <a:xfrm>
            <a:off x="5143500" y="5613400"/>
            <a:ext cx="6667500" cy="238527"/>
          </a:xfrm>
          <a:prstGeom prst="rect">
            <a:avLst/>
          </a:prstGeom>
          <a:noFill/>
        </p:spPr>
        <p:txBody>
          <a:bodyPr vert="horz" wrap="square" rtlCol="0">
            <a:spAutoFit/>
          </a:bodyPr>
          <a:lstStyle/>
          <a:p>
            <a:r>
              <a:rPr lang="en-IN" sz="950">
                <a:solidFill>
                  <a:srgbClr val="E2E8F0"/>
                </a:solidFill>
                <a:latin typeface="Consolas" panose="020B0609020204030204" pitchFamily="49" charset="0"/>
              </a:rPr>
              <a:t>Quiz graphic card template.</a:t>
            </a:r>
          </a:p>
        </p:txBody>
      </p:sp>
    </p:spTree>
    <p:extLst>
      <p:ext uri="{BB962C8B-B14F-4D97-AF65-F5344CB8AC3E}">
        <p14:creationId xmlns:p14="http://schemas.microsoft.com/office/powerpoint/2010/main" val="37102687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761DBF-EAFC-D966-1C8E-54BBEDC8DD0F}"/>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043D43C-A9A6-5579-918A-6FEB2853148B}"/>
              </a:ext>
            </a:extLst>
          </p:cNvPr>
          <p:cNvSpPr txBox="1"/>
          <p:nvPr/>
        </p:nvSpPr>
        <p:spPr>
          <a:xfrm>
            <a:off x="254000" y="76200"/>
            <a:ext cx="11684000" cy="323165"/>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12]: NMMS परीक्षा महा-अभ्यास (प्रश्न 6 से 10)</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AE9E9FED-B151-5BEE-CF64-3DCCF01C23D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9202EC2-F22A-CA5D-B83C-455446BA805E}"/>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32690223-F5C0-5C9B-35AC-D7876B0D007E}"/>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E558C49E-0209-A099-B0A4-0F427C3F3916}"/>
              </a:ext>
            </a:extLst>
          </p:cNvPr>
          <p:cNvSpPr txBox="1"/>
          <p:nvPr/>
        </p:nvSpPr>
        <p:spPr>
          <a:xfrm>
            <a:off x="355600" y="3746500"/>
            <a:ext cx="4368800" cy="1384995"/>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à¤Ÿà¥‡à¤¸à¥à¤Ÿ à¤ªà¥à¤°à¤¶à¥à¤¨:
</a:t>
            </a:r>
            <a:r>
              <a:rPr lang="hi-IN" sz="1050">
                <a:solidFill>
                  <a:srgbClr val="CBD5E1"/>
                </a:solidFill>
                <a:latin typeface="Segoe UI" panose="020B0502040204020203" pitchFamily="34" charset="0"/>
              </a:rPr>
              <a:t>प्र. 6: बिहार के जगदीशपुर में 1857 क्रांति के प्रणेता कौन थे? ➡️ बाबू कुंवर सिंह (80 वर्षीय वीर)
प्र. 7: तात्या टोपे का वास्तविक नाम क्या था? ➡️ रामचंद्र पांडुरंग
प्र. 8: ब्रिटिश सेनापति सर ह्यूरोज़ ने किसे 'एकमात्र मर्द' कहा था? ➡️ रानी लक्ष्मीबाई</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4A008AC1-F42F-8592-77B1-B03CAEA539E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14657BE4-124B-2997-D42F-4E1343CE20BB}"/>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D691A083-0315-1DC6-3309-28689FC2418B}"/>
              </a:ext>
            </a:extLst>
          </p:cNvPr>
          <p:cNvSpPr txBox="1"/>
          <p:nvPr/>
        </p:nvSpPr>
        <p:spPr>
          <a:xfrm>
            <a:off x="5143500" y="1066800"/>
            <a:ext cx="6667500" cy="446276"/>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[अंतिम राउंड]: अंतिम 5 सवाल बिहार, कानपुर और झांसी के सबसे महत्वपूर्ण प्रश्नों पर हैं जो हर साल </a:t>
            </a:r>
            <a:r>
              <a:rPr lang="en-IN" sz="1150">
                <a:solidFill>
                  <a:srgbClr val="F8FAFC"/>
                </a:solidFill>
                <a:latin typeface="Segoe UI" panose="020B0502040204020203" pitchFamily="34" charset="0"/>
              </a:rPr>
              <a:t>NMMS </a:t>
            </a:r>
            <a:r>
              <a:rPr lang="hi-IN" sz="1150">
                <a:solidFill>
                  <a:srgbClr val="F8FAFC"/>
                </a:solidFill>
                <a:latin typeface="Segoe UI" panose="020B0502040204020203" pitchFamily="34" charset="0"/>
              </a:rPr>
              <a:t>परीक्षा में हूबहू छपते हैं। बच्चों का हौसला बढ़ाएं!</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CD4D5CB0-D43B-B9AF-33C9-D86E97B30FB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495E167A-76C8-4BB6-DA55-2EF23AFC5488}"/>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20F23381-EA36-CBA0-5AD2-B40F24DC33CC}"/>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कहो: 'ये 5 सवाल जिसने कर लिए, उसके </a:t>
            </a:r>
            <a:r>
              <a:rPr lang="en-IN" sz="1050">
                <a:solidFill>
                  <a:srgbClr val="FEF3C7"/>
                </a:solidFill>
                <a:latin typeface="Segoe UI" panose="020B0502040204020203" pitchFamily="34" charset="0"/>
              </a:rPr>
              <a:t>NMMS </a:t>
            </a:r>
            <a:r>
              <a:rPr lang="hi-IN" sz="1050">
                <a:solidFill>
                  <a:srgbClr val="FEF3C7"/>
                </a:solidFill>
                <a:latin typeface="Segoe UI" panose="020B0502040204020203" pitchFamily="34" charset="0"/>
              </a:rPr>
              <a:t>में 5 नंबर पक्के लॉक हो गए!'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सवालों की इस जंग में जो जीता वही सिकंदर, मेहनत से चमकेगा तुम्हारा मुकद्दर!</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D009BF79-E736-C50E-29D9-B3DB8967A129}"/>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DE436B60-0248-D379-AA68-3DA348455FFF}"/>
              </a:ext>
            </a:extLst>
          </p:cNvPr>
          <p:cNvSpPr txBox="1"/>
          <p:nvPr/>
        </p:nvSpPr>
        <p:spPr>
          <a:xfrm>
            <a:off x="5143500" y="5359400"/>
            <a:ext cx="6667500" cy="253916"/>
          </a:xfrm>
          <a:prstGeom prst="rect">
            <a:avLst/>
          </a:prstGeom>
          <a:noFill/>
        </p:spPr>
        <p:txBody>
          <a:bodyPr vert="horz" rtlCol="0">
            <a:spAutoFit/>
          </a:bodyPr>
          <a:lstStyle/>
          <a:p>
            <a:r>
              <a:rPr lang="da-DK" sz="1050" b="1">
                <a:solidFill>
                  <a:srgbClr val="93C5FD"/>
                </a:solidFill>
                <a:latin typeface="Segoe UI" panose="020B0502040204020203" pitchFamily="34" charset="0"/>
              </a:rPr>
              <a:t>AI 3D Image &amp; Video Prompt (Google Vids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77558238-3192-7BB6-FBA6-4F88E7063EA1}"/>
              </a:ext>
            </a:extLst>
          </p:cNvPr>
          <p:cNvSpPr txBox="1"/>
          <p:nvPr/>
        </p:nvSpPr>
        <p:spPr>
          <a:xfrm>
            <a:off x="5143500" y="5613400"/>
            <a:ext cx="6667500" cy="238527"/>
          </a:xfrm>
          <a:prstGeom prst="rect">
            <a:avLst/>
          </a:prstGeom>
          <a:noFill/>
        </p:spPr>
        <p:txBody>
          <a:bodyPr vert="horz" wrap="square" rtlCol="0">
            <a:spAutoFit/>
          </a:bodyPr>
          <a:lstStyle/>
          <a:p>
            <a:r>
              <a:rPr lang="en-IN" sz="950">
                <a:solidFill>
                  <a:srgbClr val="E2E8F0"/>
                </a:solidFill>
                <a:latin typeface="Consolas" panose="020B0609020204030204" pitchFamily="49" charset="0"/>
              </a:rPr>
              <a:t>Quiz graphic card template.</a:t>
            </a:r>
          </a:p>
        </p:txBody>
      </p:sp>
    </p:spTree>
    <p:extLst>
      <p:ext uri="{BB962C8B-B14F-4D97-AF65-F5344CB8AC3E}">
        <p14:creationId xmlns:p14="http://schemas.microsoft.com/office/powerpoint/2010/main" val="9037689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5900</Words>
  <Application>Microsoft Office PowerPoint</Application>
  <PresentationFormat>Custom</PresentationFormat>
  <Paragraphs>108</Paragraphs>
  <Slides>12</Slides>
  <Notes>0</Notes>
  <HiddenSlides>0</HiddenSlides>
  <MMClips>3</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Aptos Display</vt:lpstr>
      <vt:lpstr>Arial</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Sudhir Kumar</dc:creator>
  <cp:lastModifiedBy>Sudhir Kumar</cp:lastModifiedBy>
  <cp:revision>1</cp:revision>
  <dcterms:created xsi:type="dcterms:W3CDTF">2026-10-24T11:51:47Z</dcterms:created>
  <dcterms:modified xsi:type="dcterms:W3CDTF">2026-10-24T11:51:47Z</dcterms:modified>
</cp:coreProperties>
</file>