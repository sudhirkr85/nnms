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382A-CB11-5D4E-36A2-826C0E780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70C01-5EC1-7800-ABA2-7F6329540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40650-4D6A-6838-8E98-98161431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AAD9D-9247-8A00-6D43-670934CB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42ECE-1A9A-B83C-50D2-07F3A356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5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F586-27C6-C8B4-A188-921BF160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4706-DC82-0620-AC43-852B596BF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74278-5759-E740-368B-636475D0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1896F-B2DC-3102-9B68-A011F97B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E6152-827B-BA6A-6537-BF0031C3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289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F4E6-A9FC-3B02-6F47-634ABDEC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0715B-A136-0617-1234-D8FBA9113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F4FAA-1FE0-5208-99CF-08F4CF40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60010-3487-C9C8-9010-8D9889E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650A0-C42B-C509-A2FE-7ACC47D2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467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F89B-CAA5-B78B-B437-2DF7EE8CC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43D7C-FEFD-3812-A318-B75ECC8C1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27B6B-3F01-B02D-CA45-6A2FD8C39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30BD7-6FC0-EF48-5480-80E053A3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9B670-1C90-9DC4-DAF3-1373D181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F7E20-DDD2-3F74-5406-D22028A8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8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8552-F24E-7853-1B5D-9A9EF61B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8BB9A-8800-2C56-C667-D5EC4A3D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4D21D-45A2-31FD-EDD9-C04ACE4C7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99CDA-232F-BB1D-E16A-11EB4459C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578DC-A95D-4A19-B9CE-992B61B24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7A18E0-5B1C-3CFE-B7FA-3AE7C3CF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6874C9-55BC-D569-3F30-489487E8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BCE4B-F397-294E-0C9C-8B85B0CC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04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266C7-0B59-B669-664C-C11F67C5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15813-E579-F788-4A5E-155998C7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858E7-48CF-47B3-BB23-F7576FE2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1D1C9-95E4-7592-6DF2-5708D376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25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2042C-C00C-4E97-DCB8-6AC6F679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5144-0D66-30E6-B522-2F22D03E6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16C14-BF8E-BD50-503F-04389738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63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4240-962F-16C1-56F2-AE581FE8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1B06C-82AE-46AC-2291-711F067A9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39BB7-C87C-05A4-022E-546206964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E2E77-9CA9-2BDB-D199-23053FD8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FA933-BF7D-12D1-3BD9-D9B04C1A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20B64-1470-12F5-D538-D42B6DCB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44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CDD8-FDD7-FBDA-5999-0E079CE0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696A60-3601-B1E4-12F7-2A58C285E1F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28591-805C-5E32-390A-54D3E8385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A831C-7ED1-DC60-8CC6-DF86FC01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69AFD-6EC8-5672-88F9-6A87A8FD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35808-A331-F80F-1BF3-EFCF41DB3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3ABB-7026-D3A0-84BB-C7630C8B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1FA68-50DF-7EF5-86F2-1ED0C294B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A99D2-FE54-108A-3391-77828EE5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0CA9D-3E3E-FF75-C309-D67E511F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8E1F7-1222-AC29-B891-67360729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391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AD1EE-6903-6A12-C34E-5EFCC1329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E2933-5455-56F1-7A06-53810D701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DF888-7831-F817-62D7-DDD3AB89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CEB95-1BAF-F941-1888-0033FB3D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ABD36-ADB5-B305-BE04-7FB6CE34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1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7E02D-DD5A-19CC-AA03-6D9A7AD6B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2C437-04E3-E956-9426-07F360928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66BB6-1AE1-7D98-9EDD-F413786F4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85F16-D46A-4192-AFF4-19B2532C3B2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5FA84-A78F-D54D-7F26-3422E1733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88347-0419-5FE2-1477-ED8A4A9FB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B28D0-F698-4784-ACF0-F7697445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78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054C16-4382-3860-F6E1-B81ADFB5D100}"/>
              </a:ext>
            </a:extLst>
          </p:cNvPr>
          <p:cNvSpPr/>
          <p:nvPr/>
        </p:nvSpPr>
        <p:spPr>
          <a:xfrm>
            <a:off x="457200" y="304800"/>
            <a:ext cx="11277600" cy="6248400"/>
          </a:xfrm>
          <a:prstGeom prst="round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CA8CB-EA46-AF03-4FFE-0F1FE23A77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500" y="584200"/>
            <a:ext cx="1651000" cy="165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560081-4AC9-0811-BD67-AF8B66C38D6B}"/>
              </a:ext>
            </a:extLst>
          </p:cNvPr>
          <p:cNvSpPr txBox="1"/>
          <p:nvPr/>
        </p:nvSpPr>
        <p:spPr>
          <a:xfrm>
            <a:off x="762000" y="24384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400" b="1">
                <a:solidFill>
                  <a:srgbClr val="FDE68A"/>
                </a:solidFill>
                <a:latin typeface="Segoe UI" panose="020B0502040204020203" pitchFamily="34" charset="0"/>
              </a:rPr>
              <a:t>SAGAR COACHING CENTRE BHAGWANPUR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0BEC0-7BD6-250C-BBFB-C2A6CF4F5D60}"/>
              </a:ext>
            </a:extLst>
          </p:cNvPr>
          <p:cNvSpPr txBox="1"/>
          <p:nvPr/>
        </p:nvSpPr>
        <p:spPr>
          <a:xfrm>
            <a:off x="762000" y="2971800"/>
            <a:ext cx="10668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i-IN" sz="1500" b="1">
                <a:solidFill>
                  <a:srgbClr val="93C5FD"/>
                </a:solidFill>
                <a:latin typeface="Segoe UI" panose="020B0502040204020203" pitchFamily="34" charset="0"/>
              </a:rPr>
              <a:t>राष्ट्रीय आय-सह-मेधा छात्रवृत्ति परीक्षा (</a:t>
            </a:r>
            <a:r>
              <a:rPr lang="en-IN" sz="1500" b="1">
                <a:solidFill>
                  <a:srgbClr val="93C5FD"/>
                </a:solidFill>
                <a:latin typeface="Segoe UI" panose="020B0502040204020203" pitchFamily="34" charset="0"/>
              </a:rPr>
              <a:t>NMMS) • </a:t>
            </a:r>
            <a:r>
              <a:rPr lang="hi-IN" sz="1500" b="1">
                <a:solidFill>
                  <a:srgbClr val="93C5FD"/>
                </a:solidFill>
                <a:latin typeface="Segoe UI" panose="020B0502040204020203" pitchFamily="34" charset="0"/>
              </a:rPr>
              <a:t>कक्षा 08 • इतिहास</a:t>
            </a:r>
            <a:endParaRPr lang="en-IN" sz="1500" b="1">
              <a:solidFill>
                <a:srgbClr val="93C5FD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601FE-348A-3D9D-4654-95B38B7D009A}"/>
              </a:ext>
            </a:extLst>
          </p:cNvPr>
          <p:cNvSpPr txBox="1"/>
          <p:nvPr/>
        </p:nvSpPr>
        <p:spPr>
          <a:xfrm>
            <a:off x="762000" y="3657600"/>
            <a:ext cx="10668000" cy="6771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i-IN" sz="3800" b="1">
                <a:solidFill>
                  <a:srgbClr val="FFFFFF"/>
                </a:solidFill>
                <a:latin typeface="Segoe UI" panose="020B0502040204020203" pitchFamily="34" charset="0"/>
              </a:rPr>
              <a:t>1857 की महान क्रांति</a:t>
            </a:r>
            <a:endParaRPr lang="en-IN" sz="3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A13B7-8A55-11A4-5525-D1E77F8D7B80}"/>
              </a:ext>
            </a:extLst>
          </p:cNvPr>
          <p:cNvSpPr txBox="1"/>
          <p:nvPr/>
        </p:nvSpPr>
        <p:spPr>
          <a:xfrm>
            <a:off x="762000" y="4445000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i-IN" sz="1600">
                <a:solidFill>
                  <a:srgbClr val="F1F5F9"/>
                </a:solidFill>
                <a:latin typeface="Segoe UI" panose="020B0502040204020203" pitchFamily="34" charset="0"/>
              </a:rPr>
              <a:t>प्रथम स्वतंत्रता संग्राम (</a:t>
            </a:r>
            <a:r>
              <a:rPr lang="en-IN" sz="1600">
                <a:solidFill>
                  <a:srgbClr val="F1F5F9"/>
                </a:solidFill>
                <a:latin typeface="Segoe UI" panose="020B0502040204020203" pitchFamily="34" charset="0"/>
              </a:rPr>
              <a:t>The Revolt of 1857)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C6B85C-D832-DC17-CDE3-C871EDBFFB84}"/>
              </a:ext>
            </a:extLst>
          </p:cNvPr>
          <p:cNvSpPr/>
          <p:nvPr/>
        </p:nvSpPr>
        <p:spPr>
          <a:xfrm>
            <a:off x="2921000" y="5232400"/>
            <a:ext cx="6350000" cy="71120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51BA5-8E30-CF98-0D0E-B3A67588943B}"/>
              </a:ext>
            </a:extLst>
          </p:cNvPr>
          <p:cNvSpPr txBox="1"/>
          <p:nvPr/>
        </p:nvSpPr>
        <p:spPr>
          <a:xfrm>
            <a:off x="2984500" y="53594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मार्गदर्शक: श्रवण कुमार 'सागर'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Sagar Sir)  |  sagarcoaching.tech</a:t>
            </a:r>
          </a:p>
        </p:txBody>
      </p:sp>
    </p:spTree>
    <p:extLst>
      <p:ext uri="{BB962C8B-B14F-4D97-AF65-F5344CB8AC3E}">
        <p14:creationId xmlns:p14="http://schemas.microsoft.com/office/powerpoint/2010/main" val="12092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36A44B-4185-77AC-AC5D-52BA500E0D90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055C85-1796-E082-6433-B04747787826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दृश्य 1: बारूद का ढेर — 1857 से पहले का सुलगता भारत (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Pre-1857 Background)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08E769-261D-9974-8D16-F783AE0C4888}"/>
              </a:ext>
            </a:extLst>
          </p:cNvPr>
          <p:cNvSpPr/>
          <p:nvPr/>
        </p:nvSpPr>
        <p:spPr>
          <a:xfrm>
            <a:off x="381000" y="711200"/>
            <a:ext cx="11430000" cy="431800"/>
          </a:xfrm>
          <a:prstGeom prst="roundRect">
            <a:avLst/>
          </a:prstGeom>
          <a:solidFill>
            <a:srgbClr val="28190F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194A7-5C57-64DC-85A7-91EFE7554517}"/>
              </a:ext>
            </a:extLst>
          </p:cNvPr>
          <p:cNvSpPr txBox="1"/>
          <p:nvPr/>
        </p:nvSpPr>
        <p:spPr>
          <a:xfrm>
            <a:off x="444500" y="736600"/>
            <a:ext cx="1130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200" b="1">
                <a:solidFill>
                  <a:srgbClr val="F59E0B"/>
                </a:solidFill>
                <a:latin typeface="Segoe UI" panose="020B0502040204020203" pitchFamily="34" charset="0"/>
              </a:rPr>
              <a:t>गुलामी की जंजीरें जब हद से ज्यादा कसने लगीं, अंग्रेजों की करतूतों पर मौत भी हंसने लगी!</a:t>
            </a:r>
            <a:endParaRPr lang="en-IN" sz="12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E71E1-8555-23B4-41EF-A3DAFB051B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44600"/>
            <a:ext cx="5207000" cy="50165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AD7F35-BCE4-0A7A-9784-04809604BB6E}"/>
              </a:ext>
            </a:extLst>
          </p:cNvPr>
          <p:cNvSpPr/>
          <p:nvPr/>
        </p:nvSpPr>
        <p:spPr>
          <a:xfrm>
            <a:off x="5778500" y="1244600"/>
            <a:ext cx="6032500" cy="355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0EC9C5-7707-07E8-40A6-A48CFBB4D10E}"/>
              </a:ext>
            </a:extLst>
          </p:cNvPr>
          <p:cNvSpPr txBox="1"/>
          <p:nvPr/>
        </p:nvSpPr>
        <p:spPr>
          <a:xfrm>
            <a:off x="5969000" y="1371600"/>
            <a:ext cx="56515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• लॉर्ड डलहौजी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Lord Dalhousie)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की कुख्यात 'हड़प नीति'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Doctrine of Lapse)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द्वारा सतारा, झांसी, नागपुर का विलय
• 1856 में 'कुशासन'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Misgovernance)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का झूठा आरोप लगाकर अवध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Awadh)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का ब्रिटिश साम्राज्य में विलय
• भारतीय सिपाहियों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Indian Sepoys)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को केवल 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₹7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मासिक वेतन, जबकि अंग्रेज सैनिकों को उच्च पद व भत्ते</a:t>
            </a:r>
            <a:endParaRPr lang="en-IN" sz="13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9865E5-7112-53A2-A485-B19628C5DC19}"/>
              </a:ext>
            </a:extLst>
          </p:cNvPr>
          <p:cNvSpPr/>
          <p:nvPr/>
        </p:nvSpPr>
        <p:spPr>
          <a:xfrm>
            <a:off x="5778500" y="4927600"/>
            <a:ext cx="6032500" cy="133350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7ECEE3-F245-4E11-DCDB-C1864CBB833C}"/>
              </a:ext>
            </a:extLst>
          </p:cNvPr>
          <p:cNvSpPr txBox="1"/>
          <p:nvPr/>
        </p:nvSpPr>
        <p:spPr>
          <a:xfrm>
            <a:off x="5905500" y="5029200"/>
            <a:ext cx="57785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NMMS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फैक्ट: हड़प नीति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Doctrine of Lapse)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के तहत अंग्रेजों द्वारा हड़पा गया पहला राज्य 'सतारा'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Satara - 1848)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था!</a:t>
            </a:r>
            <a:endParaRPr lang="en-IN" sz="1250" b="1">
              <a:solidFill>
                <a:srgbClr val="6EE7B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396773-F6B8-917A-77A2-09DD01555D62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3541537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63C07A-F62E-4131-45A8-13299FB44C1D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BC90D-9208-816E-E75F-4DFC8BB75DAB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दृश्य 2: आग में घी — चर्बी वाले कारतूस (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Greased Cartridges)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का पर्दाफाश</a:t>
            </a:r>
            <a:endParaRPr lang="en-IN" sz="16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892073-E205-F200-B5D2-A94BACC02013}"/>
              </a:ext>
            </a:extLst>
          </p:cNvPr>
          <p:cNvSpPr/>
          <p:nvPr/>
        </p:nvSpPr>
        <p:spPr>
          <a:xfrm>
            <a:off x="381000" y="711200"/>
            <a:ext cx="11430000" cy="431800"/>
          </a:xfrm>
          <a:prstGeom prst="roundRect">
            <a:avLst/>
          </a:prstGeom>
          <a:solidFill>
            <a:srgbClr val="28190F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98DD4-FDD3-3AF8-8F5F-2F5449814AA8}"/>
              </a:ext>
            </a:extLst>
          </p:cNvPr>
          <p:cNvSpPr txBox="1"/>
          <p:nvPr/>
        </p:nvSpPr>
        <p:spPr>
          <a:xfrm>
            <a:off x="444500" y="736600"/>
            <a:ext cx="1130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200" b="1">
                <a:solidFill>
                  <a:srgbClr val="F59E0B"/>
                </a:solidFill>
                <a:latin typeface="Segoe UI" panose="020B0502040204020203" pitchFamily="34" charset="0"/>
              </a:rPr>
              <a:t>गाय और सुअर की चर्बी से जब बारूद को सनाया था, अंग्रेजों ने खुद अपनी मौत का फरमान बनाया था!</a:t>
            </a:r>
            <a:endParaRPr lang="en-IN" sz="12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A2E93D-FE56-A7DA-4584-55B6FD5B48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44600"/>
            <a:ext cx="5207000" cy="50165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ABBDA1-060C-5337-3E3F-D97F885101C0}"/>
              </a:ext>
            </a:extLst>
          </p:cNvPr>
          <p:cNvSpPr/>
          <p:nvPr/>
        </p:nvSpPr>
        <p:spPr>
          <a:xfrm>
            <a:off x="5778500" y="1244600"/>
            <a:ext cx="6032500" cy="355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36D52-A7FA-47DD-F387-B9D0ACB74173}"/>
              </a:ext>
            </a:extLst>
          </p:cNvPr>
          <p:cNvSpPr txBox="1"/>
          <p:nvPr/>
        </p:nvSpPr>
        <p:spPr>
          <a:xfrm>
            <a:off x="5969000" y="1371600"/>
            <a:ext cx="56515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• दिसंबर 1856: पुरानी 'ब्राउन बैस'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Brown Bess)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की जगह नई 'एनफील्ड राइफल'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Enfield P-53)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लागू की गई
• कारतूस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Cartridge)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की चिकनी ग्रीस को बंदूक में भरने से पहले दाँतों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Teeth)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से काटना अनिवार्य था
• चर्बी में गाय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Cow -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हिंदू आस्था) व सुअर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Pig -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मुस्लिम आस्था) की वसा से दोनों धर्मों में भीषण रोष</a:t>
            </a:r>
            <a:endParaRPr lang="en-IN" sz="13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F9769B-6DE5-8442-26EA-FF49B0A4DF5C}"/>
              </a:ext>
            </a:extLst>
          </p:cNvPr>
          <p:cNvSpPr/>
          <p:nvPr/>
        </p:nvSpPr>
        <p:spPr>
          <a:xfrm>
            <a:off x="5778500" y="4927600"/>
            <a:ext cx="6032500" cy="133350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316A7-7375-71C0-8889-724B9D6192F2}"/>
              </a:ext>
            </a:extLst>
          </p:cNvPr>
          <p:cNvSpPr txBox="1"/>
          <p:nvPr/>
        </p:nvSpPr>
        <p:spPr>
          <a:xfrm>
            <a:off x="5905500" y="5029200"/>
            <a:ext cx="57785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NMMS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फैक्ट: 1857 के महा-विद्रोह का तात्कालिक कारण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Immediate Cause) '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चर्बी वाले कारतूस'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Greased Cartridges)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ही थे!</a:t>
            </a:r>
            <a:endParaRPr lang="en-IN" sz="1250" b="1">
              <a:solidFill>
                <a:srgbClr val="6EE7B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81C030-1C54-4661-861A-66F1B35C2A80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3872271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C1B80E-877C-AD06-4176-973A8D0FA3A8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A3D019-F649-B8F3-8995-9889060D1E63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दृश्य 3: पहला महा-विस्फोट — अमर बलिदानी मंगल पांडे (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Mangal Pandey)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A62C18-6618-F76D-630C-7833466AF7DA}"/>
              </a:ext>
            </a:extLst>
          </p:cNvPr>
          <p:cNvSpPr/>
          <p:nvPr/>
        </p:nvSpPr>
        <p:spPr>
          <a:xfrm>
            <a:off x="381000" y="711200"/>
            <a:ext cx="11430000" cy="431800"/>
          </a:xfrm>
          <a:prstGeom prst="roundRect">
            <a:avLst/>
          </a:prstGeom>
          <a:solidFill>
            <a:srgbClr val="28190F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68E9F-B250-FB03-E4D3-6DDDA79DFFD6}"/>
              </a:ext>
            </a:extLst>
          </p:cNvPr>
          <p:cNvSpPr txBox="1"/>
          <p:nvPr/>
        </p:nvSpPr>
        <p:spPr>
          <a:xfrm>
            <a:off x="444500" y="736600"/>
            <a:ext cx="1130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200" b="1">
                <a:solidFill>
                  <a:srgbClr val="F59E0B"/>
                </a:solidFill>
                <a:latin typeface="Segoe UI" panose="020B0502040204020203" pitchFamily="34" charset="0"/>
              </a:rPr>
              <a:t>हुकूमत का गुरूर था, बारूद का वो दौर था, अंग्रेजों की छाती पर मंगल पांडे का ज़ोर था!</a:t>
            </a:r>
            <a:endParaRPr lang="en-IN" sz="12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mangal_pandey">
            <a:hlinkClick r:id="" action="ppaction://media"/>
            <a:extLst>
              <a:ext uri="{FF2B5EF4-FFF2-40B4-BE49-F238E27FC236}">
                <a16:creationId xmlns:a16="http://schemas.microsoft.com/office/drawing/2014/main" id="{8E1C3AE5-E86F-AC81-5109-6CEC70A186A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" y="1244600"/>
            <a:ext cx="8918221" cy="5016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1AE726-576B-879D-AEE6-D986BFBD6ACA}"/>
              </a:ext>
            </a:extLst>
          </p:cNvPr>
          <p:cNvSpPr/>
          <p:nvPr/>
        </p:nvSpPr>
        <p:spPr>
          <a:xfrm>
            <a:off x="5778500" y="1244600"/>
            <a:ext cx="6032500" cy="355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9D70E3-67B4-1CB0-D871-134C53F72C48}"/>
              </a:ext>
            </a:extLst>
          </p:cNvPr>
          <p:cNvSpPr txBox="1"/>
          <p:nvPr/>
        </p:nvSpPr>
        <p:spPr>
          <a:xfrm>
            <a:off x="5969000" y="1371600"/>
            <a:ext cx="56515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• 29 मार्च 1857: बैरकपुर छावनी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Barrackpore Cantonment, Bengal)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में खुला ऐतिहासिक विद्रोह
• 34वीं बंगाल नेटिव इन्फैंट्री (34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th Bengal Native Infantry)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के सिपाही मंगल पांडे द्वारा कारतूस का बहिष्कार
• सार्जेंट मेजर ह्यूसन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Hughson)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पर गोली चलाई; 8 अप्रैल 1857 को मंगल पांडे को फांसी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Hanged)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दी गई</a:t>
            </a:r>
            <a:endParaRPr lang="en-IN" sz="13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36FE22-50CD-69C8-CA1B-7F210E1D0FAF}"/>
              </a:ext>
            </a:extLst>
          </p:cNvPr>
          <p:cNvSpPr/>
          <p:nvPr/>
        </p:nvSpPr>
        <p:spPr>
          <a:xfrm>
            <a:off x="5778500" y="4927600"/>
            <a:ext cx="6032500" cy="133350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C538BD-EF82-8627-90AD-EE07A561674E}"/>
              </a:ext>
            </a:extLst>
          </p:cNvPr>
          <p:cNvSpPr txBox="1"/>
          <p:nvPr/>
        </p:nvSpPr>
        <p:spPr>
          <a:xfrm>
            <a:off x="5905500" y="5029200"/>
            <a:ext cx="57785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NMMS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फैक्ट: मंगल पांडे उत्तर प्रदेश के बलिया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Ballia, UP)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जिले के नगवा गांव के वीर सपूत थे!</a:t>
            </a:r>
            <a:endParaRPr lang="en-IN" sz="1250" b="1">
              <a:solidFill>
                <a:srgbClr val="6EE7B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BB7D17-4F99-37DA-8135-2030C1CC24EE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04135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repeatCount="10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199C67-A7F2-5676-47DE-E7032B803C51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13523-B696-1900-8466-B09954DD626E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दृश्य 4: क्रांति का गुप्त संदेश — कमल का फूल और रोटी (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Lotus and Bread)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70948C-984E-8A42-9EE5-55A127B76EC5}"/>
              </a:ext>
            </a:extLst>
          </p:cNvPr>
          <p:cNvSpPr/>
          <p:nvPr/>
        </p:nvSpPr>
        <p:spPr>
          <a:xfrm>
            <a:off x="381000" y="711200"/>
            <a:ext cx="11430000" cy="431800"/>
          </a:xfrm>
          <a:prstGeom prst="roundRect">
            <a:avLst/>
          </a:prstGeom>
          <a:solidFill>
            <a:srgbClr val="28190F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7DC83-445E-2602-94B0-E90008633194}"/>
              </a:ext>
            </a:extLst>
          </p:cNvPr>
          <p:cNvSpPr txBox="1"/>
          <p:nvPr/>
        </p:nvSpPr>
        <p:spPr>
          <a:xfrm>
            <a:off x="444500" y="736600"/>
            <a:ext cx="1130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200" b="1">
                <a:solidFill>
                  <a:srgbClr val="F59E0B"/>
                </a:solidFill>
                <a:latin typeface="Segoe UI" panose="020B0502040204020203" pitchFamily="34" charset="0"/>
              </a:rPr>
              <a:t>चुपके से रोटी बंटी, कमल का फूल मुस्काया था, अंग्रेजों को भनक न लगी, क्या तूफ़ान आने वाला था!</a:t>
            </a:r>
            <a:endParaRPr lang="en-IN" sz="12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FA3388-9213-8563-F1D2-092D47818D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44600"/>
            <a:ext cx="5207000" cy="50165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0F1195-ABEF-FB8E-9EA3-2BFDE8F28ADC}"/>
              </a:ext>
            </a:extLst>
          </p:cNvPr>
          <p:cNvSpPr/>
          <p:nvPr/>
        </p:nvSpPr>
        <p:spPr>
          <a:xfrm>
            <a:off x="5778500" y="1244600"/>
            <a:ext cx="6032500" cy="355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F54F2-8EEC-6226-93AE-E7F829BE28F5}"/>
              </a:ext>
            </a:extLst>
          </p:cNvPr>
          <p:cNvSpPr txBox="1"/>
          <p:nvPr/>
        </p:nvSpPr>
        <p:spPr>
          <a:xfrm>
            <a:off x="5969000" y="1371600"/>
            <a:ext cx="56515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• क्रांति का गुप्त प्रतीक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Secret Symbols): '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लाल कमल का फूल'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Lotus -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सैनिकों हेतु) व 'चपाती/रोटी'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Bread -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जनता हेतु)
• क्रांति की पूर्व-निर्धारित योजना की तिथि 31 मई 1857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Planned Date: 31 May 1857)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तय की गई थी
• गांव-गांव के चौकीदारों व गुप्त संदेशवाहकों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Secret Messengers)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द्वारा संगठन का देशव्यापी जाल फैलाया गया</a:t>
            </a:r>
            <a:endParaRPr lang="en-IN" sz="13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C56D66-97D7-615F-5DE1-45566F51A5BE}"/>
              </a:ext>
            </a:extLst>
          </p:cNvPr>
          <p:cNvSpPr/>
          <p:nvPr/>
        </p:nvSpPr>
        <p:spPr>
          <a:xfrm>
            <a:off x="5778500" y="4927600"/>
            <a:ext cx="6032500" cy="133350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A2EF9-A241-9498-34EB-C76A8AB60FCF}"/>
              </a:ext>
            </a:extLst>
          </p:cNvPr>
          <p:cNvSpPr txBox="1"/>
          <p:nvPr/>
        </p:nvSpPr>
        <p:spPr>
          <a:xfrm>
            <a:off x="5905500" y="5029200"/>
            <a:ext cx="57785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NMMS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फैक्ट: 1857 के प्रथम स्वतंत्रता संग्राम का आधिकारिक प्रतीक चिह्न 'कमल और रोटी'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Lotus and Bread)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था!</a:t>
            </a:r>
            <a:endParaRPr lang="en-IN" sz="1250" b="1">
              <a:solidFill>
                <a:srgbClr val="6EE7B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33493-D48E-DA13-C74D-85721E34684B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98753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AC5E79-C6B5-318B-350B-968E67ED578F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D3582-C394-26BD-5111-1F87240AF0A0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दृश्य 5: 10 मई 1857 — मेरठ का महा-विद्रोह (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Meerut Mutiny)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और दिल्ली कूच</a:t>
            </a:r>
            <a:endParaRPr lang="en-IN" sz="16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F9FC45-D228-E9B5-1F87-55554028BE4F}"/>
              </a:ext>
            </a:extLst>
          </p:cNvPr>
          <p:cNvSpPr/>
          <p:nvPr/>
        </p:nvSpPr>
        <p:spPr>
          <a:xfrm>
            <a:off x="381000" y="711200"/>
            <a:ext cx="11430000" cy="431800"/>
          </a:xfrm>
          <a:prstGeom prst="roundRect">
            <a:avLst/>
          </a:prstGeom>
          <a:solidFill>
            <a:srgbClr val="28190F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7CF61-0CDB-BD8C-9EC5-4EC18C6B8456}"/>
              </a:ext>
            </a:extLst>
          </p:cNvPr>
          <p:cNvSpPr txBox="1"/>
          <p:nvPr/>
        </p:nvSpPr>
        <p:spPr>
          <a:xfrm>
            <a:off x="444500" y="736600"/>
            <a:ext cx="1130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200" b="1">
                <a:solidFill>
                  <a:srgbClr val="F59E0B"/>
                </a:solidFill>
                <a:latin typeface="Segoe UI" panose="020B0502040204020203" pitchFamily="34" charset="0"/>
              </a:rPr>
              <a:t>मेरठ की चिंगारी ने ऐसा शोला भड़काया, रातों-रात दिल्ली जाकर अंग्रेजों का तख्त हिलाया!</a:t>
            </a:r>
            <a:endParaRPr lang="en-IN" sz="12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delhi_red_fort_march">
            <a:hlinkClick r:id="" action="ppaction://media"/>
            <a:extLst>
              <a:ext uri="{FF2B5EF4-FFF2-40B4-BE49-F238E27FC236}">
                <a16:creationId xmlns:a16="http://schemas.microsoft.com/office/drawing/2014/main" id="{31608B36-D986-904C-9E32-0586444689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" y="1244600"/>
            <a:ext cx="8918221" cy="5016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EEF2BF-EFAE-402F-1577-0B8C45B25252}"/>
              </a:ext>
            </a:extLst>
          </p:cNvPr>
          <p:cNvSpPr/>
          <p:nvPr/>
        </p:nvSpPr>
        <p:spPr>
          <a:xfrm>
            <a:off x="5778500" y="1244600"/>
            <a:ext cx="6032500" cy="355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C280C-C0FD-13CE-BD93-D01BB88549E2}"/>
              </a:ext>
            </a:extLst>
          </p:cNvPr>
          <p:cNvSpPr txBox="1"/>
          <p:nvPr/>
        </p:nvSpPr>
        <p:spPr>
          <a:xfrm>
            <a:off x="5969000" y="1371600"/>
            <a:ext cx="56515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• 9 मई 1857: 85 भारतीय घुड़सवार सैनिकों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Cavalry Soldiers)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को 10-10 वर्ष का कठोर कारावास दिया गया
• 10 मई 1857 (रविवार शाम): मेरठ छावनी में खुला विद्रोह, जेल तोड़ी गई, 'मारो फिरंगी को' का उद्घोष
• 11 मई 1857 की सुबह यमुना पुल पार कर दिल्ली के लाल किले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Red Fort, Delhi)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पर ऐतिहासिक अधिकार</a:t>
            </a:r>
            <a:endParaRPr lang="en-IN" sz="13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35A31A-FA6F-6DE9-88E4-528DF57F4B05}"/>
              </a:ext>
            </a:extLst>
          </p:cNvPr>
          <p:cNvSpPr/>
          <p:nvPr/>
        </p:nvSpPr>
        <p:spPr>
          <a:xfrm>
            <a:off x="5778500" y="4927600"/>
            <a:ext cx="6032500" cy="133350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475E9-466E-D43C-B439-D6D0F0526CB6}"/>
              </a:ext>
            </a:extLst>
          </p:cNvPr>
          <p:cNvSpPr txBox="1"/>
          <p:nvPr/>
        </p:nvSpPr>
        <p:spPr>
          <a:xfrm>
            <a:off x="5905500" y="5029200"/>
            <a:ext cx="57785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NMMS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फैक्ट: 1857 के स्वतंत्रता संग्राम की औपचारिक शुरुआत 10 मई 1857 (10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th May 1857)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को मेरठ से हुई थी!</a:t>
            </a:r>
            <a:endParaRPr lang="en-IN" sz="1250" b="1">
              <a:solidFill>
                <a:srgbClr val="6EE7B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F0255B-408D-8FDB-84EA-277904564EFB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32268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repeatCount="10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6AA030-4700-4B07-8E36-1C64511D94E6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51A33-4457-DB83-8C6D-13B8BC05B085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दृश्य 6: लाल किला और 82 वर्षीय शहंशाह — बहादुर शाह जफर (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Bahadur Shah Zafar)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FD297C-1EB6-2026-24FC-2F05069F4416}"/>
              </a:ext>
            </a:extLst>
          </p:cNvPr>
          <p:cNvSpPr/>
          <p:nvPr/>
        </p:nvSpPr>
        <p:spPr>
          <a:xfrm>
            <a:off x="381000" y="711200"/>
            <a:ext cx="11430000" cy="431800"/>
          </a:xfrm>
          <a:prstGeom prst="roundRect">
            <a:avLst/>
          </a:prstGeom>
          <a:solidFill>
            <a:srgbClr val="28190F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15D0D-5F43-4826-759C-C5CD07833BC4}"/>
              </a:ext>
            </a:extLst>
          </p:cNvPr>
          <p:cNvSpPr txBox="1"/>
          <p:nvPr/>
        </p:nvSpPr>
        <p:spPr>
          <a:xfrm>
            <a:off x="444500" y="736600"/>
            <a:ext cx="1130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200" b="1">
                <a:solidFill>
                  <a:srgbClr val="F59E0B"/>
                </a:solidFill>
                <a:latin typeface="Segoe UI" panose="020B0502040204020203" pitchFamily="34" charset="0"/>
              </a:rPr>
              <a:t>उम्र 82 की थी मगर, सीने में हिंदुस्तान था, लाल किले की दीवारों पर फिर से आजादी का ऐलान था!</a:t>
            </a:r>
            <a:endParaRPr lang="en-IN" sz="12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bahadur_shah_red_fort">
            <a:hlinkClick r:id="" action="ppaction://media"/>
            <a:extLst>
              <a:ext uri="{FF2B5EF4-FFF2-40B4-BE49-F238E27FC236}">
                <a16:creationId xmlns:a16="http://schemas.microsoft.com/office/drawing/2014/main" id="{424E73FD-6823-56D1-9B9A-BA092D15C7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" y="1244600"/>
            <a:ext cx="8918221" cy="5016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D472DD-F5FB-DC44-BD39-BC968ABED127}"/>
              </a:ext>
            </a:extLst>
          </p:cNvPr>
          <p:cNvSpPr/>
          <p:nvPr/>
        </p:nvSpPr>
        <p:spPr>
          <a:xfrm>
            <a:off x="5778500" y="1244600"/>
            <a:ext cx="6032500" cy="355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3A2A3-CD27-4213-AB2D-8C7BE7BD8C96}"/>
              </a:ext>
            </a:extLst>
          </p:cNvPr>
          <p:cNvSpPr txBox="1"/>
          <p:nvPr/>
        </p:nvSpPr>
        <p:spPr>
          <a:xfrm>
            <a:off x="5969000" y="1371600"/>
            <a:ext cx="56515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• 82 वर्षीय अंतिम मुग़ल बादशाह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Last Mughal Emperor)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बहादुर शाह जफर को क्रांति का सर्वोच्च नेता घोषित किया गया
• क्रांतिकारियों ने उन्हें 'शहंशाह-ए-हिंदुस्तान'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Emperor of India)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की पदवी से नवाजा
• वास्तविक सैन्य कमान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Military Command)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बरेली से आए अनुभवी सैनिक 'जनरल बख्त खान'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General Bakht Khan)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को सौंपी गई</a:t>
            </a:r>
            <a:endParaRPr lang="en-IN" sz="13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1A51C7-D2E7-9344-4768-CCE7B1DE0DC4}"/>
              </a:ext>
            </a:extLst>
          </p:cNvPr>
          <p:cNvSpPr/>
          <p:nvPr/>
        </p:nvSpPr>
        <p:spPr>
          <a:xfrm>
            <a:off x="5778500" y="4927600"/>
            <a:ext cx="6032500" cy="133350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9F461-57EC-3C77-C73E-3F802B8C961E}"/>
              </a:ext>
            </a:extLst>
          </p:cNvPr>
          <p:cNvSpPr txBox="1"/>
          <p:nvPr/>
        </p:nvSpPr>
        <p:spPr>
          <a:xfrm>
            <a:off x="5905500" y="5029200"/>
            <a:ext cx="57785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NMMS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फैक्ट: विद्रोह के बाद अंतिम मुग़ल बादशाह बहादुर शाह जफर को हुमायूं के मकबरे से पकड़कर 'रंगून'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Rangoon, Myanmar)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निर्वासित किया गया!</a:t>
            </a:r>
            <a:endParaRPr lang="en-IN" sz="1250" b="1">
              <a:solidFill>
                <a:srgbClr val="6EE7B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BB85D-E3E4-7575-8B17-C96981E2ACC0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390352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repeatCount="10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F5D09F-4D67-EF7D-D796-87A581163CE1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58C64-82DB-C5DC-7499-276414AD1FB5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दृश्य 7: खूब लड़ी मर्दानी — झांसी की शेरनी रानी लक्ष्मीबाई (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Rani Lakshmibai)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345331-5E69-6DE3-04E0-98AB9C1A424D}"/>
              </a:ext>
            </a:extLst>
          </p:cNvPr>
          <p:cNvSpPr/>
          <p:nvPr/>
        </p:nvSpPr>
        <p:spPr>
          <a:xfrm>
            <a:off x="381000" y="711200"/>
            <a:ext cx="11430000" cy="431800"/>
          </a:xfrm>
          <a:prstGeom prst="roundRect">
            <a:avLst/>
          </a:prstGeom>
          <a:solidFill>
            <a:srgbClr val="28190F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F5C40-FB47-C5A4-C9B2-EAEBBA50F036}"/>
              </a:ext>
            </a:extLst>
          </p:cNvPr>
          <p:cNvSpPr txBox="1"/>
          <p:nvPr/>
        </p:nvSpPr>
        <p:spPr>
          <a:xfrm>
            <a:off x="444500" y="736600"/>
            <a:ext cx="1130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200" b="1">
                <a:solidFill>
                  <a:srgbClr val="F59E0B"/>
                </a:solidFill>
                <a:latin typeface="Segoe UI" panose="020B0502040204020203" pitchFamily="34" charset="0"/>
              </a:rPr>
              <a:t>सिंहासन हिल उठे राजवंशों ने भृकुटी तानी थी... खूब लड़ी मर्दानी वह तो झांसी वाली रानी थी!</a:t>
            </a:r>
            <a:endParaRPr lang="en-IN" sz="12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rani_lakshmibai">
            <a:hlinkClick r:id="" action="ppaction://media"/>
            <a:extLst>
              <a:ext uri="{FF2B5EF4-FFF2-40B4-BE49-F238E27FC236}">
                <a16:creationId xmlns:a16="http://schemas.microsoft.com/office/drawing/2014/main" id="{419B9D61-6E03-46F3-F733-F1EEFCD45C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" y="1244600"/>
            <a:ext cx="8918221" cy="5016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640675-8299-DA1A-8C43-F61BE0F13FEF}"/>
              </a:ext>
            </a:extLst>
          </p:cNvPr>
          <p:cNvSpPr/>
          <p:nvPr/>
        </p:nvSpPr>
        <p:spPr>
          <a:xfrm>
            <a:off x="5778500" y="1244600"/>
            <a:ext cx="6032500" cy="355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95588-83B0-7330-662C-AFFF12FD2A5F}"/>
              </a:ext>
            </a:extLst>
          </p:cNvPr>
          <p:cNvSpPr txBox="1"/>
          <p:nvPr/>
        </p:nvSpPr>
        <p:spPr>
          <a:xfrm>
            <a:off x="5969000" y="1371600"/>
            <a:ext cx="56515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• लॉर्ड डलहौजी द्वारा झांसी के अवैध विलय के विरोध में सिंहगर्जना: 'मैं अपनी झांसी कदापि नहीं दूंगी!'
• दत्तक पुत्र दामोदर राव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Adopted Son: Damodar Rao)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को पीठ पर बांधकर रणचंडी बन अंग्रेजों के छक्के छुड़ाए
• 18 जून 1858 को कोटा-की-सराय, ग्वालियर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Gwalior)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में लड़ते हुए वीरांगना ने अमर बलिदान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Martyrdom)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दिया</a:t>
            </a:r>
            <a:endParaRPr lang="en-IN" sz="13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A0092A-5DA3-EE8F-A886-4D5AA212619A}"/>
              </a:ext>
            </a:extLst>
          </p:cNvPr>
          <p:cNvSpPr/>
          <p:nvPr/>
        </p:nvSpPr>
        <p:spPr>
          <a:xfrm>
            <a:off x="5778500" y="4927600"/>
            <a:ext cx="6032500" cy="133350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13952-A65A-AC2F-47A4-743F948D7C5E}"/>
              </a:ext>
            </a:extLst>
          </p:cNvPr>
          <p:cNvSpPr txBox="1"/>
          <p:nvPr/>
        </p:nvSpPr>
        <p:spPr>
          <a:xfrm>
            <a:off x="5905500" y="5029200"/>
            <a:ext cx="57785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NMMS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फैक्ट: ब्रिटिश सेनापति सर ह्यूरोज़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Sir Hugh Rose)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ने रानी को 'क्रांतिकारियों में एकमात्र मर्द'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Only Male Leader)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कहा था!</a:t>
            </a:r>
            <a:endParaRPr lang="en-IN" sz="1250" b="1">
              <a:solidFill>
                <a:srgbClr val="6EE7B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4DA368-B012-395E-C891-25146067DE8F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99943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repeatCount="10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823462-5C3C-272B-C628-DA039E5F0DDE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3547C-A779-C505-98F7-EB40B49F9D8B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दृश्य 8: बिहार के 80 वर्षीय बब्बर शेर — बाबू कुंवर सिंह (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Babu Kunwar Singh)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A1D8F1-F33A-A37B-2DDE-BA9C5623F17F}"/>
              </a:ext>
            </a:extLst>
          </p:cNvPr>
          <p:cNvSpPr/>
          <p:nvPr/>
        </p:nvSpPr>
        <p:spPr>
          <a:xfrm>
            <a:off x="381000" y="711200"/>
            <a:ext cx="11430000" cy="431800"/>
          </a:xfrm>
          <a:prstGeom prst="roundRect">
            <a:avLst/>
          </a:prstGeom>
          <a:solidFill>
            <a:srgbClr val="28190F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34154-8748-ACEF-1FD9-662CB31AA071}"/>
              </a:ext>
            </a:extLst>
          </p:cNvPr>
          <p:cNvSpPr txBox="1"/>
          <p:nvPr/>
        </p:nvSpPr>
        <p:spPr>
          <a:xfrm>
            <a:off x="444500" y="736600"/>
            <a:ext cx="1130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200" b="1">
                <a:solidFill>
                  <a:srgbClr val="F59E0B"/>
                </a:solidFill>
                <a:latin typeface="Segoe UI" panose="020B0502040204020203" pitchFamily="34" charset="0"/>
              </a:rPr>
              <a:t>अस्सी बरस की उम्र में जागा जोश पुराना था, सब कहते हैं कुंवर सिंह भी बड़ा वीर मर्दाना था!</a:t>
            </a:r>
            <a:endParaRPr lang="en-IN" sz="12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kunwar_singh_ganga">
            <a:hlinkClick r:id="" action="ppaction://media"/>
            <a:extLst>
              <a:ext uri="{FF2B5EF4-FFF2-40B4-BE49-F238E27FC236}">
                <a16:creationId xmlns:a16="http://schemas.microsoft.com/office/drawing/2014/main" id="{84D414CF-322D-4104-2B1E-174D42ACF7B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" y="1244600"/>
            <a:ext cx="8918221" cy="5016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0B2305-69EF-1C59-49FE-D352B2B5F0F5}"/>
              </a:ext>
            </a:extLst>
          </p:cNvPr>
          <p:cNvSpPr/>
          <p:nvPr/>
        </p:nvSpPr>
        <p:spPr>
          <a:xfrm>
            <a:off x="5778500" y="1244600"/>
            <a:ext cx="6032500" cy="355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9B0AE-744A-F581-B1DB-BAF96D5CF3FA}"/>
              </a:ext>
            </a:extLst>
          </p:cNvPr>
          <p:cNvSpPr txBox="1"/>
          <p:nvPr/>
        </p:nvSpPr>
        <p:spPr>
          <a:xfrm>
            <a:off x="5969000" y="1371600"/>
            <a:ext cx="56515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• बिहार के जगदीशपुर/आरा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Jagdishpur, Bihar)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में 80 वर्षीय बाबू कुंवर सिंह का अदम्य शौर्य व छापामार युद्ध
• गंगा पार करते समय गोली लगने पर अपनी कटी कलाई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Hand)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मां गंगा को समर्पित कर दी
• कानपुर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Kanpur)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में नाना साहेब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Nana Saheb)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और गुरिल्ला युद्ध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Guerrilla Warfare)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के उस्ताद तात्या टोपे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Tatya Tope)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का पराक्रम</a:t>
            </a:r>
            <a:endParaRPr lang="en-IN" sz="13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67439F-7238-7620-E4FE-270FFE99D70E}"/>
              </a:ext>
            </a:extLst>
          </p:cNvPr>
          <p:cNvSpPr/>
          <p:nvPr/>
        </p:nvSpPr>
        <p:spPr>
          <a:xfrm>
            <a:off x="5778500" y="4927600"/>
            <a:ext cx="6032500" cy="133350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1A44E-E8F9-2E82-64FA-84280FF528B0}"/>
              </a:ext>
            </a:extLst>
          </p:cNvPr>
          <p:cNvSpPr txBox="1"/>
          <p:nvPr/>
        </p:nvSpPr>
        <p:spPr>
          <a:xfrm>
            <a:off x="5905500" y="5029200"/>
            <a:ext cx="57785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NMMS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फैक्ट: तात्या टोपे का वास्तविक नाम 'रामचंद्र पांडुरंग'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Ramchandra Pandurang)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था!</a:t>
            </a:r>
            <a:endParaRPr lang="en-IN" sz="1250" b="1">
              <a:solidFill>
                <a:srgbClr val="6EE7B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9CAB0-0D49-9039-AA05-079553E3D2BD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48551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repeatCount="10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62C46C-E196-28A3-68D9-D353B424A418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24AD6-7451-B57E-6451-30C097D7B2A2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दृश्य 9: परिणाम और सीख — ईस्ट इंडिया कंपनी का अंत (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End of Company Rule - 1858)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F9E3F6-145C-F668-0790-784C7DC75B1C}"/>
              </a:ext>
            </a:extLst>
          </p:cNvPr>
          <p:cNvSpPr/>
          <p:nvPr/>
        </p:nvSpPr>
        <p:spPr>
          <a:xfrm>
            <a:off x="381000" y="711200"/>
            <a:ext cx="11430000" cy="431800"/>
          </a:xfrm>
          <a:prstGeom prst="roundRect">
            <a:avLst/>
          </a:prstGeom>
          <a:solidFill>
            <a:srgbClr val="28190F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F3E75-5AF9-766B-2776-D347CEA563D2}"/>
              </a:ext>
            </a:extLst>
          </p:cNvPr>
          <p:cNvSpPr txBox="1"/>
          <p:nvPr/>
        </p:nvSpPr>
        <p:spPr>
          <a:xfrm>
            <a:off x="444500" y="736600"/>
            <a:ext cx="1130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200" b="1">
                <a:solidFill>
                  <a:srgbClr val="F59E0B"/>
                </a:solidFill>
                <a:latin typeface="Segoe UI" panose="020B0502040204020203" pitchFamily="34" charset="0"/>
              </a:rPr>
              <a:t>हार कर भी वो जीत गए, आज़ादी की नींव सजाई थी, 1857 की चिंगारी ने 1947 की अलख जगाई थी!</a:t>
            </a:r>
            <a:endParaRPr lang="en-IN" sz="12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mangal_pandey">
            <a:hlinkClick r:id="" action="ppaction://media"/>
            <a:extLst>
              <a:ext uri="{FF2B5EF4-FFF2-40B4-BE49-F238E27FC236}">
                <a16:creationId xmlns:a16="http://schemas.microsoft.com/office/drawing/2014/main" id="{FF3F4BF3-81AD-D223-E0C1-7F73D1CC93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" y="1244600"/>
            <a:ext cx="8918221" cy="5016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372559-39BC-8942-7B7A-2A758F362F07}"/>
              </a:ext>
            </a:extLst>
          </p:cNvPr>
          <p:cNvSpPr/>
          <p:nvPr/>
        </p:nvSpPr>
        <p:spPr>
          <a:xfrm>
            <a:off x="5778500" y="1244600"/>
            <a:ext cx="6032500" cy="355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D69FB-9A58-2F5C-D229-4CD069B706F4}"/>
              </a:ext>
            </a:extLst>
          </p:cNvPr>
          <p:cNvSpPr txBox="1"/>
          <p:nvPr/>
        </p:nvSpPr>
        <p:spPr>
          <a:xfrm>
            <a:off x="5969000" y="1371600"/>
            <a:ext cx="56515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• 1858 का भारत शासन अधिनियम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Government of India Act 1858)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ब्रिटिश संसद में पारित हुआ
• 100 वर्ष पुरानी ईस्ट इंडिया कंपनी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East India Company)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का शासन समाप्त; सीधा नियंत्रण ब्रिटिश क्राउन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British Crown)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के अधीन
• गवर्नर जनरल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Governor-General)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का पदनाम बदलकर 'वायसराय' (</a:t>
            </a:r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Viceroy) </a:t>
            </a:r>
            <a:r>
              <a:rPr lang="hi-IN" sz="1300">
                <a:solidFill>
                  <a:srgbClr val="F8FAFC"/>
                </a:solidFill>
                <a:latin typeface="Segoe UI" panose="020B0502040204020203" pitchFamily="34" charset="0"/>
              </a:rPr>
              <a:t>किया गया</a:t>
            </a:r>
            <a:endParaRPr lang="en-IN" sz="13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29600E-7635-1F50-2FD8-2B46C549C40F}"/>
              </a:ext>
            </a:extLst>
          </p:cNvPr>
          <p:cNvSpPr/>
          <p:nvPr/>
        </p:nvSpPr>
        <p:spPr>
          <a:xfrm>
            <a:off x="5778500" y="4927600"/>
            <a:ext cx="6032500" cy="1333500"/>
          </a:xfrm>
          <a:prstGeom prst="roundRect">
            <a:avLst/>
          </a:prstGeom>
          <a:solidFill>
            <a:srgbClr val="1428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CD5AE-DBCF-C97B-FB42-8D29C273BE78}"/>
              </a:ext>
            </a:extLst>
          </p:cNvPr>
          <p:cNvSpPr txBox="1"/>
          <p:nvPr/>
        </p:nvSpPr>
        <p:spPr>
          <a:xfrm>
            <a:off x="5905500" y="5029200"/>
            <a:ext cx="57785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NMMS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फैक्ट: भारत के अंतिम गवर्नर जनरल तथा प्रथम वायसराय 'लॉर्ड कैनिंग' (</a:t>
            </a:r>
            <a:r>
              <a:rPr lang="en-IN" sz="1250" b="1">
                <a:solidFill>
                  <a:srgbClr val="6EE7B7"/>
                </a:solidFill>
                <a:latin typeface="Segoe UI" panose="020B0502040204020203" pitchFamily="34" charset="0"/>
              </a:rPr>
              <a:t>Lord Canning) </a:t>
            </a:r>
            <a:r>
              <a:rPr lang="hi-IN" sz="1250" b="1">
                <a:solidFill>
                  <a:srgbClr val="6EE7B7"/>
                </a:solidFill>
                <a:latin typeface="Segoe UI" panose="020B0502040204020203" pitchFamily="34" charset="0"/>
              </a:rPr>
              <a:t>बने!</a:t>
            </a:r>
            <a:endParaRPr lang="en-IN" sz="1250" b="1">
              <a:solidFill>
                <a:srgbClr val="6EE7B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D5C808-AB97-A617-EF2F-991A7251E99F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138501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repeatCount="10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0FA392-4EEB-7775-6DF1-361EF8D5907F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4E5E8-D1AF-A295-85B2-395C16B74813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#1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All India NMMS 2023]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F94966-9A57-C167-8F6D-7EB98FA00012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0C82E-D69A-12B3-1977-BE67A20D477C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1. 1857 की महान क्रांति का प्रथम बिगुल 10 मई 1857 को किस छावनी से बजा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1304CC-E6DB-CE39-62DD-D29129173BAF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034A5-B3C1-EA5B-2B48-838BA05C6DC7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बैरकपुर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A1D9A6-2185-01D7-E5C5-466596A11CBB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1BB4F-C955-3007-FF80-27A60708ECCC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मेरठ छावनी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50A739-194B-6344-6E97-37F93804044B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E023E-29D5-3627-7DED-ABAFC183DE7C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दिल्ली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B8B463-A5D1-3067-F33F-B7DC8F834386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0B74AD-E937-17D9-2AB3-50BAD5266AA2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कानपुर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29FDA1-F34E-0C9A-4D13-3356ACFA5023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B81C9-F3BE-7C3F-1676-7994891D18BC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F1CDC-036F-9D54-F243-F5C6E570D4BE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915574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95630-F9C1-4FF8-A4E5-9357FBB83BBC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58C3A-F733-B9F1-4E49-E9E85E5EA581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10B981"/>
                </a:solidFill>
                <a:latin typeface="Segoe UI" panose="020B0502040204020203" pitchFamily="34" charset="0"/>
              </a:rPr>
              <a:t>PYQ अभ्यास प्रश्न #1  [All India NMMS 2023] - Answer &amp; Explanation</a:t>
            </a:r>
            <a:endParaRPr lang="en-IN" sz="16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6A5CFA-A069-7EF6-F827-68A74EE7878A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5DE72-2A95-D396-5BC1-057C82F2DF17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1. 1857 की महान क्रांति का प्रथम बिगुल 10 मई 1857 को किस छावनी से बजा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CC0CE5-5995-AB12-0070-E2A1A4F8115B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450A7-7FAD-1FEB-9276-7911B0A08A1C}"/>
              </a:ext>
            </a:extLst>
          </p:cNvPr>
          <p:cNvSpPr txBox="1"/>
          <p:nvPr/>
        </p:nvSpPr>
        <p:spPr>
          <a:xfrm>
            <a:off x="6477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(A)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बैरकपुर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BAB20B-2558-6DCF-C9E7-67559BDCEC2B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F77D4-A000-D911-717D-1FF8E203E5F9}"/>
              </a:ext>
            </a:extLst>
          </p:cNvPr>
          <p:cNvSpPr txBox="1"/>
          <p:nvPr/>
        </p:nvSpPr>
        <p:spPr>
          <a:xfrm>
            <a:off x="64643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(B)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मेरठ छावनी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CFE1EC-879C-2E68-7D2E-A5B484B0CE98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A5B8B1-9F44-042D-8EC3-17B74894F442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दिल्ली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16014C-363B-B578-1140-139F3B0D12C8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24736F-6754-B6E8-DBC4-8C20EE888934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कानपुर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A97A64-D8E4-DF99-F100-09856EE49FE8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7A49E3-407A-705D-6A2A-3F88B95AF61B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B)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96F4FA-1809-6F96-F4BB-F239B34AE7F7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10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मई 1857 को मेरठ छावनी के सैनिकों ने खुला विद्रोह कर 'दिल्ली चलो' का नारा दिया।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873899-AFAE-B986-E6E8-4454F2CCA500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3763851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734B27-96B2-5704-38DD-49550AFEF767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E1D77-A066-96FF-9164-C8BE48E69127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#2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Bihar NMMS 2022]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26AE0C-B04C-1CCE-8315-6BB4D926EB8C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25254-F1DB-414A-FAB7-9A3B9D925311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2. 1857 की क्रांति के प्रथम बलिदानी सैनिक निम्नलिखित में से कौन थे?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851BD7-E4CA-CC1E-031B-BA68D62F7708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87968-1F15-D921-70E6-54CC1A4495D9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तात्या टोपे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D7ECFA-5E88-CDBA-D396-A21CD02B5554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E92D85-C7A7-0B73-FB33-098A7FFB9F34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मंगल पांडे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863D1F-6C93-E11D-6CCC-E9A672CEA7A2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C185E-C6C7-8C89-C055-43CC1A9B8344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भगत सिंह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AC46B1-D979-0E30-B073-4577A3FE2AC3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06144F-15CB-D5DA-5D08-3B3F77F4B52F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वीर कुंवर सिंह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A7BD9C-DC4F-1071-826A-519A1C1DF17B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8225C-3251-FE70-2B29-C3E4613606AF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DEAF73-FE90-30BC-4179-8758CC825FB2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41805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F5F198-8BA8-8914-9A35-B0DC93770A51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D0EEE-8559-FBC3-CCDA-6723C28A2A40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10B981"/>
                </a:solidFill>
                <a:latin typeface="Segoe UI" panose="020B0502040204020203" pitchFamily="34" charset="0"/>
              </a:rPr>
              <a:t>अभ्यास प्रश्न #2  [</a:t>
            </a:r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Bihar NMMS 2022] - Answer &amp; Explanation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E199C4-FC95-B368-276B-1D9E99EC88DF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D598F-9F4D-89C1-C621-E9FC1FB378BF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2. 1857 की क्रांति के प्रथम बलिदानी सैनिक निम्नलिखित में से कौन थे?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087F93-5BC0-F418-8DC1-D3C02EF55FEA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77D2D-1963-80B4-378D-B7CC85075232}"/>
              </a:ext>
            </a:extLst>
          </p:cNvPr>
          <p:cNvSpPr txBox="1"/>
          <p:nvPr/>
        </p:nvSpPr>
        <p:spPr>
          <a:xfrm>
            <a:off x="6477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(A)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तात्या टोपे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D3A143-51F3-54B1-AFC4-63C22F6F88C3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9F210-0EEF-8B55-2705-568371AD92A9}"/>
              </a:ext>
            </a:extLst>
          </p:cNvPr>
          <p:cNvSpPr txBox="1"/>
          <p:nvPr/>
        </p:nvSpPr>
        <p:spPr>
          <a:xfrm>
            <a:off x="64643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(B)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मंगल पांडे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C90A3A-650E-3886-8B6E-725A51DE0999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B48268-EDB6-7C5C-4B80-4FEE1DE78510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भगत सिंह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F3B14-1529-3370-76F4-D36B0B78A420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01DF3-9887-DD2A-5759-ABA4EF43584A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वीर कुंवर सिंह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64EF7A-4538-1322-69A7-CB3621FB6FC6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C8493-9CD8-93EF-6309-4CE688059783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B)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A6328A-891F-4DDE-30F2-09F1DF6FDAE1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बैरकपुर छावनी के 34वीं इन्फैंट्री के सैनिक मंगल पांडे को 8 अप्रैल 1857 को फांसी दी गई।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818B5-DB62-6777-EA0B-F72B8678BD33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2012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5167D0-8161-881E-157C-5CFED198BCF9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96642-7EB6-1AE8-17D2-E3A7A2ECF4AD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#3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UP NMMS 2024]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09EB9A-84B2-2615-8094-29D95139B1BB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65ADE-C00A-9F4E-EC31-0D94E2800BA5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3. 1857 की क्रांति का सबसे प्रमुख तात्कालिक कारण (</a:t>
            </a:r>
            <a:r>
              <a:rPr lang="en-IN" sz="1650" b="1">
                <a:solidFill>
                  <a:srgbClr val="FFFFFF"/>
                </a:solidFill>
                <a:latin typeface="Segoe UI" panose="020B0502040204020203" pitchFamily="34" charset="0"/>
              </a:rPr>
              <a:t>Immediate Cause) </a:t>
            </a:r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क्या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F69626-C063-FD37-7AC7-B30DD47AE252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4BB57-E15B-AFD3-BC9A-4870899A2919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चर्बी वाले नए कारतूस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A921D9-5EBF-5E70-1A83-178DBC74EBA7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D07B0-6CEE-468D-5246-64C7311D596E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भारी लगान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45C6CC-E0C3-A9F5-E224-6D39481CF0AC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3BE094-AE13-7542-124B-AB5BA49FB632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सती प्रथा का अंत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5CFA0C-542E-0FEB-087E-135E615D17F0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8A16ED-E2C6-21CC-1BE8-3F1B884F8FF6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रेलवे का निर्माण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9E6F425-24C9-D019-DEA1-0BFAB40B2154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A976B6-5F72-57D8-3CD1-64F187AD899F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CBD7CE-A215-7CFE-4787-AB48C94C5215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536861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1EB7D7-19C6-DC5B-0509-BF66C704D7E8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9B86E-07B8-E539-8D81-B433E80B28EB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10B981"/>
                </a:solidFill>
                <a:latin typeface="Segoe UI" panose="020B0502040204020203" pitchFamily="34" charset="0"/>
              </a:rPr>
              <a:t>PYQ अभ्यास प्रश्न #3  [UP NMMS 2024] - Answer &amp; Explanation</a:t>
            </a:r>
            <a:endParaRPr lang="en-IN" sz="16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874B30-C173-D98A-E231-E3B83AF34284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2F4F3-FA53-DC69-C5A3-BED1C605C9F0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3. 1857 की क्रांति का सबसे प्रमुख तात्कालिक कारण (</a:t>
            </a:r>
            <a:r>
              <a:rPr lang="en-IN" sz="1650" b="1">
                <a:solidFill>
                  <a:srgbClr val="FFFFFF"/>
                </a:solidFill>
                <a:latin typeface="Segoe UI" panose="020B0502040204020203" pitchFamily="34" charset="0"/>
              </a:rPr>
              <a:t>Immediate Cause) </a:t>
            </a:r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क्या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510863-344B-DE8A-C013-A1D18D67B81D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D9E79-90C5-F409-C697-3DB01BA24B07}"/>
              </a:ext>
            </a:extLst>
          </p:cNvPr>
          <p:cNvSpPr txBox="1"/>
          <p:nvPr/>
        </p:nvSpPr>
        <p:spPr>
          <a:xfrm>
            <a:off x="6477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(A)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चर्बी वाले नए कारतूस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CB6B15-F025-A537-C815-4CA3A0F5D302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BABDE-5E1E-F9B7-96E9-B39A0BCAD0C7}"/>
              </a:ext>
            </a:extLst>
          </p:cNvPr>
          <p:cNvSpPr txBox="1"/>
          <p:nvPr/>
        </p:nvSpPr>
        <p:spPr>
          <a:xfrm>
            <a:off x="64643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(B)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भारी लगान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7378E8-0974-9026-852A-ED01204DD27F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49607C-FB88-674C-DB71-A3557A1DA05D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सती प्रथा का अंत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827C24-81B8-750B-0DE6-2B197079F40A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5108DA-6EF2-57E6-5739-300AF741BEE3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रेलवे का निर्माण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99C2E7-E393-849A-4ACD-8A512A753C93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52A16-D9F6-4015-C907-630F79EAB0A0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23FBF8-BD76-D546-24F0-3E4AAD55443E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एनफील्ड राइफल के कारतूसों में गाय और सूअर की चर्बी की बात तात्कालिक चिंगारी बनी।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1B13E6-A60E-A889-F208-9A6EB9D2ACA0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144115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CF67F3-E1DB-4530-0B93-2EC243FE5EE4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CA6CA-720E-15AB-806B-B046F992D691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#4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MP NMMS 2021]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FAE0A5-E293-1DB5-DD5A-6A6615FA1731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CD4A9-7516-AB42-5B7B-BE5C01A904F4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4. 1857 की क्रांति के समय अंतिम मुग़ल सम्राट कौन थे, जिन्हें क्रांति का नेता चुना गया?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E30D50-BF40-A0E3-C3BE-FC2A5F3DB19D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DDDDC-5CF1-74A5-CE07-6028C995FB7F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शाह आलम द्वितीय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85DABF-F6F1-0E8C-8E14-B017FEA81653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26CD6-FAC8-82CB-3CF1-A8A05257ECB7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बहादुर शाह जफर (द्वितीय)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B33C1B-8422-3480-CFD4-010A754DFE06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57813-ECFD-A7B7-C686-691E005FC6FD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अकबर द्वितीय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86CEA0-0728-CFE7-0328-6B98C2512A6B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85D86A-7D0E-593B-3643-2D62AC6D809E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आलमगीर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5FE176-F54B-8551-99C5-5540CFBF4918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AB876-BD71-07FE-1280-FF4B8C0F1DEB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C96F1F-37EE-C089-1956-9298A1700C7D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1360593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8EC172-DA7F-AC07-474F-60D083281DB2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649F4E-8C58-13F1-8D34-1C381E98522A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10B981"/>
                </a:solidFill>
                <a:latin typeface="Segoe UI" panose="020B0502040204020203" pitchFamily="34" charset="0"/>
              </a:rPr>
              <a:t>अभ्यास प्रश्न #4  [</a:t>
            </a:r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MP NMMS 2021] - Answer &amp; Explanation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626F24-5E30-5C7B-7234-5AE4EB7244D2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5EFF7-B9FB-2BF6-1BDB-1DD114EA85A7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4. 1857 की क्रांति के समय अंतिम मुग़ल सम्राट कौन थे, जिन्हें क्रांति का नेता चुना गया?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F7551B-64B6-E6A6-E685-9690DAB0B10B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E2B632-A15D-FD3E-A5E7-A785921FFA6F}"/>
              </a:ext>
            </a:extLst>
          </p:cNvPr>
          <p:cNvSpPr txBox="1"/>
          <p:nvPr/>
        </p:nvSpPr>
        <p:spPr>
          <a:xfrm>
            <a:off x="6477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(A)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शाह आलम द्वितीय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31CF6D-D727-D234-3714-CEC0A7C71B2A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34949-A005-2100-DD9C-8F8241723930}"/>
              </a:ext>
            </a:extLst>
          </p:cNvPr>
          <p:cNvSpPr txBox="1"/>
          <p:nvPr/>
        </p:nvSpPr>
        <p:spPr>
          <a:xfrm>
            <a:off x="64643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(B)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बहादुर शाह जफर (द्वितीय)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B0CD9E-5029-CC6D-E78B-AD72703304EE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A18C2-69BE-A2F2-0015-772300F7622A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अकबर द्वितीय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A7C504-DE07-DBE6-A35F-A850645EB9C4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C7B6B9-EF30-AB32-4279-5B382BEEEC04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आलमगीर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42195E-ED94-4165-3851-F34828A12908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E2BB42-1018-6E38-1BC3-523F08892263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B)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2BA0FA-362A-401F-BB64-07CC629A74E5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विद्रोहियों ने 82 वर्षीय अंतिम मुग़ल बादशाह बहादुर शाह जफर को भारत का सम्राट घोषित किया था।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59D8A-E586-7EED-1A0D-8DBBABFD33C8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113680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52214C-C118-4912-35CA-FE251E981990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C6FCA-8374-C6E6-2850-4EACBA1A4878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#5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Bihar NMMS 2024]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C593F5-FF80-24B1-E0A4-A6FECCA6376B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247F4-06C7-ED02-2080-EEB4514ADA17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5. 1857 की क्रांति में बिहार के जगदीशपुर (आरा) से नेतृत्व किस वीर योद्धा ने किया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0169FE-BEC4-9BB5-F1A9-BF7BA5689B79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5B7F3-61A1-04A4-264C-C6D96C49E7B1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नाना साहेब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BE0D76-71E2-BCCA-3997-FE0B4E7C6877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569F8-6047-AD09-EEDC-29EE3B60FAEE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बाबू वीर कुंवर सिंह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6F3C45-C365-93DC-94FD-16562BFDFB00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31D8C-BBB7-C7DE-3365-9525AB456478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खान बहादुर खां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FA72D8-FCC2-72B8-B4B3-6C74AA2D20BC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6CE5A-21DC-DBA9-77CF-A610D5DB0A31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लियाकत अली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EADE4E-4D70-67D4-CD93-D5D712C610B3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B324A-FA1B-BA8D-B1AB-E829D8A29729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DF87D-8141-2CE2-B70E-E06AB7BE154C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564143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B469D7-E00B-B928-88F7-A2A66DF3AD4C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8A912-A301-A75C-1755-2E5130EEB959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10B981"/>
                </a:solidFill>
                <a:latin typeface="Segoe UI" panose="020B0502040204020203" pitchFamily="34" charset="0"/>
              </a:rPr>
              <a:t>अभ्यास प्रश्न #5  [</a:t>
            </a:r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Bihar NMMS 2024] - Answer &amp; Explanation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4850E4-0364-F19E-DCF6-7F66CB242482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B3183-D7F2-FDB4-9954-D22F83A8F859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5. 1857 की क्रांति में बिहार के जगदीशपुर (आरा) से नेतृत्व किस वीर योद्धा ने किया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A54D9D-E13B-A15C-5281-AA51659C75BD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E2B84-507D-44B6-08C0-988EF9E18715}"/>
              </a:ext>
            </a:extLst>
          </p:cNvPr>
          <p:cNvSpPr txBox="1"/>
          <p:nvPr/>
        </p:nvSpPr>
        <p:spPr>
          <a:xfrm>
            <a:off x="6477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(A)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नाना साहेब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5C9BF8-F13F-B01C-6A1E-EFAEC78E068D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EEDC0-3866-E62B-55BA-752A64256090}"/>
              </a:ext>
            </a:extLst>
          </p:cNvPr>
          <p:cNvSpPr txBox="1"/>
          <p:nvPr/>
        </p:nvSpPr>
        <p:spPr>
          <a:xfrm>
            <a:off x="64643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(B)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बाबू वीर कुंवर सिंह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B442E9-C3A0-DA44-7B12-392B7B4C2168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82824-5501-334D-00A1-68065C9C3740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खान बहादुर खां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92DA6A-E63A-58EE-98A9-045D236094D3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67AD5D-182D-4464-9F80-184505A1030C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लियाकत अली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2E4982-4601-9E30-9FF1-798BAADB5F70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DE1F28-0BE6-663B-C4F9-38666E7D2AC3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B)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FAE84-AE13-4C3A-D87F-C7B07827FCA9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80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वर्ष के वृद्ध बाबू वीर कुंवर सिंह ने अदम्य वीरता से अंग्रेजों को हराया था।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EEE363-14A6-782B-E45B-C51F70805A0E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1930270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185307-D187-1E17-FB96-EE288291460B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33311-EDA0-3AC0-ED62-2A7B95F6A7B9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#6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Rajasthan NMMS 2021]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C0F33C-C300-7000-C41E-600BFDF18D10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39CBEB-402B-6080-99AC-55C3042B4975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6. झांसी में 1857 की क्रांति का नेतृत्व करने वाली वीरांगना लक्ष्मीबाई के बचपन का नाम क्या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A5E615-8016-FBFB-A873-0991B1417A9C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7B46C-A98D-CB7F-D120-E60F4640A729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मनु (मणिकर्णिका)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B22EB4-366F-4900-7756-5F5B07ACC2C9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41A7B-EAA0-80A4-5B4D-FD2EEB94C00C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पद्मावती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3B6921-7A42-2FAD-AA4F-9A2344A07152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98C44-5F88-B547-5D3E-827DB8061D4A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जीजाबाई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EBA6EF-F12E-3FCB-860E-D25F0EBA5E51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92B3C3-D674-5F41-38AF-A110E6B2D98D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अहिल्याबाई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98473EE-2F24-E0DB-6635-585D90ECF808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F827C7-FE3B-823F-38DF-B8F8B8709990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4D5CE-D84E-B9BE-3936-43AC48E75E03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584628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50C4A0-3D3D-55C0-2D44-CF1DB195BF2E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58FC0-EAB1-0BF0-AEC1-E4EFB36E3F53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10B981"/>
                </a:solidFill>
                <a:latin typeface="Segoe UI" panose="020B0502040204020203" pitchFamily="34" charset="0"/>
              </a:rPr>
              <a:t>अभ्यास प्रश्न #6  [</a:t>
            </a:r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Rajasthan NMMS 2021] - Answer &amp; Explanation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0B42A9-7080-21FA-62C7-120F4BE80949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745C8-7C10-4A04-D079-D2A62E85D51F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6. झांसी में 1857 की क्रांति का नेतृत्व करने वाली वीरांगना लक्ष्मीबाई के बचपन का नाम क्या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992BF5-5690-4C24-F5F8-3A516BA73C37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EB66E-F974-F678-4EB1-ED1A674244B1}"/>
              </a:ext>
            </a:extLst>
          </p:cNvPr>
          <p:cNvSpPr txBox="1"/>
          <p:nvPr/>
        </p:nvSpPr>
        <p:spPr>
          <a:xfrm>
            <a:off x="6477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(A)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मनु (मणिकर्णिका)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201F9-3076-F9C9-8396-7BC20905FD62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37162C-EA9C-989F-44A5-8FA6FBEE3287}"/>
              </a:ext>
            </a:extLst>
          </p:cNvPr>
          <p:cNvSpPr txBox="1"/>
          <p:nvPr/>
        </p:nvSpPr>
        <p:spPr>
          <a:xfrm>
            <a:off x="64643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(B)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पद्मावती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25B05C-4A9D-311B-24FA-AA42F67403D9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06238-E4D7-08CA-FC25-CD048EBDB550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जीजाबाई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B07A4A-6AB9-17F0-4956-5F58B86A63CC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2C69DB-FB7B-AC24-4DEF-17DA44471310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अहिल्याबाई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49ABA3-B3E2-82EB-89BE-6A87038802EE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99B40B-B316-0934-EC03-31D70732C4BD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757F32-A4CF-CAD2-E05A-A440E0CFC470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रानी लक्ष्मीबाई के बचपन का नाम मणिकर्णिका (मनु) था।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0EE04C-E38E-65A5-8361-A824118CF9BE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3245205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85C461-4C93-4971-C2F8-29A0300DADA4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6DFFE-A752-D772-5AEE-DD3AA1C66B64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#7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Haryana NMMS 2022]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851B12-D3F5-C3D6-B111-7DB00EC194A9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EA599-D940-A675-5BDA-591F1BF90A44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7. 1857 की क्रांति का प्रचार करने हेतु गुप्त प्रतीक चिन्ह क्या तय किया गया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ECC547-CD63-A2B1-5B7B-DBFB93BC232B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C6AA03-FF06-F6A3-EB89-CF092167CE23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तीर और कमान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DC3FC9-6A47-24EA-1653-D375628B923A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B3AA2-08D8-4833-670B-0E952621FA8C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कमल का फूल और रोटी (चपाती)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69EFAB-895F-C528-B70C-ECEA88BECABF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0D7A97-433B-B6B6-EC3C-8710BF130BEB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तलवार और ढाल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66CB8D-9234-00EC-5BDA-858D33B8E468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F30E2-6571-F12F-61E6-6A5C91061211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तिरंगा झंडा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95A769-52D7-D9E5-4345-6FAF59A88C27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A3B355-AD23-9071-0CDE-9EBC5166EC50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F24847-3280-DEAA-009A-565BE2DBA82F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4206611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BAA58E-027C-0B44-A6B1-C8AEBFDE8CEA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6DDBE-4D18-8E31-4EDE-F7BF112E4159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10B981"/>
                </a:solidFill>
                <a:latin typeface="Segoe UI" panose="020B0502040204020203" pitchFamily="34" charset="0"/>
              </a:rPr>
              <a:t>अभ्यास प्रश्न #7  [</a:t>
            </a:r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Haryana NMMS 2022] - Answer &amp; Explanation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77C5F8-B934-051D-440B-6F57B9C5165A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57538-3B81-9ADB-CEBF-2739E29FB5D4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7. 1857 की क्रांति का प्रचार करने हेतु गुप्त प्रतीक चिन्ह क्या तय किया गया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0493B5-15BF-002B-B962-63197A7EE519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A6FF7-B64D-F8EA-E018-641D61DF0500}"/>
              </a:ext>
            </a:extLst>
          </p:cNvPr>
          <p:cNvSpPr txBox="1"/>
          <p:nvPr/>
        </p:nvSpPr>
        <p:spPr>
          <a:xfrm>
            <a:off x="6477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(A)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तीर और कमान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9156DD-8C42-04E8-2717-F776C391C011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2F5E9F-9DEA-B894-8A65-B3A9FEF2F510}"/>
              </a:ext>
            </a:extLst>
          </p:cNvPr>
          <p:cNvSpPr txBox="1"/>
          <p:nvPr/>
        </p:nvSpPr>
        <p:spPr>
          <a:xfrm>
            <a:off x="64643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(B)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कमल का फूल और रोटी (चपाती)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9B1479-ED6B-AA3C-147F-3F3E4C42B299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E3AB2-ED9B-28CB-039B-71E46C745B37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तलवार और ढाल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8CAAE1-DFC5-D05D-1681-4108D2EFD02A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0C7C96-271D-D1F0-2A87-770607E27FCD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तिरंगा झंडा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A34184-C712-3924-4F4E-4DB28E23E48A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24DA3E-1DD6-4A8B-7D46-95CCEB1B2EED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B)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AB0FE9-5F4D-76E5-BDD6-99B16EA24F77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कमल और रोटी गांव-गांव क्रांति का संदेश पहुंचाने का गुप्त माध्यम थे।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24315C-512F-1A57-7D67-F566AE572574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531595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599323-A029-12E3-0514-03FEFB21B18B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ABC78-5488-48AF-4879-E0AE380270D6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#8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UP NMMS 2023]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37FD03-D87C-6EBA-1467-FD76D0BEE85F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4D789-D6EB-B26E-FC78-86DE300D5677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8. कानपुर में 1857 की क्रांति का नेतृत्व किसने किया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9C80BD-6D2A-8395-4108-FA38D7C0C380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200BF-9FBA-BBA3-5133-B49547172823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नाना साहेब (धोंधू पंत)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35F1AF-E286-27F8-815D-EA89A42D8969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EBD86-6C26-31F9-6BCE-96E2BBE2DF5D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बहादुर शाह जफर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CF5B90-138D-0962-C0B4-42E9C2A2F595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BE986-BD24-D7D2-0FAC-A1B63E3EB872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रानी लक्ष्मीबाई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2E07CB-2584-9C70-5FC8-8E0C71CD44B3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8C1F2-6A6A-7BEB-4742-17B687D14B81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कुंवर सिंह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15905A-D8DD-717E-977C-BD8659341364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0C8FC3-F321-0BEB-F72A-6CE833BCD3B8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F2F833-A657-67BA-C6E7-97EFFE9D933E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3162648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74D245-AE3E-96EE-B37E-B3C0F63E0A66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A5AC9D-982F-827D-0093-D605A375BAE1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10B981"/>
                </a:solidFill>
                <a:latin typeface="Segoe UI" panose="020B0502040204020203" pitchFamily="34" charset="0"/>
              </a:rPr>
              <a:t>PYQ अभ्यास प्रश्न #8  [UP NMMS 2023] - Answer &amp; Explanation</a:t>
            </a:r>
            <a:endParaRPr lang="en-IN" sz="16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CE52A5-FB57-DF91-CE3F-0DEE8A66B027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D1865-6EAD-04CA-29FD-CC736C24EC19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8. कानपुर में 1857 की क्रांति का नेतृत्व किसने किया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B956A0-8471-E967-D4DB-2C78FF715283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AC63D-B9A2-DE7B-2A4C-B923D455ACF2}"/>
              </a:ext>
            </a:extLst>
          </p:cNvPr>
          <p:cNvSpPr txBox="1"/>
          <p:nvPr/>
        </p:nvSpPr>
        <p:spPr>
          <a:xfrm>
            <a:off x="6477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(A)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नाना साहेब (धोंधू पंत)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B9E29A-D9EB-BDB5-1C4E-5B470CD02295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E9E04-F828-7132-1EC3-790C6DB43BF6}"/>
              </a:ext>
            </a:extLst>
          </p:cNvPr>
          <p:cNvSpPr txBox="1"/>
          <p:nvPr/>
        </p:nvSpPr>
        <p:spPr>
          <a:xfrm>
            <a:off x="64643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(B)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बहादुर शाह जफर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1E362A-EA3F-463D-7C7C-4F91A5207659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01C19C-909D-5345-A124-2F4D3B867CFA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रानी लक्ष्मीबाई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9AD407-C52C-1E9C-AB1F-E5461898921B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9DE695-A670-B500-8BA4-F924F49816C0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कुंवर सिंह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FBE3BC-7ADD-720E-8E63-B117F46350E6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3B467B-B57E-B83F-CC0D-F871670F7645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9854C-F463-5D52-1E64-88E0B65A6607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पेशवा बाजीराव द्वितीय के दत्तक पुत्र नाना साहेब ने कानपुर से नेतृत्व किया।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94612D-A757-A050-712A-B8C8F61773A9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1126587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5990DA-81BA-706E-9991-86F01EDAAC8B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E1974-4D19-B37A-4311-A69A2DF8CA73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#9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Rajasthan NMMS 2023]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71D84F-7BFA-1A2B-26FB-F4FC3BF910D3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7D34E-6241-DB8F-779B-8CB276C452A9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9. नाना साहेब के प्रसिद्ध और वीर सेनापति का क्या नाम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1C0A12-88B4-11A1-2912-F51A9793303B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99BD8-EEF5-68BD-EB03-B026E4217994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तात्या टोपे (रामचंद्र पांडुरंग)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8A3CF7-336E-EE50-4F46-57D64B5D6F05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2BC03-0FAF-3FAD-D5BD-DFEEA206BF3B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मंगल पांडे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A7EA9F-4FB6-49D0-9CBB-82561A1BF327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C264D-D27E-A87D-E36C-0E757D750E29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बख्त खां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572245-40D3-5DB7-599D-A9D32B38C566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C3E5D-5ADB-D7A9-9B5E-5B31ADB0F5B4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हकीम खां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EF2D46-E15D-4977-4010-A3B779FF3F98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EB8DEA-589C-2877-18A2-D677E68F218C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F9CE23-3594-8271-89B8-E6AA2F075BC3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3728474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63F07B-9D39-C81A-27DA-43B174E671FB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B1D0E-A709-3BF6-D547-F5393A96C10C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10B981"/>
                </a:solidFill>
                <a:latin typeface="Segoe UI" panose="020B0502040204020203" pitchFamily="34" charset="0"/>
              </a:rPr>
              <a:t>अभ्यास प्रश्न #9  [</a:t>
            </a:r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Rajasthan NMMS 2023] - Answer &amp; Explanation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09CAB7-9C91-4D4B-E1FF-ACA5F4333464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289D0-9315-90FD-CBFF-7B7EF12F5CE4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9. नाना साहेब के प्रसिद्ध और वीर सेनापति का क्या नाम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375839-B9CB-FD94-C4BB-9BFF5078C5CC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4EB28-57B8-B292-9125-36C0C9427D22}"/>
              </a:ext>
            </a:extLst>
          </p:cNvPr>
          <p:cNvSpPr txBox="1"/>
          <p:nvPr/>
        </p:nvSpPr>
        <p:spPr>
          <a:xfrm>
            <a:off x="6477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(A)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तात्या टोपे (रामचंद्र पांडुरंग)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AA904B-62CA-8EA7-C403-81FF2107E1F2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0224D-667D-D84F-C9E1-B92FB17FB999}"/>
              </a:ext>
            </a:extLst>
          </p:cNvPr>
          <p:cNvSpPr txBox="1"/>
          <p:nvPr/>
        </p:nvSpPr>
        <p:spPr>
          <a:xfrm>
            <a:off x="64643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(B)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मंगल पांडे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38B869-137A-D3E6-F195-802DFF6DB5D8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F27D9-1143-0D0E-24A6-FA3822A95DD3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बख्त खां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38500C-8642-51EF-7F83-DC7FFC0361E7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47B159-8BA6-F6FC-57CB-EC527EAD6334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हकीम खां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EC8923-6B8C-A502-CCEF-093F4B869DE0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A2EE1F-83C8-3841-E49E-C5987B300CAB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5489D7-A89C-4F2E-3AAF-3FFFF655457A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तात्या टोपे नाना साहेब के मुख्य सेनापति थे और छापामार युद्ध में निपुण थे।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D0B7F4-4116-7059-F8F3-A4F894032B97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1165674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65B920-36A4-F345-815D-DBBEC913B5ED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A8D98-D809-CB3D-2B93-DA91604B745C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F59E0B"/>
                </a:solidFill>
                <a:latin typeface="Segoe UI" panose="020B0502040204020203" pitchFamily="34" charset="0"/>
              </a:rPr>
              <a:t>अभ्यास प्रश्न #10  [</a:t>
            </a:r>
            <a:r>
              <a:rPr lang="en-IN" sz="1600" b="1">
                <a:solidFill>
                  <a:srgbClr val="F59E0B"/>
                </a:solidFill>
                <a:latin typeface="Segoe UI" panose="020B0502040204020203" pitchFamily="34" charset="0"/>
              </a:rPr>
              <a:t>Bihar NMMS 2023]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B1CA14-FC62-612F-C1E3-C32FD6AD50F8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E97E4-E398-1687-DE34-633A7D273A18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10. लखनऊ (अवध) में 1857 की क्रांति का नेतृत्व किस साहसी महिला ने किया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F3598C-FB57-568C-80CE-EAD2261FF699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BE6B6-D72C-ED70-A603-109BA0255D96}"/>
              </a:ext>
            </a:extLst>
          </p:cNvPr>
          <p:cNvSpPr txBox="1"/>
          <p:nvPr/>
        </p:nvSpPr>
        <p:spPr>
          <a:xfrm>
            <a:off x="6477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(A)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रानी लक्ष्मीबाई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F0261D-D1FF-CF77-85A9-80B72FFFDFCD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F6738-70E6-F089-D959-735F31DE609A}"/>
              </a:ext>
            </a:extLst>
          </p:cNvPr>
          <p:cNvSpPr txBox="1"/>
          <p:nvPr/>
        </p:nvSpPr>
        <p:spPr>
          <a:xfrm>
            <a:off x="6464300" y="24638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(B)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बेगम हजरत महल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B73BE4-A55C-3BFC-E82E-EF8CE27C1DB4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5C4362-D346-0B73-8E4F-D7A61D65AA4B}"/>
              </a:ext>
            </a:extLst>
          </p:cNvPr>
          <p:cNvSpPr txBox="1"/>
          <p:nvPr/>
        </p:nvSpPr>
        <p:spPr>
          <a:xfrm>
            <a:off x="6477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(C)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सरोजिनी नायडू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8AB5A4B-96B1-5AF7-C341-BCBAE6150172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5BEA0B-B424-1DCD-1D2B-26D91DA6CABC}"/>
              </a:ext>
            </a:extLst>
          </p:cNvPr>
          <p:cNvSpPr txBox="1"/>
          <p:nvPr/>
        </p:nvSpPr>
        <p:spPr>
          <a:xfrm>
            <a:off x="6464300" y="3683000"/>
            <a:ext cx="5080000" cy="3308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50" b="1">
                <a:solidFill>
                  <a:srgbClr val="F8FAFC"/>
                </a:solidFill>
                <a:latin typeface="Segoe UI" panose="020B0502040204020203" pitchFamily="34" charset="0"/>
              </a:rPr>
              <a:t>(D)  </a:t>
            </a:r>
            <a:r>
              <a:rPr lang="hi-IN" sz="1550" b="1">
                <a:solidFill>
                  <a:srgbClr val="F8FAFC"/>
                </a:solidFill>
                <a:latin typeface="Segoe UI" panose="020B0502040204020203" pitchFamily="34" charset="0"/>
              </a:rPr>
              <a:t>एनी बेसेंट</a:t>
            </a:r>
            <a:endParaRPr lang="en-IN" sz="155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8FDD38-0B6E-6660-2F9C-5F58A3F71027}"/>
              </a:ext>
            </a:extLst>
          </p:cNvPr>
          <p:cNvSpPr/>
          <p:nvPr/>
        </p:nvSpPr>
        <p:spPr>
          <a:xfrm>
            <a:off x="2921000" y="4826000"/>
            <a:ext cx="6350000" cy="71120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1DD08C-65F2-EB8E-06D8-3962477D62E1}"/>
              </a:ext>
            </a:extLst>
          </p:cNvPr>
          <p:cNvSpPr txBox="1"/>
          <p:nvPr/>
        </p:nvSpPr>
        <p:spPr>
          <a:xfrm>
            <a:off x="2984500" y="4927600"/>
            <a:ext cx="622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⏱ 10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सेकंड सोचिए और सही विकल्प चुनिए: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A), (B), (C)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A25852-F447-8740-D788-5A4623BA1A8D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222869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BCD63A-A47B-1856-B0C8-7F58D811F952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C7846-5129-1C91-83E0-184DBB573A41}"/>
              </a:ext>
            </a:extLst>
          </p:cNvPr>
          <p:cNvSpPr txBox="1"/>
          <p:nvPr/>
        </p:nvSpPr>
        <p:spPr>
          <a:xfrm>
            <a:off x="381000" y="76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PYQ </a:t>
            </a:r>
            <a:r>
              <a:rPr lang="hi-IN" sz="1600" b="1">
                <a:solidFill>
                  <a:srgbClr val="10B981"/>
                </a:solidFill>
                <a:latin typeface="Segoe UI" panose="020B0502040204020203" pitchFamily="34" charset="0"/>
              </a:rPr>
              <a:t>अभ्यास प्रश्न #10  [</a:t>
            </a:r>
            <a:r>
              <a:rPr lang="en-IN" sz="1600" b="1">
                <a:solidFill>
                  <a:srgbClr val="10B981"/>
                </a:solidFill>
                <a:latin typeface="Segoe UI" panose="020B0502040204020203" pitchFamily="34" charset="0"/>
              </a:rPr>
              <a:t>Bihar NMMS 2023] - Answer &amp; Explanation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11D44F-ABCA-F8C9-7394-E68782E90A26}"/>
              </a:ext>
            </a:extLst>
          </p:cNvPr>
          <p:cNvSpPr/>
          <p:nvPr/>
        </p:nvSpPr>
        <p:spPr>
          <a:xfrm>
            <a:off x="457200" y="787400"/>
            <a:ext cx="11277600" cy="13335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37B4B-5BCB-01DA-F2F0-1B20CE7D3F4D}"/>
              </a:ext>
            </a:extLst>
          </p:cNvPr>
          <p:cNvSpPr txBox="1"/>
          <p:nvPr/>
        </p:nvSpPr>
        <p:spPr>
          <a:xfrm>
            <a:off x="635000" y="863600"/>
            <a:ext cx="10922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i-IN" sz="1650" b="1">
                <a:solidFill>
                  <a:srgbClr val="FFFFFF"/>
                </a:solidFill>
                <a:latin typeface="Segoe UI" panose="020B0502040204020203" pitchFamily="34" charset="0"/>
              </a:rPr>
              <a:t>प्र. 10. लखनऊ (अवध) में 1857 की क्रांति का नेतृत्व किस साहसी महिला ने किया था?</a:t>
            </a:r>
            <a:endParaRPr lang="en-IN" sz="16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5B3A23-6009-ECF5-FAD3-3A2E7DC8A39D}"/>
              </a:ext>
            </a:extLst>
          </p:cNvPr>
          <p:cNvSpPr/>
          <p:nvPr/>
        </p:nvSpPr>
        <p:spPr>
          <a:xfrm>
            <a:off x="457200" y="23114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3F1D8-B4FC-66E3-D805-4BB803506DD3}"/>
              </a:ext>
            </a:extLst>
          </p:cNvPr>
          <p:cNvSpPr txBox="1"/>
          <p:nvPr/>
        </p:nvSpPr>
        <p:spPr>
          <a:xfrm>
            <a:off x="647700" y="24638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(A)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रानी लक्ष्मीबाई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1AD295-E516-B239-6FD0-1B99118EE05B}"/>
              </a:ext>
            </a:extLst>
          </p:cNvPr>
          <p:cNvSpPr/>
          <p:nvPr/>
        </p:nvSpPr>
        <p:spPr>
          <a:xfrm>
            <a:off x="6273800" y="2311400"/>
            <a:ext cx="5461000" cy="10160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DCD56E-AEC1-7377-9450-CCE2F1EC09A3}"/>
              </a:ext>
            </a:extLst>
          </p:cNvPr>
          <p:cNvSpPr txBox="1"/>
          <p:nvPr/>
        </p:nvSpPr>
        <p:spPr>
          <a:xfrm>
            <a:off x="6464300" y="24638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FDE68A"/>
                </a:solidFill>
                <a:latin typeface="Segoe UI" panose="020B0502040204020203" pitchFamily="34" charset="0"/>
              </a:rPr>
              <a:t>✅  (B)  </a:t>
            </a:r>
            <a:r>
              <a:rPr lang="hi-IN" sz="1600" b="1">
                <a:solidFill>
                  <a:srgbClr val="FDE68A"/>
                </a:solidFill>
                <a:latin typeface="Segoe UI" panose="020B0502040204020203" pitchFamily="34" charset="0"/>
              </a:rPr>
              <a:t>बेगम हजरत महल</a:t>
            </a:r>
            <a:endParaRPr lang="en-IN" sz="1600" b="1">
              <a:solidFill>
                <a:srgbClr val="FDE68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B81FE8-E5B3-9605-292A-9AD3AE48CA66}"/>
              </a:ext>
            </a:extLst>
          </p:cNvPr>
          <p:cNvSpPr/>
          <p:nvPr/>
        </p:nvSpPr>
        <p:spPr>
          <a:xfrm>
            <a:off x="4572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882D7C-E317-D62F-7997-795B5AEB000B}"/>
              </a:ext>
            </a:extLst>
          </p:cNvPr>
          <p:cNvSpPr txBox="1"/>
          <p:nvPr/>
        </p:nvSpPr>
        <p:spPr>
          <a:xfrm>
            <a:off x="6477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(C)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सरोजिनी नायडू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07BE7F-A9B6-AC23-DFC0-D900504AC4CD}"/>
              </a:ext>
            </a:extLst>
          </p:cNvPr>
          <p:cNvSpPr/>
          <p:nvPr/>
        </p:nvSpPr>
        <p:spPr>
          <a:xfrm>
            <a:off x="6273800" y="3530600"/>
            <a:ext cx="5461000" cy="101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48989-6667-3216-6820-2354C4B02847}"/>
              </a:ext>
            </a:extLst>
          </p:cNvPr>
          <p:cNvSpPr txBox="1"/>
          <p:nvPr/>
        </p:nvSpPr>
        <p:spPr>
          <a:xfrm>
            <a:off x="6464300" y="3683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(D)  </a:t>
            </a:r>
            <a:r>
              <a:rPr lang="hi-IN" sz="1400">
                <a:solidFill>
                  <a:srgbClr val="94A3B8"/>
                </a:solidFill>
                <a:latin typeface="Segoe UI" panose="020B0502040204020203" pitchFamily="34" charset="0"/>
              </a:rPr>
              <a:t>एनी बेसेंट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927A92-DEC4-6771-9B0C-E916FE38682C}"/>
              </a:ext>
            </a:extLst>
          </p:cNvPr>
          <p:cNvSpPr/>
          <p:nvPr/>
        </p:nvSpPr>
        <p:spPr>
          <a:xfrm>
            <a:off x="457200" y="4724400"/>
            <a:ext cx="11277600" cy="1422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EC971F-5A8E-AD00-70FC-E8021C1499F8}"/>
              </a:ext>
            </a:extLst>
          </p:cNvPr>
          <p:cNvSpPr txBox="1"/>
          <p:nvPr/>
        </p:nvSpPr>
        <p:spPr>
          <a:xfrm>
            <a:off x="635000" y="47752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✅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सही उत्तर: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B)   |   </a:t>
            </a:r>
            <a:r>
              <a:rPr lang="hi-IN" sz="1400" b="1">
                <a:solidFill>
                  <a:srgbClr val="FDE68A"/>
                </a:solidFill>
                <a:latin typeface="Segoe UI" panose="020B0502040204020203" pitchFamily="34" charset="0"/>
              </a:rPr>
              <a:t>परीक्षा व्याख्या (</a:t>
            </a:r>
            <a:r>
              <a:rPr lang="en-IN" sz="1400" b="1">
                <a:solidFill>
                  <a:srgbClr val="FDE68A"/>
                </a:solidFill>
                <a:latin typeface="Segoe UI" panose="020B0502040204020203" pitchFamily="34" charset="0"/>
              </a:rPr>
              <a:t>Exam Explanation):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DB6597-FF82-25AE-B346-6E260ED85C3D}"/>
              </a:ext>
            </a:extLst>
          </p:cNvPr>
          <p:cNvSpPr txBox="1"/>
          <p:nvPr/>
        </p:nvSpPr>
        <p:spPr>
          <a:xfrm>
            <a:off x="635000" y="5105400"/>
            <a:ext cx="10922000" cy="3000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50">
                <a:solidFill>
                  <a:srgbClr val="FFFFFF"/>
                </a:solidFill>
                <a:latin typeface="Segoe UI" panose="020B0502040204020203" pitchFamily="34" charset="0"/>
              </a:rPr>
              <a:t>💡  </a:t>
            </a:r>
            <a:r>
              <a:rPr lang="hi-IN" sz="1350">
                <a:solidFill>
                  <a:srgbClr val="FFFFFF"/>
                </a:solidFill>
                <a:latin typeface="Segoe UI" panose="020B0502040204020203" pitchFamily="34" charset="0"/>
              </a:rPr>
              <a:t>बेगम हजरत महल ने अपने अल्पवयस्क पुत्र बिरजिस कादिर को नवाब घोषित कर लड़ाई लड़ी।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1489A2-0BB0-74C2-0A12-9EE93AEE29E8}"/>
              </a:ext>
            </a:extLst>
          </p:cNvPr>
          <p:cNvSpPr txBox="1"/>
          <p:nvPr/>
        </p:nvSpPr>
        <p:spPr>
          <a:xfrm>
            <a:off x="381000" y="63754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000">
                <a:solidFill>
                  <a:srgbClr val="64748B"/>
                </a:solidFill>
                <a:latin typeface="Segoe UI" panose="020B0502040204020203" pitchFamily="34" charset="0"/>
              </a:rPr>
              <a:t>सागर कोचिंग सेंटर भगवानपुर • कक्षा 08: 1857 की महान क्रांति • </a:t>
            </a:r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NMMS Special</a:t>
            </a:r>
          </a:p>
        </p:txBody>
      </p:sp>
    </p:spTree>
    <p:extLst>
      <p:ext uri="{BB962C8B-B14F-4D97-AF65-F5344CB8AC3E}">
        <p14:creationId xmlns:p14="http://schemas.microsoft.com/office/powerpoint/2010/main" val="1693668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3298</Words>
  <Application>Microsoft Office PowerPoint</Application>
  <PresentationFormat>Custom</PresentationFormat>
  <Paragraphs>220</Paragraphs>
  <Slides>30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Sudhir Kumar</dc:creator>
  <cp:lastModifiedBy>Sudhir Kumar</cp:lastModifiedBy>
  <cp:revision>1</cp:revision>
  <dcterms:created xsi:type="dcterms:W3CDTF">2026-10-24T15:17:34Z</dcterms:created>
  <dcterms:modified xsi:type="dcterms:W3CDTF">2026-10-24T15:17:34Z</dcterms:modified>
</cp:coreProperties>
</file>