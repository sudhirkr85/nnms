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C06C97-6999-7B86-7CBF-C9F19CE46D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BCFDCE6-9937-1D89-E59B-D813ACD21E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6ACEB6-1466-B468-1F6C-04F286CE11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31C50-C692-4766-89D9-754E54DA41DB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AA4A6A-8EE6-62DA-4562-5B1D2674D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C219A4-9A46-95F7-72D6-DD8E26B3B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A2FA19-D9BF-461F-9062-2F774180E33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471077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3BB8FD-D956-63CB-95C5-BAB23EE38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4EA176-01B0-C261-DE63-45E902CFF6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248751-D8BA-0282-0E0D-7E49C3EE5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31C50-C692-4766-89D9-754E54DA41DB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CAD306-8955-5156-6A43-E96E21FE2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EAA78A-E18F-D154-EEBF-6F4802CAE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A2FA19-D9BF-461F-9062-2F774180E33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106067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07F80B-A4E9-9E38-5EDF-4366BF20EF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548984-026A-969A-EB2A-3467E95B40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EEA34-F42E-A6C1-6F68-0330840F1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31C50-C692-4766-89D9-754E54DA41DB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C94BD5-ACDB-E9A1-DE9D-3CF891C3DF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F47744-D5E8-08CF-8A69-23C9474A0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A2FA19-D9BF-461F-9062-2F774180E33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746620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188F5-E6A3-3E69-B5C0-4E1692542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7483E6-8D69-4F3C-441B-F5F526F3D2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3BAEEE-7ED5-2A22-729E-344AB44B88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88A68E-535E-EC46-E5E0-AE06AD2AB8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31C50-C692-4766-89D9-754E54DA41DB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994FED-216C-2EEE-729B-77F6A03CF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39B367-95FE-84F9-55A4-ACC2D2C0B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A2FA19-D9BF-461F-9062-2F774180E33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617172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8CA8C-936C-53AA-8B12-88B83111B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247DA5-F690-2EBD-0BB1-28A979BCCC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BD6982-F09D-36C3-97BB-E1E56AEFCA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1BAFD3-CEF7-E28F-9869-9809BA0D79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713FDBB-996B-F76D-72FD-C5050029BC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2AC3252-8E1C-6E43-1292-3C076592CC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31C50-C692-4766-89D9-754E54DA41DB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22D2009-820C-DC63-787E-1E3AE5E9B9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CFAC18-FA28-A625-74DC-5AB168A1B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A2FA19-D9BF-461F-9062-2F774180E33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13004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3C1C5-3F8F-5062-07A1-08ECFCA47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952ADC9-5433-5BCD-32A8-D564EE240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31C50-C692-4766-89D9-754E54DA41DB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97C2A4-1400-A953-4C08-833DE6E8D5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302F60-396D-40FF-2D7E-BDE562EEC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A2FA19-D9BF-461F-9062-2F774180E33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65435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224C208-5F52-6B43-C224-BCDB8F44D8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31C50-C692-4766-89D9-754E54DA41DB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29DD1F5-A0DC-CC81-3D0F-F381086DE7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4D6AF2-F83F-0C6F-3167-3B99A688DD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A2FA19-D9BF-461F-9062-2F774180E33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867660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CC399-C94A-399F-D7FB-D8A987CC7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246993-14A1-2358-C972-B0C3129EAD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2D8D6B-E310-2D96-5979-6FAD2D67E6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07231F-A735-C9AF-C2E0-A8964B08E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31C50-C692-4766-89D9-754E54DA41DB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080738-1987-BEED-09C4-35F045975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E8C832-7A4D-DA8A-4AEF-F1712D5D6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A2FA19-D9BF-461F-9062-2F774180E33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928653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D0292-EEE1-EB3D-A57F-6692D20CF9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B6495E-C044-D9E4-5EB1-3AD4001CBC75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50B8C6-D7F0-6197-7754-98CE8CF6D5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0286BE-0FBB-A563-9FA2-6806E25F45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31C50-C692-4766-89D9-754E54DA41DB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9F84D2-4A16-FE75-2219-053020BD2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BBA914-4CB3-9B2D-7AF5-584059D87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A2FA19-D9BF-461F-9062-2F774180E33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380852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D71E57-5CE4-6545-30D8-442A797EC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54888D0-DC75-4868-F3AC-134DE5D590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B27996-4AA2-5318-BA3A-32E590E74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31C50-C692-4766-89D9-754E54DA41DB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30A105-8F2F-E7DA-9933-89EE5481C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E7D9E0-D713-88BB-DCF5-BFE891A28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A2FA19-D9BF-461F-9062-2F774180E33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802968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5AA345C-E5DC-C645-9CA9-C6FDFC961B0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A430DA-7D1E-7B22-F45F-4C844A7AD7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2C7281-CF18-66C2-A6B4-2B25A1F25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31C50-C692-4766-89D9-754E54DA41DB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BE81B2-50C1-832D-D173-9C66DDEB4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6FB1E-616B-D44C-8D8E-64D09BA49F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A2FA19-D9BF-461F-9062-2F774180E33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08723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84A704-C61B-FCE4-AEB1-114D4FD0B7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2FECE0-9FDB-8113-637B-4EC8508121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7BE4FE-0934-2131-3EFB-D212214734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131C50-C692-4766-89D9-754E54DA41DB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595D76-6968-34DF-0DDD-04344F4AB0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DDDBDE-532C-48B0-56E1-EE29C9474A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A2FA19-D9BF-461F-9062-2F774180E33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685381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4.mp4"/><Relationship Id="rId1" Type="http://schemas.microsoft.com/office/2007/relationships/media" Target="../media/media4.mp4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5.mp4"/><Relationship Id="rId1" Type="http://schemas.microsoft.com/office/2007/relationships/media" Target="../media/media5.mp4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3D3F484-E53B-67E9-DD27-50583AB50D02}"/>
              </a:ext>
            </a:extLst>
          </p:cNvPr>
          <p:cNvSpPr/>
          <p:nvPr/>
        </p:nvSpPr>
        <p:spPr>
          <a:xfrm>
            <a:off x="457200" y="304800"/>
            <a:ext cx="11277600" cy="6248400"/>
          </a:xfrm>
          <a:prstGeom prst="round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3E4622-F50B-9998-D417-49F77409863D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0500" y="584200"/>
            <a:ext cx="1651000" cy="1651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5BFD79F-116A-4E7B-F624-978FB5776B07}"/>
              </a:ext>
            </a:extLst>
          </p:cNvPr>
          <p:cNvSpPr txBox="1"/>
          <p:nvPr/>
        </p:nvSpPr>
        <p:spPr>
          <a:xfrm>
            <a:off x="762000" y="2438400"/>
            <a:ext cx="10668000" cy="4616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en-IN" sz="2400" b="1">
                <a:solidFill>
                  <a:srgbClr val="FDE68A"/>
                </a:solidFill>
                <a:latin typeface="Segoe UI" panose="020B0502040204020203" pitchFamily="34" charset="0"/>
              </a:rPr>
              <a:t>SAGAR COACHING CENTRE BHAGWANPUR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9297FF-86AC-35F8-7FE9-52621D90170C}"/>
              </a:ext>
            </a:extLst>
          </p:cNvPr>
          <p:cNvSpPr txBox="1"/>
          <p:nvPr/>
        </p:nvSpPr>
        <p:spPr>
          <a:xfrm>
            <a:off x="762000" y="2971800"/>
            <a:ext cx="10668000" cy="3231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hi-IN" sz="1500" b="1">
                <a:solidFill>
                  <a:srgbClr val="93C5FD"/>
                </a:solidFill>
                <a:latin typeface="Segoe UI" panose="020B0502040204020203" pitchFamily="34" charset="0"/>
              </a:rPr>
              <a:t>राष्ट्रीय आय-सह-मेधा छात्रवृत्ति परीक्षा (</a:t>
            </a:r>
            <a:r>
              <a:rPr lang="en-IN" sz="1500" b="1">
                <a:solidFill>
                  <a:srgbClr val="93C5FD"/>
                </a:solidFill>
                <a:latin typeface="Segoe UI" panose="020B0502040204020203" pitchFamily="34" charset="0"/>
              </a:rPr>
              <a:t>NMMS) • </a:t>
            </a:r>
            <a:r>
              <a:rPr lang="hi-IN" sz="1500" b="1">
                <a:solidFill>
                  <a:srgbClr val="93C5FD"/>
                </a:solidFill>
                <a:latin typeface="Segoe UI" panose="020B0502040204020203" pitchFamily="34" charset="0"/>
              </a:rPr>
              <a:t>कक्षा 08 • इतिहास</a:t>
            </a:r>
            <a:endParaRPr lang="en-IN" sz="1500" b="1">
              <a:solidFill>
                <a:srgbClr val="93C5FD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D44921-86FE-79D9-A1AD-3A03D91281F3}"/>
              </a:ext>
            </a:extLst>
          </p:cNvPr>
          <p:cNvSpPr txBox="1"/>
          <p:nvPr/>
        </p:nvSpPr>
        <p:spPr>
          <a:xfrm>
            <a:off x="762000" y="3657600"/>
            <a:ext cx="10668000" cy="67710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hi-IN" sz="3800" b="1">
                <a:solidFill>
                  <a:srgbClr val="FFFFFF"/>
                </a:solidFill>
                <a:latin typeface="Segoe UI" panose="020B0502040204020203" pitchFamily="34" charset="0"/>
              </a:rPr>
              <a:t>1857 की महान क्रांति</a:t>
            </a:r>
            <a:endParaRPr lang="en-IN" sz="380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FFB186-9AC6-128C-4801-21EFC645F261}"/>
              </a:ext>
            </a:extLst>
          </p:cNvPr>
          <p:cNvSpPr txBox="1"/>
          <p:nvPr/>
        </p:nvSpPr>
        <p:spPr>
          <a:xfrm>
            <a:off x="762000" y="4445000"/>
            <a:ext cx="106680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hi-IN" sz="1600">
                <a:solidFill>
                  <a:srgbClr val="F1F5F9"/>
                </a:solidFill>
                <a:latin typeface="Segoe UI" panose="020B0502040204020203" pitchFamily="34" charset="0"/>
              </a:rPr>
              <a:t>प्रथम स्वतंत्रता संग्राम (</a:t>
            </a:r>
            <a:r>
              <a:rPr lang="en-IN" sz="1600">
                <a:solidFill>
                  <a:srgbClr val="F1F5F9"/>
                </a:solidFill>
                <a:latin typeface="Segoe UI" panose="020B0502040204020203" pitchFamily="34" charset="0"/>
              </a:rPr>
              <a:t>The Revolt of 1857)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318407B-F36B-F264-52E4-42E7A3577776}"/>
              </a:ext>
            </a:extLst>
          </p:cNvPr>
          <p:cNvSpPr/>
          <p:nvPr/>
        </p:nvSpPr>
        <p:spPr>
          <a:xfrm>
            <a:off x="2921000" y="5232400"/>
            <a:ext cx="6350000" cy="711200"/>
          </a:xfrm>
          <a:prstGeom prst="roundRect">
            <a:avLst/>
          </a:prstGeom>
          <a:solidFill>
            <a:srgbClr val="064E3B"/>
          </a:solidFill>
          <a:ln w="1905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1E5881-85CE-1492-C195-0B7C5FBBAD4F}"/>
              </a:ext>
            </a:extLst>
          </p:cNvPr>
          <p:cNvSpPr txBox="1"/>
          <p:nvPr/>
        </p:nvSpPr>
        <p:spPr>
          <a:xfrm>
            <a:off x="2984500" y="5359400"/>
            <a:ext cx="6223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मार्गदर्शक: श्रवण कुमार 'सागर'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Sagar Sir)  |  sagarcoaching.tech</a:t>
            </a:r>
          </a:p>
        </p:txBody>
      </p:sp>
    </p:spTree>
    <p:extLst>
      <p:ext uri="{BB962C8B-B14F-4D97-AF65-F5344CB8AC3E}">
        <p14:creationId xmlns:p14="http://schemas.microsoft.com/office/powerpoint/2010/main" val="20558749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814F1D6-08B8-BED6-9959-D71B6B7CFF56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8ED691-A8B3-CF7C-BA82-30B86B5D78C4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दृश्य 1: बारूद का ढेर — 1857 से पहले का सुलगता भारत (</a:t>
            </a:r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Pre-1857 Background)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C184CEB-2341-9D72-A1B7-86FFB71E4FCB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135EF2-D612-9D4C-7083-923663570533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गुलामी की जंजीरें जब हद से ज्यादा कसने लगीं, अंग्रेजों की करतूतों पर मौत भी हंसने लगी!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C10510D-7318-2DEF-54A0-49E25676F691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244600"/>
            <a:ext cx="5207000" cy="5016500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AB30C65-FF37-CDA9-67F0-E2E08E354425}"/>
              </a:ext>
            </a:extLst>
          </p:cNvPr>
          <p:cNvSpPr/>
          <p:nvPr/>
        </p:nvSpPr>
        <p:spPr>
          <a:xfrm>
            <a:off x="5778500" y="1244600"/>
            <a:ext cx="6032500" cy="355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CF1536-0050-BCB2-BF08-F0B69EE55179}"/>
              </a:ext>
            </a:extLst>
          </p:cNvPr>
          <p:cNvSpPr txBox="1"/>
          <p:nvPr/>
        </p:nvSpPr>
        <p:spPr>
          <a:xfrm>
            <a:off x="5969000" y="1371600"/>
            <a:ext cx="5651500" cy="169277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• लॉर्ड डलहौजी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Lord Dalhousie)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की कुख्यात 'हड़प नीति'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Doctrine of Lapse)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द्वारा सतारा, झांसी, नागपुर का विलय
• 1856 में 'कुशासन'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Misgovernance)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का झूठा आरोप लगाकर अवध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Awadh)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का ब्रिटिश साम्राज्य में विलय
• भारतीय सिपाहियों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Indian Sepoys)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को केवल 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₹7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मासिक वेतन, जबकि अंग्रेज सैनिकों को उच्च पद व भत्ते</a:t>
            </a:r>
            <a:endParaRPr lang="en-IN" sz="1300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DAB3BB7-76B2-1C79-574E-D79AE82B0343}"/>
              </a:ext>
            </a:extLst>
          </p:cNvPr>
          <p:cNvSpPr/>
          <p:nvPr/>
        </p:nvSpPr>
        <p:spPr>
          <a:xfrm>
            <a:off x="5778500" y="4927600"/>
            <a:ext cx="6032500" cy="1333500"/>
          </a:xfrm>
          <a:prstGeom prst="roundRect">
            <a:avLst/>
          </a:prstGeom>
          <a:solidFill>
            <a:srgbClr val="14281E"/>
          </a:solidFill>
          <a:ln w="1905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220C7-3D84-FC80-1E15-E03A96CC4F67}"/>
              </a:ext>
            </a:extLst>
          </p:cNvPr>
          <p:cNvSpPr txBox="1"/>
          <p:nvPr/>
        </p:nvSpPr>
        <p:spPr>
          <a:xfrm>
            <a:off x="5905500" y="5029200"/>
            <a:ext cx="5778500" cy="4770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NMMS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फैक्ट: हड़प नीति (</a:t>
            </a:r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Doctrine of Lapse)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के तहत अंग्रेजों द्वारा हड़पा गया पहला राज्य 'सतारा' (</a:t>
            </a:r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Satara - 1848)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था!</a:t>
            </a:r>
            <a:endParaRPr lang="en-IN" sz="1250" b="1">
              <a:solidFill>
                <a:srgbClr val="6EE7B7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6391F94-9983-9829-8230-AF765BD42532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4917792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144B7A8-7C34-96E8-0799-F372C8DA489C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95247C7-3295-1065-BCE2-FDDA79910FE9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दृश्य 2: आग में घी — चर्बी वाले कारतूस (</a:t>
            </a:r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Greased Cartridges) </a:t>
            </a:r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का पर्दाफाश</a:t>
            </a:r>
            <a:endParaRPr lang="en-IN" sz="16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FD7C6CC-C295-0594-EBA0-9089EA0DF301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5C9A18-94AE-5CE7-CA2E-B6856BDF2D55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गाय और सुअर की चर्बी से जब बारूद को सनाया था, अंग्रेजों ने खुद अपनी मौत का फरमान बनाया था!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CF8D20D-3342-F838-DDE3-A2ECCD95851D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244600"/>
            <a:ext cx="5207000" cy="5016500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80A5C08-EA35-45D8-8A18-CDE5E6B1E6A5}"/>
              </a:ext>
            </a:extLst>
          </p:cNvPr>
          <p:cNvSpPr/>
          <p:nvPr/>
        </p:nvSpPr>
        <p:spPr>
          <a:xfrm>
            <a:off x="5778500" y="1244600"/>
            <a:ext cx="6032500" cy="355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D79612-4517-27CA-2081-983BC96C32E7}"/>
              </a:ext>
            </a:extLst>
          </p:cNvPr>
          <p:cNvSpPr txBox="1"/>
          <p:nvPr/>
        </p:nvSpPr>
        <p:spPr>
          <a:xfrm>
            <a:off x="5969000" y="1371600"/>
            <a:ext cx="5651500" cy="169277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• दिसंबर 1856: पुरानी 'ब्राउन बैस'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Brown Bess)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की जगह नई 'एनफील्ड राइफल'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Enfield P-53)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लागू की गई
• कारतूस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Cartridge)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की चिकनी ग्रीस को बंदूक में भरने से पहले दाँतों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Teeth)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से काटना अनिवार्य था
• चर्बी में गाय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Cow -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हिंदू आस्था) व सुअर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Pig -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मुस्लिम आस्था) की वसा से दोनों धर्मों में भीषण रोष</a:t>
            </a:r>
            <a:endParaRPr lang="en-IN" sz="1300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764A862-AD8E-7392-0362-CC25B6E32BA0}"/>
              </a:ext>
            </a:extLst>
          </p:cNvPr>
          <p:cNvSpPr/>
          <p:nvPr/>
        </p:nvSpPr>
        <p:spPr>
          <a:xfrm>
            <a:off x="5778500" y="4927600"/>
            <a:ext cx="6032500" cy="1333500"/>
          </a:xfrm>
          <a:prstGeom prst="roundRect">
            <a:avLst/>
          </a:prstGeom>
          <a:solidFill>
            <a:srgbClr val="14281E"/>
          </a:solidFill>
          <a:ln w="1905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4427621-1CF5-D29A-B768-79C825686A3F}"/>
              </a:ext>
            </a:extLst>
          </p:cNvPr>
          <p:cNvSpPr txBox="1"/>
          <p:nvPr/>
        </p:nvSpPr>
        <p:spPr>
          <a:xfrm>
            <a:off x="5905500" y="5029200"/>
            <a:ext cx="5778500" cy="4770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NMMS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फैक्ट: 1857 के महा-विद्रोह का तात्कालिक कारण (</a:t>
            </a:r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Immediate Cause) '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चर्बी वाले कारतूस' (</a:t>
            </a:r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Greased Cartridges)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ही थे!</a:t>
            </a:r>
            <a:endParaRPr lang="en-IN" sz="1250" b="1">
              <a:solidFill>
                <a:srgbClr val="6EE7B7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F77DBB-DE50-EC0A-789E-9753E2E23452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39677710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56CBCBF-FB26-37BC-8D82-B95F23EBD8D1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DB1D65-7E3E-1DA1-14EC-76C4D7921DA1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दृश्य 3: पहला महा-विस्फोट — अमर बलिदानी मंगल पांडे (</a:t>
            </a:r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Mangal Pandey)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1B084FD-C00A-7688-38C2-4E1AE01594AA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D5C67E-ACEC-0AAF-892D-34130FEB4330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हुकूमत का गुरूर था, बारूद का वो दौर था, अंग्रेजों की छाती पर मंगल पांडे का ज़ोर था!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pic>
        <p:nvPicPr>
          <p:cNvPr id="6" name="mangal_pandey">
            <a:hlinkClick r:id="" action="ppaction://media"/>
            <a:extLst>
              <a:ext uri="{FF2B5EF4-FFF2-40B4-BE49-F238E27FC236}">
                <a16:creationId xmlns:a16="http://schemas.microsoft.com/office/drawing/2014/main" id="{B157446C-DCE6-C871-7B68-0E93BC2FC1D6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81000" y="1244600"/>
            <a:ext cx="8918221" cy="501650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865AFDF-FA82-2EB6-0F51-7121B3736412}"/>
              </a:ext>
            </a:extLst>
          </p:cNvPr>
          <p:cNvSpPr/>
          <p:nvPr/>
        </p:nvSpPr>
        <p:spPr>
          <a:xfrm>
            <a:off x="5778500" y="1244600"/>
            <a:ext cx="6032500" cy="355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E1AC15-5BCD-3FF9-DBB5-62179F971B6C}"/>
              </a:ext>
            </a:extLst>
          </p:cNvPr>
          <p:cNvSpPr txBox="1"/>
          <p:nvPr/>
        </p:nvSpPr>
        <p:spPr>
          <a:xfrm>
            <a:off x="5969000" y="1371600"/>
            <a:ext cx="5651500" cy="169277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• 29 मार्च 1857: बैरकपुर छावनी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Barrackpore Cantonment, Bengal)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में खुला ऐतिहासिक विद्रोह
• 34वीं बंगाल नेटिव इन्फैंट्री (34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th Bengal Native Infantry)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के सिपाही मंगल पांडे द्वारा कारतूस का बहिष्कार
• सार्जेंट मेजर ह्यूसन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Hughson)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पर गोली चलाई; 8 अप्रैल 1857 को मंगल पांडे को फांसी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Hanged)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दी गई</a:t>
            </a:r>
            <a:endParaRPr lang="en-IN" sz="1300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A677E37-2C32-3DC5-2EA6-EC443E96201F}"/>
              </a:ext>
            </a:extLst>
          </p:cNvPr>
          <p:cNvSpPr/>
          <p:nvPr/>
        </p:nvSpPr>
        <p:spPr>
          <a:xfrm>
            <a:off x="5778500" y="4927600"/>
            <a:ext cx="6032500" cy="1333500"/>
          </a:xfrm>
          <a:prstGeom prst="roundRect">
            <a:avLst/>
          </a:prstGeom>
          <a:solidFill>
            <a:srgbClr val="14281E"/>
          </a:solidFill>
          <a:ln w="1905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CE174F0-EF14-CC00-D3FB-1DB8CDCE712E}"/>
              </a:ext>
            </a:extLst>
          </p:cNvPr>
          <p:cNvSpPr txBox="1"/>
          <p:nvPr/>
        </p:nvSpPr>
        <p:spPr>
          <a:xfrm>
            <a:off x="5905500" y="5029200"/>
            <a:ext cx="5778500" cy="4770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NMMS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फैक्ट: मंगल पांडे उत्तर प्रदेश के बलिया (</a:t>
            </a:r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Ballia, UP)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जिले के नगवा गांव के वीर सपूत थे!</a:t>
            </a:r>
            <a:endParaRPr lang="en-IN" sz="1250" b="1">
              <a:solidFill>
                <a:srgbClr val="6EE7B7"/>
              </a:solidFill>
              <a:latin typeface="Segoe U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C30815D-C5B3-4879-0670-5EE9A6F76084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10299881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repeatCount="10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5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remove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9451CF3-7E89-6F2D-2378-364199FC84F3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040503-FBDC-42FC-BFCB-21D589041BF3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दृश्य 4: क्रांति का गुप्त संदेश — कमल का फूल और रोटी (</a:t>
            </a:r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Lotus and Bread)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009D9E-92D7-C0B3-E0D9-8BA2D0A5F550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CC2056-7224-E944-CFF5-322988A38ACC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चुपके से रोटी बंटी, कमल का फूल मुस्काया था, अंग्रेजों को भनक न लगी, क्या तूफ़ान आने वाला था!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8EBDE9C-D03C-AEC9-D2F8-A5016E870FD8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244600"/>
            <a:ext cx="5207000" cy="5016500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805C6AB-C70B-3DC6-B25F-8566FAC0251F}"/>
              </a:ext>
            </a:extLst>
          </p:cNvPr>
          <p:cNvSpPr/>
          <p:nvPr/>
        </p:nvSpPr>
        <p:spPr>
          <a:xfrm>
            <a:off x="5778500" y="1244600"/>
            <a:ext cx="6032500" cy="355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D838C3-C3E9-AF7D-3C69-4953B659E960}"/>
              </a:ext>
            </a:extLst>
          </p:cNvPr>
          <p:cNvSpPr txBox="1"/>
          <p:nvPr/>
        </p:nvSpPr>
        <p:spPr>
          <a:xfrm>
            <a:off x="5969000" y="1371600"/>
            <a:ext cx="5651500" cy="169277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• क्रांति का गुप्त प्रतीक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Secret Symbols): '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लाल कमल का फूल'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Lotus -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सैनिकों हेतु) व 'चपाती/रोटी'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Bread -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जनता हेतु)
• क्रांति की पूर्व-निर्धारित योजना की तिथि 31 मई 1857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Planned Date: 31 May 1857)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तय की गई थी
• गांव-गांव के चौकीदारों व गुप्त संदेशवाहकों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Secret Messengers)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द्वारा संगठन का देशव्यापी जाल फैलाया गया</a:t>
            </a:r>
            <a:endParaRPr lang="en-IN" sz="1300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1B4AF1E-0774-B9BF-ACEB-163A3C6C691F}"/>
              </a:ext>
            </a:extLst>
          </p:cNvPr>
          <p:cNvSpPr/>
          <p:nvPr/>
        </p:nvSpPr>
        <p:spPr>
          <a:xfrm>
            <a:off x="5778500" y="4927600"/>
            <a:ext cx="6032500" cy="1333500"/>
          </a:xfrm>
          <a:prstGeom prst="roundRect">
            <a:avLst/>
          </a:prstGeom>
          <a:solidFill>
            <a:srgbClr val="14281E"/>
          </a:solidFill>
          <a:ln w="1905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556AF5-51A9-3711-9764-031E4DF1DCCC}"/>
              </a:ext>
            </a:extLst>
          </p:cNvPr>
          <p:cNvSpPr txBox="1"/>
          <p:nvPr/>
        </p:nvSpPr>
        <p:spPr>
          <a:xfrm>
            <a:off x="5905500" y="5029200"/>
            <a:ext cx="5778500" cy="4770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NMMS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फैक्ट: 1857 के प्रथम स्वतंत्रता संग्राम का आधिकारिक प्रतीक चिह्न 'कमल और रोटी' (</a:t>
            </a:r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Lotus and Bread)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था!</a:t>
            </a:r>
            <a:endParaRPr lang="en-IN" sz="1250" b="1">
              <a:solidFill>
                <a:srgbClr val="6EE7B7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3F6190E-B7DC-86B5-43DC-AC4CB7D97B6F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2330158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221D8AD-07A6-2BF0-090F-5F92811DF051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89735D-D8F1-75E1-DBD9-B9422D4BADB3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दृश्य 5: 10 मई 1857 — मेरठ का महा-विद्रोह (</a:t>
            </a:r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Meerut Mutiny) </a:t>
            </a:r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और दिल्ली कूच</a:t>
            </a:r>
            <a:endParaRPr lang="en-IN" sz="16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AA890BB-A607-5529-E21E-A70288602D00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12477D-4A68-C06A-4254-9D7B72B39371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मेरठ की चिंगारी ने ऐसा शोला भड़काया, रातों-रात दिल्ली जाकर अंग्रेजों का तख्त हिलाया!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pic>
        <p:nvPicPr>
          <p:cNvPr id="6" name="delhi_red_fort_march">
            <a:hlinkClick r:id="" action="ppaction://media"/>
            <a:extLst>
              <a:ext uri="{FF2B5EF4-FFF2-40B4-BE49-F238E27FC236}">
                <a16:creationId xmlns:a16="http://schemas.microsoft.com/office/drawing/2014/main" id="{F6F7A4DC-8C24-62D8-1CE2-E48AD68605D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81000" y="1244600"/>
            <a:ext cx="8918221" cy="501650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F21C9AF-52B3-0AF2-645F-1C56F42D7374}"/>
              </a:ext>
            </a:extLst>
          </p:cNvPr>
          <p:cNvSpPr/>
          <p:nvPr/>
        </p:nvSpPr>
        <p:spPr>
          <a:xfrm>
            <a:off x="5778500" y="1244600"/>
            <a:ext cx="6032500" cy="355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DCD8F1-32EA-2AEF-C635-81A4BF7C6132}"/>
              </a:ext>
            </a:extLst>
          </p:cNvPr>
          <p:cNvSpPr txBox="1"/>
          <p:nvPr/>
        </p:nvSpPr>
        <p:spPr>
          <a:xfrm>
            <a:off x="5969000" y="1371600"/>
            <a:ext cx="5651500" cy="169277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• 9 मई 1857: 85 भारतीय घुड़सवार सैनिकों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Cavalry Soldiers)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को 10-10 वर्ष का कठोर कारावास दिया गया
• 10 मई 1857 (रविवार शाम): मेरठ छावनी में खुला विद्रोह, जेल तोड़ी गई, 'मारो फिरंगी को' का उद्घोष
• 11 मई 1857 की सुबह यमुना पुल पार कर दिल्ली के लाल किले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Red Fort, Delhi)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पर ऐतिहासिक अधिकार</a:t>
            </a:r>
            <a:endParaRPr lang="en-IN" sz="1300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2604A7B-A723-B6D2-AC4D-AD79E97126DB}"/>
              </a:ext>
            </a:extLst>
          </p:cNvPr>
          <p:cNvSpPr/>
          <p:nvPr/>
        </p:nvSpPr>
        <p:spPr>
          <a:xfrm>
            <a:off x="5778500" y="4927600"/>
            <a:ext cx="6032500" cy="1333500"/>
          </a:xfrm>
          <a:prstGeom prst="roundRect">
            <a:avLst/>
          </a:prstGeom>
          <a:solidFill>
            <a:srgbClr val="14281E"/>
          </a:solidFill>
          <a:ln w="1905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69F79A-CE23-A088-1F96-DF35E26A046D}"/>
              </a:ext>
            </a:extLst>
          </p:cNvPr>
          <p:cNvSpPr txBox="1"/>
          <p:nvPr/>
        </p:nvSpPr>
        <p:spPr>
          <a:xfrm>
            <a:off x="5905500" y="5029200"/>
            <a:ext cx="5778500" cy="4770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NMMS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फैक्ट: 1857 के स्वतंत्रता संग्राम की औपचारिक शुरुआत 10 मई 1857 (10</a:t>
            </a:r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th May 1857)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को मेरठ से हुई थी!</a:t>
            </a:r>
            <a:endParaRPr lang="en-IN" sz="1250" b="1">
              <a:solidFill>
                <a:srgbClr val="6EE7B7"/>
              </a:solidFill>
              <a:latin typeface="Segoe U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BE2042A-6A8F-76F5-EA35-E453D4BA7436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27920350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repeatCount="10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48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remove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8617D8E-49C7-0B4D-F5DD-3658650FE3C8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6B8830-B9A6-601E-7102-CBC7DA12A591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दृश्य 6: लाल किला और 82 वर्षीय शहंशाह — बहादुर शाह जफर (</a:t>
            </a:r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Bahadur Shah Zafar)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7433186-E9D0-611D-C002-02F29BCA5DA3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F2120A-7CCD-0CEA-56C5-611DBBD59721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उम्र 82 की थी मगर, सीने में हिंदुस्तान था, लाल किले की दीवारों पर फिर से आजादी का ऐलान था!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pic>
        <p:nvPicPr>
          <p:cNvPr id="6" name="bahadur_shah_red_fort">
            <a:hlinkClick r:id="" action="ppaction://media"/>
            <a:extLst>
              <a:ext uri="{FF2B5EF4-FFF2-40B4-BE49-F238E27FC236}">
                <a16:creationId xmlns:a16="http://schemas.microsoft.com/office/drawing/2014/main" id="{4DD1A3B4-0BAD-5E6A-9884-1CC38EC02C90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81000" y="1244600"/>
            <a:ext cx="8918221" cy="501650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CBB8F93-5D57-E761-5840-63DCC158C89F}"/>
              </a:ext>
            </a:extLst>
          </p:cNvPr>
          <p:cNvSpPr/>
          <p:nvPr/>
        </p:nvSpPr>
        <p:spPr>
          <a:xfrm>
            <a:off x="5778500" y="1244600"/>
            <a:ext cx="6032500" cy="355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38E350-CE0B-9664-3DC0-8D71C793521E}"/>
              </a:ext>
            </a:extLst>
          </p:cNvPr>
          <p:cNvSpPr txBox="1"/>
          <p:nvPr/>
        </p:nvSpPr>
        <p:spPr>
          <a:xfrm>
            <a:off x="5969000" y="1371600"/>
            <a:ext cx="5651500" cy="169277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• 82 वर्षीय अंतिम मुग़ल बादशाह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Last Mughal Emperor)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बहादुर शाह जफर को क्रांति का सर्वोच्च नेता घोषित किया गया
• क्रांतिकारियों ने उन्हें 'शहंशाह-ए-हिंदुस्तान'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Emperor of India)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की पदवी से नवाजा
• वास्तविक सैन्य कमान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Military Command)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बरेली से आए अनुभवी सैनिक 'जनरल बख्त खान'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General Bakht Khan)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को सौंपी गई</a:t>
            </a:r>
            <a:endParaRPr lang="en-IN" sz="1300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1E30802-02F8-9433-9D3C-D7433E0A5907}"/>
              </a:ext>
            </a:extLst>
          </p:cNvPr>
          <p:cNvSpPr/>
          <p:nvPr/>
        </p:nvSpPr>
        <p:spPr>
          <a:xfrm>
            <a:off x="5778500" y="4927600"/>
            <a:ext cx="6032500" cy="1333500"/>
          </a:xfrm>
          <a:prstGeom prst="roundRect">
            <a:avLst/>
          </a:prstGeom>
          <a:solidFill>
            <a:srgbClr val="14281E"/>
          </a:solidFill>
          <a:ln w="1905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2AFAB8-E556-5B85-A4C7-707BBEDF2CD6}"/>
              </a:ext>
            </a:extLst>
          </p:cNvPr>
          <p:cNvSpPr txBox="1"/>
          <p:nvPr/>
        </p:nvSpPr>
        <p:spPr>
          <a:xfrm>
            <a:off x="5905500" y="5029200"/>
            <a:ext cx="5778500" cy="4770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NMMS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फैक्ट: विद्रोह के बाद अंतिम मुग़ल बादशाह बहादुर शाह जफर को हुमायूं के मकबरे से पकड़कर 'रंगून' (</a:t>
            </a:r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Rangoon, Myanmar)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निर्वासित किया गया!</a:t>
            </a:r>
            <a:endParaRPr lang="en-IN" sz="1250" b="1">
              <a:solidFill>
                <a:srgbClr val="6EE7B7"/>
              </a:solidFill>
              <a:latin typeface="Segoe U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8BAA31-773E-6DFE-F4C9-8C6EE5E01756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17270808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repeatCount="10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5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remove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E12D0D6-7765-621C-FA01-FE7C5BBE8757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412E41-8630-4787-910D-1C82FB9BE739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दृश्य 7: खूब लड़ी मर्दानी — झांसी की शेरनी रानी लक्ष्मीबाई (</a:t>
            </a:r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Rani Lakshmibai)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E17DA36-D20E-95E6-6530-C87511D8382F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9BC3DA-B611-1A30-174F-E44C67CB0A18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सिंहासन हिल उठे राजवंशों ने भृकुटी तानी थी... खूब लड़ी मर्दानी वह तो झांसी वाली रानी थी!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pic>
        <p:nvPicPr>
          <p:cNvPr id="6" name="rani_lakshmibai">
            <a:hlinkClick r:id="" action="ppaction://media"/>
            <a:extLst>
              <a:ext uri="{FF2B5EF4-FFF2-40B4-BE49-F238E27FC236}">
                <a16:creationId xmlns:a16="http://schemas.microsoft.com/office/drawing/2014/main" id="{D8373344-658A-2130-1317-78B5C5519BC9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81000" y="1244600"/>
            <a:ext cx="8918221" cy="501650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49E9150-7A32-4BAF-22E5-7FFA733F315E}"/>
              </a:ext>
            </a:extLst>
          </p:cNvPr>
          <p:cNvSpPr/>
          <p:nvPr/>
        </p:nvSpPr>
        <p:spPr>
          <a:xfrm>
            <a:off x="5778500" y="1244600"/>
            <a:ext cx="6032500" cy="355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3C3399-3E57-F496-3F26-00DE725BDC60}"/>
              </a:ext>
            </a:extLst>
          </p:cNvPr>
          <p:cNvSpPr txBox="1"/>
          <p:nvPr/>
        </p:nvSpPr>
        <p:spPr>
          <a:xfrm>
            <a:off x="5969000" y="1371600"/>
            <a:ext cx="5651500" cy="169277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• लॉर्ड डलहौजी द्वारा झांसी के अवैध विलय के विरोध में सिंहगर्जना: 'मैं अपनी झांसी कदापि नहीं दूंगी!'
• दत्तक पुत्र दामोदर राव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Adopted Son: Damodar Rao)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को पीठ पर बांधकर रणचंडी बन अंग्रेजों के छक्के छुड़ाए
• 18 जून 1858 को कोटा-की-सराय, ग्वालियर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Gwalior)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में लड़ते हुए वीरांगना ने अमर बलिदान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Martyrdom)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दिया</a:t>
            </a:r>
            <a:endParaRPr lang="en-IN" sz="1300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EF10253-F4ED-ACC3-05E0-9D03BD23CE8D}"/>
              </a:ext>
            </a:extLst>
          </p:cNvPr>
          <p:cNvSpPr/>
          <p:nvPr/>
        </p:nvSpPr>
        <p:spPr>
          <a:xfrm>
            <a:off x="5778500" y="4927600"/>
            <a:ext cx="6032500" cy="1333500"/>
          </a:xfrm>
          <a:prstGeom prst="roundRect">
            <a:avLst/>
          </a:prstGeom>
          <a:solidFill>
            <a:srgbClr val="14281E"/>
          </a:solidFill>
          <a:ln w="1905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F32EA9-2E8F-70AE-BBF0-66FB89C18AD2}"/>
              </a:ext>
            </a:extLst>
          </p:cNvPr>
          <p:cNvSpPr txBox="1"/>
          <p:nvPr/>
        </p:nvSpPr>
        <p:spPr>
          <a:xfrm>
            <a:off x="5905500" y="5029200"/>
            <a:ext cx="5778500" cy="4770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NMMS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फैक्ट: ब्रिटिश सेनापति सर ह्यूरोज़ (</a:t>
            </a:r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Sir Hugh Rose)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ने रानी को 'क्रांतिकारियों में एकमात्र मर्द' (</a:t>
            </a:r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Only Male Leader)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कहा था!</a:t>
            </a:r>
            <a:endParaRPr lang="en-IN" sz="1250" b="1">
              <a:solidFill>
                <a:srgbClr val="6EE7B7"/>
              </a:solidFill>
              <a:latin typeface="Segoe U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28237F-D514-5145-A45F-A8C987F02580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1977189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repeatCount="10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5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remove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7C88AC7-0668-1F0C-6758-1041264BD8BC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51B515-0E04-FD1B-7D50-E8CA1C3D6244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दृश्य 8: बिहार के 80 वर्षीय बब्बर शेर — बाबू कुंवर सिंह (</a:t>
            </a:r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Babu Kunwar Singh)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0C45CC6-1F95-04C7-19C6-4541228B89A2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229B18-B82F-C80E-E955-9ACE5B2C345F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अस्सी बरस की उम्र में जागा जोश पुराना था, सब कहते हैं कुंवर सिंह भी बड़ा वीर मर्दाना था!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pic>
        <p:nvPicPr>
          <p:cNvPr id="6" name="kunwar_singh_ganga">
            <a:hlinkClick r:id="" action="ppaction://media"/>
            <a:extLst>
              <a:ext uri="{FF2B5EF4-FFF2-40B4-BE49-F238E27FC236}">
                <a16:creationId xmlns:a16="http://schemas.microsoft.com/office/drawing/2014/main" id="{DE0F8D24-31C9-77E5-34E5-BB57F4FE520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81000" y="1244600"/>
            <a:ext cx="8918221" cy="501650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FADC186-AB1D-0CD4-7126-27F1CE623348}"/>
              </a:ext>
            </a:extLst>
          </p:cNvPr>
          <p:cNvSpPr/>
          <p:nvPr/>
        </p:nvSpPr>
        <p:spPr>
          <a:xfrm>
            <a:off x="5778500" y="1244600"/>
            <a:ext cx="6032500" cy="355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85BDF4-0EE9-C7DD-6009-C0AEF49930C2}"/>
              </a:ext>
            </a:extLst>
          </p:cNvPr>
          <p:cNvSpPr txBox="1"/>
          <p:nvPr/>
        </p:nvSpPr>
        <p:spPr>
          <a:xfrm>
            <a:off x="5969000" y="1371600"/>
            <a:ext cx="5651500" cy="169277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• बिहार के जगदीशपुर/आरा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Jagdishpur, Bihar)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में 80 वर्षीय बाबू कुंवर सिंह का अदम्य शौर्य व छापामार युद्ध
• गंगा पार करते समय गोली लगने पर अपनी कटी कलाई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Hand)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मां गंगा को समर्पित कर दी
• कानपुर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Kanpur)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में नाना साहेब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Nana Saheb)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और गुरिल्ला युद्ध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Guerrilla Warfare)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के उस्ताद तात्या टोपे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Tatya Tope)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का पराक्रम</a:t>
            </a:r>
            <a:endParaRPr lang="en-IN" sz="1300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1E72097-5C73-5F03-F0CF-E7D252824B09}"/>
              </a:ext>
            </a:extLst>
          </p:cNvPr>
          <p:cNvSpPr/>
          <p:nvPr/>
        </p:nvSpPr>
        <p:spPr>
          <a:xfrm>
            <a:off x="5778500" y="4927600"/>
            <a:ext cx="6032500" cy="1333500"/>
          </a:xfrm>
          <a:prstGeom prst="roundRect">
            <a:avLst/>
          </a:prstGeom>
          <a:solidFill>
            <a:srgbClr val="14281E"/>
          </a:solidFill>
          <a:ln w="1905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C9C9127-0C79-EE25-51EE-7841CFD9EAB9}"/>
              </a:ext>
            </a:extLst>
          </p:cNvPr>
          <p:cNvSpPr txBox="1"/>
          <p:nvPr/>
        </p:nvSpPr>
        <p:spPr>
          <a:xfrm>
            <a:off x="5905500" y="5029200"/>
            <a:ext cx="5778500" cy="4770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NMMS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फैक्ट: तात्या टोपे का वास्तविक नाम 'रामचंद्र पांडुरंग' (</a:t>
            </a:r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Ramchandra Pandurang)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था!</a:t>
            </a:r>
            <a:endParaRPr lang="en-IN" sz="1250" b="1">
              <a:solidFill>
                <a:srgbClr val="6EE7B7"/>
              </a:solidFill>
              <a:latin typeface="Segoe U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4FA957-8716-114D-E0C8-BAC19DA40EC0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4016455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repeatCount="10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48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remove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998FE1F-16DE-B57E-DCB8-1830D72ABFF0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C89725-FF4B-4A9E-438E-AB89E44AE3B3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दृश्य 9: परिणाम और सीख — ईस्ट इंडिया कंपनी का अंत (</a:t>
            </a:r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End of Company Rule - 1858)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F327B95-409A-9C5F-3181-048BF1A1C63F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6C3FEB-E4B6-CF31-B56A-17E17C3E4F4F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हार कर भी वो जीत गए, आज़ादी की नींव सजाई थी, 1857 की चिंगारी ने 1947 की अलख जगाई थी!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pic>
        <p:nvPicPr>
          <p:cNvPr id="6" name="mangal_pandey">
            <a:hlinkClick r:id="" action="ppaction://media"/>
            <a:extLst>
              <a:ext uri="{FF2B5EF4-FFF2-40B4-BE49-F238E27FC236}">
                <a16:creationId xmlns:a16="http://schemas.microsoft.com/office/drawing/2014/main" id="{3CBF25EB-E2B3-33EB-EF33-426E74E6B9C4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81000" y="1244600"/>
            <a:ext cx="8918221" cy="501650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15832F4-50D0-91C9-D4AF-DBE493EC9727}"/>
              </a:ext>
            </a:extLst>
          </p:cNvPr>
          <p:cNvSpPr/>
          <p:nvPr/>
        </p:nvSpPr>
        <p:spPr>
          <a:xfrm>
            <a:off x="5778500" y="1244600"/>
            <a:ext cx="6032500" cy="355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72A4B1-07F8-B742-035B-B82CAE05DE47}"/>
              </a:ext>
            </a:extLst>
          </p:cNvPr>
          <p:cNvSpPr txBox="1"/>
          <p:nvPr/>
        </p:nvSpPr>
        <p:spPr>
          <a:xfrm>
            <a:off x="5969000" y="1371600"/>
            <a:ext cx="5651500" cy="169277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• 1858 का भारत शासन अधिनियम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Government of India Act 1858)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ब्रिटिश संसद में पारित हुआ
• 100 वर्ष पुरानी ईस्ट इंडिया कंपनी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East India Company)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का शासन समाप्त; सीधा नियंत्रण ब्रिटिश क्राउन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British Crown)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के अधीन
• गवर्नर जनरल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Governor-General)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का पदनाम बदलकर 'वायसराय' (</a:t>
            </a:r>
            <a:r>
              <a:rPr lang="en-IN" sz="1300">
                <a:solidFill>
                  <a:srgbClr val="F8FAFC"/>
                </a:solidFill>
                <a:latin typeface="Segoe UI" panose="020B0502040204020203" pitchFamily="34" charset="0"/>
              </a:rPr>
              <a:t>Viceroy) </a:t>
            </a:r>
            <a:r>
              <a:rPr lang="hi-IN" sz="1300">
                <a:solidFill>
                  <a:srgbClr val="F8FAFC"/>
                </a:solidFill>
                <a:latin typeface="Segoe UI" panose="020B0502040204020203" pitchFamily="34" charset="0"/>
              </a:rPr>
              <a:t>किया गया</a:t>
            </a:r>
            <a:endParaRPr lang="en-IN" sz="1300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F5858BF-4C40-B3BB-B3FE-66FFF4A84EF3}"/>
              </a:ext>
            </a:extLst>
          </p:cNvPr>
          <p:cNvSpPr/>
          <p:nvPr/>
        </p:nvSpPr>
        <p:spPr>
          <a:xfrm>
            <a:off x="5778500" y="4927600"/>
            <a:ext cx="6032500" cy="1333500"/>
          </a:xfrm>
          <a:prstGeom prst="roundRect">
            <a:avLst/>
          </a:prstGeom>
          <a:solidFill>
            <a:srgbClr val="14281E"/>
          </a:solidFill>
          <a:ln w="1905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6D092D-7326-8AC5-A717-AEEDDAE6372A}"/>
              </a:ext>
            </a:extLst>
          </p:cNvPr>
          <p:cNvSpPr txBox="1"/>
          <p:nvPr/>
        </p:nvSpPr>
        <p:spPr>
          <a:xfrm>
            <a:off x="5905500" y="5029200"/>
            <a:ext cx="5778500" cy="4770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NMMS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फैक्ट: भारत के अंतिम गवर्नर जनरल तथा प्रथम वायसराय 'लॉर्ड कैनिंग' (</a:t>
            </a:r>
            <a:r>
              <a:rPr lang="en-IN" sz="1250" b="1">
                <a:solidFill>
                  <a:srgbClr val="6EE7B7"/>
                </a:solidFill>
                <a:latin typeface="Segoe UI" panose="020B0502040204020203" pitchFamily="34" charset="0"/>
              </a:rPr>
              <a:t>Lord Canning) </a:t>
            </a:r>
            <a:r>
              <a:rPr lang="hi-IN" sz="1250" b="1">
                <a:solidFill>
                  <a:srgbClr val="6EE7B7"/>
                </a:solidFill>
                <a:latin typeface="Segoe UI" panose="020B0502040204020203" pitchFamily="34" charset="0"/>
              </a:rPr>
              <a:t>बने!</a:t>
            </a:r>
            <a:endParaRPr lang="en-IN" sz="1250" b="1">
              <a:solidFill>
                <a:srgbClr val="6EE7B7"/>
              </a:solidFill>
              <a:latin typeface="Segoe U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D8F381-673B-CC13-71C1-365292AE75B7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2964327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repeatCount="10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5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remove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67BA8B6-9624-4220-AE02-77AB011FDF57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A70554A-0A99-836D-485C-D2AA7E3E34D2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PYQ </a:t>
            </a:r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अभ्यास प्रश्न #1  [</a:t>
            </a:r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All India NMMS 2023]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F7A501B-6FCD-B6B6-E1AF-E0F94FB8DAB4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D3C25E-7B04-CA6C-D6FD-53A2C4280AEB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1. 1857 की महान क्रांति का प्रथम बिगुल 10 मई 1857 को किस छावनी से बजा था?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21ED41D-C30C-26E0-CE3F-A2B487D4F53E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0151D8-0D11-18A7-4FE5-AE1C72590A8C}"/>
              </a:ext>
            </a:extLst>
          </p:cNvPr>
          <p:cNvSpPr txBox="1"/>
          <p:nvPr/>
        </p:nvSpPr>
        <p:spPr>
          <a:xfrm>
            <a:off x="6477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(A)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बैरकपुर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98CFF17-D542-E22D-11ED-F5A16302F867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C3FED3-DC92-D110-0C9C-32144F3C45AE}"/>
              </a:ext>
            </a:extLst>
          </p:cNvPr>
          <p:cNvSpPr txBox="1"/>
          <p:nvPr/>
        </p:nvSpPr>
        <p:spPr>
          <a:xfrm>
            <a:off x="64643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(B)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मेरठ छावनी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A5188EE-F7FF-76B2-0E73-C976A909FCFC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033286-BCC7-513F-A8CB-32E510EA180E}"/>
              </a:ext>
            </a:extLst>
          </p:cNvPr>
          <p:cNvSpPr txBox="1"/>
          <p:nvPr/>
        </p:nvSpPr>
        <p:spPr>
          <a:xfrm>
            <a:off x="6477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(C)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दिल्ली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BBABCD8-90DF-78E3-680D-59E8B74B051A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4E4326-8C55-99C2-E26D-54380C0586F1}"/>
              </a:ext>
            </a:extLst>
          </p:cNvPr>
          <p:cNvSpPr txBox="1"/>
          <p:nvPr/>
        </p:nvSpPr>
        <p:spPr>
          <a:xfrm>
            <a:off x="64643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(D)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कानपुर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335659E-4C83-FE1F-2CD7-0E32BEC6A6D7}"/>
              </a:ext>
            </a:extLst>
          </p:cNvPr>
          <p:cNvSpPr/>
          <p:nvPr/>
        </p:nvSpPr>
        <p:spPr>
          <a:xfrm>
            <a:off x="2921000" y="4826000"/>
            <a:ext cx="6350000" cy="711200"/>
          </a:xfrm>
          <a:prstGeom prst="roundRect">
            <a:avLst/>
          </a:prstGeom>
          <a:solidFill>
            <a:srgbClr val="312E81"/>
          </a:solidFill>
          <a:ln w="19050">
            <a:solidFill>
              <a:srgbClr val="6366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488E188-3DEC-C259-C291-F1B84BD1407E}"/>
              </a:ext>
            </a:extLst>
          </p:cNvPr>
          <p:cNvSpPr txBox="1"/>
          <p:nvPr/>
        </p:nvSpPr>
        <p:spPr>
          <a:xfrm>
            <a:off x="2984500" y="4927600"/>
            <a:ext cx="6223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⏱ 10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सेकंड सोचिए और सही विकल्प चुनिए: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A), (B), (C)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D)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B3FABA-2574-FE31-4311-D2AFD7C69BA7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39382001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7450120-D695-6C95-5B72-5CD387F2B2BD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E5AE30-9D8A-1BCC-EA99-67921559DDCA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 b="1">
                <a:solidFill>
                  <a:srgbClr val="10B981"/>
                </a:solidFill>
                <a:latin typeface="Segoe UI" panose="020B0502040204020203" pitchFamily="34" charset="0"/>
              </a:rPr>
              <a:t>PYQ अभ्यास प्रश्न #1  [All India NMMS 2023] - Answer &amp; Explanation</a:t>
            </a:r>
            <a:endParaRPr lang="en-IN" sz="1600" b="1">
              <a:solidFill>
                <a:srgbClr val="10B981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4F365E6-8FA8-AD78-D28E-6446A7943347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93F151-6D68-F1C6-85B9-211E900ADE7E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1. 1857 की महान क्रांति का प्रथम बिगुल 10 मई 1857 को किस छावनी से बजा था?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3230C34-69A0-90CD-E835-0A7FE7D55668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5CC376-03D4-DBF9-6699-C723D9FCC742}"/>
              </a:ext>
            </a:extLst>
          </p:cNvPr>
          <p:cNvSpPr txBox="1"/>
          <p:nvPr/>
        </p:nvSpPr>
        <p:spPr>
          <a:xfrm>
            <a:off x="647700" y="24638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(A)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बैरकपुर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D7B3957-5873-CF43-66FA-952DAD68CAE2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14532D"/>
          </a:solidFill>
          <a:ln w="31750">
            <a:solidFill>
              <a:srgbClr val="22C5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D6B94A-1CD8-8462-F06C-32834A40DD07}"/>
              </a:ext>
            </a:extLst>
          </p:cNvPr>
          <p:cNvSpPr txBox="1"/>
          <p:nvPr/>
        </p:nvSpPr>
        <p:spPr>
          <a:xfrm>
            <a:off x="6464300" y="2463800"/>
            <a:ext cx="50800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600" b="1">
                <a:solidFill>
                  <a:srgbClr val="FDE68A"/>
                </a:solidFill>
                <a:latin typeface="Segoe UI" panose="020B0502040204020203" pitchFamily="34" charset="0"/>
              </a:rPr>
              <a:t>✅  (B)  </a:t>
            </a:r>
            <a:r>
              <a:rPr lang="hi-IN" sz="1600" b="1">
                <a:solidFill>
                  <a:srgbClr val="FDE68A"/>
                </a:solidFill>
                <a:latin typeface="Segoe UI" panose="020B0502040204020203" pitchFamily="34" charset="0"/>
              </a:rPr>
              <a:t>मेरठ छावनी</a:t>
            </a:r>
            <a:endParaRPr lang="en-IN" sz="1600" b="1">
              <a:solidFill>
                <a:srgbClr val="FDE68A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F2EC321-B77D-0A74-F06A-AD647E1D81F2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C83FC6E-01DD-17D9-C5F2-9A591C6323F2}"/>
              </a:ext>
            </a:extLst>
          </p:cNvPr>
          <p:cNvSpPr txBox="1"/>
          <p:nvPr/>
        </p:nvSpPr>
        <p:spPr>
          <a:xfrm>
            <a:off x="6477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(C)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दिल्ली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D782276-C825-C3E8-4481-B3081C42425C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3EAEDA9-C40E-580F-1100-6EB0935DA546}"/>
              </a:ext>
            </a:extLst>
          </p:cNvPr>
          <p:cNvSpPr txBox="1"/>
          <p:nvPr/>
        </p:nvSpPr>
        <p:spPr>
          <a:xfrm>
            <a:off x="64643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(D)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कानपुर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66ABE61-7715-8A91-E664-7942FA7A50BC}"/>
              </a:ext>
            </a:extLst>
          </p:cNvPr>
          <p:cNvSpPr/>
          <p:nvPr/>
        </p:nvSpPr>
        <p:spPr>
          <a:xfrm>
            <a:off x="457200" y="4724400"/>
            <a:ext cx="11277600" cy="1422400"/>
          </a:xfrm>
          <a:prstGeom prst="roundRect">
            <a:avLst/>
          </a:prstGeom>
          <a:solidFill>
            <a:srgbClr val="064E3B"/>
          </a:solidFill>
          <a:ln w="254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F0BD764-F56E-1393-9B2A-5D7F59B12CE6}"/>
              </a:ext>
            </a:extLst>
          </p:cNvPr>
          <p:cNvSpPr txBox="1"/>
          <p:nvPr/>
        </p:nvSpPr>
        <p:spPr>
          <a:xfrm>
            <a:off x="635000" y="4775200"/>
            <a:ext cx="10922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✅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सही उत्तर: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B)   |  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परीक्षा व्याख्या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Exam Explanation):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425B7D0-D5A2-18BF-9C6B-C0EF282B88BD}"/>
              </a:ext>
            </a:extLst>
          </p:cNvPr>
          <p:cNvSpPr txBox="1"/>
          <p:nvPr/>
        </p:nvSpPr>
        <p:spPr>
          <a:xfrm>
            <a:off x="635000" y="5105400"/>
            <a:ext cx="10922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350">
                <a:solidFill>
                  <a:srgbClr val="FFFFFF"/>
                </a:solidFill>
                <a:latin typeface="Segoe UI" panose="020B0502040204020203" pitchFamily="34" charset="0"/>
              </a:rPr>
              <a:t>💡  10 </a:t>
            </a:r>
            <a:r>
              <a:rPr lang="hi-IN" sz="1350">
                <a:solidFill>
                  <a:srgbClr val="FFFFFF"/>
                </a:solidFill>
                <a:latin typeface="Segoe UI" panose="020B0502040204020203" pitchFamily="34" charset="0"/>
              </a:rPr>
              <a:t>मई 1857 को मेरठ छावनी के सैनिकों ने खुला विद्रोह कर 'दिल्ली चलो' का नारा दिया।</a:t>
            </a:r>
            <a:endParaRPr lang="en-IN" sz="135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9001515-5105-201C-9137-BDC8617D428F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6843083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0EB99E-05DA-90F4-FC67-CBAC83F91453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9AF394-DDC2-171C-E15E-60651BED949E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PYQ </a:t>
            </a:r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अभ्यास प्रश्न #2  [</a:t>
            </a:r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Bihar NMMS 2022]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3593AA7-727B-B84C-A507-67F6837C5072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2C437F-44DA-0E3D-5524-6DBF8E622237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2. 1857 की क्रांति के प्रथम बलिदानी सैनिक निम्नलिखित में से कौन थे?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6CDF6DB-C7E5-0505-3004-06BF67E7F2D3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AB5D65-6234-88D1-586E-3A8A20666E84}"/>
              </a:ext>
            </a:extLst>
          </p:cNvPr>
          <p:cNvSpPr txBox="1"/>
          <p:nvPr/>
        </p:nvSpPr>
        <p:spPr>
          <a:xfrm>
            <a:off x="6477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(A)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तात्या टोपे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A896073-F23D-B58F-9AB4-74814EEC2CBB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0A7503-24AA-5C8C-2EE7-380D3C3B6DBB}"/>
              </a:ext>
            </a:extLst>
          </p:cNvPr>
          <p:cNvSpPr txBox="1"/>
          <p:nvPr/>
        </p:nvSpPr>
        <p:spPr>
          <a:xfrm>
            <a:off x="64643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(B)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मंगल पांडे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362B826-D0B5-454D-E093-520D5F176CB1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A5B2AA9-6697-20BD-0B8B-0282E14A77E3}"/>
              </a:ext>
            </a:extLst>
          </p:cNvPr>
          <p:cNvSpPr txBox="1"/>
          <p:nvPr/>
        </p:nvSpPr>
        <p:spPr>
          <a:xfrm>
            <a:off x="6477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(C)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भगत सिंह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41ECE0D-C4A5-9AFA-8B21-869D3193B35F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ED50309-AD6D-F02D-1EE6-64CFA5DA1746}"/>
              </a:ext>
            </a:extLst>
          </p:cNvPr>
          <p:cNvSpPr txBox="1"/>
          <p:nvPr/>
        </p:nvSpPr>
        <p:spPr>
          <a:xfrm>
            <a:off x="64643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(D)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वीर कुंवर सिंह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F2D2F57-38D8-9F8C-4338-C983DBFC17C3}"/>
              </a:ext>
            </a:extLst>
          </p:cNvPr>
          <p:cNvSpPr/>
          <p:nvPr/>
        </p:nvSpPr>
        <p:spPr>
          <a:xfrm>
            <a:off x="2921000" y="4826000"/>
            <a:ext cx="6350000" cy="711200"/>
          </a:xfrm>
          <a:prstGeom prst="roundRect">
            <a:avLst/>
          </a:prstGeom>
          <a:solidFill>
            <a:srgbClr val="312E81"/>
          </a:solidFill>
          <a:ln w="19050">
            <a:solidFill>
              <a:srgbClr val="6366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B9D928C-0D38-F75F-CDC1-8B763872B26B}"/>
              </a:ext>
            </a:extLst>
          </p:cNvPr>
          <p:cNvSpPr txBox="1"/>
          <p:nvPr/>
        </p:nvSpPr>
        <p:spPr>
          <a:xfrm>
            <a:off x="2984500" y="4927600"/>
            <a:ext cx="6223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⏱ 10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सेकंड सोचिए और सही विकल्प चुनिए: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A), (B), (C)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D)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0A2F9C5-F931-1F23-B260-48A22CA9DBC5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10422034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3ED7F3D-1FB5-6259-1D42-BBA9C2543E67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349301-46CD-87FD-1F9C-CF89C3D152BC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600" b="1">
                <a:solidFill>
                  <a:srgbClr val="10B981"/>
                </a:solidFill>
                <a:latin typeface="Segoe UI" panose="020B0502040204020203" pitchFamily="34" charset="0"/>
              </a:rPr>
              <a:t>PYQ </a:t>
            </a:r>
            <a:r>
              <a:rPr lang="hi-IN" sz="1600" b="1">
                <a:solidFill>
                  <a:srgbClr val="10B981"/>
                </a:solidFill>
                <a:latin typeface="Segoe UI" panose="020B0502040204020203" pitchFamily="34" charset="0"/>
              </a:rPr>
              <a:t>अभ्यास प्रश्न #2  [</a:t>
            </a:r>
            <a:r>
              <a:rPr lang="en-IN" sz="1600" b="1">
                <a:solidFill>
                  <a:srgbClr val="10B981"/>
                </a:solidFill>
                <a:latin typeface="Segoe UI" panose="020B0502040204020203" pitchFamily="34" charset="0"/>
              </a:rPr>
              <a:t>Bihar NMMS 2022] - Answer &amp; Explanation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0A66A12-505C-31E1-EAF3-323A53CAA362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722DB6-09E0-00FB-BB1E-6B2110052E26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2. 1857 की क्रांति के प्रथम बलिदानी सैनिक निम्नलिखित में से कौन थे?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86CBD76-5D33-28DF-B015-D213F629BB36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A06713-6DB4-E3BE-84C7-4EF36C38D9E4}"/>
              </a:ext>
            </a:extLst>
          </p:cNvPr>
          <p:cNvSpPr txBox="1"/>
          <p:nvPr/>
        </p:nvSpPr>
        <p:spPr>
          <a:xfrm>
            <a:off x="647700" y="24638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(A)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तात्या टोपे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C364CCE-36F9-DC2F-B651-1EA66E390F82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14532D"/>
          </a:solidFill>
          <a:ln w="31750">
            <a:solidFill>
              <a:srgbClr val="22C5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47AC30-71CA-5798-BE7D-3B3D354AEAF6}"/>
              </a:ext>
            </a:extLst>
          </p:cNvPr>
          <p:cNvSpPr txBox="1"/>
          <p:nvPr/>
        </p:nvSpPr>
        <p:spPr>
          <a:xfrm>
            <a:off x="6464300" y="2463800"/>
            <a:ext cx="50800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600" b="1">
                <a:solidFill>
                  <a:srgbClr val="FDE68A"/>
                </a:solidFill>
                <a:latin typeface="Segoe UI" panose="020B0502040204020203" pitchFamily="34" charset="0"/>
              </a:rPr>
              <a:t>✅  (B)  </a:t>
            </a:r>
            <a:r>
              <a:rPr lang="hi-IN" sz="1600" b="1">
                <a:solidFill>
                  <a:srgbClr val="FDE68A"/>
                </a:solidFill>
                <a:latin typeface="Segoe UI" panose="020B0502040204020203" pitchFamily="34" charset="0"/>
              </a:rPr>
              <a:t>मंगल पांडे</a:t>
            </a:r>
            <a:endParaRPr lang="en-IN" sz="1600" b="1">
              <a:solidFill>
                <a:srgbClr val="FDE68A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167F18E-8420-BF14-5936-CC7242776DA3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857768-127C-CA36-E9A0-AA0FEAB2C942}"/>
              </a:ext>
            </a:extLst>
          </p:cNvPr>
          <p:cNvSpPr txBox="1"/>
          <p:nvPr/>
        </p:nvSpPr>
        <p:spPr>
          <a:xfrm>
            <a:off x="6477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(C)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भगत सिंह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FD6D36D-90E2-7EE8-6E84-1901B3ACCD1B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AB9A31-EF23-A900-EF9D-D3BB1F53687E}"/>
              </a:ext>
            </a:extLst>
          </p:cNvPr>
          <p:cNvSpPr txBox="1"/>
          <p:nvPr/>
        </p:nvSpPr>
        <p:spPr>
          <a:xfrm>
            <a:off x="64643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(D)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वीर कुंवर सिंह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2176F4D-426B-8CBD-A30F-4B9D589BDB20}"/>
              </a:ext>
            </a:extLst>
          </p:cNvPr>
          <p:cNvSpPr/>
          <p:nvPr/>
        </p:nvSpPr>
        <p:spPr>
          <a:xfrm>
            <a:off x="457200" y="4724400"/>
            <a:ext cx="11277600" cy="1422400"/>
          </a:xfrm>
          <a:prstGeom prst="roundRect">
            <a:avLst/>
          </a:prstGeom>
          <a:solidFill>
            <a:srgbClr val="064E3B"/>
          </a:solidFill>
          <a:ln w="254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EB827AE-D1DB-2C51-EED8-AA1274322474}"/>
              </a:ext>
            </a:extLst>
          </p:cNvPr>
          <p:cNvSpPr txBox="1"/>
          <p:nvPr/>
        </p:nvSpPr>
        <p:spPr>
          <a:xfrm>
            <a:off x="635000" y="4775200"/>
            <a:ext cx="10922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✅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सही उत्तर: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B)   |  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परीक्षा व्याख्या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Exam Explanation):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0EDA767-DAF8-23CF-808E-0179D52FBA16}"/>
              </a:ext>
            </a:extLst>
          </p:cNvPr>
          <p:cNvSpPr txBox="1"/>
          <p:nvPr/>
        </p:nvSpPr>
        <p:spPr>
          <a:xfrm>
            <a:off x="635000" y="5105400"/>
            <a:ext cx="10922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350">
                <a:solidFill>
                  <a:srgbClr val="FFFFFF"/>
                </a:solidFill>
                <a:latin typeface="Segoe UI" panose="020B0502040204020203" pitchFamily="34" charset="0"/>
              </a:rPr>
              <a:t>💡  </a:t>
            </a:r>
            <a:r>
              <a:rPr lang="hi-IN" sz="1350">
                <a:solidFill>
                  <a:srgbClr val="FFFFFF"/>
                </a:solidFill>
                <a:latin typeface="Segoe UI" panose="020B0502040204020203" pitchFamily="34" charset="0"/>
              </a:rPr>
              <a:t>बैरकपुर छावनी के 34वीं इन्फैंट्री के सैनिक मंगल पांडे को 8 अप्रैल 1857 को फांसी दी गई।</a:t>
            </a:r>
            <a:endParaRPr lang="en-IN" sz="135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5EE762-40C7-C7BC-AAFC-E0CF561FF85C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13298264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317FE8B-5D4A-1DE0-3512-4B6331943D1D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85D8D8-DB4C-D739-6EDB-78B3F4D0FF03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PYQ </a:t>
            </a:r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अभ्यास प्रश्न #3  [</a:t>
            </a:r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UP NMMS 2024]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EA6F294-C444-D786-795E-0F2ED6983F5D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A65E41-7861-7918-2B40-6D863129AB75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3. 1857 की क्रांति का सबसे प्रमुख तात्कालिक कारण (</a:t>
            </a:r>
            <a:r>
              <a:rPr lang="en-IN" sz="1650" b="1">
                <a:solidFill>
                  <a:srgbClr val="FFFFFF"/>
                </a:solidFill>
                <a:latin typeface="Segoe UI" panose="020B0502040204020203" pitchFamily="34" charset="0"/>
              </a:rPr>
              <a:t>Immediate Cause) </a:t>
            </a:r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क्या था?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E64CD21-66E9-47B8-047D-565A39176245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73CE49-28FA-A5B8-F509-F21E247C2136}"/>
              </a:ext>
            </a:extLst>
          </p:cNvPr>
          <p:cNvSpPr txBox="1"/>
          <p:nvPr/>
        </p:nvSpPr>
        <p:spPr>
          <a:xfrm>
            <a:off x="6477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(A)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चर्बी वाले नए कारतूस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E01751F-70DF-081D-5569-87AE8FFB67B6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CA4B65-0707-3A8E-7282-378CD4D90B68}"/>
              </a:ext>
            </a:extLst>
          </p:cNvPr>
          <p:cNvSpPr txBox="1"/>
          <p:nvPr/>
        </p:nvSpPr>
        <p:spPr>
          <a:xfrm>
            <a:off x="64643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(B)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भारी लगान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216B812-74DC-D67C-9E96-6A106328D383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526C8D-D7B3-36CC-BADB-76EECEBA7846}"/>
              </a:ext>
            </a:extLst>
          </p:cNvPr>
          <p:cNvSpPr txBox="1"/>
          <p:nvPr/>
        </p:nvSpPr>
        <p:spPr>
          <a:xfrm>
            <a:off x="6477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(C)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सती प्रथा का अंत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84ADB27-A62B-F543-CE04-1DC48EE1C7AE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D9A9B9-97AC-618A-C085-499818924118}"/>
              </a:ext>
            </a:extLst>
          </p:cNvPr>
          <p:cNvSpPr txBox="1"/>
          <p:nvPr/>
        </p:nvSpPr>
        <p:spPr>
          <a:xfrm>
            <a:off x="64643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(D)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रेलवे का निर्माण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C9D06BD-EC8E-D9A5-DEB3-3185B23ADA03}"/>
              </a:ext>
            </a:extLst>
          </p:cNvPr>
          <p:cNvSpPr/>
          <p:nvPr/>
        </p:nvSpPr>
        <p:spPr>
          <a:xfrm>
            <a:off x="2921000" y="4826000"/>
            <a:ext cx="6350000" cy="711200"/>
          </a:xfrm>
          <a:prstGeom prst="roundRect">
            <a:avLst/>
          </a:prstGeom>
          <a:solidFill>
            <a:srgbClr val="312E81"/>
          </a:solidFill>
          <a:ln w="19050">
            <a:solidFill>
              <a:srgbClr val="6366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318365-C43A-4A6A-3429-BCE1A9F09C60}"/>
              </a:ext>
            </a:extLst>
          </p:cNvPr>
          <p:cNvSpPr txBox="1"/>
          <p:nvPr/>
        </p:nvSpPr>
        <p:spPr>
          <a:xfrm>
            <a:off x="2984500" y="4927600"/>
            <a:ext cx="6223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⏱ 10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सेकंड सोचिए और सही विकल्प चुनिए: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A), (B), (C)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D)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5A7F631-EFD2-EFBA-049E-717B0E2294FF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30827839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4D8308B-0219-C267-CE46-5EF6D176A37F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9D00FC-EA0F-0B97-6B30-E55C9779500A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 b="1">
                <a:solidFill>
                  <a:srgbClr val="10B981"/>
                </a:solidFill>
                <a:latin typeface="Segoe UI" panose="020B0502040204020203" pitchFamily="34" charset="0"/>
              </a:rPr>
              <a:t>PYQ अभ्यास प्रश्न #3  [UP NMMS 2024] - Answer &amp; Explanation</a:t>
            </a:r>
            <a:endParaRPr lang="en-IN" sz="1600" b="1">
              <a:solidFill>
                <a:srgbClr val="10B981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27BB53D-1547-9AF7-39DA-205A10BB3F5C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9AEBF8-E520-63BA-245E-2C89D1EBD808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3. 1857 की क्रांति का सबसे प्रमुख तात्कालिक कारण (</a:t>
            </a:r>
            <a:r>
              <a:rPr lang="en-IN" sz="1650" b="1">
                <a:solidFill>
                  <a:srgbClr val="FFFFFF"/>
                </a:solidFill>
                <a:latin typeface="Segoe UI" panose="020B0502040204020203" pitchFamily="34" charset="0"/>
              </a:rPr>
              <a:t>Immediate Cause) </a:t>
            </a:r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क्या था?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A1F4756-48CB-A98B-A221-24C949B3BCC7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14532D"/>
          </a:solidFill>
          <a:ln w="31750">
            <a:solidFill>
              <a:srgbClr val="22C5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7BBD8-5657-A53A-7B09-C82185A8F4FC}"/>
              </a:ext>
            </a:extLst>
          </p:cNvPr>
          <p:cNvSpPr txBox="1"/>
          <p:nvPr/>
        </p:nvSpPr>
        <p:spPr>
          <a:xfrm>
            <a:off x="647700" y="2463800"/>
            <a:ext cx="50800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600" b="1">
                <a:solidFill>
                  <a:srgbClr val="FDE68A"/>
                </a:solidFill>
                <a:latin typeface="Segoe UI" panose="020B0502040204020203" pitchFamily="34" charset="0"/>
              </a:rPr>
              <a:t>✅  (A)  </a:t>
            </a:r>
            <a:r>
              <a:rPr lang="hi-IN" sz="1600" b="1">
                <a:solidFill>
                  <a:srgbClr val="FDE68A"/>
                </a:solidFill>
                <a:latin typeface="Segoe UI" panose="020B0502040204020203" pitchFamily="34" charset="0"/>
              </a:rPr>
              <a:t>चर्बी वाले नए कारतूस</a:t>
            </a:r>
            <a:endParaRPr lang="en-IN" sz="1600" b="1">
              <a:solidFill>
                <a:srgbClr val="FDE68A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44D9D8E-0D42-10C3-4A19-093A5F060B76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165A10-15A1-9B8F-3B74-7CCF97FB74CE}"/>
              </a:ext>
            </a:extLst>
          </p:cNvPr>
          <p:cNvSpPr txBox="1"/>
          <p:nvPr/>
        </p:nvSpPr>
        <p:spPr>
          <a:xfrm>
            <a:off x="6464300" y="24638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(B)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भारी लगान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A411C3F-5AEF-1671-C517-7C8ACBEC8EF2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489365-7167-A0A6-1E2D-E3849CE04A28}"/>
              </a:ext>
            </a:extLst>
          </p:cNvPr>
          <p:cNvSpPr txBox="1"/>
          <p:nvPr/>
        </p:nvSpPr>
        <p:spPr>
          <a:xfrm>
            <a:off x="6477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(C)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सती प्रथा का अंत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8E84801-5DBB-79E6-9271-FB10E7F454B1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6E0679D-8B2A-222C-CBDC-98EAA159DD23}"/>
              </a:ext>
            </a:extLst>
          </p:cNvPr>
          <p:cNvSpPr txBox="1"/>
          <p:nvPr/>
        </p:nvSpPr>
        <p:spPr>
          <a:xfrm>
            <a:off x="64643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(D)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रेलवे का निर्माण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FD31549-3586-A897-5DBC-3F7D9D33ED09}"/>
              </a:ext>
            </a:extLst>
          </p:cNvPr>
          <p:cNvSpPr/>
          <p:nvPr/>
        </p:nvSpPr>
        <p:spPr>
          <a:xfrm>
            <a:off x="457200" y="4724400"/>
            <a:ext cx="11277600" cy="1422400"/>
          </a:xfrm>
          <a:prstGeom prst="roundRect">
            <a:avLst/>
          </a:prstGeom>
          <a:solidFill>
            <a:srgbClr val="064E3B"/>
          </a:solidFill>
          <a:ln w="254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73ABB5-335B-026A-AABC-C15276244B56}"/>
              </a:ext>
            </a:extLst>
          </p:cNvPr>
          <p:cNvSpPr txBox="1"/>
          <p:nvPr/>
        </p:nvSpPr>
        <p:spPr>
          <a:xfrm>
            <a:off x="635000" y="4775200"/>
            <a:ext cx="10922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✅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सही उत्तर: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A)   |  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परीक्षा व्याख्या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Exam Explanation):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4A5BF85-0E6A-892B-A5A7-023F6AA6ACB3}"/>
              </a:ext>
            </a:extLst>
          </p:cNvPr>
          <p:cNvSpPr txBox="1"/>
          <p:nvPr/>
        </p:nvSpPr>
        <p:spPr>
          <a:xfrm>
            <a:off x="635000" y="5105400"/>
            <a:ext cx="10922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350">
                <a:solidFill>
                  <a:srgbClr val="FFFFFF"/>
                </a:solidFill>
                <a:latin typeface="Segoe UI" panose="020B0502040204020203" pitchFamily="34" charset="0"/>
              </a:rPr>
              <a:t>💡  </a:t>
            </a:r>
            <a:r>
              <a:rPr lang="hi-IN" sz="1350">
                <a:solidFill>
                  <a:srgbClr val="FFFFFF"/>
                </a:solidFill>
                <a:latin typeface="Segoe UI" panose="020B0502040204020203" pitchFamily="34" charset="0"/>
              </a:rPr>
              <a:t>एनफील्ड राइफल के कारतूसों में गाय और सूअर की चर्बी की बात तात्कालिक चिंगारी बनी।</a:t>
            </a:r>
            <a:endParaRPr lang="en-IN" sz="135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E5ECDE-C74D-5E95-461C-2560C2F2657A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34214231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3061C42-A485-F48B-E7B7-7DA1F4E004D6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E3720F-CEB5-CF36-D12D-B8419813AF45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PYQ </a:t>
            </a:r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अभ्यास प्रश्न #4  [</a:t>
            </a:r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MP NMMS 2021]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BFDF489-B75F-99DD-C32F-425E643E1FB2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1FB4B4F-E3B5-4087-81DE-C9C013412CA9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4. 1857 की क्रांति के समय अंतिम मुग़ल सम्राट कौन थे, जिन्हें क्रांति का नेता चुना गया?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728424D-F940-B277-22A5-0252B76F1BAC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4E1BFF-A331-8202-671D-5C2FBB467B0D}"/>
              </a:ext>
            </a:extLst>
          </p:cNvPr>
          <p:cNvSpPr txBox="1"/>
          <p:nvPr/>
        </p:nvSpPr>
        <p:spPr>
          <a:xfrm>
            <a:off x="6477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(A)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शाह आलम द्वितीय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1284923-3A28-C82B-C333-BCD0FBFCAEBE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E2CD0B-5887-EC13-B45A-6941C8276919}"/>
              </a:ext>
            </a:extLst>
          </p:cNvPr>
          <p:cNvSpPr txBox="1"/>
          <p:nvPr/>
        </p:nvSpPr>
        <p:spPr>
          <a:xfrm>
            <a:off x="64643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(B)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बहादुर शाह जफर (द्वितीय)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30981B7-8926-95B5-3FBC-50D31B7528A9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2E9316-1B93-9894-6467-53A013E3434F}"/>
              </a:ext>
            </a:extLst>
          </p:cNvPr>
          <p:cNvSpPr txBox="1"/>
          <p:nvPr/>
        </p:nvSpPr>
        <p:spPr>
          <a:xfrm>
            <a:off x="6477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(C)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अकबर द्वितीय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9E26E7E-0342-3313-FF67-3914137250C7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2C62FB-FFC9-FB06-44A8-B08585DBACF5}"/>
              </a:ext>
            </a:extLst>
          </p:cNvPr>
          <p:cNvSpPr txBox="1"/>
          <p:nvPr/>
        </p:nvSpPr>
        <p:spPr>
          <a:xfrm>
            <a:off x="64643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(D)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आलमगीर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CABD27A-B2B3-8887-65B6-BAAFA1745E59}"/>
              </a:ext>
            </a:extLst>
          </p:cNvPr>
          <p:cNvSpPr/>
          <p:nvPr/>
        </p:nvSpPr>
        <p:spPr>
          <a:xfrm>
            <a:off x="2921000" y="4826000"/>
            <a:ext cx="6350000" cy="711200"/>
          </a:xfrm>
          <a:prstGeom prst="roundRect">
            <a:avLst/>
          </a:prstGeom>
          <a:solidFill>
            <a:srgbClr val="312E81"/>
          </a:solidFill>
          <a:ln w="19050">
            <a:solidFill>
              <a:srgbClr val="6366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015870-05C9-A8DD-7543-1CBF1904D4AF}"/>
              </a:ext>
            </a:extLst>
          </p:cNvPr>
          <p:cNvSpPr txBox="1"/>
          <p:nvPr/>
        </p:nvSpPr>
        <p:spPr>
          <a:xfrm>
            <a:off x="2984500" y="4927600"/>
            <a:ext cx="6223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⏱ 10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सेकंड सोचिए और सही विकल्प चुनिए: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A), (B), (C)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D)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239FBF3-B9B3-0C19-06F7-0141F130ACC0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4796055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5FAA3D9-064F-976B-590F-F06994D48E6C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0986A6-D491-C48E-9653-82D41332DB4C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600" b="1">
                <a:solidFill>
                  <a:srgbClr val="10B981"/>
                </a:solidFill>
                <a:latin typeface="Segoe UI" panose="020B0502040204020203" pitchFamily="34" charset="0"/>
              </a:rPr>
              <a:t>PYQ </a:t>
            </a:r>
            <a:r>
              <a:rPr lang="hi-IN" sz="1600" b="1">
                <a:solidFill>
                  <a:srgbClr val="10B981"/>
                </a:solidFill>
                <a:latin typeface="Segoe UI" panose="020B0502040204020203" pitchFamily="34" charset="0"/>
              </a:rPr>
              <a:t>अभ्यास प्रश्न #4  [</a:t>
            </a:r>
            <a:r>
              <a:rPr lang="en-IN" sz="1600" b="1">
                <a:solidFill>
                  <a:srgbClr val="10B981"/>
                </a:solidFill>
                <a:latin typeface="Segoe UI" panose="020B0502040204020203" pitchFamily="34" charset="0"/>
              </a:rPr>
              <a:t>MP NMMS 2021] - Answer &amp; Explanation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8290CCE-0C3F-A640-1D54-6CCD06B001EC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47DE89-F3C0-488B-FE0C-B35C2893920D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4. 1857 की क्रांति के समय अंतिम मुग़ल सम्राट कौन थे, जिन्हें क्रांति का नेता चुना गया?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8BB2EF5-D97B-5CA2-E7BB-B1099E9694E9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6A5329-6147-AD25-45AF-82C58B2D994D}"/>
              </a:ext>
            </a:extLst>
          </p:cNvPr>
          <p:cNvSpPr txBox="1"/>
          <p:nvPr/>
        </p:nvSpPr>
        <p:spPr>
          <a:xfrm>
            <a:off x="647700" y="24638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(A)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शाह आलम द्वितीय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961CFD8-93F2-1A0C-793F-DF7E689A8A23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14532D"/>
          </a:solidFill>
          <a:ln w="31750">
            <a:solidFill>
              <a:srgbClr val="22C5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7C80E2-F506-C927-CA10-AFA050B8FEDB}"/>
              </a:ext>
            </a:extLst>
          </p:cNvPr>
          <p:cNvSpPr txBox="1"/>
          <p:nvPr/>
        </p:nvSpPr>
        <p:spPr>
          <a:xfrm>
            <a:off x="6464300" y="2463800"/>
            <a:ext cx="50800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600" b="1">
                <a:solidFill>
                  <a:srgbClr val="FDE68A"/>
                </a:solidFill>
                <a:latin typeface="Segoe UI" panose="020B0502040204020203" pitchFamily="34" charset="0"/>
              </a:rPr>
              <a:t>✅  (B)  </a:t>
            </a:r>
            <a:r>
              <a:rPr lang="hi-IN" sz="1600" b="1">
                <a:solidFill>
                  <a:srgbClr val="FDE68A"/>
                </a:solidFill>
                <a:latin typeface="Segoe UI" panose="020B0502040204020203" pitchFamily="34" charset="0"/>
              </a:rPr>
              <a:t>बहादुर शाह जफर (द्वितीय)</a:t>
            </a:r>
            <a:endParaRPr lang="en-IN" sz="1600" b="1">
              <a:solidFill>
                <a:srgbClr val="FDE68A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BB6ED22-020E-AD59-2A56-B22C4A0A378C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1BCB9A-259D-AE59-5A7C-F558D963DB14}"/>
              </a:ext>
            </a:extLst>
          </p:cNvPr>
          <p:cNvSpPr txBox="1"/>
          <p:nvPr/>
        </p:nvSpPr>
        <p:spPr>
          <a:xfrm>
            <a:off x="6477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(C)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अकबर द्वितीय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B5591A3-2C0E-A3AC-A7A5-3384A8DC1D35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6E2D11D-66D5-1795-CDEA-8B4440BF4D39}"/>
              </a:ext>
            </a:extLst>
          </p:cNvPr>
          <p:cNvSpPr txBox="1"/>
          <p:nvPr/>
        </p:nvSpPr>
        <p:spPr>
          <a:xfrm>
            <a:off x="64643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(D)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आलमगीर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7BB0C3A-6AD6-9BE3-3A12-51DDA3F7492D}"/>
              </a:ext>
            </a:extLst>
          </p:cNvPr>
          <p:cNvSpPr/>
          <p:nvPr/>
        </p:nvSpPr>
        <p:spPr>
          <a:xfrm>
            <a:off x="457200" y="4724400"/>
            <a:ext cx="11277600" cy="1422400"/>
          </a:xfrm>
          <a:prstGeom prst="roundRect">
            <a:avLst/>
          </a:prstGeom>
          <a:solidFill>
            <a:srgbClr val="064E3B"/>
          </a:solidFill>
          <a:ln w="254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DF735F4-AAE4-9D2A-EC06-7E4DBBB6CDCE}"/>
              </a:ext>
            </a:extLst>
          </p:cNvPr>
          <p:cNvSpPr txBox="1"/>
          <p:nvPr/>
        </p:nvSpPr>
        <p:spPr>
          <a:xfrm>
            <a:off x="635000" y="4775200"/>
            <a:ext cx="10922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✅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सही उत्तर: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B)   |  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परीक्षा व्याख्या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Exam Explanation):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16CB42B-1D67-52BB-887E-9E4326F8D1F1}"/>
              </a:ext>
            </a:extLst>
          </p:cNvPr>
          <p:cNvSpPr txBox="1"/>
          <p:nvPr/>
        </p:nvSpPr>
        <p:spPr>
          <a:xfrm>
            <a:off x="635000" y="5105400"/>
            <a:ext cx="10922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350">
                <a:solidFill>
                  <a:srgbClr val="FFFFFF"/>
                </a:solidFill>
                <a:latin typeface="Segoe UI" panose="020B0502040204020203" pitchFamily="34" charset="0"/>
              </a:rPr>
              <a:t>💡  </a:t>
            </a:r>
            <a:r>
              <a:rPr lang="hi-IN" sz="1350">
                <a:solidFill>
                  <a:srgbClr val="FFFFFF"/>
                </a:solidFill>
                <a:latin typeface="Segoe UI" panose="020B0502040204020203" pitchFamily="34" charset="0"/>
              </a:rPr>
              <a:t>विद्रोहियों ने 82 वर्षीय अंतिम मुग़ल बादशाह बहादुर शाह जफर को भारत का सम्राट घोषित किया था।</a:t>
            </a:r>
            <a:endParaRPr lang="en-IN" sz="135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6EC7368-D503-75F2-E755-47C6C25DA508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8401512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B12CB89-6857-CA17-1B66-C8F11CD07CEF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7F09DA-B9CE-E2D4-614A-B8C0D4C8B26B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PYQ </a:t>
            </a:r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अभ्यास प्रश्न #5  [</a:t>
            </a:r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Bihar NMMS 2024]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1286B6A-6B55-538E-35C9-7FE2C2A17598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A1D7D1-209A-2E68-4D61-3FE39BB0676F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5. 1857 की क्रांति में बिहार के जगदीशपुर (आरा) से नेतृत्व किस वीर योद्धा ने किया था?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7DF6EBF-340A-EF9B-26F5-92588DD2ACC0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E8B6184-7FED-B9CC-0C36-E7CE145AF67B}"/>
              </a:ext>
            </a:extLst>
          </p:cNvPr>
          <p:cNvSpPr txBox="1"/>
          <p:nvPr/>
        </p:nvSpPr>
        <p:spPr>
          <a:xfrm>
            <a:off x="6477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(A)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नाना साहेब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5193F2B-3B59-B0DB-B550-71FF91B29E3D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913500-9862-4F65-F7B4-E881F2C516DE}"/>
              </a:ext>
            </a:extLst>
          </p:cNvPr>
          <p:cNvSpPr txBox="1"/>
          <p:nvPr/>
        </p:nvSpPr>
        <p:spPr>
          <a:xfrm>
            <a:off x="64643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(B)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बाबू वीर कुंवर सिंह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7670E86-6A31-2DDB-4E9E-AD4476BBA55E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44356-1F51-FEF5-7B4D-F3B2EB4414C0}"/>
              </a:ext>
            </a:extLst>
          </p:cNvPr>
          <p:cNvSpPr txBox="1"/>
          <p:nvPr/>
        </p:nvSpPr>
        <p:spPr>
          <a:xfrm>
            <a:off x="6477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(C)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खान बहादुर खां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8CCA440-9892-79B7-5627-569315310DC6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D203DA3-C4B2-D6F1-0759-46C6B5412605}"/>
              </a:ext>
            </a:extLst>
          </p:cNvPr>
          <p:cNvSpPr txBox="1"/>
          <p:nvPr/>
        </p:nvSpPr>
        <p:spPr>
          <a:xfrm>
            <a:off x="64643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(D)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लियाकत अली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59043E6-77A4-76DE-159C-93D1F0540B1D}"/>
              </a:ext>
            </a:extLst>
          </p:cNvPr>
          <p:cNvSpPr/>
          <p:nvPr/>
        </p:nvSpPr>
        <p:spPr>
          <a:xfrm>
            <a:off x="2921000" y="4826000"/>
            <a:ext cx="6350000" cy="711200"/>
          </a:xfrm>
          <a:prstGeom prst="roundRect">
            <a:avLst/>
          </a:prstGeom>
          <a:solidFill>
            <a:srgbClr val="312E81"/>
          </a:solidFill>
          <a:ln w="19050">
            <a:solidFill>
              <a:srgbClr val="6366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8A1292F-6227-0B57-794F-9A44CB89D699}"/>
              </a:ext>
            </a:extLst>
          </p:cNvPr>
          <p:cNvSpPr txBox="1"/>
          <p:nvPr/>
        </p:nvSpPr>
        <p:spPr>
          <a:xfrm>
            <a:off x="2984500" y="4927600"/>
            <a:ext cx="6223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⏱ 10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सेकंड सोचिए और सही विकल्प चुनिए: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A), (B), (C)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D)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627DFF1-FB57-FB71-07C8-E2A644C42957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18121594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2EF0DA3-45A6-E418-A252-90995F499CC0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F1489C-4E5F-D738-35F7-25B790523390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600" b="1">
                <a:solidFill>
                  <a:srgbClr val="10B981"/>
                </a:solidFill>
                <a:latin typeface="Segoe UI" panose="020B0502040204020203" pitchFamily="34" charset="0"/>
              </a:rPr>
              <a:t>PYQ </a:t>
            </a:r>
            <a:r>
              <a:rPr lang="hi-IN" sz="1600" b="1">
                <a:solidFill>
                  <a:srgbClr val="10B981"/>
                </a:solidFill>
                <a:latin typeface="Segoe UI" panose="020B0502040204020203" pitchFamily="34" charset="0"/>
              </a:rPr>
              <a:t>अभ्यास प्रश्न #5  [</a:t>
            </a:r>
            <a:r>
              <a:rPr lang="en-IN" sz="1600" b="1">
                <a:solidFill>
                  <a:srgbClr val="10B981"/>
                </a:solidFill>
                <a:latin typeface="Segoe UI" panose="020B0502040204020203" pitchFamily="34" charset="0"/>
              </a:rPr>
              <a:t>Bihar NMMS 2024] - Answer &amp; Explanation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040132E-F58C-7AD5-3B84-29C84049847B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CF49AA-B470-7FBE-6821-2A4DE4B13018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5. 1857 की क्रांति में बिहार के जगदीशपुर (आरा) से नेतृत्व किस वीर योद्धा ने किया था?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D1372EC-9181-7714-C7ED-0B21A483982B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526D35-2653-EA72-C032-77CA5D3F0B1C}"/>
              </a:ext>
            </a:extLst>
          </p:cNvPr>
          <p:cNvSpPr txBox="1"/>
          <p:nvPr/>
        </p:nvSpPr>
        <p:spPr>
          <a:xfrm>
            <a:off x="647700" y="24638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(A)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नाना साहेब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939F09B-C453-FE8B-C527-FE9856AFAB3A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14532D"/>
          </a:solidFill>
          <a:ln w="31750">
            <a:solidFill>
              <a:srgbClr val="22C5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15A6926-CA82-CC2F-7B30-7671CCBF0CD1}"/>
              </a:ext>
            </a:extLst>
          </p:cNvPr>
          <p:cNvSpPr txBox="1"/>
          <p:nvPr/>
        </p:nvSpPr>
        <p:spPr>
          <a:xfrm>
            <a:off x="6464300" y="2463800"/>
            <a:ext cx="50800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600" b="1">
                <a:solidFill>
                  <a:srgbClr val="FDE68A"/>
                </a:solidFill>
                <a:latin typeface="Segoe UI" panose="020B0502040204020203" pitchFamily="34" charset="0"/>
              </a:rPr>
              <a:t>✅  (B)  </a:t>
            </a:r>
            <a:r>
              <a:rPr lang="hi-IN" sz="1600" b="1">
                <a:solidFill>
                  <a:srgbClr val="FDE68A"/>
                </a:solidFill>
                <a:latin typeface="Segoe UI" panose="020B0502040204020203" pitchFamily="34" charset="0"/>
              </a:rPr>
              <a:t>बाबू वीर कुंवर सिंह</a:t>
            </a:r>
            <a:endParaRPr lang="en-IN" sz="1600" b="1">
              <a:solidFill>
                <a:srgbClr val="FDE68A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4A56905-0B68-A23C-595B-8D1C3BB4AB12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4FDAB19-F74A-3BF1-C06F-1627FF819F3A}"/>
              </a:ext>
            </a:extLst>
          </p:cNvPr>
          <p:cNvSpPr txBox="1"/>
          <p:nvPr/>
        </p:nvSpPr>
        <p:spPr>
          <a:xfrm>
            <a:off x="6477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(C)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खान बहादुर खां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8028A8D-2C84-79EC-EC41-D5B81AA2D05B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30F7B38-550D-FE22-B59E-6C79DEE00D30}"/>
              </a:ext>
            </a:extLst>
          </p:cNvPr>
          <p:cNvSpPr txBox="1"/>
          <p:nvPr/>
        </p:nvSpPr>
        <p:spPr>
          <a:xfrm>
            <a:off x="64643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(D)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लियाकत अली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75A7252-1347-D3F1-E6DB-D19658D35650}"/>
              </a:ext>
            </a:extLst>
          </p:cNvPr>
          <p:cNvSpPr/>
          <p:nvPr/>
        </p:nvSpPr>
        <p:spPr>
          <a:xfrm>
            <a:off x="457200" y="4724400"/>
            <a:ext cx="11277600" cy="1422400"/>
          </a:xfrm>
          <a:prstGeom prst="roundRect">
            <a:avLst/>
          </a:prstGeom>
          <a:solidFill>
            <a:srgbClr val="064E3B"/>
          </a:solidFill>
          <a:ln w="254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9B5A4A5-796D-9B3F-FCDE-EEACA4973E41}"/>
              </a:ext>
            </a:extLst>
          </p:cNvPr>
          <p:cNvSpPr txBox="1"/>
          <p:nvPr/>
        </p:nvSpPr>
        <p:spPr>
          <a:xfrm>
            <a:off x="635000" y="4775200"/>
            <a:ext cx="10922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✅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सही उत्तर: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B)   |  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परीक्षा व्याख्या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Exam Explanation):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2C6B11-B153-3545-699F-8A93B7871A7F}"/>
              </a:ext>
            </a:extLst>
          </p:cNvPr>
          <p:cNvSpPr txBox="1"/>
          <p:nvPr/>
        </p:nvSpPr>
        <p:spPr>
          <a:xfrm>
            <a:off x="635000" y="5105400"/>
            <a:ext cx="10922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350">
                <a:solidFill>
                  <a:srgbClr val="FFFFFF"/>
                </a:solidFill>
                <a:latin typeface="Segoe UI" panose="020B0502040204020203" pitchFamily="34" charset="0"/>
              </a:rPr>
              <a:t>💡  80 </a:t>
            </a:r>
            <a:r>
              <a:rPr lang="hi-IN" sz="1350">
                <a:solidFill>
                  <a:srgbClr val="FFFFFF"/>
                </a:solidFill>
                <a:latin typeface="Segoe UI" panose="020B0502040204020203" pitchFamily="34" charset="0"/>
              </a:rPr>
              <a:t>वर्ष के वृद्ध बाबू वीर कुंवर सिंह ने अदम्य वीरता से अंग्रेजों को हराया था।</a:t>
            </a:r>
            <a:endParaRPr lang="en-IN" sz="135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7C0CDCD-DD4A-359E-3060-DC31FB564C8E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31053585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5CC8E31-BEFE-ADDB-57A3-32A86C601880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37F22E-FAFB-926D-34F3-7C7236ED47E0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PYQ </a:t>
            </a:r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अभ्यास प्रश्न #6  [</a:t>
            </a:r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Rajasthan NMMS 2021]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6F22B65-8772-31BE-9DDC-7BEC42EBC538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6ECE78-3E66-F41E-E7C3-3C6134C33A63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6. झांसी में 1857 की क्रांति का नेतृत्व करने वाली वीरांगना लक्ष्मीबाई के बचपन का नाम क्या था?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47C6560-F3FD-9E1E-9D55-D19C2DD7DE3C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72A6E5-7FFA-5D05-FFEE-4055DF057691}"/>
              </a:ext>
            </a:extLst>
          </p:cNvPr>
          <p:cNvSpPr txBox="1"/>
          <p:nvPr/>
        </p:nvSpPr>
        <p:spPr>
          <a:xfrm>
            <a:off x="6477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(A)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मनु (मणिकर्णिका)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95A8C64-63EE-702F-6E93-C8E0883642C7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698B89-26C3-F3C6-75F6-8970B28C504D}"/>
              </a:ext>
            </a:extLst>
          </p:cNvPr>
          <p:cNvSpPr txBox="1"/>
          <p:nvPr/>
        </p:nvSpPr>
        <p:spPr>
          <a:xfrm>
            <a:off x="64643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(B)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पद्मावती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DE5ED11-2020-81D2-2569-DFFA1CD221CA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39074A-F516-A15A-AE1F-7AE1AECBA32B}"/>
              </a:ext>
            </a:extLst>
          </p:cNvPr>
          <p:cNvSpPr txBox="1"/>
          <p:nvPr/>
        </p:nvSpPr>
        <p:spPr>
          <a:xfrm>
            <a:off x="6477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(C)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जीजाबाई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4132714-5A1B-BE2F-5B09-E54F07C2827B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9B74DD9-ED35-722C-1582-C209C01F291C}"/>
              </a:ext>
            </a:extLst>
          </p:cNvPr>
          <p:cNvSpPr txBox="1"/>
          <p:nvPr/>
        </p:nvSpPr>
        <p:spPr>
          <a:xfrm>
            <a:off x="64643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(D)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अहिल्याबाई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33B6011-AA44-C1E5-971C-A43E32AC7187}"/>
              </a:ext>
            </a:extLst>
          </p:cNvPr>
          <p:cNvSpPr/>
          <p:nvPr/>
        </p:nvSpPr>
        <p:spPr>
          <a:xfrm>
            <a:off x="2921000" y="4826000"/>
            <a:ext cx="6350000" cy="711200"/>
          </a:xfrm>
          <a:prstGeom prst="roundRect">
            <a:avLst/>
          </a:prstGeom>
          <a:solidFill>
            <a:srgbClr val="312E81"/>
          </a:solidFill>
          <a:ln w="19050">
            <a:solidFill>
              <a:srgbClr val="6366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4FA1A4-CAC3-F6E0-1291-DE40C0B32D4C}"/>
              </a:ext>
            </a:extLst>
          </p:cNvPr>
          <p:cNvSpPr txBox="1"/>
          <p:nvPr/>
        </p:nvSpPr>
        <p:spPr>
          <a:xfrm>
            <a:off x="2984500" y="4927600"/>
            <a:ext cx="6223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⏱ 10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सेकंड सोचिए और सही विकल्प चुनिए: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A), (B), (C)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D)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7CD5E0B-1E93-A68E-3208-79EAF0D93DC3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29789520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2E15FC6-047C-D829-E5F9-867D96D2D73E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E69C49-F346-BCF9-A6A5-90A442BFA9E0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600" b="1">
                <a:solidFill>
                  <a:srgbClr val="10B981"/>
                </a:solidFill>
                <a:latin typeface="Segoe UI" panose="020B0502040204020203" pitchFamily="34" charset="0"/>
              </a:rPr>
              <a:t>PYQ </a:t>
            </a:r>
            <a:r>
              <a:rPr lang="hi-IN" sz="1600" b="1">
                <a:solidFill>
                  <a:srgbClr val="10B981"/>
                </a:solidFill>
                <a:latin typeface="Segoe UI" panose="020B0502040204020203" pitchFamily="34" charset="0"/>
              </a:rPr>
              <a:t>अभ्यास प्रश्न #6  [</a:t>
            </a:r>
            <a:r>
              <a:rPr lang="en-IN" sz="1600" b="1">
                <a:solidFill>
                  <a:srgbClr val="10B981"/>
                </a:solidFill>
                <a:latin typeface="Segoe UI" panose="020B0502040204020203" pitchFamily="34" charset="0"/>
              </a:rPr>
              <a:t>Rajasthan NMMS 2021] - Answer &amp; Explanation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B0BCD80-9B65-EA3E-3A47-D93542E68E86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57B781-1E2D-0A36-4137-40AD3D4EFA69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6. झांसी में 1857 की क्रांति का नेतृत्व करने वाली वीरांगना लक्ष्मीबाई के बचपन का नाम क्या था?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D180EA0-568A-FC91-2D56-AF3D27CD5F01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14532D"/>
          </a:solidFill>
          <a:ln w="31750">
            <a:solidFill>
              <a:srgbClr val="22C5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A4067-41ED-3EDB-10AD-11D152898DC7}"/>
              </a:ext>
            </a:extLst>
          </p:cNvPr>
          <p:cNvSpPr txBox="1"/>
          <p:nvPr/>
        </p:nvSpPr>
        <p:spPr>
          <a:xfrm>
            <a:off x="647700" y="2463800"/>
            <a:ext cx="50800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600" b="1">
                <a:solidFill>
                  <a:srgbClr val="FDE68A"/>
                </a:solidFill>
                <a:latin typeface="Segoe UI" panose="020B0502040204020203" pitchFamily="34" charset="0"/>
              </a:rPr>
              <a:t>✅  (A)  </a:t>
            </a:r>
            <a:r>
              <a:rPr lang="hi-IN" sz="1600" b="1">
                <a:solidFill>
                  <a:srgbClr val="FDE68A"/>
                </a:solidFill>
                <a:latin typeface="Segoe UI" panose="020B0502040204020203" pitchFamily="34" charset="0"/>
              </a:rPr>
              <a:t>मनु (मणिकर्णिका)</a:t>
            </a:r>
            <a:endParaRPr lang="en-IN" sz="1600" b="1">
              <a:solidFill>
                <a:srgbClr val="FDE68A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5646593-7BF9-474F-A882-CAAC4C189F6E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E33795-0984-7501-A5AA-CFAF458A1876}"/>
              </a:ext>
            </a:extLst>
          </p:cNvPr>
          <p:cNvSpPr txBox="1"/>
          <p:nvPr/>
        </p:nvSpPr>
        <p:spPr>
          <a:xfrm>
            <a:off x="6464300" y="24638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(B)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पद्मावती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C84F568-B092-8A42-ACAF-331B5C9F5B00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20CDC7-C66F-2D25-32C3-A2F15035E88C}"/>
              </a:ext>
            </a:extLst>
          </p:cNvPr>
          <p:cNvSpPr txBox="1"/>
          <p:nvPr/>
        </p:nvSpPr>
        <p:spPr>
          <a:xfrm>
            <a:off x="6477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(C)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जीजाबाई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53DA1A4-9CBF-DE45-5C5B-756F5CEE8EB0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21A72E7-211A-A4A2-BBAB-4A62932DA4C3}"/>
              </a:ext>
            </a:extLst>
          </p:cNvPr>
          <p:cNvSpPr txBox="1"/>
          <p:nvPr/>
        </p:nvSpPr>
        <p:spPr>
          <a:xfrm>
            <a:off x="64643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(D)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अहिल्याबाई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69BDEE2-82FB-CD9B-A2CC-6265271EEF08}"/>
              </a:ext>
            </a:extLst>
          </p:cNvPr>
          <p:cNvSpPr/>
          <p:nvPr/>
        </p:nvSpPr>
        <p:spPr>
          <a:xfrm>
            <a:off x="457200" y="4724400"/>
            <a:ext cx="11277600" cy="1422400"/>
          </a:xfrm>
          <a:prstGeom prst="roundRect">
            <a:avLst/>
          </a:prstGeom>
          <a:solidFill>
            <a:srgbClr val="064E3B"/>
          </a:solidFill>
          <a:ln w="254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8DD973D-D994-B11A-ABA9-303DFDAA24BA}"/>
              </a:ext>
            </a:extLst>
          </p:cNvPr>
          <p:cNvSpPr txBox="1"/>
          <p:nvPr/>
        </p:nvSpPr>
        <p:spPr>
          <a:xfrm>
            <a:off x="635000" y="4775200"/>
            <a:ext cx="10922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✅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सही उत्तर: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A)   |  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परीक्षा व्याख्या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Exam Explanation):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B031253-3132-CF2F-C470-A5BD19920960}"/>
              </a:ext>
            </a:extLst>
          </p:cNvPr>
          <p:cNvSpPr txBox="1"/>
          <p:nvPr/>
        </p:nvSpPr>
        <p:spPr>
          <a:xfrm>
            <a:off x="635000" y="5105400"/>
            <a:ext cx="10922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350">
                <a:solidFill>
                  <a:srgbClr val="FFFFFF"/>
                </a:solidFill>
                <a:latin typeface="Segoe UI" panose="020B0502040204020203" pitchFamily="34" charset="0"/>
              </a:rPr>
              <a:t>💡  </a:t>
            </a:r>
            <a:r>
              <a:rPr lang="hi-IN" sz="1350">
                <a:solidFill>
                  <a:srgbClr val="FFFFFF"/>
                </a:solidFill>
                <a:latin typeface="Segoe UI" panose="020B0502040204020203" pitchFamily="34" charset="0"/>
              </a:rPr>
              <a:t>रानी लक्ष्मीबाई के बचपन का नाम मणिकर्णिका (मनु) था।</a:t>
            </a:r>
            <a:endParaRPr lang="en-IN" sz="135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A300C2-8370-9D70-52E8-3B8AC24A4DC7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29113783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DEFB4F-AB9D-B9A5-C338-F5A885AB7422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4B7C2A-F9AD-1696-5E5D-0B755380EF07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PYQ </a:t>
            </a:r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अभ्यास प्रश्न #7  [</a:t>
            </a:r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Haryana NMMS 2022]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7904E9B-21FA-B6B2-7700-122A7E996CFE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4E8DF4-BF71-E77D-6EB5-406BA06B02CC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7. 1857 की क्रांति का प्रचार करने हेतु गुप्त प्रतीक चिन्ह क्या तय किया गया था?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670208A-E56F-FF3C-9EF3-5F3022AA23B9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76B652-2343-B1D2-C38A-DD42CCF33D05}"/>
              </a:ext>
            </a:extLst>
          </p:cNvPr>
          <p:cNvSpPr txBox="1"/>
          <p:nvPr/>
        </p:nvSpPr>
        <p:spPr>
          <a:xfrm>
            <a:off x="6477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(A)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तीर और कमान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1945C80-872E-BEFF-BB74-F3A67AD9CDA3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631F6B-98C8-34BF-E1C2-15B1D30A002C}"/>
              </a:ext>
            </a:extLst>
          </p:cNvPr>
          <p:cNvSpPr txBox="1"/>
          <p:nvPr/>
        </p:nvSpPr>
        <p:spPr>
          <a:xfrm>
            <a:off x="64643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(B)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कमल का फूल और रोटी (चपाती)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7F54C06-D1DA-B82E-FE87-D9C6913E7616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57B956-0F79-6233-717A-8E01CD4EEA6C}"/>
              </a:ext>
            </a:extLst>
          </p:cNvPr>
          <p:cNvSpPr txBox="1"/>
          <p:nvPr/>
        </p:nvSpPr>
        <p:spPr>
          <a:xfrm>
            <a:off x="6477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(C)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तलवार और ढाल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00CFCA5-12B6-981D-8F49-22EF66CABF5F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19CF6D2-ACAB-E41D-2AED-67C2C08223C9}"/>
              </a:ext>
            </a:extLst>
          </p:cNvPr>
          <p:cNvSpPr txBox="1"/>
          <p:nvPr/>
        </p:nvSpPr>
        <p:spPr>
          <a:xfrm>
            <a:off x="64643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(D)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तिरंगा झंडा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14ABE6E-3980-0B9D-C3BB-344438405044}"/>
              </a:ext>
            </a:extLst>
          </p:cNvPr>
          <p:cNvSpPr/>
          <p:nvPr/>
        </p:nvSpPr>
        <p:spPr>
          <a:xfrm>
            <a:off x="2921000" y="4826000"/>
            <a:ext cx="6350000" cy="711200"/>
          </a:xfrm>
          <a:prstGeom prst="roundRect">
            <a:avLst/>
          </a:prstGeom>
          <a:solidFill>
            <a:srgbClr val="312E81"/>
          </a:solidFill>
          <a:ln w="19050">
            <a:solidFill>
              <a:srgbClr val="6366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CEE4117-02FF-D766-1171-1A0EE88B47E3}"/>
              </a:ext>
            </a:extLst>
          </p:cNvPr>
          <p:cNvSpPr txBox="1"/>
          <p:nvPr/>
        </p:nvSpPr>
        <p:spPr>
          <a:xfrm>
            <a:off x="2984500" y="4927600"/>
            <a:ext cx="6223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⏱ 10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सेकंड सोचिए और सही विकल्प चुनिए: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A), (B), (C)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D)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DCB389B-669A-A2BA-2E5B-05C3C2DE3463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16044545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BC076A1-6744-1BC2-1CB8-A6C6C59997A2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993B1C-B927-A707-BD8D-2C1ACD65EC52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600" b="1">
                <a:solidFill>
                  <a:srgbClr val="10B981"/>
                </a:solidFill>
                <a:latin typeface="Segoe UI" panose="020B0502040204020203" pitchFamily="34" charset="0"/>
              </a:rPr>
              <a:t>PYQ </a:t>
            </a:r>
            <a:r>
              <a:rPr lang="hi-IN" sz="1600" b="1">
                <a:solidFill>
                  <a:srgbClr val="10B981"/>
                </a:solidFill>
                <a:latin typeface="Segoe UI" panose="020B0502040204020203" pitchFamily="34" charset="0"/>
              </a:rPr>
              <a:t>अभ्यास प्रश्न #7  [</a:t>
            </a:r>
            <a:r>
              <a:rPr lang="en-IN" sz="1600" b="1">
                <a:solidFill>
                  <a:srgbClr val="10B981"/>
                </a:solidFill>
                <a:latin typeface="Segoe UI" panose="020B0502040204020203" pitchFamily="34" charset="0"/>
              </a:rPr>
              <a:t>Haryana NMMS 2022] - Answer &amp; Explanation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7F2B6F6-C63F-DAEC-E8B8-868964138C44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A71EEB-5AF1-BECB-E9BA-8E3D4865EA95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7. 1857 की क्रांति का प्रचार करने हेतु गुप्त प्रतीक चिन्ह क्या तय किया गया था?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1F8DED8-46B4-8749-847A-B17850C12EF3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03554D-B7D9-1FA1-3C60-58B24BC4EF97}"/>
              </a:ext>
            </a:extLst>
          </p:cNvPr>
          <p:cNvSpPr txBox="1"/>
          <p:nvPr/>
        </p:nvSpPr>
        <p:spPr>
          <a:xfrm>
            <a:off x="647700" y="24638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(A)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तीर और कमान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145C42C-B4E2-7F8E-6137-2309D6DD4B6B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14532D"/>
          </a:solidFill>
          <a:ln w="31750">
            <a:solidFill>
              <a:srgbClr val="22C5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16EEFF9-6D33-91B7-E22B-07B141F28890}"/>
              </a:ext>
            </a:extLst>
          </p:cNvPr>
          <p:cNvSpPr txBox="1"/>
          <p:nvPr/>
        </p:nvSpPr>
        <p:spPr>
          <a:xfrm>
            <a:off x="6464300" y="2463800"/>
            <a:ext cx="50800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600" b="1">
                <a:solidFill>
                  <a:srgbClr val="FDE68A"/>
                </a:solidFill>
                <a:latin typeface="Segoe UI" panose="020B0502040204020203" pitchFamily="34" charset="0"/>
              </a:rPr>
              <a:t>✅  (B)  </a:t>
            </a:r>
            <a:r>
              <a:rPr lang="hi-IN" sz="1600" b="1">
                <a:solidFill>
                  <a:srgbClr val="FDE68A"/>
                </a:solidFill>
                <a:latin typeface="Segoe UI" panose="020B0502040204020203" pitchFamily="34" charset="0"/>
              </a:rPr>
              <a:t>कमल का फूल और रोटी (चपाती)</a:t>
            </a:r>
            <a:endParaRPr lang="en-IN" sz="1600" b="1">
              <a:solidFill>
                <a:srgbClr val="FDE68A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55674A5-5FB1-7AD6-51C0-B9FB50136B5C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71F88F-1448-F777-D8EE-D2BAB3BFABEF}"/>
              </a:ext>
            </a:extLst>
          </p:cNvPr>
          <p:cNvSpPr txBox="1"/>
          <p:nvPr/>
        </p:nvSpPr>
        <p:spPr>
          <a:xfrm>
            <a:off x="6477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(C)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तलवार और ढाल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85A71A1-FE4E-080F-8074-E8265D0F536B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9A3ACD7-75CA-93FE-ABEE-92D1394F22F5}"/>
              </a:ext>
            </a:extLst>
          </p:cNvPr>
          <p:cNvSpPr txBox="1"/>
          <p:nvPr/>
        </p:nvSpPr>
        <p:spPr>
          <a:xfrm>
            <a:off x="64643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(D)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तिरंगा झंडा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506A661-D2BA-B642-B0FD-6CA8FBB762E4}"/>
              </a:ext>
            </a:extLst>
          </p:cNvPr>
          <p:cNvSpPr/>
          <p:nvPr/>
        </p:nvSpPr>
        <p:spPr>
          <a:xfrm>
            <a:off x="457200" y="4724400"/>
            <a:ext cx="11277600" cy="1422400"/>
          </a:xfrm>
          <a:prstGeom prst="roundRect">
            <a:avLst/>
          </a:prstGeom>
          <a:solidFill>
            <a:srgbClr val="064E3B"/>
          </a:solidFill>
          <a:ln w="254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612DDF6-9F7B-74B2-949C-D7CC0C0B3AFD}"/>
              </a:ext>
            </a:extLst>
          </p:cNvPr>
          <p:cNvSpPr txBox="1"/>
          <p:nvPr/>
        </p:nvSpPr>
        <p:spPr>
          <a:xfrm>
            <a:off x="635000" y="4775200"/>
            <a:ext cx="10922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✅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सही उत्तर: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B)   |  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परीक्षा व्याख्या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Exam Explanation):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C400AA-6059-4E55-908B-A1A2A1CBE0E7}"/>
              </a:ext>
            </a:extLst>
          </p:cNvPr>
          <p:cNvSpPr txBox="1"/>
          <p:nvPr/>
        </p:nvSpPr>
        <p:spPr>
          <a:xfrm>
            <a:off x="635000" y="5105400"/>
            <a:ext cx="10922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350">
                <a:solidFill>
                  <a:srgbClr val="FFFFFF"/>
                </a:solidFill>
                <a:latin typeface="Segoe UI" panose="020B0502040204020203" pitchFamily="34" charset="0"/>
              </a:rPr>
              <a:t>💡  </a:t>
            </a:r>
            <a:r>
              <a:rPr lang="hi-IN" sz="1350">
                <a:solidFill>
                  <a:srgbClr val="FFFFFF"/>
                </a:solidFill>
                <a:latin typeface="Segoe UI" panose="020B0502040204020203" pitchFamily="34" charset="0"/>
              </a:rPr>
              <a:t>कमल और रोटी गांव-गांव क्रांति का संदेश पहुंचाने का गुप्त माध्यम थे।</a:t>
            </a:r>
            <a:endParaRPr lang="en-IN" sz="135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0D54D32-CC2A-91E1-76CB-2BF1500A2A7A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322029001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FA11671-A0BE-B916-AF31-403D509D40C0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DC8F93-6AB6-ED71-50B7-EE9A8364A44B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PYQ </a:t>
            </a:r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अभ्यास प्रश्न #8  [</a:t>
            </a:r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UP NMMS 2023]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8BFFCB6-F028-016C-63E9-FB84EFBCCAA0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EF6E61-CAFD-32DE-89AB-146554333F1D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8. कानपुर में 1857 की क्रांति का नेतृत्व किसने किया था?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DE22343-2359-72AB-AF24-05EC0065DF63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435CD4-40E2-2C0B-025B-03C2B40EE967}"/>
              </a:ext>
            </a:extLst>
          </p:cNvPr>
          <p:cNvSpPr txBox="1"/>
          <p:nvPr/>
        </p:nvSpPr>
        <p:spPr>
          <a:xfrm>
            <a:off x="6477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(A)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नाना साहेब (धोंधू पंत)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9029714-3476-0084-FE8A-D316F12B69E5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0AF39D-9FB3-F43D-5F78-ADE050907BB2}"/>
              </a:ext>
            </a:extLst>
          </p:cNvPr>
          <p:cNvSpPr txBox="1"/>
          <p:nvPr/>
        </p:nvSpPr>
        <p:spPr>
          <a:xfrm>
            <a:off x="64643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(B)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बहादुर शाह जफर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C038180-6D16-4B60-7811-A186086F97C3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CB35563-82AA-7C66-2588-4A64B0F97686}"/>
              </a:ext>
            </a:extLst>
          </p:cNvPr>
          <p:cNvSpPr txBox="1"/>
          <p:nvPr/>
        </p:nvSpPr>
        <p:spPr>
          <a:xfrm>
            <a:off x="6477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(C)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रानी लक्ष्मीबाई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2B1AF4C-B92A-4B9A-90AF-F819F9EB0360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3343E2E-D865-FF25-E8AF-F3D4F8FB52D3}"/>
              </a:ext>
            </a:extLst>
          </p:cNvPr>
          <p:cNvSpPr txBox="1"/>
          <p:nvPr/>
        </p:nvSpPr>
        <p:spPr>
          <a:xfrm>
            <a:off x="64643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(D)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कुंवर सिंह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C454B76-ECA1-7084-BFDB-C47F2DA31EAB}"/>
              </a:ext>
            </a:extLst>
          </p:cNvPr>
          <p:cNvSpPr/>
          <p:nvPr/>
        </p:nvSpPr>
        <p:spPr>
          <a:xfrm>
            <a:off x="2921000" y="4826000"/>
            <a:ext cx="6350000" cy="711200"/>
          </a:xfrm>
          <a:prstGeom prst="roundRect">
            <a:avLst/>
          </a:prstGeom>
          <a:solidFill>
            <a:srgbClr val="312E81"/>
          </a:solidFill>
          <a:ln w="19050">
            <a:solidFill>
              <a:srgbClr val="6366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4744923-74BC-9F4E-EF59-2C7F25F3BD0B}"/>
              </a:ext>
            </a:extLst>
          </p:cNvPr>
          <p:cNvSpPr txBox="1"/>
          <p:nvPr/>
        </p:nvSpPr>
        <p:spPr>
          <a:xfrm>
            <a:off x="2984500" y="4927600"/>
            <a:ext cx="6223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⏱ 10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सेकंड सोचिए और सही विकल्प चुनिए: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A), (B), (C)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D)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1B2C320-DD5D-97CE-56D3-88EF3E80A948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7195640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E574D3B-0795-4511-D99C-FC314076D21E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6ED8D2A-578A-F99E-D292-7F4D05D50E82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 b="1">
                <a:solidFill>
                  <a:srgbClr val="10B981"/>
                </a:solidFill>
                <a:latin typeface="Segoe UI" panose="020B0502040204020203" pitchFamily="34" charset="0"/>
              </a:rPr>
              <a:t>PYQ अभ्यास प्रश्न #8  [UP NMMS 2023] - Answer &amp; Explanation</a:t>
            </a:r>
            <a:endParaRPr lang="en-IN" sz="1600" b="1">
              <a:solidFill>
                <a:srgbClr val="10B981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4799500-3677-45A4-CAC5-0DC5AAEC54A7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5CA993-5DEC-46AD-686B-F6B2AB59F0D7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8. कानपुर में 1857 की क्रांति का नेतृत्व किसने किया था?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9DEEDE4-7CB3-42A9-8D91-A04862E7492B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14532D"/>
          </a:solidFill>
          <a:ln w="31750">
            <a:solidFill>
              <a:srgbClr val="22C5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223B400-FFA9-6E95-6434-EF5B53422727}"/>
              </a:ext>
            </a:extLst>
          </p:cNvPr>
          <p:cNvSpPr txBox="1"/>
          <p:nvPr/>
        </p:nvSpPr>
        <p:spPr>
          <a:xfrm>
            <a:off x="647700" y="2463800"/>
            <a:ext cx="50800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600" b="1">
                <a:solidFill>
                  <a:srgbClr val="FDE68A"/>
                </a:solidFill>
                <a:latin typeface="Segoe UI" panose="020B0502040204020203" pitchFamily="34" charset="0"/>
              </a:rPr>
              <a:t>✅  (A)  </a:t>
            </a:r>
            <a:r>
              <a:rPr lang="hi-IN" sz="1600" b="1">
                <a:solidFill>
                  <a:srgbClr val="FDE68A"/>
                </a:solidFill>
                <a:latin typeface="Segoe UI" panose="020B0502040204020203" pitchFamily="34" charset="0"/>
              </a:rPr>
              <a:t>नाना साहेब (धोंधू पंत)</a:t>
            </a:r>
            <a:endParaRPr lang="en-IN" sz="1600" b="1">
              <a:solidFill>
                <a:srgbClr val="FDE68A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16BF003-80EC-540E-FD51-E5B2C45C5A32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A518609-6FFE-0969-645A-64350D857AFC}"/>
              </a:ext>
            </a:extLst>
          </p:cNvPr>
          <p:cNvSpPr txBox="1"/>
          <p:nvPr/>
        </p:nvSpPr>
        <p:spPr>
          <a:xfrm>
            <a:off x="6464300" y="24638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(B)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बहादुर शाह जफर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8610349-3D73-A5C1-6FFC-A64309377DF9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893A6FC-8876-5104-1532-7978EED84AF0}"/>
              </a:ext>
            </a:extLst>
          </p:cNvPr>
          <p:cNvSpPr txBox="1"/>
          <p:nvPr/>
        </p:nvSpPr>
        <p:spPr>
          <a:xfrm>
            <a:off x="6477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(C)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रानी लक्ष्मीबाई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2DDC489-DE85-33FA-B134-176067107163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F42BD66-FE8D-39A5-E797-C2808495C211}"/>
              </a:ext>
            </a:extLst>
          </p:cNvPr>
          <p:cNvSpPr txBox="1"/>
          <p:nvPr/>
        </p:nvSpPr>
        <p:spPr>
          <a:xfrm>
            <a:off x="64643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(D)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कुंवर सिंह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FE703BE-505E-3C43-1D0E-DE4A5C9BBEC0}"/>
              </a:ext>
            </a:extLst>
          </p:cNvPr>
          <p:cNvSpPr/>
          <p:nvPr/>
        </p:nvSpPr>
        <p:spPr>
          <a:xfrm>
            <a:off x="457200" y="4724400"/>
            <a:ext cx="11277600" cy="1422400"/>
          </a:xfrm>
          <a:prstGeom prst="roundRect">
            <a:avLst/>
          </a:prstGeom>
          <a:solidFill>
            <a:srgbClr val="064E3B"/>
          </a:solidFill>
          <a:ln w="254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93F8910-6F9A-1B16-4DB6-557C763298D0}"/>
              </a:ext>
            </a:extLst>
          </p:cNvPr>
          <p:cNvSpPr txBox="1"/>
          <p:nvPr/>
        </p:nvSpPr>
        <p:spPr>
          <a:xfrm>
            <a:off x="635000" y="4775200"/>
            <a:ext cx="10922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✅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सही उत्तर: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A)   |  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परीक्षा व्याख्या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Exam Explanation):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F58372A-08ED-4990-CEAB-31B9DA977349}"/>
              </a:ext>
            </a:extLst>
          </p:cNvPr>
          <p:cNvSpPr txBox="1"/>
          <p:nvPr/>
        </p:nvSpPr>
        <p:spPr>
          <a:xfrm>
            <a:off x="635000" y="5105400"/>
            <a:ext cx="10922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350">
                <a:solidFill>
                  <a:srgbClr val="FFFFFF"/>
                </a:solidFill>
                <a:latin typeface="Segoe UI" panose="020B0502040204020203" pitchFamily="34" charset="0"/>
              </a:rPr>
              <a:t>💡  </a:t>
            </a:r>
            <a:r>
              <a:rPr lang="hi-IN" sz="1350">
                <a:solidFill>
                  <a:srgbClr val="FFFFFF"/>
                </a:solidFill>
                <a:latin typeface="Segoe UI" panose="020B0502040204020203" pitchFamily="34" charset="0"/>
              </a:rPr>
              <a:t>पेशवा बाजीराव द्वितीय के दत्तक पुत्र नाना साहेब ने कानपुर से नेतृत्व किया।</a:t>
            </a:r>
            <a:endParaRPr lang="en-IN" sz="135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5B3810-F288-FB42-8726-24418281ADC6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339344044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E902CC3-BCA7-3C4B-42A5-5C9BFC82FE10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D472B4-C6F8-2C73-572A-6D621A355AEA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PYQ </a:t>
            </a:r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अभ्यास प्रश्न #9  [</a:t>
            </a:r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Rajasthan NMMS 2023]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F7C280C-21F8-5D09-CDF6-7BFB0295A354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F65E2A-017A-4148-E715-8E49A1C0F7DA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9. नाना साहेब के प्रसिद्ध और वीर सेनापति का क्या नाम था?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3DE9B72-296B-6263-F84C-4B7C6FE848A3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302268-494A-1BAA-1C07-D23031852925}"/>
              </a:ext>
            </a:extLst>
          </p:cNvPr>
          <p:cNvSpPr txBox="1"/>
          <p:nvPr/>
        </p:nvSpPr>
        <p:spPr>
          <a:xfrm>
            <a:off x="6477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(A)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तात्या टोपे (रामचंद्र पांडुरंग)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6469AD4-DF3D-2094-3DED-F0F69B088FD3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3B2350-0F80-BA4D-A4F3-EE37F04F3759}"/>
              </a:ext>
            </a:extLst>
          </p:cNvPr>
          <p:cNvSpPr txBox="1"/>
          <p:nvPr/>
        </p:nvSpPr>
        <p:spPr>
          <a:xfrm>
            <a:off x="64643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(B)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मंगल पांडे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E264AD1-64BB-FD9E-850B-E3AC01F4B4EA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F50B9DE-686D-7B1F-BCCF-E0DAA33A0B60}"/>
              </a:ext>
            </a:extLst>
          </p:cNvPr>
          <p:cNvSpPr txBox="1"/>
          <p:nvPr/>
        </p:nvSpPr>
        <p:spPr>
          <a:xfrm>
            <a:off x="6477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(C)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बख्त खां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B25DF75-D3C9-6BD6-0905-58BA441D86E9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B0AC1FD-63DB-4854-A652-80D32E912F57}"/>
              </a:ext>
            </a:extLst>
          </p:cNvPr>
          <p:cNvSpPr txBox="1"/>
          <p:nvPr/>
        </p:nvSpPr>
        <p:spPr>
          <a:xfrm>
            <a:off x="64643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(D)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हकीम खां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02A1ED4-1CBA-C2B7-F0F0-7A303404D72D}"/>
              </a:ext>
            </a:extLst>
          </p:cNvPr>
          <p:cNvSpPr/>
          <p:nvPr/>
        </p:nvSpPr>
        <p:spPr>
          <a:xfrm>
            <a:off x="2921000" y="4826000"/>
            <a:ext cx="6350000" cy="711200"/>
          </a:xfrm>
          <a:prstGeom prst="roundRect">
            <a:avLst/>
          </a:prstGeom>
          <a:solidFill>
            <a:srgbClr val="312E81"/>
          </a:solidFill>
          <a:ln w="19050">
            <a:solidFill>
              <a:srgbClr val="6366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A4ECA83-1B1B-EF86-465B-D9738607A62C}"/>
              </a:ext>
            </a:extLst>
          </p:cNvPr>
          <p:cNvSpPr txBox="1"/>
          <p:nvPr/>
        </p:nvSpPr>
        <p:spPr>
          <a:xfrm>
            <a:off x="2984500" y="4927600"/>
            <a:ext cx="6223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⏱ 10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सेकंड सोचिए और सही विकल्प चुनिए: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A), (B), (C)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D)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786AC16-0469-3A66-10D1-29B33B3E7F8D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25832546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24A8ADB-170F-D455-5112-94D9576A76B2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F43BF7-78F8-AC8F-024F-F17B406F95AC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600" b="1">
                <a:solidFill>
                  <a:srgbClr val="10B981"/>
                </a:solidFill>
                <a:latin typeface="Segoe UI" panose="020B0502040204020203" pitchFamily="34" charset="0"/>
              </a:rPr>
              <a:t>PYQ </a:t>
            </a:r>
            <a:r>
              <a:rPr lang="hi-IN" sz="1600" b="1">
                <a:solidFill>
                  <a:srgbClr val="10B981"/>
                </a:solidFill>
                <a:latin typeface="Segoe UI" panose="020B0502040204020203" pitchFamily="34" charset="0"/>
              </a:rPr>
              <a:t>अभ्यास प्रश्न #9  [</a:t>
            </a:r>
            <a:r>
              <a:rPr lang="en-IN" sz="1600" b="1">
                <a:solidFill>
                  <a:srgbClr val="10B981"/>
                </a:solidFill>
                <a:latin typeface="Segoe UI" panose="020B0502040204020203" pitchFamily="34" charset="0"/>
              </a:rPr>
              <a:t>Rajasthan NMMS 2023] - Answer &amp; Explanation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DD85AA5-9808-9F93-F0E6-C625EF0514B5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5A85DB-8BBA-AFD0-48B3-368D4EB9E405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9. नाना साहेब के प्रसिद्ध और वीर सेनापति का क्या नाम था?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B34C585-29EA-574A-F579-8ADAB8DB2631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14532D"/>
          </a:solidFill>
          <a:ln w="31750">
            <a:solidFill>
              <a:srgbClr val="22C5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B578E1-201A-B9E0-3750-8C3BBC872E9D}"/>
              </a:ext>
            </a:extLst>
          </p:cNvPr>
          <p:cNvSpPr txBox="1"/>
          <p:nvPr/>
        </p:nvSpPr>
        <p:spPr>
          <a:xfrm>
            <a:off x="647700" y="2463800"/>
            <a:ext cx="50800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600" b="1">
                <a:solidFill>
                  <a:srgbClr val="FDE68A"/>
                </a:solidFill>
                <a:latin typeface="Segoe UI" panose="020B0502040204020203" pitchFamily="34" charset="0"/>
              </a:rPr>
              <a:t>✅  (A)  </a:t>
            </a:r>
            <a:r>
              <a:rPr lang="hi-IN" sz="1600" b="1">
                <a:solidFill>
                  <a:srgbClr val="FDE68A"/>
                </a:solidFill>
                <a:latin typeface="Segoe UI" panose="020B0502040204020203" pitchFamily="34" charset="0"/>
              </a:rPr>
              <a:t>तात्या टोपे (रामचंद्र पांडुरंग)</a:t>
            </a:r>
            <a:endParaRPr lang="en-IN" sz="1600" b="1">
              <a:solidFill>
                <a:srgbClr val="FDE68A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A0F27F7-2FDE-E5A1-E35E-C6E0F8C73092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FE7C76-FA6F-53DC-D828-87F4288E4FC9}"/>
              </a:ext>
            </a:extLst>
          </p:cNvPr>
          <p:cNvSpPr txBox="1"/>
          <p:nvPr/>
        </p:nvSpPr>
        <p:spPr>
          <a:xfrm>
            <a:off x="6464300" y="24638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(B)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मंगल पांडे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96432EC-F6BA-0A5E-37BE-B60A6CDF1B10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E9A100-56FF-B437-EE54-E8E0163BCC6F}"/>
              </a:ext>
            </a:extLst>
          </p:cNvPr>
          <p:cNvSpPr txBox="1"/>
          <p:nvPr/>
        </p:nvSpPr>
        <p:spPr>
          <a:xfrm>
            <a:off x="6477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(C)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बख्त खां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FDE52EA-AB5F-9D50-70FB-8BB90F60B373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4C82856-8430-0D5D-DA04-3449BF0637DE}"/>
              </a:ext>
            </a:extLst>
          </p:cNvPr>
          <p:cNvSpPr txBox="1"/>
          <p:nvPr/>
        </p:nvSpPr>
        <p:spPr>
          <a:xfrm>
            <a:off x="64643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(D)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हकीम खां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2729F2B-C8E8-9EE3-F278-63BAC2428AD8}"/>
              </a:ext>
            </a:extLst>
          </p:cNvPr>
          <p:cNvSpPr/>
          <p:nvPr/>
        </p:nvSpPr>
        <p:spPr>
          <a:xfrm>
            <a:off x="457200" y="4724400"/>
            <a:ext cx="11277600" cy="1422400"/>
          </a:xfrm>
          <a:prstGeom prst="roundRect">
            <a:avLst/>
          </a:prstGeom>
          <a:solidFill>
            <a:srgbClr val="064E3B"/>
          </a:solidFill>
          <a:ln w="254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55687FF-5626-5B33-4001-FC48091B1722}"/>
              </a:ext>
            </a:extLst>
          </p:cNvPr>
          <p:cNvSpPr txBox="1"/>
          <p:nvPr/>
        </p:nvSpPr>
        <p:spPr>
          <a:xfrm>
            <a:off x="635000" y="4775200"/>
            <a:ext cx="10922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✅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सही उत्तर: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A)   |  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परीक्षा व्याख्या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Exam Explanation):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CD9901-96B7-5F99-758A-DC5766D17874}"/>
              </a:ext>
            </a:extLst>
          </p:cNvPr>
          <p:cNvSpPr txBox="1"/>
          <p:nvPr/>
        </p:nvSpPr>
        <p:spPr>
          <a:xfrm>
            <a:off x="635000" y="5105400"/>
            <a:ext cx="10922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350">
                <a:solidFill>
                  <a:srgbClr val="FFFFFF"/>
                </a:solidFill>
                <a:latin typeface="Segoe UI" panose="020B0502040204020203" pitchFamily="34" charset="0"/>
              </a:rPr>
              <a:t>💡  </a:t>
            </a:r>
            <a:r>
              <a:rPr lang="hi-IN" sz="1350">
                <a:solidFill>
                  <a:srgbClr val="FFFFFF"/>
                </a:solidFill>
                <a:latin typeface="Segoe UI" panose="020B0502040204020203" pitchFamily="34" charset="0"/>
              </a:rPr>
              <a:t>तात्या टोपे नाना साहेब के मुख्य सेनापति थे और छापामार युद्ध में निपुण थे।</a:t>
            </a:r>
            <a:endParaRPr lang="en-IN" sz="135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2AB1FC-0235-4591-A7BC-6B66A13D1AA6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7140639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50CC366-2C42-2443-DF8F-DD792246AF41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5CDFD6-0636-0B15-DDB7-B5B688A7B2D0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PYQ </a:t>
            </a:r>
            <a:r>
              <a:rPr lang="hi-IN" sz="1600" b="1">
                <a:solidFill>
                  <a:srgbClr val="F59E0B"/>
                </a:solidFill>
                <a:latin typeface="Segoe UI" panose="020B0502040204020203" pitchFamily="34" charset="0"/>
              </a:rPr>
              <a:t>अभ्यास प्रश्न #10  [</a:t>
            </a:r>
            <a:r>
              <a:rPr lang="en-IN" sz="1600" b="1">
                <a:solidFill>
                  <a:srgbClr val="F59E0B"/>
                </a:solidFill>
                <a:latin typeface="Segoe UI" panose="020B0502040204020203" pitchFamily="34" charset="0"/>
              </a:rPr>
              <a:t>Bihar NMMS 2023]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1E4F4DE-C87C-05B7-830F-319938EE1718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24396E-A33B-AFC3-DD9D-DC232E096473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10. लखनऊ (अवध) में 1857 की क्रांति का नेतृत्व किस साहसी महिला ने किया था?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63DEC1A-0B68-F244-6EE6-050AC2B944D9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880EF4D-1073-6F56-5C6D-7E24147CC6B2}"/>
              </a:ext>
            </a:extLst>
          </p:cNvPr>
          <p:cNvSpPr txBox="1"/>
          <p:nvPr/>
        </p:nvSpPr>
        <p:spPr>
          <a:xfrm>
            <a:off x="6477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(A)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रानी लक्ष्मीबाई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5DAB7CC-4483-4D69-6E08-2A2E8D319C1E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DD1875-F598-1B9E-F2E3-7D34B0B2C526}"/>
              </a:ext>
            </a:extLst>
          </p:cNvPr>
          <p:cNvSpPr txBox="1"/>
          <p:nvPr/>
        </p:nvSpPr>
        <p:spPr>
          <a:xfrm>
            <a:off x="6464300" y="24638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(B)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बेगम हजरत महल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41B7E87-D754-37E0-8968-2DDE08BCF5DA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FD388B-CE48-0CC5-407F-C37BD543963E}"/>
              </a:ext>
            </a:extLst>
          </p:cNvPr>
          <p:cNvSpPr txBox="1"/>
          <p:nvPr/>
        </p:nvSpPr>
        <p:spPr>
          <a:xfrm>
            <a:off x="6477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(C)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सरोजिनी नायडू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0A41465-FA67-B6A3-A28F-59AFC0ED35D1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7D526B-4D00-805D-0CEB-273EF09EDACA}"/>
              </a:ext>
            </a:extLst>
          </p:cNvPr>
          <p:cNvSpPr txBox="1"/>
          <p:nvPr/>
        </p:nvSpPr>
        <p:spPr>
          <a:xfrm>
            <a:off x="6464300" y="3683000"/>
            <a:ext cx="5080000" cy="3308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550" b="1">
                <a:solidFill>
                  <a:srgbClr val="F8FAFC"/>
                </a:solidFill>
                <a:latin typeface="Segoe UI" panose="020B0502040204020203" pitchFamily="34" charset="0"/>
              </a:rPr>
              <a:t>(D)  </a:t>
            </a:r>
            <a:r>
              <a:rPr lang="hi-IN" sz="1550" b="1">
                <a:solidFill>
                  <a:srgbClr val="F8FAFC"/>
                </a:solidFill>
                <a:latin typeface="Segoe UI" panose="020B0502040204020203" pitchFamily="34" charset="0"/>
              </a:rPr>
              <a:t>एनी बेसेंट</a:t>
            </a:r>
            <a:endParaRPr lang="en-IN" sz="15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4BC0CCA-BAB5-3D27-5C8C-2057BFF08B36}"/>
              </a:ext>
            </a:extLst>
          </p:cNvPr>
          <p:cNvSpPr/>
          <p:nvPr/>
        </p:nvSpPr>
        <p:spPr>
          <a:xfrm>
            <a:off x="2921000" y="4826000"/>
            <a:ext cx="6350000" cy="711200"/>
          </a:xfrm>
          <a:prstGeom prst="roundRect">
            <a:avLst/>
          </a:prstGeom>
          <a:solidFill>
            <a:srgbClr val="312E81"/>
          </a:solidFill>
          <a:ln w="19050">
            <a:solidFill>
              <a:srgbClr val="6366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146BE16-0B77-2894-DBB1-9633FABD99E0}"/>
              </a:ext>
            </a:extLst>
          </p:cNvPr>
          <p:cNvSpPr txBox="1"/>
          <p:nvPr/>
        </p:nvSpPr>
        <p:spPr>
          <a:xfrm>
            <a:off x="2984500" y="4927600"/>
            <a:ext cx="6223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⏱ 10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सेकंड सोचिए और सही विकल्प चुनिए: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A), (B), (C)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D)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A3301E1-4B16-40D7-7E99-13552EC5E190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421562051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A62294C-64E7-D6D1-1F16-FF39170FEBFC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69E937-E3A7-02A7-AF3B-865B8422B02D}"/>
              </a:ext>
            </a:extLst>
          </p:cNvPr>
          <p:cNvSpPr txBox="1"/>
          <p:nvPr/>
        </p:nvSpPr>
        <p:spPr>
          <a:xfrm>
            <a:off x="381000" y="76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600" b="1">
                <a:solidFill>
                  <a:srgbClr val="10B981"/>
                </a:solidFill>
                <a:latin typeface="Segoe UI" panose="020B0502040204020203" pitchFamily="34" charset="0"/>
              </a:rPr>
              <a:t>PYQ </a:t>
            </a:r>
            <a:r>
              <a:rPr lang="hi-IN" sz="1600" b="1">
                <a:solidFill>
                  <a:srgbClr val="10B981"/>
                </a:solidFill>
                <a:latin typeface="Segoe UI" panose="020B0502040204020203" pitchFamily="34" charset="0"/>
              </a:rPr>
              <a:t>अभ्यास प्रश्न #10  [</a:t>
            </a:r>
            <a:r>
              <a:rPr lang="en-IN" sz="1600" b="1">
                <a:solidFill>
                  <a:srgbClr val="10B981"/>
                </a:solidFill>
                <a:latin typeface="Segoe UI" panose="020B0502040204020203" pitchFamily="34" charset="0"/>
              </a:rPr>
              <a:t>Bihar NMMS 2023] - Answer &amp; Explanation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C017B41-97EC-0496-634C-3FA34B4F7793}"/>
              </a:ext>
            </a:extLst>
          </p:cNvPr>
          <p:cNvSpPr/>
          <p:nvPr/>
        </p:nvSpPr>
        <p:spPr>
          <a:xfrm>
            <a:off x="457200" y="787400"/>
            <a:ext cx="11277600" cy="13335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D977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F27BC1-AE4A-2CF1-8B7B-11A141095938}"/>
              </a:ext>
            </a:extLst>
          </p:cNvPr>
          <p:cNvSpPr txBox="1"/>
          <p:nvPr/>
        </p:nvSpPr>
        <p:spPr>
          <a:xfrm>
            <a:off x="635000" y="863600"/>
            <a:ext cx="10922000" cy="34624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650" b="1">
                <a:solidFill>
                  <a:srgbClr val="FFFFFF"/>
                </a:solidFill>
                <a:latin typeface="Segoe UI" panose="020B0502040204020203" pitchFamily="34" charset="0"/>
              </a:rPr>
              <a:t>प्र. 10. लखनऊ (अवध) में 1857 की क्रांति का नेतृत्व किस साहसी महिला ने किया था?</a:t>
            </a:r>
            <a:endParaRPr lang="en-IN" sz="16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0203F62-9C06-F8C2-A367-7C7A80D9B0FE}"/>
              </a:ext>
            </a:extLst>
          </p:cNvPr>
          <p:cNvSpPr/>
          <p:nvPr/>
        </p:nvSpPr>
        <p:spPr>
          <a:xfrm>
            <a:off x="457200" y="23114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ACDBB6-0D29-2CAA-838B-75F64666E736}"/>
              </a:ext>
            </a:extLst>
          </p:cNvPr>
          <p:cNvSpPr txBox="1"/>
          <p:nvPr/>
        </p:nvSpPr>
        <p:spPr>
          <a:xfrm>
            <a:off x="647700" y="24638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(A)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रानी लक्ष्मीबाई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14FA505-9127-BD7D-8A80-B3DF597A6086}"/>
              </a:ext>
            </a:extLst>
          </p:cNvPr>
          <p:cNvSpPr/>
          <p:nvPr/>
        </p:nvSpPr>
        <p:spPr>
          <a:xfrm>
            <a:off x="6273800" y="2311400"/>
            <a:ext cx="5461000" cy="1016000"/>
          </a:xfrm>
          <a:prstGeom prst="roundRect">
            <a:avLst/>
          </a:prstGeom>
          <a:solidFill>
            <a:srgbClr val="14532D"/>
          </a:solidFill>
          <a:ln w="31750">
            <a:solidFill>
              <a:srgbClr val="22C5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B3D854-C698-DC74-95E9-682517BD32CB}"/>
              </a:ext>
            </a:extLst>
          </p:cNvPr>
          <p:cNvSpPr txBox="1"/>
          <p:nvPr/>
        </p:nvSpPr>
        <p:spPr>
          <a:xfrm>
            <a:off x="6464300" y="2463800"/>
            <a:ext cx="50800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600" b="1">
                <a:solidFill>
                  <a:srgbClr val="FDE68A"/>
                </a:solidFill>
                <a:latin typeface="Segoe UI" panose="020B0502040204020203" pitchFamily="34" charset="0"/>
              </a:rPr>
              <a:t>✅  (B)  </a:t>
            </a:r>
            <a:r>
              <a:rPr lang="hi-IN" sz="1600" b="1">
                <a:solidFill>
                  <a:srgbClr val="FDE68A"/>
                </a:solidFill>
                <a:latin typeface="Segoe UI" panose="020B0502040204020203" pitchFamily="34" charset="0"/>
              </a:rPr>
              <a:t>बेगम हजरत महल</a:t>
            </a:r>
            <a:endParaRPr lang="en-IN" sz="1600" b="1">
              <a:solidFill>
                <a:srgbClr val="FDE68A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CF0FD9E-9EC8-8C16-A7A0-335F7A2B4F38}"/>
              </a:ext>
            </a:extLst>
          </p:cNvPr>
          <p:cNvSpPr/>
          <p:nvPr/>
        </p:nvSpPr>
        <p:spPr>
          <a:xfrm>
            <a:off x="4572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C799A9-593A-1D6A-CA33-27E63E1885AA}"/>
              </a:ext>
            </a:extLst>
          </p:cNvPr>
          <p:cNvSpPr txBox="1"/>
          <p:nvPr/>
        </p:nvSpPr>
        <p:spPr>
          <a:xfrm>
            <a:off x="6477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(C)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सरोजिनी नायडू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1CED961-1D27-A444-9F7D-0F7D9C8C181F}"/>
              </a:ext>
            </a:extLst>
          </p:cNvPr>
          <p:cNvSpPr/>
          <p:nvPr/>
        </p:nvSpPr>
        <p:spPr>
          <a:xfrm>
            <a:off x="6273800" y="3530600"/>
            <a:ext cx="5461000" cy="101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E8431F8-0FFC-8279-00FA-F7A66A895414}"/>
              </a:ext>
            </a:extLst>
          </p:cNvPr>
          <p:cNvSpPr txBox="1"/>
          <p:nvPr/>
        </p:nvSpPr>
        <p:spPr>
          <a:xfrm>
            <a:off x="6464300" y="3683000"/>
            <a:ext cx="508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400">
                <a:solidFill>
                  <a:srgbClr val="94A3B8"/>
                </a:solidFill>
                <a:latin typeface="Segoe UI" panose="020B0502040204020203" pitchFamily="34" charset="0"/>
              </a:rPr>
              <a:t>(D)  </a:t>
            </a:r>
            <a:r>
              <a:rPr lang="hi-IN" sz="1400">
                <a:solidFill>
                  <a:srgbClr val="94A3B8"/>
                </a:solidFill>
                <a:latin typeface="Segoe UI" panose="020B0502040204020203" pitchFamily="34" charset="0"/>
              </a:rPr>
              <a:t>एनी बेसेंट</a:t>
            </a:r>
            <a:endParaRPr lang="en-IN" sz="14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587C573-3066-18DB-7778-3096F0EA28B9}"/>
              </a:ext>
            </a:extLst>
          </p:cNvPr>
          <p:cNvSpPr/>
          <p:nvPr/>
        </p:nvSpPr>
        <p:spPr>
          <a:xfrm>
            <a:off x="457200" y="4724400"/>
            <a:ext cx="11277600" cy="1422400"/>
          </a:xfrm>
          <a:prstGeom prst="roundRect">
            <a:avLst/>
          </a:prstGeom>
          <a:solidFill>
            <a:srgbClr val="064E3B"/>
          </a:solidFill>
          <a:ln w="254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CC79FB6-582B-E61F-8ED3-15D637F5984D}"/>
              </a:ext>
            </a:extLst>
          </p:cNvPr>
          <p:cNvSpPr txBox="1"/>
          <p:nvPr/>
        </p:nvSpPr>
        <p:spPr>
          <a:xfrm>
            <a:off x="635000" y="4775200"/>
            <a:ext cx="10922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✅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सही उत्तर: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B)   |   </a:t>
            </a:r>
            <a:r>
              <a:rPr lang="hi-IN" sz="1400" b="1">
                <a:solidFill>
                  <a:srgbClr val="FDE68A"/>
                </a:solidFill>
                <a:latin typeface="Segoe UI" panose="020B0502040204020203" pitchFamily="34" charset="0"/>
              </a:rPr>
              <a:t>परीक्षा व्याख्या (</a:t>
            </a:r>
            <a:r>
              <a:rPr lang="en-IN" sz="1400" b="1">
                <a:solidFill>
                  <a:srgbClr val="FDE68A"/>
                </a:solidFill>
                <a:latin typeface="Segoe UI" panose="020B0502040204020203" pitchFamily="34" charset="0"/>
              </a:rPr>
              <a:t>Exam Explanation):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161AA30-A6A8-A9F9-AAEA-C4BF6E6A3F80}"/>
              </a:ext>
            </a:extLst>
          </p:cNvPr>
          <p:cNvSpPr txBox="1"/>
          <p:nvPr/>
        </p:nvSpPr>
        <p:spPr>
          <a:xfrm>
            <a:off x="635000" y="5105400"/>
            <a:ext cx="10922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350">
                <a:solidFill>
                  <a:srgbClr val="FFFFFF"/>
                </a:solidFill>
                <a:latin typeface="Segoe UI" panose="020B0502040204020203" pitchFamily="34" charset="0"/>
              </a:rPr>
              <a:t>💡  </a:t>
            </a:r>
            <a:r>
              <a:rPr lang="hi-IN" sz="1350">
                <a:solidFill>
                  <a:srgbClr val="FFFFFF"/>
                </a:solidFill>
                <a:latin typeface="Segoe UI" panose="020B0502040204020203" pitchFamily="34" charset="0"/>
              </a:rPr>
              <a:t>बेगम हजरत महल ने अपने अल्पवयस्क पुत्र बिरजिस कादिर को नवाब घोषित कर लड़ाई लड़ी।</a:t>
            </a:r>
            <a:endParaRPr lang="en-IN" sz="135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9179E7E-96D7-275D-FE1E-58061CBA0A0B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000">
                <a:solidFill>
                  <a:srgbClr val="64748B"/>
                </a:solidFill>
                <a:latin typeface="Segoe UI" panose="020B0502040204020203" pitchFamily="34" charset="0"/>
              </a:rPr>
              <a:t>सागर कोचिंग सेंटर भगवानपुर • कक्षा 08: 1857 की महान क्रांति • </a:t>
            </a:r>
            <a:r>
              <a:rPr lang="en-IN" sz="1000">
                <a:solidFill>
                  <a:srgbClr val="64748B"/>
                </a:solidFill>
                <a:latin typeface="Segoe UI" panose="020B0502040204020203" pitchFamily="34" charset="0"/>
              </a:rPr>
              <a:t>NMMS Special</a:t>
            </a:r>
          </a:p>
        </p:txBody>
      </p:sp>
    </p:spTree>
    <p:extLst>
      <p:ext uri="{BB962C8B-B14F-4D97-AF65-F5344CB8AC3E}">
        <p14:creationId xmlns:p14="http://schemas.microsoft.com/office/powerpoint/2010/main" val="34522333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3298</Words>
  <Application>Microsoft Office PowerPoint</Application>
  <PresentationFormat>Custom</PresentationFormat>
  <Paragraphs>220</Paragraphs>
  <Slides>30</Slides>
  <Notes>0</Notes>
  <HiddenSlides>0</HiddenSlides>
  <MMClips>6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5" baseType="lpstr">
      <vt:lpstr>Aptos</vt:lpstr>
      <vt:lpstr>Aptos Display</vt:lpstr>
      <vt:lpstr>Arial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Sudhir Kumar</dc:creator>
  <cp:lastModifiedBy>Sudhir Kumar</cp:lastModifiedBy>
  <cp:revision>1</cp:revision>
  <dcterms:created xsi:type="dcterms:W3CDTF">2026-10-24T14:27:21Z</dcterms:created>
  <dcterms:modified xsi:type="dcterms:W3CDTF">2026-10-24T14:27:21Z</dcterms:modified>
</cp:coreProperties>
</file>