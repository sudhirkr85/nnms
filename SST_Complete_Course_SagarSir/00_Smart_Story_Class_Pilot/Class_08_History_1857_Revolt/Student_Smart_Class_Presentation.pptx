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91C9A-C086-5AD5-C192-A49C4F4247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BC2C75-6FC4-AF0F-8166-E0744471C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5BB23-1F06-4F13-0295-5438FFBEC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9013E1-A4DB-F29C-555B-CF824A7DA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D9CE7-6E4E-CECA-B27D-43763008A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7123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FA96B-F0E0-52E9-1602-E0CF36B7A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5056C-FE2A-7657-2D5C-7BE646487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A745C-A335-0A73-EC5F-A356F40EB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9F0E30-EED7-2E5C-303D-E622EBDBA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D51F0-9985-E658-A11F-0A5ABB9B6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3470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328A0-3022-7FE8-C823-482F7C003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A4F957-3954-704E-3B3A-BE316CC70E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E7A07D-E340-F9F9-67CD-13C12A819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0E172-0FA9-F16F-D56D-BD283193D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71404-B574-BCAF-D008-18A8F8669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66990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6CF9E-58D9-CAF4-5A7A-7ACFB907F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B4410-4508-719B-07DD-9AF65B3D18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AE470-A691-BDC7-4CCA-460BC4ACB9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44F33-11B2-9A24-55B5-1EA6EF8FB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7C6B30-CCCD-C2B6-CC8E-0C222B218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48BD33-48CD-E47E-EB34-22FB81E7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9958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D1C67E-7CB5-6537-5546-9B9FB05A5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EA34CF-8581-BD7F-9070-31CDD0DF03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181C8E-93A0-3962-675D-406B78973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2A8E79-2D8B-387E-C979-BCB36DBFD1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7D41EB-7669-02C5-2CC6-816D04F475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4A3C40-9BA0-9F72-4959-026C3383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D6874D-DAE4-A0C6-B33C-18E9F6024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A93D8A-C0A1-D8DE-2AAC-AC33D052F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3749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0978F-7C63-6555-F155-70070AF37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3F9538-884E-BC8C-0693-FAE36D340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C4854F-4C07-89FD-837F-4287539CB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876F02-0560-3CA9-D430-EEF00797D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8508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99ED2F-E858-03E0-F9F8-F8C2DD98E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41D30E5-B214-0CEF-57AA-CEAF7C0B8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7420E0-12C0-D4ED-A1F0-D2F0FB19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0967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0F64C-C9D7-9619-CB75-8E440404C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1ADC2-20F8-31F0-A23E-1CC2B6ABC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AA2104-FDB1-D543-92F8-6E55CE85CB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A486B9-A9AE-E7D2-5300-C6A6316C0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813854-F211-F3AA-0DAF-E22D3347C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0DAC70-9006-F95F-A521-7C2655C27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1850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8C952-9A3B-0D61-B2D1-C46502247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CBC15-CDE5-50D5-24EA-945AAB2DAC6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DDC8B5-C957-E645-9EF3-BC74BC5FEC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FB4B4-8363-7D93-B84F-17B81E218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A5C12-5141-D825-1A10-6465CAD8B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31FA25-0FDE-585F-959B-33049E891A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2167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F8D7F-874E-717D-A8A5-D45601A0D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DB84A-AD42-98DB-ADEA-3377160EB7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C7694-CCC1-4F71-E580-B3FAC5534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7B77A-34BB-5A4F-DDAB-3E7363D8B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8A694-65BC-6C06-0B3C-B0B9FDC6F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0664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EEB21-145F-B95A-B417-3C0705A01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AC9AB-21EC-3498-0F25-53998B2E1C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E34A76-2300-617D-4CE2-9C7EED910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63BED4-4AC2-2F56-40F6-5AD8206AA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EBF4E2-9986-0BDA-5562-F9FB2B746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6477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97D52-802F-EFA7-1BC6-427B7FD06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5470F-8F71-C979-E7CC-2854C5B4B0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7E883-2F18-7793-E54E-F3E41E5922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268AAF-A5F6-4D2E-9FD9-A295DF3A688E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C81B37-5844-2927-4D36-C828B1812B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EA9540-313C-9921-FCF0-7E2BCB60D4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759A7C-7E7E-4D02-B18E-BEC85508C82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5556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2FF205-0D3A-29A1-610F-9C27BE3D34C7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B1580D-5839-0509-8992-AB1B0D2AE8FD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1857 की महान क्रांति: भारत का प्रथम स्वतंत्रता संग्राम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D081219-815C-480A-B3CD-3764BCC732DC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0642BD-01D7-6C7C-71BF-B6D930158461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कहानी ऐसी जो दिमाग में छप जाए | </a:t>
            </a:r>
            <a:r>
              <a:rPr lang="en-IN" sz="12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में 5 नंबर पक्के!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18E401F-0710-F8EA-E992-D4E94397B24C}"/>
              </a:ext>
            </a:extLst>
          </p:cNvPr>
          <p:cNvSpPr/>
          <p:nvPr/>
        </p:nvSpPr>
        <p:spPr>
          <a:xfrm>
            <a:off x="381000" y="1244600"/>
            <a:ext cx="5842000" cy="50165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F0D15C-05FA-C9B8-1BCB-3FA60EE5F729}"/>
              </a:ext>
            </a:extLst>
          </p:cNvPr>
          <p:cNvSpPr txBox="1"/>
          <p:nvPr/>
        </p:nvSpPr>
        <p:spPr>
          <a:xfrm>
            <a:off x="571500" y="1397000"/>
            <a:ext cx="5461000" cy="58477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600" b="1">
                <a:solidFill>
                  <a:srgbClr val="F8FAFC"/>
                </a:solidFill>
                <a:latin typeface="Segoe UI" panose="020B0502040204020203" pitchFamily="34" charset="0"/>
              </a:rPr>
              <a:t>NMMS All India Scholarship Exam Special • </a:t>
            </a:r>
            <a:r>
              <a:rPr lang="hi-IN" sz="1600" b="1">
                <a:solidFill>
                  <a:srgbClr val="F8FAFC"/>
                </a:solidFill>
                <a:latin typeface="Segoe UI" panose="020B0502040204020203" pitchFamily="34" charset="0"/>
              </a:rPr>
              <a:t>कहानी, ट्रिक्स व सिनेमैटिक स्मार्ट क्लास</a:t>
            </a:r>
            <a:endParaRPr lang="en-IN" sz="160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8B3134-CC70-8545-F741-8E23DE72CF7E}"/>
              </a:ext>
            </a:extLst>
          </p:cNvPr>
          <p:cNvSpPr txBox="1"/>
          <p:nvPr/>
        </p:nvSpPr>
        <p:spPr>
          <a:xfrm>
            <a:off x="571500" y="2667000"/>
            <a:ext cx="5461000" cy="109260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00">
                <a:solidFill>
                  <a:srgbClr val="CBD5E1"/>
                </a:solidFill>
                <a:latin typeface="Segoe UI" panose="020B0502040204020203" pitchFamily="34" charset="0"/>
              </a:rPr>
              <a:t>• 100 साल का ब्रिटिश ईस्ट इंडिया कंपनी का भीषण शोषण और अत्याचार
• किसानों, देशी राजाओं और भारतीय सैनिकों में सुलगता गहरा जन-आक्रोश
• चर्बी वाले कारतूस की चिंगारी और देशव्यापी महा-विद्रोह का शंखनाद</a:t>
            </a:r>
            <a:endParaRPr lang="en-IN" sz="1300">
              <a:solidFill>
                <a:srgbClr val="CBD5E1"/>
              </a:solidFill>
              <a:latin typeface="Segoe UI" panose="020B0502040204020203" pitchFamily="34" charset="0"/>
            </a:endParaRPr>
          </a:p>
        </p:txBody>
      </p:sp>
      <p:pic>
        <p:nvPicPr>
          <p:cNvPr id="9" name="mangal_pandey">
            <a:hlinkClick r:id="" action="ppaction://media"/>
            <a:extLst>
              <a:ext uri="{FF2B5EF4-FFF2-40B4-BE49-F238E27FC236}">
                <a16:creationId xmlns:a16="http://schemas.microsoft.com/office/drawing/2014/main" id="{C1A572EC-6636-1D89-04AA-45928E5CDBC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413500" y="1244600"/>
            <a:ext cx="8918221" cy="5016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C712AF-4293-4F2D-459A-81BCBB2926AE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16673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C9AF48-D5F7-4F68-D9DB-CC95FB3CE029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0C785-9A0B-E8B7-B744-C922E5F426B3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1: बारूद का ढेर — 1857 से पहले का सुलगता भारत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1D061C-BFD8-24AF-C890-BEA6FE657FB4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4A2A7-5B79-DCF8-CD6C-B948E2A89224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गुलामी की जंजीरें जब हद से ज्यादा कसने लगीं, अंग्रेजों की करतूतों पर मौत भी हंसने लगी!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6C96D2-9032-DA66-4453-04F0402AB1A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1491789-E804-01A7-0E18-2CA91E29A792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DF579-AD8A-63EC-591F-775796913744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लॉर्ड डलहौजी की कुख्यात 'हड़प नीति' (सतारा, झांसी, नागपुर, संबलपुर का विलय)
• 1856 में कुशासन का झूठा आरोप लगाकर अवध का नवाब वाजिद अली शाह से छीना जाना
• भारतीय सैनिकों का मासिक वेतन केवल 7 रुपये, जबकि अंग्रेज सैनिकों को भारी सुविधाएं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B18751D-7A16-E939-17F7-79D0105C69AB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877B8E-5856-D99D-0CB8-2C70F0828A2D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हड़प नीति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Doctrine of Lapse)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के तहत सबसे पहले 'सतारा' (1848) को हड़पा गया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F00FB3-1D22-6A9E-5B93-5EA0A7C0915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6173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BCD610-EF54-8820-98CD-42EF4C045E88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CBC8C5-4E1E-E56C-4DEC-A5A945CBD473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2: आग में घी — चर्बी वाले कारतूस का पर्दाफाश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2DD31C-CDFD-5BB4-9554-E3E57EE7B88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EDB17D-F23D-6B6D-44DD-485659FF2C4E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गाय और सुअर की चर्बी से जब बारूद को सनाया था, अंग्रेजों ने खुद अपनी मौत का फरमान बनाया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4DCBFA-90EA-F535-BD8C-27A2267160F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E821E0-FCB8-ADCF-7893-DE47EB56F260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31ADD-92D9-B970-E26A-01B4041A91A9}"/>
              </a:ext>
            </a:extLst>
          </p:cNvPr>
          <p:cNvSpPr txBox="1"/>
          <p:nvPr/>
        </p:nvSpPr>
        <p:spPr>
          <a:xfrm>
            <a:off x="5969000" y="1397000"/>
            <a:ext cx="5651500" cy="15465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दिसंबर 1856: पुरानी 'ब्राउन बैस' की जगह नई 'एनफील्ड </a:t>
            </a:r>
            <a:r>
              <a:rPr lang="en-IN" sz="1350">
                <a:solidFill>
                  <a:srgbClr val="F8FAFC"/>
                </a:solidFill>
                <a:latin typeface="Segoe UI" panose="020B0502040204020203" pitchFamily="34" charset="0"/>
              </a:rPr>
              <a:t>P-53' </a:t>
            </a:r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राइफल लागू की गई
• कारतूस की ग्रीस को बंदूक में भरने से पहले दाँतों से काटना अनिवार्य था
• चर्बी में गाय और सुअर की वसा होने की पुष्टि ने हिंदू-मुस्लिम एकता को जन्म दिया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E6EF917-DD2B-3CDE-7C95-9C010C5846B8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7C2C01-A3A7-FEEF-2707-9F4F637F9174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विद्रोह का तात्कालिक कारण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Immediate Cause) '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चर्बी वाले कारतूस' ही थे!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2C2823-7EE9-5D61-4AFE-43C97F6423F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7622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A14212-14F5-01CF-D5BC-44E21D5C5DE8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AF7719-22A9-FE95-E1DA-1F846532DFAB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3: पहला महा-विस्फोट — अमर बलिदानी मंगल पांडे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77D8516-156C-75EA-F774-8BC0BB32B5FC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436E9-E1AF-4BFD-812E-67B1D1E359C7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हुकूमत का गुरूर था, बारूद का वो दौर था, अंग्रेजों की छाती पर मंगल पांडे का ज़ोर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9AA125CE-2D2C-1533-C480-B8387724358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C04EAE-5A50-D0BC-6E0D-69736C3773B1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B9684F-6AF0-15A7-43B7-26B2057A97D8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29 मार्च 1857: बैरकपुर (बंगाल) में चर्बी वाले कारतूस के विरुद्ध पहला खुला विद्रोह
• 34वीं बंगाल नेटिव इन्फैंट्री के सिपाही मंगल पांडे ने अंग्रेज अफसरों पर गोली चलाई
• 8 अप्रैल 1857: तय तारीख से 10 दिन पहले ही बैरकपुर में मंगल पांडे को फांसी दी गई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D31E3-52E9-1CC6-98DF-020346F7B798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1431B5-4F28-73C1-EA29-A70588905BB9}"/>
              </a:ext>
            </a:extLst>
          </p:cNvPr>
          <p:cNvSpPr txBox="1"/>
          <p:nvPr/>
        </p:nvSpPr>
        <p:spPr>
          <a:xfrm>
            <a:off x="5905500" y="5029200"/>
            <a:ext cx="57785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मंगल पांडे उत्तर प्रदेश के बलिया जिले के नगवा गांव के निवासी थे!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A54937-4A71-1406-F052-4576C299ED9F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806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B22ED4-F71A-96BC-9773-DEC83B1F6045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E96544-0834-8F87-F9D8-DDD9AAA76CD4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4: क्रांति का गुप्त संदेश — कमल का फूल और रोटी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92F25A-0964-1DD9-28EB-812025B068A1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34A03E-D6D5-AF14-393E-02DC04734084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चुपके से रोटी बंटी, कमल का फूल मुस्काया था, अंग्रेजों को भनक न लगी, क्या तूफ़ान आने वाला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49E63D-16B0-14B9-5EE0-AAC8D7E50D3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1244600"/>
            <a:ext cx="5207000" cy="50165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5E2FD8B-7D85-FE68-84C9-E94B1803A6B8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33904-107D-2090-D158-AB6A5E911119}"/>
              </a:ext>
            </a:extLst>
          </p:cNvPr>
          <p:cNvSpPr txBox="1"/>
          <p:nvPr/>
        </p:nvSpPr>
        <p:spPr>
          <a:xfrm>
            <a:off x="5969000" y="1397000"/>
            <a:ext cx="5651500" cy="1546577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क्रांति का गुप्त प्रतीक: 'कमल का फूल' (सैनिकों हेतु) व 'चपाती/रोटी' (नागरिकों हेतु)
• क्रांति की पूर्व-निर्धारित योजना की तिथि '31 मई 1857' रखी गई थी
• गांव-गांव और छावनियों में गुप्त संदेशवाहकों द्वारा संगठन का जाल फैलाया गया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D66F70D-A852-D3F4-E7F9-909632C56FBC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69868C-8C5E-4B59-0332-C07C04470604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की क्रांति का औपचारिक प्रतीक चिह्न 'कमल और रोटी' (</a:t>
            </a:r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Lotus and Bread)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784B35-7FDE-C350-1FF5-6D757ECB39CD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2084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24F8B8-999E-EE67-ACB2-7BC9C8B8EE46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85A23F-58A8-B215-D1DA-AEC043D5A2E7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5: 10 मई 1857 — मेरठ का महा-विद्रोह और दिल्ली कूच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424736-910A-58E3-DD38-581F2910FA70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1EFD08-BD88-6C5B-355D-6AA0727B654D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मेरठ की चिंगारी ने ऐसा शोला भड़काया, रातों-रात दिल्ली जाकर अंग्रेजों का तख्त हिलाया!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delhi_red_fort_march">
            <a:hlinkClick r:id="" action="ppaction://media"/>
            <a:extLst>
              <a:ext uri="{FF2B5EF4-FFF2-40B4-BE49-F238E27FC236}">
                <a16:creationId xmlns:a16="http://schemas.microsoft.com/office/drawing/2014/main" id="{B682796E-9455-5CFD-61A4-1188F242D2A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9A055BF-40CC-A8E1-CAE1-FFCA8B2FAA14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AA97E8-200A-7C10-F9AB-9177C1B91E20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10 मई 1857: मेरठ छावनी से क्रांति का वास्तविक और ऐतिहासिक शंखनाद हुआ
• सैनिकों ने जेल तोड़कर 85 क्रांतिकारी भाइयों को मुक्त कराया और दिल्ली कूच किया
• 11 मई 1857 की सुबह दिल्ली पहुंचकर यमुना पुल पार किया और लाल किले पर अधिकार किया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CECD6B-B9EF-BC98-4596-0061CBC6EE59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E24118-14D5-4857-C2DD-5502BE145755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1857 के स्वतंत्रता संग्राम की आधिकारिक शुरुआत 10 मई 1857 को मेरठ से हुई!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44E37-2CAC-F5BE-BF06-C4A74DCE6F63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547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3BB16E3-8A3C-4E80-B63D-4752D469C71E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9E4770-C88B-56AA-DE8A-95A0FEA695D9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6: लाल किला और 82 वर्षीय शहंशाह — बहादुर शाह ज़फ़र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2E383CA-7DBD-30DD-07C3-340578744984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CF682A-3FF2-C626-F980-E00CDC82B641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उम्र 82 की थी मगर, सीने में हिंदुस्तान था, लाल किले की दीवारों पर फिर से आजादी का ऐलान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bahadur_shah_red_fort">
            <a:hlinkClick r:id="" action="ppaction://media"/>
            <a:extLst>
              <a:ext uri="{FF2B5EF4-FFF2-40B4-BE49-F238E27FC236}">
                <a16:creationId xmlns:a16="http://schemas.microsoft.com/office/drawing/2014/main" id="{DF40862C-65B6-6B96-DF6F-69CA4957039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D24B66E-F853-AB56-E95F-12661FB126E1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60F285-BA34-BC27-2E9D-1CC7DECF5B0B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82 वर्षीय अंतिम मुगल सम्राट बहादुर शाह द्वितीय (ज़फ़र) को क्रांति का नेता चुना गया
• सैन्य संचालन के लिए बरेली से आए 'जनरल बख्त खान' को मुख्य सेनापति बनाया गया
• हिंदू-मुस्लिम एकता की मिसाल: दिल्ली में गो-हत्या पर पूर्ण प्रतिबंध लगाया गया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C909C0D-214F-D449-1E46-58FC414EAF7C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DC692C-F091-EB1F-188A-FDBC2A654471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विद्रोह के दमन के बाद बहादुर शाह को हुमायूं के मकबरे से पकड़कर 'रंगून' भेजा गया!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CA85E4-7CA7-9092-0AED-BA17F003464B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520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BDB19A-B1D8-8685-5BEA-FA5854308E9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651B28-D928-A388-418E-56B7E76AFD56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7: खूब लड़ी मर्दानी — झांसी की शेरनी रानी लक्ष्मीबाई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E15EAFB-1776-01A6-F83A-EC23699EBD32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0DCF34-5E1F-3F32-8BE9-4EEE73E88182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सिंहासन हिल उठे राजवंशों ने भृकुटी तानी थी... खूब लड़ी मर्दानी वह तो झांसी वाली रानी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rani_lakshmibai">
            <a:hlinkClick r:id="" action="ppaction://media"/>
            <a:extLst>
              <a:ext uri="{FF2B5EF4-FFF2-40B4-BE49-F238E27FC236}">
                <a16:creationId xmlns:a16="http://schemas.microsoft.com/office/drawing/2014/main" id="{2BC6A4E0-F73B-D4A4-72C3-94827D2ED60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0B1FC68-564E-E4F2-D510-6AE1392783D5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C3F68D-AE1F-F3A2-A7BE-9AB45058EB1D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'हड़प नीति' के तहत झांसी के विलय के विरोध में वीरांगना लक्ष्मीबाई का महा-विद्रोह
• दत्तक पुत्र दामोदर राव को पीठ पर बांधकर दोनों हाथों में तलवार लिए रणभूमि में कूदना
• 18 जून 1858 को कोटा-की-सराय (ग्वालियर) में लड़ते हुए वीरगति प्राप्त की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B5D25E5-031A-4E74-8447-4A5C3186CEA9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3E2A77-9B9E-ABDC-189B-EA04283F6890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ब्रिटिश सेनापति सर ह्यूरोज़ ने रानी को 'क्रांतिकारियों में एकमात्र पुरुष/मर्द' कहा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405FD4-165D-559E-C9BF-4EE9C6353C5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7678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1DD3C8-479F-3A73-129C-D3EC2F2EDC52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042EC7-755E-6104-E98C-55E386F36ECD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8: बिहार के 80 वर्षीय बब्बर शेर — बाबू कुंवर सिंह व तात्या टोपे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0E7EA7C-4E1F-29A1-06A5-02C0C546EDAB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1C3D82-4C73-1CF4-8C36-1B2EC1D5037A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अस्सी बरस की उम्र में जागा जोश पुराना था, सब कहते हैं कुंवर सिंह भी बड़ा वीर मर्दाना था!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kunwar_singh_ganga">
            <a:hlinkClick r:id="" action="ppaction://media"/>
            <a:extLst>
              <a:ext uri="{FF2B5EF4-FFF2-40B4-BE49-F238E27FC236}">
                <a16:creationId xmlns:a16="http://schemas.microsoft.com/office/drawing/2014/main" id="{44B3843B-EE26-7265-09D5-3C69A819B23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C94F5-B400-1701-D5F9-A0FBB8C2AFD0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ABB5F1-A992-B1C6-0A20-C03714736397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बिहार (जगदीशपुर/आरा): 80 वर्षीय बाबू कुंवर सिंह व अमर सिंह का अदम्य नेतृत्व
• कानपुर: पेशवा बाजीराव के दत्तक पुत्र नाना साहेब (धोंधूपंत) व तात्या टोपे का मोर्चा
• लखनऊ (अवध): बेगम हज़रत महल ने अपने अल्पवयस्क पुत्र बिरजिस क़द्र के साथ विद्रोह किया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BA6B8C-82D5-69C4-EC84-9B70930A1FF8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D1B490-6A7C-5547-B5B2-DD7BBA6B90AD}"/>
              </a:ext>
            </a:extLst>
          </p:cNvPr>
          <p:cNvSpPr txBox="1"/>
          <p:nvPr/>
        </p:nvSpPr>
        <p:spPr>
          <a:xfrm>
            <a:off x="5905500" y="5029200"/>
            <a:ext cx="5778500" cy="29238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तात्या टोपे का वास्तविक नाम 'रामचंद्र पांडुरंग' था!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89A911-6799-929F-9350-E200E8682667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380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52EE66-AA50-3A97-8FE6-7A8685644534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EBE5E9-616D-DF4A-2F2F-B8C467182B14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दृश्य 9: परिणाम और सीख — ईस्ट इंडिया कंपनी का अंत (1858)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43C927-4577-1D9B-B9A3-73D806D067A8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C9B814-BCDB-7F35-6A11-37ADA47C3C9D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हार कर भी वो जीत गए, आज़ादी की नींव सजाई थी, 1857 की चिंगारी ने 1947 की अलख जगाई थी!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pic>
        <p:nvPicPr>
          <p:cNvPr id="6" name="mangal_pandey">
            <a:hlinkClick r:id="" action="ppaction://media"/>
            <a:extLst>
              <a:ext uri="{FF2B5EF4-FFF2-40B4-BE49-F238E27FC236}">
                <a16:creationId xmlns:a16="http://schemas.microsoft.com/office/drawing/2014/main" id="{30D0EFBB-DF3C-6F0E-18BE-72FEC877244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81000" y="1244600"/>
            <a:ext cx="8918221" cy="5016500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84ED21-1330-5051-30B0-CE2A70C69063}"/>
              </a:ext>
            </a:extLst>
          </p:cNvPr>
          <p:cNvSpPr/>
          <p:nvPr/>
        </p:nvSpPr>
        <p:spPr>
          <a:xfrm>
            <a:off x="5778500" y="1244600"/>
            <a:ext cx="6032500" cy="355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973C59-EE42-B983-0C6D-35F12075F33B}"/>
              </a:ext>
            </a:extLst>
          </p:cNvPr>
          <p:cNvSpPr txBox="1"/>
          <p:nvPr/>
        </p:nvSpPr>
        <p:spPr>
          <a:xfrm>
            <a:off x="5969000" y="1397000"/>
            <a:ext cx="5651500" cy="175432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• 1858 का भारत शासन अधिनियम (</a:t>
            </a:r>
            <a:r>
              <a:rPr lang="en-IN" sz="1350">
                <a:solidFill>
                  <a:srgbClr val="F8FAFC"/>
                </a:solidFill>
                <a:latin typeface="Segoe UI" panose="020B0502040204020203" pitchFamily="34" charset="0"/>
              </a:rPr>
              <a:t>Government of India Act 1858) </a:t>
            </a:r>
            <a:r>
              <a:rPr lang="hi-IN" sz="1350">
                <a:solidFill>
                  <a:srgbClr val="F8FAFC"/>
                </a:solidFill>
                <a:latin typeface="Segoe UI" panose="020B0502040204020203" pitchFamily="34" charset="0"/>
              </a:rPr>
              <a:t>पारित हुआ
• ईस्ट इंडिया कंपनी का शासन समाप्त; ब्रिटिश क्राउन का सीधा नियंत्रण स्थापित
• गवर्नर जनरल का पदनाम बदलकर 'वायसराय' किया गया (प्रथम वायसराय: लॉर्ड कैनिंग)</a:t>
            </a:r>
            <a:endParaRPr lang="en-IN" sz="1350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00E4F51-62B5-C183-DA09-001817CEF03D}"/>
              </a:ext>
            </a:extLst>
          </p:cNvPr>
          <p:cNvSpPr/>
          <p:nvPr/>
        </p:nvSpPr>
        <p:spPr>
          <a:xfrm>
            <a:off x="5778500" y="4927600"/>
            <a:ext cx="6032500" cy="1333500"/>
          </a:xfrm>
          <a:prstGeom prst="roundRect">
            <a:avLst/>
          </a:prstGeom>
          <a:solidFill>
            <a:srgbClr val="14281E"/>
          </a:solidFill>
          <a:ln w="19050">
            <a:solidFill>
              <a:srgbClr val="10B98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BFAA43-433F-331D-35CF-F8A3A888639B}"/>
              </a:ext>
            </a:extLst>
          </p:cNvPr>
          <p:cNvSpPr txBox="1"/>
          <p:nvPr/>
        </p:nvSpPr>
        <p:spPr>
          <a:xfrm>
            <a:off x="5905500" y="5029200"/>
            <a:ext cx="5778500" cy="49244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en-IN" sz="1300" b="1">
                <a:solidFill>
                  <a:srgbClr val="6EE7B7"/>
                </a:solidFill>
                <a:latin typeface="Segoe UI" panose="020B0502040204020203" pitchFamily="34" charset="0"/>
              </a:rPr>
              <a:t>NMMS </a:t>
            </a:r>
            <a:r>
              <a:rPr lang="hi-IN" sz="1300" b="1">
                <a:solidFill>
                  <a:srgbClr val="6EE7B7"/>
                </a:solidFill>
                <a:latin typeface="Segoe UI" panose="020B0502040204020203" pitchFamily="34" charset="0"/>
              </a:rPr>
              <a:t>फैक्ट: महारानी विक्टोरिया का घोषणापत्र 1 नवंबर 1858 को इलाहाबाद दरबार में पढ़ा गया!</a:t>
            </a:r>
            <a:endParaRPr lang="en-IN" sz="1300" b="1">
              <a:solidFill>
                <a:srgbClr val="6EE7B7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4AA52E-F73E-13E0-C00B-D21B5D4FA6B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8016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5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9A9931-CF88-E897-31D0-C1BE4717C5C9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83ABAC-AF3B-8A8A-3987-80D5BFDFABF5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7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महा-अभ्यास (प्रश्न 1 से 5)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7ABED90-8123-693B-D2A1-012894959F7D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1E82C8-6F33-8E98-CDDF-10AF4B5CFFC9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पढ़ी हुई कहानी को अब सवालों में उतारो, 10 में से 10 लाकर परीक्षा में परचम लहराओ!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69BEE99-7989-EEFB-60DC-B7C2ED25E629}"/>
              </a:ext>
            </a:extLst>
          </p:cNvPr>
          <p:cNvSpPr/>
          <p:nvPr/>
        </p:nvSpPr>
        <p:spPr>
          <a:xfrm>
            <a:off x="381000" y="12446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2C76C6-AF96-A4F7-D19B-32359EFF68C6}"/>
              </a:ext>
            </a:extLst>
          </p:cNvPr>
          <p:cNvSpPr txBox="1"/>
          <p:nvPr/>
        </p:nvSpPr>
        <p:spPr>
          <a:xfrm>
            <a:off x="571500" y="13970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1: 1857 के विद्रोह की पहली गोली किस तिथि को चलाई गई थी? ➡️ 29 मार्च 1857 (बैरकपुर, मंगल पांडे)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41699E-0754-BBB4-FDDB-ACF52784FDE9}"/>
              </a:ext>
            </a:extLst>
          </p:cNvPr>
          <p:cNvSpPr/>
          <p:nvPr/>
        </p:nvSpPr>
        <p:spPr>
          <a:xfrm>
            <a:off x="381000" y="22352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E31AD4-7E14-6987-A3B4-D7908EC21C0E}"/>
              </a:ext>
            </a:extLst>
          </p:cNvPr>
          <p:cNvSpPr txBox="1"/>
          <p:nvPr/>
        </p:nvSpPr>
        <p:spPr>
          <a:xfrm>
            <a:off x="571500" y="23876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2: मंगल पांडे किस इन्फैंट्री रेजिमेंट के सिपाही थे? ➡️ 34वीं बंगाल नेटिव इन्फैंट्री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047E067-E379-FB0F-9A50-F2948A258632}"/>
              </a:ext>
            </a:extLst>
          </p:cNvPr>
          <p:cNvSpPr/>
          <p:nvPr/>
        </p:nvSpPr>
        <p:spPr>
          <a:xfrm>
            <a:off x="381000" y="32258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3FC1D5-1E24-7FF0-B7BA-7159BDE0B0B9}"/>
              </a:ext>
            </a:extLst>
          </p:cNvPr>
          <p:cNvSpPr txBox="1"/>
          <p:nvPr/>
        </p:nvSpPr>
        <p:spPr>
          <a:xfrm>
            <a:off x="571500" y="33782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3: 1857 की क्रांति का औपचारिक प्रतीक चिह्न क्या था? ➡️ कमल और रोटी (</a:t>
            </a:r>
            <a:r>
              <a:rPr lang="en-IN" sz="1350" b="1">
                <a:solidFill>
                  <a:srgbClr val="F8FAFC"/>
                </a:solidFill>
                <a:latin typeface="Segoe UI" panose="020B0502040204020203" pitchFamily="34" charset="0"/>
              </a:rPr>
              <a:t>Lotus and Bread)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0DD7569-C908-9F42-AFFE-58403CD92F32}"/>
              </a:ext>
            </a:extLst>
          </p:cNvPr>
          <p:cNvSpPr/>
          <p:nvPr/>
        </p:nvSpPr>
        <p:spPr>
          <a:xfrm>
            <a:off x="381000" y="42164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AFA03-935E-B563-4B21-DF652BD7B0D4}"/>
              </a:ext>
            </a:extLst>
          </p:cNvPr>
          <p:cNvSpPr txBox="1"/>
          <p:nvPr/>
        </p:nvSpPr>
        <p:spPr>
          <a:xfrm>
            <a:off x="571500" y="43688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4: 1857 के समय भारत का गवर्नर जनरल कौन था? ➡️ लॉर्ड कैनिंग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293F053-2129-DCC7-B71B-BC3C63006E45}"/>
              </a:ext>
            </a:extLst>
          </p:cNvPr>
          <p:cNvSpPr/>
          <p:nvPr/>
        </p:nvSpPr>
        <p:spPr>
          <a:xfrm>
            <a:off x="381000" y="52070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9C695D-38A4-FC41-A26B-1413D7647481}"/>
              </a:ext>
            </a:extLst>
          </p:cNvPr>
          <p:cNvSpPr txBox="1"/>
          <p:nvPr/>
        </p:nvSpPr>
        <p:spPr>
          <a:xfrm>
            <a:off x="571500" y="53594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5: मेरठ से सैनिकों ने दिल्ली के लिए किस तारीख को कूच किया? ➡️ 10 मई 1857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5BB4CD6-FA1B-CEE0-8BD6-E3937B3B05E6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3166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16919FE-651A-E261-CA62-346B2FCAD7F8}"/>
              </a:ext>
            </a:extLst>
          </p:cNvPr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62FF81-02F0-5FD5-37D3-2079120CD2CA}"/>
              </a:ext>
            </a:extLst>
          </p:cNvPr>
          <p:cNvSpPr txBox="1"/>
          <p:nvPr/>
        </p:nvSpPr>
        <p:spPr>
          <a:xfrm>
            <a:off x="381000" y="76200"/>
            <a:ext cx="11430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IN" sz="1700" b="1">
                <a:solidFill>
                  <a:srgbClr val="F59E0B"/>
                </a:solidFill>
                <a:latin typeface="Segoe UI" panose="020B0502040204020203" pitchFamily="34" charset="0"/>
              </a:rPr>
              <a:t>NMMS </a:t>
            </a:r>
            <a:r>
              <a:rPr lang="hi-IN" sz="1700" b="1">
                <a:solidFill>
                  <a:srgbClr val="F59E0B"/>
                </a:solidFill>
                <a:latin typeface="Segoe UI" panose="020B0502040204020203" pitchFamily="34" charset="0"/>
              </a:rPr>
              <a:t>परीक्षा महा-अभ्यास (प्रश्न 6 से 10)</a:t>
            </a:r>
            <a:endParaRPr lang="en-IN" sz="17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B0CFEA5-ADA1-57FE-B934-C4CAC452CA2E}"/>
              </a:ext>
            </a:extLst>
          </p:cNvPr>
          <p:cNvSpPr/>
          <p:nvPr/>
        </p:nvSpPr>
        <p:spPr>
          <a:xfrm>
            <a:off x="381000" y="711200"/>
            <a:ext cx="11430000" cy="431800"/>
          </a:xfrm>
          <a:prstGeom prst="roundRect">
            <a:avLst/>
          </a:prstGeom>
          <a:solidFill>
            <a:srgbClr val="28190F"/>
          </a:solidFill>
          <a:ln w="19050"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555998-064C-3AA5-2873-99B1FA54D2A6}"/>
              </a:ext>
            </a:extLst>
          </p:cNvPr>
          <p:cNvSpPr txBox="1"/>
          <p:nvPr/>
        </p:nvSpPr>
        <p:spPr>
          <a:xfrm>
            <a:off x="444500" y="736600"/>
            <a:ext cx="11303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hi-IN" sz="1200" b="1">
                <a:solidFill>
                  <a:srgbClr val="F59E0B"/>
                </a:solidFill>
                <a:latin typeface="Segoe UI" panose="020B0502040204020203" pitchFamily="34" charset="0"/>
              </a:rPr>
              <a:t>सवालों की इस जंग में जो जीता वही सिकंदर, मेहनत से चमकेगा तुम्हारा मुकद्दर!</a:t>
            </a:r>
            <a:endParaRPr lang="en-IN" sz="1200" b="1">
              <a:solidFill>
                <a:srgbClr val="F59E0B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758FEC6-0E58-D8C4-10C9-5918AD49F0EB}"/>
              </a:ext>
            </a:extLst>
          </p:cNvPr>
          <p:cNvSpPr/>
          <p:nvPr/>
        </p:nvSpPr>
        <p:spPr>
          <a:xfrm>
            <a:off x="381000" y="12446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805643-C68B-2234-8061-67CA64468D05}"/>
              </a:ext>
            </a:extLst>
          </p:cNvPr>
          <p:cNvSpPr txBox="1"/>
          <p:nvPr/>
        </p:nvSpPr>
        <p:spPr>
          <a:xfrm>
            <a:off x="571500" y="13970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6: बिहार के जगदीशपुर में 1857 क्रांति के प्रणेता कौन थे? ➡️ बाबू कुंवर सिंह (80 वर्षीय वीर)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D46F5BB-FC3D-1829-875B-2F3417327BF6}"/>
              </a:ext>
            </a:extLst>
          </p:cNvPr>
          <p:cNvSpPr/>
          <p:nvPr/>
        </p:nvSpPr>
        <p:spPr>
          <a:xfrm>
            <a:off x="381000" y="22352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FB2B99-FD04-F693-1C06-8FEE55224E27}"/>
              </a:ext>
            </a:extLst>
          </p:cNvPr>
          <p:cNvSpPr txBox="1"/>
          <p:nvPr/>
        </p:nvSpPr>
        <p:spPr>
          <a:xfrm>
            <a:off x="571500" y="23876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7: तात्या टोपे का वास्तविक नाम क्या था? ➡️ रामचंद्र पांडुरंग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C342DCA-A5C9-A8EC-1064-1BAAB5D04C30}"/>
              </a:ext>
            </a:extLst>
          </p:cNvPr>
          <p:cNvSpPr/>
          <p:nvPr/>
        </p:nvSpPr>
        <p:spPr>
          <a:xfrm>
            <a:off x="381000" y="32258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848931-A2BD-21C7-DC22-DD69B9EC8D9D}"/>
              </a:ext>
            </a:extLst>
          </p:cNvPr>
          <p:cNvSpPr txBox="1"/>
          <p:nvPr/>
        </p:nvSpPr>
        <p:spPr>
          <a:xfrm>
            <a:off x="571500" y="33782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8: ब्रिटिश सेनापति सर ह्यूरोज़ ने किसे 'एकमात्र मर्द' कहा था? ➡️ रानी लक्ष्मीबाई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09F1555-16A0-28EC-E310-1FB373D58FFB}"/>
              </a:ext>
            </a:extLst>
          </p:cNvPr>
          <p:cNvSpPr/>
          <p:nvPr/>
        </p:nvSpPr>
        <p:spPr>
          <a:xfrm>
            <a:off x="381000" y="42164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DBACB6-4D64-4EF7-3E6E-DDD349030954}"/>
              </a:ext>
            </a:extLst>
          </p:cNvPr>
          <p:cNvSpPr txBox="1"/>
          <p:nvPr/>
        </p:nvSpPr>
        <p:spPr>
          <a:xfrm>
            <a:off x="571500" y="43688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9: 1857 के समय ब्रिटेन का प्रधानमंत्री कौन था? ➡️ लॉर्ड पामर्स्टन (</a:t>
            </a:r>
            <a:r>
              <a:rPr lang="en-IN" sz="1350" b="1">
                <a:solidFill>
                  <a:srgbClr val="F8FAFC"/>
                </a:solidFill>
                <a:latin typeface="Segoe UI" panose="020B0502040204020203" pitchFamily="34" charset="0"/>
              </a:rPr>
              <a:t>Palmerston)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CEF7145-C63B-1A7F-0E32-10BF43E5A86C}"/>
              </a:ext>
            </a:extLst>
          </p:cNvPr>
          <p:cNvSpPr/>
          <p:nvPr/>
        </p:nvSpPr>
        <p:spPr>
          <a:xfrm>
            <a:off x="381000" y="5207000"/>
            <a:ext cx="11430000" cy="889000"/>
          </a:xfrm>
          <a:prstGeom prst="roundRect">
            <a:avLst/>
          </a:prstGeom>
          <a:solidFill>
            <a:srgbClr val="1E293B"/>
          </a:solidFill>
          <a:ln>
            <a:solidFill>
              <a:srgbClr val="B4530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9AC0F1-10A7-9680-0B55-B6E369AE6646}"/>
              </a:ext>
            </a:extLst>
          </p:cNvPr>
          <p:cNvSpPr txBox="1"/>
          <p:nvPr/>
        </p:nvSpPr>
        <p:spPr>
          <a:xfrm>
            <a:off x="571500" y="5359400"/>
            <a:ext cx="11049000" cy="3000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r>
              <a:rPr lang="hi-IN" sz="1350" b="1">
                <a:solidFill>
                  <a:srgbClr val="F8FAFC"/>
                </a:solidFill>
                <a:latin typeface="Segoe UI" panose="020B0502040204020203" pitchFamily="34" charset="0"/>
              </a:rPr>
              <a:t>प्र. 10: 1858 में ईस्ट इंडिया कंपनी का शासन समाप्त कर भारत किसके अधीन हुआ? ➡️ ब्रिटिश क्राउन</a:t>
            </a:r>
            <a:endParaRPr lang="en-IN" sz="1350" b="1">
              <a:solidFill>
                <a:srgbClr val="F8FAFC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AF170B-E84C-3DC3-BA4F-D8F5C6F07C78}"/>
              </a:ext>
            </a:extLst>
          </p:cNvPr>
          <p:cNvSpPr txBox="1"/>
          <p:nvPr/>
        </p:nvSpPr>
        <p:spPr>
          <a:xfrm>
            <a:off x="381000" y="6375400"/>
            <a:ext cx="11430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000">
                <a:solidFill>
                  <a:srgbClr val="64748B"/>
                </a:solidFill>
                <a:latin typeface="Segoe UI" panose="020B0502040204020203" pitchFamily="34" charset="0"/>
              </a:rPr>
              <a:t>Class 08: 1857 à¤•à¥€ à¤®à¤¹à¤¾à¤¨ à¤•à¥à¤°à¤¾à¤‚à¤¤à¤¿ â€¢ NMMS All India SST Smart Class â€¢ à¤¸à¤¾à¤—à¤° à¤¸à¤° à¤¸à¥à¤ªà¥‡à¤¶à¤²</a:t>
            </a:r>
            <a:endParaRPr lang="en-IN" sz="100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0895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2137</Words>
  <Application>Microsoft Office PowerPoint</Application>
  <PresentationFormat>Custom</PresentationFormat>
  <Paragraphs>66</Paragraphs>
  <Slides>12</Slides>
  <Notes>0</Notes>
  <HiddenSlides>0</HiddenSlides>
  <MMClips>7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Sudhir Kumar</dc:creator>
  <cp:lastModifiedBy>Sudhir Kumar</cp:lastModifiedBy>
  <cp:revision>1</cp:revision>
  <dcterms:created xsi:type="dcterms:W3CDTF">2026-10-24T12:12:44Z</dcterms:created>
  <dcterms:modified xsi:type="dcterms:W3CDTF">2026-10-24T12:12:44Z</dcterms:modified>
</cp:coreProperties>
</file>