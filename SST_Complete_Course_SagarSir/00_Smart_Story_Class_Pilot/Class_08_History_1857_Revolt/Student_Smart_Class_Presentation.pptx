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E81CA-2BB7-A433-96A0-FF1114AB9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55B834-6DA6-1541-1251-0B131096EF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7F2419-B4B1-CBE6-380C-47A0FBAF4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95865-9BA7-C7BE-8399-73DBBFC29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255DB-2AB3-9CE3-7C4A-F5A7BF35E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2588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F4C06-CDA4-155A-D994-F18A721E9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FA635-EF47-6CBB-2CED-E28BA962C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1993F-2A8D-1E8A-D4F4-A19F32657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1CFED-23EC-2D10-DC55-092DC7E70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32A3B-982D-437D-A503-9F80CEC7C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996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458CA-147B-9294-3A71-7104CC4C9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731D0-9D28-66F4-E3DE-D0AC86D647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B9FA3-60C6-7C04-BDE7-0886BB5DF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B306-D431-E441-CA3F-266102A0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1FD2D2-D8DC-C618-6EEA-257E67984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3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BA15A-FFBE-F3DA-AB8E-EF399E548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C6F9B-D15C-B6AE-3B80-99358E4C5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1FD495-9776-07C2-1ED6-F4CAF20C0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57F4B5-7DBB-7963-FA92-5758A8F97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B15C08-1D29-2F3D-67ED-6505063EB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B35E19-A9BA-A0A0-C487-D66D3942B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12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0DAFC-334D-FF38-8BB6-CC5E233B4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84286-0480-C470-2261-2630A363B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F2B90-2FEB-09DA-7366-17983873F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79185D-1595-7CE8-E2BC-B84BAE2077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85A573-DAA8-0D8D-00B4-8297241D13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A67975-79A2-6C5E-93CD-0391D87C8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6AA6B5-681B-6D5B-8914-C57B30887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F2AD52-F34A-EA0C-E990-E6543D7C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6737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A4B34-6D0C-DED1-52AA-FB0AAF47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E39F61-9A71-B7BB-087D-E9B92F2AA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62CD2-82E1-77C3-3337-984AF0725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39986-3FC1-25CE-1570-682C25E5C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3806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18480-D55D-E5BC-43C7-58B85D4CD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7D667-4838-0C1C-C3CF-0DE514218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48592-60EF-F92E-F877-10490D13E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8614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31516-7439-2A5C-08E4-3A24C742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8D218-989F-C830-37C5-6740CE510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6F6B7D-16EA-7451-D335-690C5A90E6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BD00B2-D20A-6FBF-4064-84A10A761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AEB4D-02E5-8050-173A-77CD14995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AFA922-E1EF-C0C4-69B4-DCFD315A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56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ED901-A198-9100-2E6D-453293306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FB5528-764D-4895-137A-3BB0043D3A6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8F0CD-975E-DE51-38E3-120FCF234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01F74-1A05-47FF-AC0D-ADF2511A3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67F1A-04F9-2089-DC5A-733036795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F1C0B-8052-CCAF-E1E5-2665CAB3C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531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D43-8813-614A-DAB7-60BC295FB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7A0965-0AF4-D0B2-9BAC-3FD728D1FD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5F92C-6394-588B-210E-A7B37B4B3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594C-2279-D605-46BF-E7AE1E2BA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33B005-ED56-0CA2-0A59-C2F74EB34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12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3F0920-D206-92F6-6DDA-93FFA8077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1755F6-CFFD-B47C-E0A6-423CB29ACD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0AD21-BE42-5487-9869-7C98E338C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53D3D-84C3-078F-9568-8B86D5F90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B8678-FF13-56B6-2D90-C3E1116A3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856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166935-D0D3-8E98-D708-F63B11448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7B8E56-9D50-52FB-08C9-9A3A78705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297F9-2D69-F78A-53EB-F7CF635E8B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D3F5B8-7805-4B39-B094-A04E9947A0B5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AD62A-6267-C9AC-7FD1-D7DBD39CF5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FD3EE-FC3A-4832-32ED-FCD8AC601B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AD9BB8-489B-4D07-90C7-7AA2CF794E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802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0A8557-20BD-0519-05A3-AF0083360BE1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1890C-269D-1E69-6DF1-6B02A2CAF104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1857 की महान क्रांति: भारत का प्रथम स्वतंत्रता संग्राम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C26C0B-2A92-1FE3-BD47-D4C8D356E9C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4B6932-1DEF-D9D1-17DD-A3FEC055E41F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कहानी ऐसी जो दिमाग में छप जाए | </a:t>
            </a:r>
            <a:r>
              <a:rPr lang="en-IN" sz="12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में 5 नंबर पक्के!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AD35FC-AA27-0F26-191F-FD59F4F82AD7}"/>
              </a:ext>
            </a:extLst>
          </p:cNvPr>
          <p:cNvSpPr/>
          <p:nvPr/>
        </p:nvSpPr>
        <p:spPr>
          <a:xfrm>
            <a:off x="381000" y="1244600"/>
            <a:ext cx="5842000" cy="50165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9E5187-15D4-CCD1-7BF1-730027700B2A}"/>
              </a:ext>
            </a:extLst>
          </p:cNvPr>
          <p:cNvSpPr txBox="1"/>
          <p:nvPr/>
        </p:nvSpPr>
        <p:spPr>
          <a:xfrm>
            <a:off x="571500" y="1397000"/>
            <a:ext cx="5461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8FAFC"/>
                </a:solidFill>
                <a:latin typeface="Segoe UI" panose="020B0502040204020203" pitchFamily="34" charset="0"/>
              </a:rPr>
              <a:t>NMMS All India Scholarship Exam Special • </a:t>
            </a:r>
            <a:r>
              <a:rPr lang="hi-IN" sz="1600" b="1">
                <a:solidFill>
                  <a:srgbClr val="F8FAFC"/>
                </a:solidFill>
                <a:latin typeface="Segoe UI" panose="020B0502040204020203" pitchFamily="34" charset="0"/>
              </a:rPr>
              <a:t>कहानी, ट्रिक्स व सिनेमैटिक स्मार्ट क्लास</a:t>
            </a:r>
            <a:endParaRPr lang="en-IN" sz="160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E5703F-C260-9085-6565-9F0116CBDB6B}"/>
              </a:ext>
            </a:extLst>
          </p:cNvPr>
          <p:cNvSpPr txBox="1"/>
          <p:nvPr/>
        </p:nvSpPr>
        <p:spPr>
          <a:xfrm>
            <a:off x="571500" y="2667000"/>
            <a:ext cx="5461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CBD5E1"/>
                </a:solidFill>
                <a:latin typeface="Segoe UI" panose="020B0502040204020203" pitchFamily="34" charset="0"/>
              </a:rPr>
              <a:t>• 100 साल का ब्रिटिश ईस्ट इंडिया कंपनी का भीषण शोषण और अत्याचार
• किसानों, देशी राजाओं और भारतीय सैनिकों में सुलगता गहरा जन-आक्रोश
• चर्बी वाले कारतूस की चिंगारी और देशव्यापी महा-विद्रोह का शंखनाद</a:t>
            </a:r>
            <a:endParaRPr lang="en-IN" sz="1300">
              <a:solidFill>
                <a:srgbClr val="CBD5E1"/>
              </a:solidFill>
              <a:latin typeface="Segoe UI" panose="020B050204020402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9BAB6B-9250-12A5-0422-9A1B04D25F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500" y="1244600"/>
            <a:ext cx="5397500" cy="5016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835178D-18DE-609F-E007-CF2383EE8F9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8633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0137BE-6D3C-F00B-9C0A-C8FB33EE824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E71B3E-A5C7-C16D-57BD-97C7D3F097D4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1: बारूद का ढेर — 1857 से पहले का सुलगता भारत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5D941E9-12A3-79C8-612F-C3385C67355D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22044-DF4D-3806-043C-9C5E2BAFC5F8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गुलामी की जंजीरें जब हद से ज्यादा कसने लगीं, अंग्रेजों की करतूतों पर मौत भी हंसने लगी!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721F4C-CB53-F079-2FCF-BF02549C94B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ECE3B9-146D-7A16-0316-80DC662B28B1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B9A27-E68B-8C29-DC3F-4B562DB50D69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की कुख्यात 'हड़प नीति' (सतारा, झांसी, नागपुर, संबलपुर का विलय)
• 1856 में कुशासन का झूठा आरोप लगाकर अवध का नवाब वाजिद अली शाह से छीना जाना
• भारतीय सैनिकों का मासिक वेतन केवल 7 रुपये, जबकि अंग्रेज सैनिकों को भारी सुविधाएं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3AF9EEC-7C5C-2055-8A7B-17709A3D6841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718C11-623D-2195-5690-885386A73C2C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हड़प नीति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के तहत सबसे पहले 'सतारा' (1848) को हड़पा गया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9AA271-8041-52B6-5667-14BF39BCB74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4942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97A5E3-594D-3823-D7A2-FF7AB478C7E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99D2F1-5064-B2E7-C9A6-F0B2C32B79F5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2: आग में घी — चर्बी वाले कारतूस का पर्दाफाश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F8238D-CAE6-B77F-AF10-43A59E21D53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995D5-D6D3-69AB-4D5B-29278C43224A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गाय और सुअर की चर्बी से जब बारूद को सनाया था, अंग्रेजों ने खुद अपनी मौत का फरमान बनाया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C80C7A-86E6-ED81-7090-834F32E5EAC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151D90-B60E-631C-6945-D9F7FA263D7B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90240B-5FD1-EB89-EA0F-E0B9FC1FB0D6}"/>
              </a:ext>
            </a:extLst>
          </p:cNvPr>
          <p:cNvSpPr txBox="1"/>
          <p:nvPr/>
        </p:nvSpPr>
        <p:spPr>
          <a:xfrm>
            <a:off x="5969000" y="1397000"/>
            <a:ext cx="5651500" cy="15465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दिसंबर 1856: पुरानी 'ब्राउन बैस' की जगह नई 'एनफील्ड </a:t>
            </a:r>
            <a:r>
              <a:rPr lang="en-IN" sz="1350">
                <a:solidFill>
                  <a:srgbClr val="F8FAFC"/>
                </a:solidFill>
                <a:latin typeface="Segoe UI" panose="020B0502040204020203" pitchFamily="34" charset="0"/>
              </a:rPr>
              <a:t>P-53' </a:t>
            </a:r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राइफल लागू की गई
• कारतूस की ग्रीस को बंदूक में भरने से पहले दाँतों से काटना अनिवार्य था
• चर्बी में गाय और सुअर की वसा होने की पुष्टि ने हिंदू-मुस्लिम एकता को जन्म दिया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DC5D996-8A8C-B489-B9F9-C35B1E538E97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ECDF8-14B4-368D-7540-8B7D376F1B19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विद्रोह का तात्कालिक कारण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Immediate Cause) '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चर्बी वाले कारतूस' ही थे!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885F4E-B47C-AF9B-1EB4-4E91C73DC98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838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9F20CA-ACFB-83C0-5997-2FBFDB06139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8E60F5-2A00-A855-AE8E-64A61403D860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3: पहला महा-विस्फोट — अमर बलिदानी मंगल पांडे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44D6DA7-17A5-7A1F-D181-7597959F070E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877B4-965F-CA61-8A6B-DE64B7B184C6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हुकूमत का गुरूर था, बारूद का वो दौर था, अंग्रेजों की छाती पर मंगल पांडे का ज़ोर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2D8126-FF56-8486-C2BD-E1590699B02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303171E-63C1-7BD9-D24D-F513D92AA0CD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E703A-7C99-C97E-B569-1B2DA366173C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29 मार्च 1857: बैरकपुर (बंगाल) में चर्बी वाले कारतूस के विरुद्ध पहला खुला विद्रोह
• 34वीं बंगाल नेटिव इन्फैंट्री के सिपाही मंगल पांडे ने अंग्रेज अफसरों पर गोली चलाई
• 8 अप्रैल 1857: तय तारीख से 10 दिन पहले ही बैरकपुर में मंगल पांडे को फांसी दी गई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5443F5-C536-ABB7-35D3-414A11987AB3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AF7444-C522-A0FF-550E-0D1796E905B5}"/>
              </a:ext>
            </a:extLst>
          </p:cNvPr>
          <p:cNvSpPr txBox="1"/>
          <p:nvPr/>
        </p:nvSpPr>
        <p:spPr>
          <a:xfrm>
            <a:off x="5905500" y="5029200"/>
            <a:ext cx="57785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मंगल पांडे उत्तर प्रदेश के बलिया जिले के नगवा गांव के निवासी थे!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23CA31-A8A3-7B41-F261-8A5105DCF7FB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600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306FDC-4D56-CDB9-2D7D-BB95054308D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AF3736-B28A-D53B-E154-5D076E1162B3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4: क्रांति का गुप्त संदेश — कमल का फूल और रोटी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922BB4-505B-52BC-43EC-74CC710085F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0A77D-C595-1EAF-28E3-EF4F5C363876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चुपके से रोटी बंटी, कमल का फूल मुस्काया था, अंग्रेजों को भनक न लगी, क्या तूफ़ान आने वाला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EC28A6-0452-DCC5-0C6E-F0E582F8CE7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CB7549-CE21-8840-1B34-2A381730979D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1901B7-034B-DA8C-DDBC-3835666BD6B4}"/>
              </a:ext>
            </a:extLst>
          </p:cNvPr>
          <p:cNvSpPr txBox="1"/>
          <p:nvPr/>
        </p:nvSpPr>
        <p:spPr>
          <a:xfrm>
            <a:off x="5969000" y="1397000"/>
            <a:ext cx="5651500" cy="15465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क्रांति का गुप्त प्रतीक: 'कमल का फूल' (सैनिकों हेतु) व 'चपाती/रोटी' (नागरिकों हेतु)
• क्रांति की पूर्व-निर्धारित योजना की तिथि '31 मई 1857' रखी गई थी
• गांव-गांव और छावनियों में गुप्त संदेशवाहकों द्वारा संगठन का जाल फैलाया गया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99098D-07B9-58D4-5DDE-BB3F721224C4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DCA3D9-7F2D-AF98-DDEF-A4E41BF8D409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की क्रांति का औपचारिक प्रतीक चिह्न 'कमल और रोटी'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Lotus and Bread)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9B0FB7-D95A-4F85-9578-0B0C0EEA739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470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D49A2D-1A46-4566-DDF0-14FC3DEED48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8CE284-1075-6D38-0B9E-C7B8329E058A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5: 10 मई 1857 — मेरठ का महा-विद्रोह और दिल्ली कूच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F32645-E309-EF9F-04E3-E7A65F3E11F9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B52A7-CA0D-3941-BCBB-E9A7662298D1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मेरठ की चिंगारी ने ऐसा शोला भड़काया, रातों-रात दिल्ली जाकर अंग्रेजों का तख्त हिलाया!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85BC7-F102-96AB-1B16-90ACDE29EB1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3B19BC2-19AA-5D80-B59A-E1DBAE9648D0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5AD6C2-294B-BBAF-0C3B-DA9DFC4D05D0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10 मई 1857: मेरठ छावनी से क्रांति का वास्तविक और ऐतिहासिक शंखनाद हुआ
• सैनिकों ने जेल तोड़कर 85 क्रांतिकारी भाइयों को मुक्त कराया और दिल्ली कूच किया
• 11 मई 1857 की सुबह दिल्ली पहुंचकर यमुना पुल पार किया और लाल किले पर अधिकार किया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1D0021E-EA79-933F-9BA9-B32853FD8AF5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13FB25-46EF-3D53-6520-EB32B77C71BE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स्वतंत्रता संग्राम की आधिकारिक शुरुआत 10 मई 1857 को मेरठ से हुई!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562D98-33DE-00A2-1FA2-3B892E0ED145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693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9AE708-C49E-38A6-C376-DA5F921CCB7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775648-62CF-E1FA-EA77-7F07BA386616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6: लाल किला और 82 वर्षीय शहंशाह — बहादुर शाह ज़फ़र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7FCFF7-F71E-97F3-DCEA-A612F0A775D7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5FB16-C3DB-6274-D4C4-09FDF40E5600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उम्र 82 की थी मगर, सीने में हिंदुस्तान था, लाल किले की दीवारों पर फिर से आजादी का ऐलान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327A85-B447-3F2F-DF4A-73F816B200E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88709B-3EC8-26A4-8032-59DBA2725F44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908EC5-DAAF-02AC-D702-F76DEDFE34BB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82 वर्षीय अंतिम मुगल सम्राट बहादुर शाह द्वितीय (ज़फ़र) को क्रांति का नेता चुना गया
• सैन्य संचालन के लिए बरेली से आए 'जनरल बख्त खान' को मुख्य सेनापति बनाया गया
• हिंदू-मुस्लिम एकता की मिसाल: दिल्ली में गो-हत्या पर पूर्ण प्रतिबंध लगाया गया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2319B87-AC3F-8EA1-A693-8B3AE4852980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1C0B01-9AF7-D63C-E8D0-7B3AE04632A5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विद्रोह के दमन के बाद बहादुर शाह को हुमायूं के मकबरे से पकड़कर 'रंगून' भेजा गया!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8E582F-8CD1-7F09-91B4-7B69EA7090D1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130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B32D15-2EC6-B924-609D-C6B798F0144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FF05EB-D85D-ACD9-17B3-A55C10C4F4AE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7: खूब लड़ी मर्दानी — झांसी की शेरनी रानी लक्ष्मीबाई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F5985F-841F-77A0-77A9-E6B5AD1D7B47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85B42-28EB-9822-134C-362F079C695C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सिंहासन हिल उठे राजवंशों ने भृकुटी तानी थी... खूब लड़ी मर्दानी वह तो झांसी वाली रानी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C2ECBB-FE7A-0ED7-9770-891BB530DCE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2C85F9-3177-6019-5AD2-4A15711763EE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B9316B-D465-CB0F-BB85-C042D8988CBF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'हड़प नीति' के तहत झांसी के विलय के विरोध में वीरांगना लक्ष्मीबाई का महा-विद्रोह
• दत्तक पुत्र दामोदर राव को पीठ पर बांधकर दोनों हाथों में तलवार लिए रणभूमि में कूदना
• 18 जून 1858 को कोटा-की-सराय (ग्वालियर) में लड़ते हुए वीरगति प्राप्त की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82980-6860-7314-461C-41C6365E52C1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1F1292-EC6A-685D-DE7F-53EA9D44033D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ब्रिटिश सेनापति सर ह्यूरोज़ ने रानी को 'क्रांतिकारियों में एकमात्र पुरुष/मर्द' कहा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A9DBFF-AD68-500F-F652-D0CD7ED8E7AB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7085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F34D3E-CAD0-00E1-FC79-4F95E842DBB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9B569-8126-670D-033E-4D434887F246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8: बिहार के 80 वर्षीय बब्बर शेर — बाबू कुंवर सिंह व तात्या टोपे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36DBDA-62DC-6C6D-9166-9DB44B0987FD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1E0C73-A81E-C079-CD2B-31D32C55DF56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अस्सी बरस की उम्र में जागा जोश पुराना था, सब कहते हैं कुंवर सिंह भी बड़ा वीर मर्दाना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91E88-24A8-6474-D5F3-85EA54A2B4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2A3E25-58B7-0F29-3E60-E11AA4434940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3014A5-BB1E-CF6E-32B4-4F371EA52B76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बिहार (जगदीशपुर/आरा): 80 वर्षीय बाबू कुंवर सिंह व अमर सिंह का अदम्य नेतृत्व
• कानपुर: पेशवा बाजीराव के दत्तक पुत्र नाना साहेब (धोंधूपंत) व तात्या टोपे का मोर्चा
• लखनऊ (अवध): बेगम हज़रत महल ने अपने अल्पवयस्क पुत्र बिरजिस क़द्र के साथ विद्रोह किया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24931A-D88B-5DA8-9F80-93BE5A5B62CF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8D16BE-3966-F277-DF79-019F723094A0}"/>
              </a:ext>
            </a:extLst>
          </p:cNvPr>
          <p:cNvSpPr txBox="1"/>
          <p:nvPr/>
        </p:nvSpPr>
        <p:spPr>
          <a:xfrm>
            <a:off x="5905500" y="5029200"/>
            <a:ext cx="57785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तात्या टोपे का वास्तविक नाम 'रामचंद्र पांडुरंग'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3C6B6-EB52-34EC-C6EF-601EFD0BD94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530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C9971F-3FE3-BEB9-B228-E771F427BC99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B1E422-DB8F-3D96-C81E-3973B5DC8FA3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9: परिणाम और सीख — ईस्ट इंडिया कंपनी का अंत (1858)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4BEDF7-CAB8-5E60-B28A-B890812C8F9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E4CFCC-D289-975F-2636-77E8A91919FD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हार कर भी वो जीत गए, आज़ादी की नींव सजाई थी, 1857 की चिंगारी ने 1947 की अलख जगाई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918DE2-CFFA-6EC3-5146-2B3A29E9064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8F919D-1544-018A-7BCE-5D3C2926D811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47CD6F-1B6A-FD38-584B-A66D87CC9D7D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1858 का भारत शासन अधिनियम (</a:t>
            </a:r>
            <a:r>
              <a:rPr lang="en-IN" sz="1350">
                <a:solidFill>
                  <a:srgbClr val="F8FAFC"/>
                </a:solidFill>
                <a:latin typeface="Segoe UI" panose="020B0502040204020203" pitchFamily="34" charset="0"/>
              </a:rPr>
              <a:t>Government of India Act 1858) </a:t>
            </a:r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पारित हुआ
• ईस्ट इंडिया कंपनी का शासन समाप्त; ब्रिटिश क्राउन का सीधा नियंत्रण स्थापित
• गवर्नर जनरल का पदनाम बदलकर 'वायसराय' किया गया (प्रथम वायसराय: लॉर्ड कैनिंग)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CA1E51-F8AA-2888-FD6A-9AF7D26B253B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8BEA4C-3B44-A18E-1506-21CA79D0FC74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महारानी विक्टोरिया का घोषणापत्र 1 नवंबर 1858 को इलाहाबाद दरबार में पढ़ा गया!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F7288A-F0A1-7E01-219C-C7083883A6AE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535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EB41A3-32EB-3406-A659-3B3D19432E6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8B2827-C307-F35D-4A11-162E7AA5C3A8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7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महा-अभ्यास (प्रश्न 1 से 5)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BF00E41-EA6B-4778-3BCA-E6B0F69A53D6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0DAD-E879-BEFE-037A-607D4EFD76DA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पढ़ी हुई कहानी को अब सवालों में उतारो, 10 में से 10 लाकर परीक्षा में परचम लहराओ!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CAABD6-08A5-3A24-8203-1BF2ECA46571}"/>
              </a:ext>
            </a:extLst>
          </p:cNvPr>
          <p:cNvSpPr/>
          <p:nvPr/>
        </p:nvSpPr>
        <p:spPr>
          <a:xfrm>
            <a:off x="381000" y="12446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485E49-B5CE-F6ED-E371-588196368518}"/>
              </a:ext>
            </a:extLst>
          </p:cNvPr>
          <p:cNvSpPr txBox="1"/>
          <p:nvPr/>
        </p:nvSpPr>
        <p:spPr>
          <a:xfrm>
            <a:off x="571500" y="13970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1: 1857 के विद्रोह की पहली गोली किस तिथि को चलाई गई थी? ➡️ 29 मार्च 1857 (बैरकपुर, मंगल पांडे)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476ECF-67DE-4327-BE3A-3750F003E6E7}"/>
              </a:ext>
            </a:extLst>
          </p:cNvPr>
          <p:cNvSpPr/>
          <p:nvPr/>
        </p:nvSpPr>
        <p:spPr>
          <a:xfrm>
            <a:off x="381000" y="22352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0778E4-8C3C-479D-B978-9892CB7C62B4}"/>
              </a:ext>
            </a:extLst>
          </p:cNvPr>
          <p:cNvSpPr txBox="1"/>
          <p:nvPr/>
        </p:nvSpPr>
        <p:spPr>
          <a:xfrm>
            <a:off x="571500" y="23876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2: मंगल पांडे किस इन्फैंट्री रेजिमेंट के सिपाही थे? ➡️ 34वीं बंगाल नेटिव इन्फैंट्री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3CBB1F-8D56-CDA8-41BC-C197B0BFC276}"/>
              </a:ext>
            </a:extLst>
          </p:cNvPr>
          <p:cNvSpPr/>
          <p:nvPr/>
        </p:nvSpPr>
        <p:spPr>
          <a:xfrm>
            <a:off x="381000" y="32258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236C-E35B-0CDF-B48F-145D2F096CD5}"/>
              </a:ext>
            </a:extLst>
          </p:cNvPr>
          <p:cNvSpPr txBox="1"/>
          <p:nvPr/>
        </p:nvSpPr>
        <p:spPr>
          <a:xfrm>
            <a:off x="571500" y="33782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3: 1857 की क्रांति का औपचारिक प्रतीक चिह्न क्या था? ➡️ कमल और रोटी (</a:t>
            </a:r>
            <a:r>
              <a:rPr lang="en-IN" sz="1350" b="1">
                <a:solidFill>
                  <a:srgbClr val="F8FAFC"/>
                </a:solidFill>
                <a:latin typeface="Segoe UI" panose="020B0502040204020203" pitchFamily="34" charset="0"/>
              </a:rPr>
              <a:t>Lotus and Bread)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6DB20CB-FA52-66CD-055D-26077D78378A}"/>
              </a:ext>
            </a:extLst>
          </p:cNvPr>
          <p:cNvSpPr/>
          <p:nvPr/>
        </p:nvSpPr>
        <p:spPr>
          <a:xfrm>
            <a:off x="381000" y="42164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52B436-7E25-E13C-B4D4-929ABE703541}"/>
              </a:ext>
            </a:extLst>
          </p:cNvPr>
          <p:cNvSpPr txBox="1"/>
          <p:nvPr/>
        </p:nvSpPr>
        <p:spPr>
          <a:xfrm>
            <a:off x="571500" y="43688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4: 1857 के समय भारत का गवर्नर जनरल कौन था? ➡️ लॉर्ड कैनिंग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E3DFACA-DB52-1066-45FC-4BF943CC218A}"/>
              </a:ext>
            </a:extLst>
          </p:cNvPr>
          <p:cNvSpPr/>
          <p:nvPr/>
        </p:nvSpPr>
        <p:spPr>
          <a:xfrm>
            <a:off x="381000" y="52070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6BCCC0-A415-6D32-C181-5AC9F04F44D0}"/>
              </a:ext>
            </a:extLst>
          </p:cNvPr>
          <p:cNvSpPr txBox="1"/>
          <p:nvPr/>
        </p:nvSpPr>
        <p:spPr>
          <a:xfrm>
            <a:off x="571500" y="53594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5: मेरठ से सैनिकों ने दिल्ली के लिए किस तारीख को कूच किया? ➡️ 10 मई 1857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5F8F94-AEBC-CD9E-B970-7A363C8E982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256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661255-1AF2-724A-502B-A86B4BBD529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5FF859-FA34-E453-C37C-E2219564B3F5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7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महा-अभ्यास (प्रश्न 6 से 10)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A7CD0A5-BC36-666E-E9D0-C2BF95403EBA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955148-F6D0-C15D-6FB7-6E9AE888BE18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सवालों की इस जंग में जो जीता वही सिकंदर, मेहनत से चमकेगा तुम्हारा मुकद्दर!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4C018F4-1600-F5BF-6586-A3DC2CE26317}"/>
              </a:ext>
            </a:extLst>
          </p:cNvPr>
          <p:cNvSpPr/>
          <p:nvPr/>
        </p:nvSpPr>
        <p:spPr>
          <a:xfrm>
            <a:off x="381000" y="12446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C3F428-B1E4-E6D3-6119-6153D6471450}"/>
              </a:ext>
            </a:extLst>
          </p:cNvPr>
          <p:cNvSpPr txBox="1"/>
          <p:nvPr/>
        </p:nvSpPr>
        <p:spPr>
          <a:xfrm>
            <a:off x="571500" y="13970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6: बिहार के जगदीशपुर में 1857 क्रांति के प्रणेता कौन थे? ➡️ बाबू कुंवर सिंह (80 वर्षीय वीर)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B8876B-DEBE-68CC-E9C7-66DCF9E1B116}"/>
              </a:ext>
            </a:extLst>
          </p:cNvPr>
          <p:cNvSpPr/>
          <p:nvPr/>
        </p:nvSpPr>
        <p:spPr>
          <a:xfrm>
            <a:off x="381000" y="22352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6C484A-25D3-9A49-05BB-FAD26BD843B5}"/>
              </a:ext>
            </a:extLst>
          </p:cNvPr>
          <p:cNvSpPr txBox="1"/>
          <p:nvPr/>
        </p:nvSpPr>
        <p:spPr>
          <a:xfrm>
            <a:off x="571500" y="23876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7: तात्या टोपे का वास्तविक नाम क्या था? ➡️ रामचंद्र पांडुरंग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0BF4A3-F980-07B9-A600-6AE697B5D315}"/>
              </a:ext>
            </a:extLst>
          </p:cNvPr>
          <p:cNvSpPr/>
          <p:nvPr/>
        </p:nvSpPr>
        <p:spPr>
          <a:xfrm>
            <a:off x="381000" y="32258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9D1E74-45CB-A5C1-0F8F-63A79B355A21}"/>
              </a:ext>
            </a:extLst>
          </p:cNvPr>
          <p:cNvSpPr txBox="1"/>
          <p:nvPr/>
        </p:nvSpPr>
        <p:spPr>
          <a:xfrm>
            <a:off x="571500" y="33782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8: ब्रिटिश सेनापति सर ह्यूरोज़ ने किसे 'एकमात्र मर्द' कहा था? ➡️ रानी लक्ष्मीबाई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5AE4DF6-BA4B-C7F5-1030-BD9CD66A7040}"/>
              </a:ext>
            </a:extLst>
          </p:cNvPr>
          <p:cNvSpPr/>
          <p:nvPr/>
        </p:nvSpPr>
        <p:spPr>
          <a:xfrm>
            <a:off x="381000" y="42164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BC8DB0-96A2-B348-BE9F-59C59D816994}"/>
              </a:ext>
            </a:extLst>
          </p:cNvPr>
          <p:cNvSpPr txBox="1"/>
          <p:nvPr/>
        </p:nvSpPr>
        <p:spPr>
          <a:xfrm>
            <a:off x="571500" y="43688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9: 1857 के समय ब्रिटेन का प्रधानमंत्री कौन था? ➡️ लॉर्ड पामर्स्टन (</a:t>
            </a:r>
            <a:r>
              <a:rPr lang="en-IN" sz="1350" b="1">
                <a:solidFill>
                  <a:srgbClr val="F8FAFC"/>
                </a:solidFill>
                <a:latin typeface="Segoe UI" panose="020B0502040204020203" pitchFamily="34" charset="0"/>
              </a:rPr>
              <a:t>Palmerston)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22CD2D9-D7B1-E694-975E-6F85E727ACB2}"/>
              </a:ext>
            </a:extLst>
          </p:cNvPr>
          <p:cNvSpPr/>
          <p:nvPr/>
        </p:nvSpPr>
        <p:spPr>
          <a:xfrm>
            <a:off x="381000" y="52070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1A57F-2C1F-3067-B335-B74978A24F90}"/>
              </a:ext>
            </a:extLst>
          </p:cNvPr>
          <p:cNvSpPr txBox="1"/>
          <p:nvPr/>
        </p:nvSpPr>
        <p:spPr>
          <a:xfrm>
            <a:off x="571500" y="53594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10: 1858 में ईस्ट इंडिया कंपनी का शासन समाप्त कर भारत किसके अधीन हुआ? ➡️ ब्रिटिश क्राउन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F6A2B-393E-2F0D-E5AA-4057B9344B6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1770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2137</Words>
  <Application>Microsoft Office PowerPoint</Application>
  <PresentationFormat>Custom</PresentationFormat>
  <Paragraphs>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Sudhir Kumar</dc:creator>
  <cp:lastModifiedBy>Sudhir Kumar</cp:lastModifiedBy>
  <cp:revision>1</cp:revision>
  <dcterms:created xsi:type="dcterms:W3CDTF">2026-10-24T11:28:44Z</dcterms:created>
  <dcterms:modified xsi:type="dcterms:W3CDTF">2026-10-24T11:28:44Z</dcterms:modified>
</cp:coreProperties>
</file>