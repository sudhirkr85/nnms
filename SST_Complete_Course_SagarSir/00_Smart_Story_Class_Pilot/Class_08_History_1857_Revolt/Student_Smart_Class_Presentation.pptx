
<file path=[Content_Types].xml><?xml version="1.0" encoding="utf-8"?>
<Types xmlns="http://schemas.openxmlformats.org/package/2006/content-type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19EBE0-3E96-C772-A292-847C35E9C60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06EB44C3-2927-B731-F388-21CE54D7CBB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8C35C87E-4A25-22DB-894B-ABDFE37328C5}"/>
              </a:ext>
            </a:extLst>
          </p:cNvPr>
          <p:cNvSpPr>
            <a:spLocks noGrp="1"/>
          </p:cNvSpPr>
          <p:nvPr>
            <p:ph type="dt" sz="half" idx="10"/>
          </p:nvPr>
        </p:nvSpPr>
        <p:spPr/>
        <p:txBody>
          <a:bodyPr/>
          <a:lstStyle/>
          <a:p>
            <a:fld id="{9D8FF53F-18D6-49C9-8148-56D971616EEC}" type="datetimeFigureOut">
              <a:rPr lang="en-IN" smtClean="0"/>
              <a:t>29-10-2026</a:t>
            </a:fld>
            <a:endParaRPr lang="en-IN"/>
          </a:p>
        </p:txBody>
      </p:sp>
      <p:sp>
        <p:nvSpPr>
          <p:cNvPr id="5" name="Footer Placeholder 4">
            <a:extLst>
              <a:ext uri="{FF2B5EF4-FFF2-40B4-BE49-F238E27FC236}">
                <a16:creationId xmlns:a16="http://schemas.microsoft.com/office/drawing/2014/main" id="{397CBDE6-5AF3-9010-3A01-67C0AE23B164}"/>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1B200116-CCF2-6F59-6CD7-21ADD5F6A468}"/>
              </a:ext>
            </a:extLst>
          </p:cNvPr>
          <p:cNvSpPr>
            <a:spLocks noGrp="1"/>
          </p:cNvSpPr>
          <p:nvPr>
            <p:ph type="sldNum" sz="quarter" idx="12"/>
          </p:nvPr>
        </p:nvSpPr>
        <p:spPr/>
        <p:txBody>
          <a:bodyPr/>
          <a:lstStyle/>
          <a:p>
            <a:fld id="{94FF0BE8-398C-42A9-8C7F-D684DCFE5A23}" type="slidenum">
              <a:rPr lang="en-IN" smtClean="0"/>
              <a:t>‹#›</a:t>
            </a:fld>
            <a:endParaRPr lang="en-IN"/>
          </a:p>
        </p:txBody>
      </p:sp>
    </p:spTree>
    <p:extLst>
      <p:ext uri="{BB962C8B-B14F-4D97-AF65-F5344CB8AC3E}">
        <p14:creationId xmlns:p14="http://schemas.microsoft.com/office/powerpoint/2010/main" val="11713255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570251-6231-CE82-00AA-8B192BBE1716}"/>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77C1F67A-A29C-9D7D-0E29-2928B9B4D9A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746A175-9489-F4C5-5510-681A4A1474CA}"/>
              </a:ext>
            </a:extLst>
          </p:cNvPr>
          <p:cNvSpPr>
            <a:spLocks noGrp="1"/>
          </p:cNvSpPr>
          <p:nvPr>
            <p:ph type="dt" sz="half" idx="10"/>
          </p:nvPr>
        </p:nvSpPr>
        <p:spPr/>
        <p:txBody>
          <a:bodyPr/>
          <a:lstStyle/>
          <a:p>
            <a:fld id="{9D8FF53F-18D6-49C9-8148-56D971616EEC}" type="datetimeFigureOut">
              <a:rPr lang="en-IN" smtClean="0"/>
              <a:t>29-10-2026</a:t>
            </a:fld>
            <a:endParaRPr lang="en-IN"/>
          </a:p>
        </p:txBody>
      </p:sp>
      <p:sp>
        <p:nvSpPr>
          <p:cNvPr id="5" name="Footer Placeholder 4">
            <a:extLst>
              <a:ext uri="{FF2B5EF4-FFF2-40B4-BE49-F238E27FC236}">
                <a16:creationId xmlns:a16="http://schemas.microsoft.com/office/drawing/2014/main" id="{6AE61BD3-BC56-1E06-1AF8-6120C54FBB0F}"/>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C30349A6-BA2C-34D6-65D2-770BC21E1555}"/>
              </a:ext>
            </a:extLst>
          </p:cNvPr>
          <p:cNvSpPr>
            <a:spLocks noGrp="1"/>
          </p:cNvSpPr>
          <p:nvPr>
            <p:ph type="sldNum" sz="quarter" idx="12"/>
          </p:nvPr>
        </p:nvSpPr>
        <p:spPr/>
        <p:txBody>
          <a:bodyPr/>
          <a:lstStyle/>
          <a:p>
            <a:fld id="{94FF0BE8-398C-42A9-8C7F-D684DCFE5A23}" type="slidenum">
              <a:rPr lang="en-IN" smtClean="0"/>
              <a:t>‹#›</a:t>
            </a:fld>
            <a:endParaRPr lang="en-IN"/>
          </a:p>
        </p:txBody>
      </p:sp>
    </p:spTree>
    <p:extLst>
      <p:ext uri="{BB962C8B-B14F-4D97-AF65-F5344CB8AC3E}">
        <p14:creationId xmlns:p14="http://schemas.microsoft.com/office/powerpoint/2010/main" val="11373790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F11D03-47DD-08D0-FC8E-945B5D670A5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C822A686-58F0-5C32-25AC-314D4D5AA3AD}"/>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6B61B3A-C333-92B7-B2CE-0F76E95B6434}"/>
              </a:ext>
            </a:extLst>
          </p:cNvPr>
          <p:cNvSpPr>
            <a:spLocks noGrp="1"/>
          </p:cNvSpPr>
          <p:nvPr>
            <p:ph type="dt" sz="half" idx="10"/>
          </p:nvPr>
        </p:nvSpPr>
        <p:spPr/>
        <p:txBody>
          <a:bodyPr/>
          <a:lstStyle/>
          <a:p>
            <a:fld id="{9D8FF53F-18D6-49C9-8148-56D971616EEC}" type="datetimeFigureOut">
              <a:rPr lang="en-IN" smtClean="0"/>
              <a:t>29-10-2026</a:t>
            </a:fld>
            <a:endParaRPr lang="en-IN"/>
          </a:p>
        </p:txBody>
      </p:sp>
      <p:sp>
        <p:nvSpPr>
          <p:cNvPr id="5" name="Footer Placeholder 4">
            <a:extLst>
              <a:ext uri="{FF2B5EF4-FFF2-40B4-BE49-F238E27FC236}">
                <a16:creationId xmlns:a16="http://schemas.microsoft.com/office/drawing/2014/main" id="{494E4CBA-255E-081E-EEDD-B2C0E4CDC97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B98E8682-082B-6FB9-A21A-F654FED089AF}"/>
              </a:ext>
            </a:extLst>
          </p:cNvPr>
          <p:cNvSpPr>
            <a:spLocks noGrp="1"/>
          </p:cNvSpPr>
          <p:nvPr>
            <p:ph type="sldNum" sz="quarter" idx="12"/>
          </p:nvPr>
        </p:nvSpPr>
        <p:spPr/>
        <p:txBody>
          <a:bodyPr/>
          <a:lstStyle/>
          <a:p>
            <a:fld id="{94FF0BE8-398C-42A9-8C7F-D684DCFE5A23}" type="slidenum">
              <a:rPr lang="en-IN" smtClean="0"/>
              <a:t>‹#›</a:t>
            </a:fld>
            <a:endParaRPr lang="en-IN"/>
          </a:p>
        </p:txBody>
      </p:sp>
    </p:spTree>
    <p:extLst>
      <p:ext uri="{BB962C8B-B14F-4D97-AF65-F5344CB8AC3E}">
        <p14:creationId xmlns:p14="http://schemas.microsoft.com/office/powerpoint/2010/main" val="30451089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AC036-0FE9-12A6-B1C1-CC74B37AC9C3}"/>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A42AB7EF-DD75-59D6-54F6-5EF9E899E25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3A94FF2B-C3E2-BD4B-28F6-440F54B9432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813E3473-217D-D04C-2E19-A5295E22B881}"/>
              </a:ext>
            </a:extLst>
          </p:cNvPr>
          <p:cNvSpPr>
            <a:spLocks noGrp="1"/>
          </p:cNvSpPr>
          <p:nvPr>
            <p:ph type="dt" sz="half" idx="10"/>
          </p:nvPr>
        </p:nvSpPr>
        <p:spPr/>
        <p:txBody>
          <a:bodyPr/>
          <a:lstStyle/>
          <a:p>
            <a:fld id="{9D8FF53F-18D6-49C9-8148-56D971616EEC}" type="datetimeFigureOut">
              <a:rPr lang="en-IN" smtClean="0"/>
              <a:t>29-10-2026</a:t>
            </a:fld>
            <a:endParaRPr lang="en-IN"/>
          </a:p>
        </p:txBody>
      </p:sp>
      <p:sp>
        <p:nvSpPr>
          <p:cNvPr id="6" name="Footer Placeholder 5">
            <a:extLst>
              <a:ext uri="{FF2B5EF4-FFF2-40B4-BE49-F238E27FC236}">
                <a16:creationId xmlns:a16="http://schemas.microsoft.com/office/drawing/2014/main" id="{23FCC3FD-FB2C-649D-11E2-C9B7573F949E}"/>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FDC6926E-88EB-FEBD-2CE2-8CCBD2DC0C21}"/>
              </a:ext>
            </a:extLst>
          </p:cNvPr>
          <p:cNvSpPr>
            <a:spLocks noGrp="1"/>
          </p:cNvSpPr>
          <p:nvPr>
            <p:ph type="sldNum" sz="quarter" idx="12"/>
          </p:nvPr>
        </p:nvSpPr>
        <p:spPr/>
        <p:txBody>
          <a:bodyPr/>
          <a:lstStyle/>
          <a:p>
            <a:fld id="{94FF0BE8-398C-42A9-8C7F-D684DCFE5A23}" type="slidenum">
              <a:rPr lang="en-IN" smtClean="0"/>
              <a:t>‹#›</a:t>
            </a:fld>
            <a:endParaRPr lang="en-IN"/>
          </a:p>
        </p:txBody>
      </p:sp>
    </p:spTree>
    <p:extLst>
      <p:ext uri="{BB962C8B-B14F-4D97-AF65-F5344CB8AC3E}">
        <p14:creationId xmlns:p14="http://schemas.microsoft.com/office/powerpoint/2010/main" val="133964522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06D2E6-5BBE-D9CE-2558-6058ABF4EDAA}"/>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4C39108B-B050-859B-10EC-02965AA13F9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A155DB-471C-439A-4FB6-4C084343CFD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CF5D4237-A194-F2DB-DBBC-C395923C075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22A56B5-E6C3-81F4-6314-E09DBE8CA50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F592A097-9D75-9ABE-CD2A-8F8A40EB6FDC}"/>
              </a:ext>
            </a:extLst>
          </p:cNvPr>
          <p:cNvSpPr>
            <a:spLocks noGrp="1"/>
          </p:cNvSpPr>
          <p:nvPr>
            <p:ph type="dt" sz="half" idx="10"/>
          </p:nvPr>
        </p:nvSpPr>
        <p:spPr/>
        <p:txBody>
          <a:bodyPr/>
          <a:lstStyle/>
          <a:p>
            <a:fld id="{9D8FF53F-18D6-49C9-8148-56D971616EEC}" type="datetimeFigureOut">
              <a:rPr lang="en-IN" smtClean="0"/>
              <a:t>29-10-2026</a:t>
            </a:fld>
            <a:endParaRPr lang="en-IN"/>
          </a:p>
        </p:txBody>
      </p:sp>
      <p:sp>
        <p:nvSpPr>
          <p:cNvPr id="8" name="Footer Placeholder 7">
            <a:extLst>
              <a:ext uri="{FF2B5EF4-FFF2-40B4-BE49-F238E27FC236}">
                <a16:creationId xmlns:a16="http://schemas.microsoft.com/office/drawing/2014/main" id="{9301C009-58B6-09F4-694C-06E9E8260F7B}"/>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BBF84D33-1B34-6D30-CDCC-C4B8CA138E6A}"/>
              </a:ext>
            </a:extLst>
          </p:cNvPr>
          <p:cNvSpPr>
            <a:spLocks noGrp="1"/>
          </p:cNvSpPr>
          <p:nvPr>
            <p:ph type="sldNum" sz="quarter" idx="12"/>
          </p:nvPr>
        </p:nvSpPr>
        <p:spPr/>
        <p:txBody>
          <a:bodyPr/>
          <a:lstStyle/>
          <a:p>
            <a:fld id="{94FF0BE8-398C-42A9-8C7F-D684DCFE5A23}" type="slidenum">
              <a:rPr lang="en-IN" smtClean="0"/>
              <a:t>‹#›</a:t>
            </a:fld>
            <a:endParaRPr lang="en-IN"/>
          </a:p>
        </p:txBody>
      </p:sp>
    </p:spTree>
    <p:extLst>
      <p:ext uri="{BB962C8B-B14F-4D97-AF65-F5344CB8AC3E}">
        <p14:creationId xmlns:p14="http://schemas.microsoft.com/office/powerpoint/2010/main" val="25340505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0684CC-5542-A753-119B-DC202FA23F08}"/>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59F40429-3E0C-6440-313D-188E1EBC0384}"/>
              </a:ext>
            </a:extLst>
          </p:cNvPr>
          <p:cNvSpPr>
            <a:spLocks noGrp="1"/>
          </p:cNvSpPr>
          <p:nvPr>
            <p:ph type="dt" sz="half" idx="10"/>
          </p:nvPr>
        </p:nvSpPr>
        <p:spPr/>
        <p:txBody>
          <a:bodyPr/>
          <a:lstStyle/>
          <a:p>
            <a:fld id="{9D8FF53F-18D6-49C9-8148-56D971616EEC}" type="datetimeFigureOut">
              <a:rPr lang="en-IN" smtClean="0"/>
              <a:t>29-10-2026</a:t>
            </a:fld>
            <a:endParaRPr lang="en-IN"/>
          </a:p>
        </p:txBody>
      </p:sp>
      <p:sp>
        <p:nvSpPr>
          <p:cNvPr id="4" name="Footer Placeholder 3">
            <a:extLst>
              <a:ext uri="{FF2B5EF4-FFF2-40B4-BE49-F238E27FC236}">
                <a16:creationId xmlns:a16="http://schemas.microsoft.com/office/drawing/2014/main" id="{419CE098-D2C2-056A-08B1-06EB006ADADF}"/>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421AA463-68BC-6C62-3408-46E4257C7919}"/>
              </a:ext>
            </a:extLst>
          </p:cNvPr>
          <p:cNvSpPr>
            <a:spLocks noGrp="1"/>
          </p:cNvSpPr>
          <p:nvPr>
            <p:ph type="sldNum" sz="quarter" idx="12"/>
          </p:nvPr>
        </p:nvSpPr>
        <p:spPr/>
        <p:txBody>
          <a:bodyPr/>
          <a:lstStyle/>
          <a:p>
            <a:fld id="{94FF0BE8-398C-42A9-8C7F-D684DCFE5A23}" type="slidenum">
              <a:rPr lang="en-IN" smtClean="0"/>
              <a:t>‹#›</a:t>
            </a:fld>
            <a:endParaRPr lang="en-IN"/>
          </a:p>
        </p:txBody>
      </p:sp>
    </p:spTree>
    <p:extLst>
      <p:ext uri="{BB962C8B-B14F-4D97-AF65-F5344CB8AC3E}">
        <p14:creationId xmlns:p14="http://schemas.microsoft.com/office/powerpoint/2010/main" val="299070109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F83083C-DB06-D8BA-B490-F213D587FEFE}"/>
              </a:ext>
            </a:extLst>
          </p:cNvPr>
          <p:cNvSpPr>
            <a:spLocks noGrp="1"/>
          </p:cNvSpPr>
          <p:nvPr>
            <p:ph type="dt" sz="half" idx="10"/>
          </p:nvPr>
        </p:nvSpPr>
        <p:spPr/>
        <p:txBody>
          <a:bodyPr/>
          <a:lstStyle/>
          <a:p>
            <a:fld id="{9D8FF53F-18D6-49C9-8148-56D971616EEC}" type="datetimeFigureOut">
              <a:rPr lang="en-IN" smtClean="0"/>
              <a:t>29-10-2026</a:t>
            </a:fld>
            <a:endParaRPr lang="en-IN"/>
          </a:p>
        </p:txBody>
      </p:sp>
      <p:sp>
        <p:nvSpPr>
          <p:cNvPr id="3" name="Footer Placeholder 2">
            <a:extLst>
              <a:ext uri="{FF2B5EF4-FFF2-40B4-BE49-F238E27FC236}">
                <a16:creationId xmlns:a16="http://schemas.microsoft.com/office/drawing/2014/main" id="{DAA7C715-C00D-4CED-9C9E-A1CBBA4CFFC9}"/>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86ED1733-193C-C2A9-5D62-61027F8A7C36}"/>
              </a:ext>
            </a:extLst>
          </p:cNvPr>
          <p:cNvSpPr>
            <a:spLocks noGrp="1"/>
          </p:cNvSpPr>
          <p:nvPr>
            <p:ph type="sldNum" sz="quarter" idx="12"/>
          </p:nvPr>
        </p:nvSpPr>
        <p:spPr/>
        <p:txBody>
          <a:bodyPr/>
          <a:lstStyle/>
          <a:p>
            <a:fld id="{94FF0BE8-398C-42A9-8C7F-D684DCFE5A23}" type="slidenum">
              <a:rPr lang="en-IN" smtClean="0"/>
              <a:t>‹#›</a:t>
            </a:fld>
            <a:endParaRPr lang="en-IN"/>
          </a:p>
        </p:txBody>
      </p:sp>
    </p:spTree>
    <p:extLst>
      <p:ext uri="{BB962C8B-B14F-4D97-AF65-F5344CB8AC3E}">
        <p14:creationId xmlns:p14="http://schemas.microsoft.com/office/powerpoint/2010/main" val="17013966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91EA75-9DB7-7303-BA55-EDCE72CA062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428FAF04-5F6C-D615-F054-872DB5C6FE3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12B74836-31C3-C3AF-3D09-58DE158AFD4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FD62086-360B-67CD-1194-4FC7698F376F}"/>
              </a:ext>
            </a:extLst>
          </p:cNvPr>
          <p:cNvSpPr>
            <a:spLocks noGrp="1"/>
          </p:cNvSpPr>
          <p:nvPr>
            <p:ph type="dt" sz="half" idx="10"/>
          </p:nvPr>
        </p:nvSpPr>
        <p:spPr/>
        <p:txBody>
          <a:bodyPr/>
          <a:lstStyle/>
          <a:p>
            <a:fld id="{9D8FF53F-18D6-49C9-8148-56D971616EEC}" type="datetimeFigureOut">
              <a:rPr lang="en-IN" smtClean="0"/>
              <a:t>29-10-2026</a:t>
            </a:fld>
            <a:endParaRPr lang="en-IN"/>
          </a:p>
        </p:txBody>
      </p:sp>
      <p:sp>
        <p:nvSpPr>
          <p:cNvPr id="6" name="Footer Placeholder 5">
            <a:extLst>
              <a:ext uri="{FF2B5EF4-FFF2-40B4-BE49-F238E27FC236}">
                <a16:creationId xmlns:a16="http://schemas.microsoft.com/office/drawing/2014/main" id="{32214D69-B249-B720-B31B-F3FD4712C42A}"/>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550F4C03-AF24-5C1D-7D54-CE6CE7D53135}"/>
              </a:ext>
            </a:extLst>
          </p:cNvPr>
          <p:cNvSpPr>
            <a:spLocks noGrp="1"/>
          </p:cNvSpPr>
          <p:nvPr>
            <p:ph type="sldNum" sz="quarter" idx="12"/>
          </p:nvPr>
        </p:nvSpPr>
        <p:spPr/>
        <p:txBody>
          <a:bodyPr/>
          <a:lstStyle/>
          <a:p>
            <a:fld id="{94FF0BE8-398C-42A9-8C7F-D684DCFE5A23}" type="slidenum">
              <a:rPr lang="en-IN" smtClean="0"/>
              <a:t>‹#›</a:t>
            </a:fld>
            <a:endParaRPr lang="en-IN"/>
          </a:p>
        </p:txBody>
      </p:sp>
    </p:spTree>
    <p:extLst>
      <p:ext uri="{BB962C8B-B14F-4D97-AF65-F5344CB8AC3E}">
        <p14:creationId xmlns:p14="http://schemas.microsoft.com/office/powerpoint/2010/main" val="15642004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98EB0D-1B63-9B7F-8B62-54C27435686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1F46F446-556C-2AEF-E7EE-1AF47EA0C48F}"/>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ADC82382-C669-EFD3-E034-5DA8A8F00AF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404E395-E875-87C2-D461-77485351FDEA}"/>
              </a:ext>
            </a:extLst>
          </p:cNvPr>
          <p:cNvSpPr>
            <a:spLocks noGrp="1"/>
          </p:cNvSpPr>
          <p:nvPr>
            <p:ph type="dt" sz="half" idx="10"/>
          </p:nvPr>
        </p:nvSpPr>
        <p:spPr/>
        <p:txBody>
          <a:bodyPr/>
          <a:lstStyle/>
          <a:p>
            <a:fld id="{9D8FF53F-18D6-49C9-8148-56D971616EEC}" type="datetimeFigureOut">
              <a:rPr lang="en-IN" smtClean="0"/>
              <a:t>29-10-2026</a:t>
            </a:fld>
            <a:endParaRPr lang="en-IN"/>
          </a:p>
        </p:txBody>
      </p:sp>
      <p:sp>
        <p:nvSpPr>
          <p:cNvPr id="6" name="Footer Placeholder 5">
            <a:extLst>
              <a:ext uri="{FF2B5EF4-FFF2-40B4-BE49-F238E27FC236}">
                <a16:creationId xmlns:a16="http://schemas.microsoft.com/office/drawing/2014/main" id="{67D3317D-B054-6B0A-56B6-3625E5337806}"/>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A362CBAC-4720-B744-92D1-6D034753298E}"/>
              </a:ext>
            </a:extLst>
          </p:cNvPr>
          <p:cNvSpPr>
            <a:spLocks noGrp="1"/>
          </p:cNvSpPr>
          <p:nvPr>
            <p:ph type="sldNum" sz="quarter" idx="12"/>
          </p:nvPr>
        </p:nvSpPr>
        <p:spPr/>
        <p:txBody>
          <a:bodyPr/>
          <a:lstStyle/>
          <a:p>
            <a:fld id="{94FF0BE8-398C-42A9-8C7F-D684DCFE5A23}" type="slidenum">
              <a:rPr lang="en-IN" smtClean="0"/>
              <a:t>‹#›</a:t>
            </a:fld>
            <a:endParaRPr lang="en-IN"/>
          </a:p>
        </p:txBody>
      </p:sp>
    </p:spTree>
    <p:extLst>
      <p:ext uri="{BB962C8B-B14F-4D97-AF65-F5344CB8AC3E}">
        <p14:creationId xmlns:p14="http://schemas.microsoft.com/office/powerpoint/2010/main" val="139638317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797B77-DE95-5DF1-5116-BC31B895D1AC}"/>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330BC7C9-48ED-3A17-5FE3-5EC00D3AACE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E3308F2C-0F80-13E3-797B-35ECCCA02452}"/>
              </a:ext>
            </a:extLst>
          </p:cNvPr>
          <p:cNvSpPr>
            <a:spLocks noGrp="1"/>
          </p:cNvSpPr>
          <p:nvPr>
            <p:ph type="dt" sz="half" idx="10"/>
          </p:nvPr>
        </p:nvSpPr>
        <p:spPr/>
        <p:txBody>
          <a:bodyPr/>
          <a:lstStyle/>
          <a:p>
            <a:fld id="{9D8FF53F-18D6-49C9-8148-56D971616EEC}" type="datetimeFigureOut">
              <a:rPr lang="en-IN" smtClean="0"/>
              <a:t>29-10-2026</a:t>
            </a:fld>
            <a:endParaRPr lang="en-IN"/>
          </a:p>
        </p:txBody>
      </p:sp>
      <p:sp>
        <p:nvSpPr>
          <p:cNvPr id="5" name="Footer Placeholder 4">
            <a:extLst>
              <a:ext uri="{FF2B5EF4-FFF2-40B4-BE49-F238E27FC236}">
                <a16:creationId xmlns:a16="http://schemas.microsoft.com/office/drawing/2014/main" id="{BB2011E6-56EB-3082-ED4C-19F878FF209D}"/>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EA3C419E-24E1-C298-1F78-B6F3F3CE1116}"/>
              </a:ext>
            </a:extLst>
          </p:cNvPr>
          <p:cNvSpPr>
            <a:spLocks noGrp="1"/>
          </p:cNvSpPr>
          <p:nvPr>
            <p:ph type="sldNum" sz="quarter" idx="12"/>
          </p:nvPr>
        </p:nvSpPr>
        <p:spPr/>
        <p:txBody>
          <a:bodyPr/>
          <a:lstStyle/>
          <a:p>
            <a:fld id="{94FF0BE8-398C-42A9-8C7F-D684DCFE5A23}" type="slidenum">
              <a:rPr lang="en-IN" smtClean="0"/>
              <a:t>‹#›</a:t>
            </a:fld>
            <a:endParaRPr lang="en-IN"/>
          </a:p>
        </p:txBody>
      </p:sp>
    </p:spTree>
    <p:extLst>
      <p:ext uri="{BB962C8B-B14F-4D97-AF65-F5344CB8AC3E}">
        <p14:creationId xmlns:p14="http://schemas.microsoft.com/office/powerpoint/2010/main" val="162449020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4512A3F-44A6-3E4E-5811-BFBEC87B626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94F38F64-72ED-3762-EDE9-557549BF3234}"/>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1B59447-149B-C4E0-B750-5F148AABCF3A}"/>
              </a:ext>
            </a:extLst>
          </p:cNvPr>
          <p:cNvSpPr>
            <a:spLocks noGrp="1"/>
          </p:cNvSpPr>
          <p:nvPr>
            <p:ph type="dt" sz="half" idx="10"/>
          </p:nvPr>
        </p:nvSpPr>
        <p:spPr/>
        <p:txBody>
          <a:bodyPr/>
          <a:lstStyle/>
          <a:p>
            <a:fld id="{9D8FF53F-18D6-49C9-8148-56D971616EEC}" type="datetimeFigureOut">
              <a:rPr lang="en-IN" smtClean="0"/>
              <a:t>29-10-2026</a:t>
            </a:fld>
            <a:endParaRPr lang="en-IN"/>
          </a:p>
        </p:txBody>
      </p:sp>
      <p:sp>
        <p:nvSpPr>
          <p:cNvPr id="5" name="Footer Placeholder 4">
            <a:extLst>
              <a:ext uri="{FF2B5EF4-FFF2-40B4-BE49-F238E27FC236}">
                <a16:creationId xmlns:a16="http://schemas.microsoft.com/office/drawing/2014/main" id="{2DB8815C-5967-5B82-E8DB-D78AA77E6360}"/>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A0259C22-B889-906D-9CAD-0FAF1AD37130}"/>
              </a:ext>
            </a:extLst>
          </p:cNvPr>
          <p:cNvSpPr>
            <a:spLocks noGrp="1"/>
          </p:cNvSpPr>
          <p:nvPr>
            <p:ph type="sldNum" sz="quarter" idx="12"/>
          </p:nvPr>
        </p:nvSpPr>
        <p:spPr/>
        <p:txBody>
          <a:bodyPr/>
          <a:lstStyle/>
          <a:p>
            <a:fld id="{94FF0BE8-398C-42A9-8C7F-D684DCFE5A23}" type="slidenum">
              <a:rPr lang="en-IN" smtClean="0"/>
              <a:t>‹#›</a:t>
            </a:fld>
            <a:endParaRPr lang="en-IN"/>
          </a:p>
        </p:txBody>
      </p:sp>
    </p:spTree>
    <p:extLst>
      <p:ext uri="{BB962C8B-B14F-4D97-AF65-F5344CB8AC3E}">
        <p14:creationId xmlns:p14="http://schemas.microsoft.com/office/powerpoint/2010/main" val="99410647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85C0575-94BA-83FE-9C3D-001680ABDF0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F15C9693-94B2-964A-0CC4-08E25819DAA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DC495255-CBB7-32B0-4829-A4535DA6BA8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8FF53F-18D6-49C9-8148-56D971616EEC}" type="datetimeFigureOut">
              <a:rPr lang="en-IN" smtClean="0"/>
              <a:t>29-10-2026</a:t>
            </a:fld>
            <a:endParaRPr lang="en-IN"/>
          </a:p>
        </p:txBody>
      </p:sp>
      <p:sp>
        <p:nvSpPr>
          <p:cNvPr id="5" name="Footer Placeholder 4">
            <a:extLst>
              <a:ext uri="{FF2B5EF4-FFF2-40B4-BE49-F238E27FC236}">
                <a16:creationId xmlns:a16="http://schemas.microsoft.com/office/drawing/2014/main" id="{1BB108E1-EEC6-CC64-EC6C-EFD016E6B51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9758D234-70F9-29D4-3EC6-44C31B40B10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4FF0BE8-398C-42A9-8C7F-D684DCFE5A23}" type="slidenum">
              <a:rPr lang="en-IN" smtClean="0"/>
              <a:t>‹#›</a:t>
            </a:fld>
            <a:endParaRPr lang="en-IN"/>
          </a:p>
        </p:txBody>
      </p:sp>
    </p:spTree>
    <p:extLst>
      <p:ext uri="{BB962C8B-B14F-4D97-AF65-F5344CB8AC3E}">
        <p14:creationId xmlns:p14="http://schemas.microsoft.com/office/powerpoint/2010/main" val="83752783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2.mp4"/><Relationship Id="rId1" Type="http://schemas.microsoft.com/office/2007/relationships/media" Target="../media/media2.mp4"/><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3.mp4"/><Relationship Id="rId1" Type="http://schemas.microsoft.com/office/2007/relationships/media" Target="../media/media3.mp4"/><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4.mp4"/><Relationship Id="rId1" Type="http://schemas.microsoft.com/office/2007/relationships/media" Target="../media/media4.mp4"/><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5.mp4"/><Relationship Id="rId1" Type="http://schemas.microsoft.com/office/2007/relationships/media" Target="../media/media5.mp4"/><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6.mp4"/><Relationship Id="rId1" Type="http://schemas.microsoft.com/office/2007/relationships/media" Target="../media/media6.mp4"/><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7.mp4"/><Relationship Id="rId1" Type="http://schemas.microsoft.com/office/2007/relationships/media" Target="../media/media7.mp4"/><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8.mp4"/><Relationship Id="rId1" Type="http://schemas.microsoft.com/office/2007/relationships/media" Target="../media/media8.mp4"/><Relationship Id="rId4" Type="http://schemas.openxmlformats.org/officeDocument/2006/relationships/image" Target="../media/image10.png"/></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9.mp4"/><Relationship Id="rId1" Type="http://schemas.microsoft.com/office/2007/relationships/media" Target="../media/media9.mp4"/><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10.mp4"/><Relationship Id="rId1" Type="http://schemas.microsoft.com/office/2007/relationships/media" Target="../media/media10.mp4"/><Relationship Id="rId4" Type="http://schemas.openxmlformats.org/officeDocument/2006/relationships/image" Target="../media/image12.png"/></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11.mp4"/><Relationship Id="rId1" Type="http://schemas.microsoft.com/office/2007/relationships/media" Target="../media/media11.mp4"/><Relationship Id="rId4"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ABF49E0D-B6F4-3C76-ECDD-84E9E06E0EDD}"/>
              </a:ext>
            </a:extLst>
          </p:cNvPr>
          <p:cNvSpPr/>
          <p:nvPr/>
        </p:nvSpPr>
        <p:spPr>
          <a:xfrm>
            <a:off x="457200" y="304800"/>
            <a:ext cx="11277600" cy="6248400"/>
          </a:xfrm>
          <a:prstGeom prst="roundRect">
            <a:avLst/>
          </a:prstGeom>
          <a:solidFill>
            <a:srgbClr val="1E3A8A"/>
          </a:solidFill>
          <a:ln w="38100">
            <a:solidFill>
              <a:srgbClr val="D9770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4" name="Picture 3">
            <a:extLst>
              <a:ext uri="{FF2B5EF4-FFF2-40B4-BE49-F238E27FC236}">
                <a16:creationId xmlns:a16="http://schemas.microsoft.com/office/drawing/2014/main" id="{1AEFE2FE-9203-C5D0-67B4-E98B0BAB3389}"/>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5270500" y="584200"/>
            <a:ext cx="1651000" cy="1651000"/>
          </a:xfrm>
          <a:prstGeom prst="rect">
            <a:avLst/>
          </a:prstGeom>
        </p:spPr>
      </p:pic>
      <p:sp>
        <p:nvSpPr>
          <p:cNvPr id="5" name="TextBox 4">
            <a:extLst>
              <a:ext uri="{FF2B5EF4-FFF2-40B4-BE49-F238E27FC236}">
                <a16:creationId xmlns:a16="http://schemas.microsoft.com/office/drawing/2014/main" id="{9EDCD1DD-CDE3-3D3B-604C-99C1AFC22A38}"/>
              </a:ext>
            </a:extLst>
          </p:cNvPr>
          <p:cNvSpPr txBox="1"/>
          <p:nvPr/>
        </p:nvSpPr>
        <p:spPr>
          <a:xfrm>
            <a:off x="762000" y="2438400"/>
            <a:ext cx="10668000" cy="461665"/>
          </a:xfrm>
          <a:prstGeom prst="rect">
            <a:avLst/>
          </a:prstGeom>
          <a:noFill/>
        </p:spPr>
        <p:txBody>
          <a:bodyPr vert="horz" wrap="square" rtlCol="0">
            <a:spAutoFit/>
          </a:bodyPr>
          <a:lstStyle/>
          <a:p>
            <a:pPr algn="ctr"/>
            <a:r>
              <a:rPr lang="en-IN" sz="2400" b="1">
                <a:solidFill>
                  <a:srgbClr val="FDE68A"/>
                </a:solidFill>
                <a:latin typeface="Segoe UI" panose="020B0502040204020203" pitchFamily="34" charset="0"/>
              </a:rPr>
              <a:t>SAGAR COACHING CENTRE BHAGWANPUR</a:t>
            </a:r>
          </a:p>
        </p:txBody>
      </p:sp>
      <p:sp>
        <p:nvSpPr>
          <p:cNvPr id="6" name="TextBox 5">
            <a:extLst>
              <a:ext uri="{FF2B5EF4-FFF2-40B4-BE49-F238E27FC236}">
                <a16:creationId xmlns:a16="http://schemas.microsoft.com/office/drawing/2014/main" id="{04CB64AA-D1CA-EBEE-D992-727CFDCF4F43}"/>
              </a:ext>
            </a:extLst>
          </p:cNvPr>
          <p:cNvSpPr txBox="1"/>
          <p:nvPr/>
        </p:nvSpPr>
        <p:spPr>
          <a:xfrm>
            <a:off x="762000" y="2971800"/>
            <a:ext cx="10668000" cy="323165"/>
          </a:xfrm>
          <a:prstGeom prst="rect">
            <a:avLst/>
          </a:prstGeom>
          <a:noFill/>
        </p:spPr>
        <p:txBody>
          <a:bodyPr vert="horz" wrap="square" rtlCol="0">
            <a:spAutoFit/>
          </a:bodyPr>
          <a:lstStyle/>
          <a:p>
            <a:pPr algn="ctr"/>
            <a:r>
              <a:rPr lang="hi-IN" sz="1500" b="1">
                <a:solidFill>
                  <a:srgbClr val="93C5FD"/>
                </a:solidFill>
                <a:latin typeface="Segoe UI" panose="020B0502040204020203" pitchFamily="34" charset="0"/>
              </a:rPr>
              <a:t>राष्ट्रीय आय-सह-मेधा छात्रवृत्ति परीक्षा (</a:t>
            </a:r>
            <a:r>
              <a:rPr lang="en-IN" sz="1500" b="1">
                <a:solidFill>
                  <a:srgbClr val="93C5FD"/>
                </a:solidFill>
                <a:latin typeface="Segoe UI" panose="020B0502040204020203" pitchFamily="34" charset="0"/>
              </a:rPr>
              <a:t>NMMS) • </a:t>
            </a:r>
            <a:r>
              <a:rPr lang="hi-IN" sz="1500" b="1">
                <a:solidFill>
                  <a:srgbClr val="93C5FD"/>
                </a:solidFill>
                <a:latin typeface="Segoe UI" panose="020B0502040204020203" pitchFamily="34" charset="0"/>
              </a:rPr>
              <a:t>कक्षा 08 • इतिहास</a:t>
            </a:r>
            <a:endParaRPr lang="en-IN" sz="1500" b="1">
              <a:solidFill>
                <a:srgbClr val="93C5FD"/>
              </a:solidFill>
              <a:latin typeface="Segoe UI" panose="020B0502040204020203" pitchFamily="34" charset="0"/>
            </a:endParaRPr>
          </a:p>
        </p:txBody>
      </p:sp>
      <p:sp>
        <p:nvSpPr>
          <p:cNvPr id="7" name="TextBox 6">
            <a:extLst>
              <a:ext uri="{FF2B5EF4-FFF2-40B4-BE49-F238E27FC236}">
                <a16:creationId xmlns:a16="http://schemas.microsoft.com/office/drawing/2014/main" id="{958E1818-8F17-D9DA-513B-F51A5388152E}"/>
              </a:ext>
            </a:extLst>
          </p:cNvPr>
          <p:cNvSpPr txBox="1"/>
          <p:nvPr/>
        </p:nvSpPr>
        <p:spPr>
          <a:xfrm>
            <a:off x="762000" y="3657600"/>
            <a:ext cx="10668000" cy="677108"/>
          </a:xfrm>
          <a:prstGeom prst="rect">
            <a:avLst/>
          </a:prstGeom>
          <a:noFill/>
        </p:spPr>
        <p:txBody>
          <a:bodyPr vert="horz" wrap="square" rtlCol="0">
            <a:spAutoFit/>
          </a:bodyPr>
          <a:lstStyle/>
          <a:p>
            <a:pPr algn="ctr"/>
            <a:r>
              <a:rPr lang="hi-IN" sz="3800" b="1">
                <a:solidFill>
                  <a:srgbClr val="FFFFFF"/>
                </a:solidFill>
                <a:latin typeface="Segoe UI" panose="020B0502040204020203" pitchFamily="34" charset="0"/>
              </a:rPr>
              <a:t>1857 की महान क्रांति</a:t>
            </a:r>
            <a:endParaRPr lang="en-IN" sz="3800" b="1">
              <a:solidFill>
                <a:srgbClr val="FFFFFF"/>
              </a:solidFill>
              <a:latin typeface="Segoe UI" panose="020B0502040204020203" pitchFamily="34" charset="0"/>
            </a:endParaRPr>
          </a:p>
        </p:txBody>
      </p:sp>
      <p:sp>
        <p:nvSpPr>
          <p:cNvPr id="8" name="TextBox 7">
            <a:extLst>
              <a:ext uri="{FF2B5EF4-FFF2-40B4-BE49-F238E27FC236}">
                <a16:creationId xmlns:a16="http://schemas.microsoft.com/office/drawing/2014/main" id="{5F28FC6D-5BED-387D-4188-357732031CC4}"/>
              </a:ext>
            </a:extLst>
          </p:cNvPr>
          <p:cNvSpPr txBox="1"/>
          <p:nvPr/>
        </p:nvSpPr>
        <p:spPr>
          <a:xfrm>
            <a:off x="762000" y="4445000"/>
            <a:ext cx="10668000" cy="338554"/>
          </a:xfrm>
          <a:prstGeom prst="rect">
            <a:avLst/>
          </a:prstGeom>
          <a:noFill/>
        </p:spPr>
        <p:txBody>
          <a:bodyPr vert="horz" wrap="square" rtlCol="0">
            <a:spAutoFit/>
          </a:bodyPr>
          <a:lstStyle/>
          <a:p>
            <a:pPr algn="ctr"/>
            <a:r>
              <a:rPr lang="hi-IN" sz="1600">
                <a:solidFill>
                  <a:srgbClr val="F1F5F9"/>
                </a:solidFill>
                <a:latin typeface="Segoe UI" panose="020B0502040204020203" pitchFamily="34" charset="0"/>
              </a:rPr>
              <a:t>प्रथम स्वतंत्रता संग्राम (</a:t>
            </a:r>
            <a:r>
              <a:rPr lang="en-IN" sz="1600">
                <a:solidFill>
                  <a:srgbClr val="F1F5F9"/>
                </a:solidFill>
                <a:latin typeface="Segoe UI" panose="020B0502040204020203" pitchFamily="34" charset="0"/>
              </a:rPr>
              <a:t>The Revolt of 1857)</a:t>
            </a:r>
          </a:p>
        </p:txBody>
      </p:sp>
      <p:sp>
        <p:nvSpPr>
          <p:cNvPr id="9" name="Rectangle: Rounded Corners 8">
            <a:extLst>
              <a:ext uri="{FF2B5EF4-FFF2-40B4-BE49-F238E27FC236}">
                <a16:creationId xmlns:a16="http://schemas.microsoft.com/office/drawing/2014/main" id="{5B3A3365-A8A5-30B0-79FE-72BE11540109}"/>
              </a:ext>
            </a:extLst>
          </p:cNvPr>
          <p:cNvSpPr/>
          <p:nvPr/>
        </p:nvSpPr>
        <p:spPr>
          <a:xfrm>
            <a:off x="2921000" y="5232400"/>
            <a:ext cx="6350000" cy="711200"/>
          </a:xfrm>
          <a:prstGeom prst="roundRect">
            <a:avLst/>
          </a:prstGeom>
          <a:solidFill>
            <a:srgbClr val="064E3B"/>
          </a:solidFill>
          <a:ln w="19050">
            <a:solidFill>
              <a:srgbClr val="D9770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9A771E63-857F-1B1F-2393-B80B917BE863}"/>
              </a:ext>
            </a:extLst>
          </p:cNvPr>
          <p:cNvSpPr txBox="1"/>
          <p:nvPr/>
        </p:nvSpPr>
        <p:spPr>
          <a:xfrm>
            <a:off x="2984500" y="5359400"/>
            <a:ext cx="6223000" cy="307777"/>
          </a:xfrm>
          <a:prstGeom prst="rect">
            <a:avLst/>
          </a:prstGeom>
          <a:noFill/>
        </p:spPr>
        <p:txBody>
          <a:bodyPr vert="horz" rtlCol="0">
            <a:spAutoFit/>
          </a:bodyPr>
          <a:lstStyle/>
          <a:p>
            <a:pPr algn="ctr"/>
            <a:r>
              <a:rPr lang="hi-IN" sz="1400" b="1">
                <a:solidFill>
                  <a:srgbClr val="FDE68A"/>
                </a:solidFill>
                <a:latin typeface="Segoe UI" panose="020B0502040204020203" pitchFamily="34" charset="0"/>
              </a:rPr>
              <a:t>मार्गदर्शक: श्रवण कुमार 'सागर' (</a:t>
            </a:r>
            <a:r>
              <a:rPr lang="en-IN" sz="1400" b="1">
                <a:solidFill>
                  <a:srgbClr val="FDE68A"/>
                </a:solidFill>
                <a:latin typeface="Segoe UI" panose="020B0502040204020203" pitchFamily="34" charset="0"/>
              </a:rPr>
              <a:t>Sagar Sir)  |  sagarcoaching.tech</a:t>
            </a:r>
          </a:p>
        </p:txBody>
      </p:sp>
    </p:spTree>
    <p:extLst>
      <p:ext uri="{BB962C8B-B14F-4D97-AF65-F5344CB8AC3E}">
        <p14:creationId xmlns:p14="http://schemas.microsoft.com/office/powerpoint/2010/main" val="2984448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BA804FA-7D49-5B39-093A-FE5EC6616F95}"/>
              </a:ext>
            </a:extLst>
          </p:cNvPr>
          <p:cNvSpPr/>
          <p:nvPr/>
        </p:nvSpPr>
        <p:spPr>
          <a:xfrm>
            <a:off x="0" y="0"/>
            <a:ext cx="12192000" cy="609600"/>
          </a:xfrm>
          <a:prstGeom prst="rect">
            <a:avLst/>
          </a:prstGeom>
          <a:solidFill>
            <a:srgbClr val="1E293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205D0055-1481-40FB-C389-967D69BFA267}"/>
              </a:ext>
            </a:extLst>
          </p:cNvPr>
          <p:cNvSpPr txBox="1"/>
          <p:nvPr/>
        </p:nvSpPr>
        <p:spPr>
          <a:xfrm>
            <a:off x="381000" y="76200"/>
            <a:ext cx="11430000" cy="338554"/>
          </a:xfrm>
          <a:prstGeom prst="rect">
            <a:avLst/>
          </a:prstGeom>
          <a:noFill/>
        </p:spPr>
        <p:txBody>
          <a:bodyPr vert="horz" rtlCol="0">
            <a:spAutoFit/>
          </a:bodyPr>
          <a:lstStyle/>
          <a:p>
            <a:r>
              <a:rPr lang="hi-IN" sz="1600" b="1">
                <a:solidFill>
                  <a:srgbClr val="F59E0B"/>
                </a:solidFill>
                <a:latin typeface="Segoe UI" panose="020B0502040204020203" pitchFamily="34" charset="0"/>
              </a:rPr>
              <a:t>दृश्य 1: बारूद का ढेर — 1857 से पहले का सुलगता भारत (</a:t>
            </a:r>
            <a:r>
              <a:rPr lang="en-IN" sz="1600" b="1">
                <a:solidFill>
                  <a:srgbClr val="F59E0B"/>
                </a:solidFill>
                <a:latin typeface="Segoe UI" panose="020B0502040204020203" pitchFamily="34" charset="0"/>
              </a:rPr>
              <a:t>Pre-1857 Background)</a:t>
            </a:r>
          </a:p>
        </p:txBody>
      </p:sp>
      <p:sp>
        <p:nvSpPr>
          <p:cNvPr id="4" name="Rectangle: Rounded Corners 3">
            <a:extLst>
              <a:ext uri="{FF2B5EF4-FFF2-40B4-BE49-F238E27FC236}">
                <a16:creationId xmlns:a16="http://schemas.microsoft.com/office/drawing/2014/main" id="{FE62F139-48E1-07F1-EAF4-C3EB2104F2AC}"/>
              </a:ext>
            </a:extLst>
          </p:cNvPr>
          <p:cNvSpPr/>
          <p:nvPr/>
        </p:nvSpPr>
        <p:spPr>
          <a:xfrm>
            <a:off x="381000" y="711200"/>
            <a:ext cx="11430000" cy="431800"/>
          </a:xfrm>
          <a:prstGeom prst="roundRect">
            <a:avLst/>
          </a:prstGeom>
          <a:solidFill>
            <a:srgbClr val="28190F"/>
          </a:solidFill>
          <a:ln w="19050">
            <a:solidFill>
              <a:srgbClr val="B4530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96F75FA2-B373-FF41-0E19-8C21653A6473}"/>
              </a:ext>
            </a:extLst>
          </p:cNvPr>
          <p:cNvSpPr txBox="1"/>
          <p:nvPr/>
        </p:nvSpPr>
        <p:spPr>
          <a:xfrm>
            <a:off x="444500" y="736600"/>
            <a:ext cx="11303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गुलामी की जंजीरें जब हद से ज्यादा कसने लगीं, अंग्रेजों की करतूतों पर मौत भी हंसने लगी!</a:t>
            </a:r>
            <a:endParaRPr lang="en-IN" sz="1200" b="1">
              <a:solidFill>
                <a:srgbClr val="F59E0B"/>
              </a:solidFill>
              <a:latin typeface="Segoe UI" panose="020B0502040204020203" pitchFamily="34" charset="0"/>
            </a:endParaRPr>
          </a:p>
        </p:txBody>
      </p:sp>
      <p:pic>
        <p:nvPicPr>
          <p:cNvPr id="6" name="dalhousie_decree">
            <a:hlinkClick r:id="" action="ppaction://media"/>
            <a:extLst>
              <a:ext uri="{FF2B5EF4-FFF2-40B4-BE49-F238E27FC236}">
                <a16:creationId xmlns:a16="http://schemas.microsoft.com/office/drawing/2014/main" id="{70D16FF1-BBCA-39AA-25F1-659F37CE8593}"/>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381000" y="1244600"/>
            <a:ext cx="8918221" cy="5016500"/>
          </a:xfrm>
          <a:prstGeom prst="rect">
            <a:avLst/>
          </a:prstGeom>
        </p:spPr>
      </p:pic>
      <p:sp>
        <p:nvSpPr>
          <p:cNvPr id="7" name="Rectangle: Rounded Corners 6">
            <a:extLst>
              <a:ext uri="{FF2B5EF4-FFF2-40B4-BE49-F238E27FC236}">
                <a16:creationId xmlns:a16="http://schemas.microsoft.com/office/drawing/2014/main" id="{4930913A-6396-6477-8D2B-010745809BAA}"/>
              </a:ext>
            </a:extLst>
          </p:cNvPr>
          <p:cNvSpPr/>
          <p:nvPr/>
        </p:nvSpPr>
        <p:spPr>
          <a:xfrm>
            <a:off x="5778500" y="1244600"/>
            <a:ext cx="6032500" cy="3556000"/>
          </a:xfrm>
          <a:prstGeom prst="roundRect">
            <a:avLst/>
          </a:prstGeom>
          <a:solidFill>
            <a:srgbClr val="1E293B"/>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00604797-3738-A6FF-5EDA-4FE998EED5DA}"/>
              </a:ext>
            </a:extLst>
          </p:cNvPr>
          <p:cNvSpPr txBox="1"/>
          <p:nvPr/>
        </p:nvSpPr>
        <p:spPr>
          <a:xfrm>
            <a:off x="5969000" y="1371600"/>
            <a:ext cx="5651500" cy="2292935"/>
          </a:xfrm>
          <a:prstGeom prst="rect">
            <a:avLst/>
          </a:prstGeom>
          <a:noFill/>
        </p:spPr>
        <p:txBody>
          <a:bodyPr vert="horz" wrap="square" rtlCol="0">
            <a:spAutoFit/>
          </a:bodyPr>
          <a:lstStyle/>
          <a:p>
            <a:r>
              <a:rPr lang="hi-IN" sz="1300">
                <a:solidFill>
                  <a:srgbClr val="F8FAFC"/>
                </a:solidFill>
                <a:latin typeface="Segoe UI" panose="020B0502040204020203" pitchFamily="34" charset="0"/>
              </a:rPr>
              <a:t>• 1801 में अवध पर 'सहायक संधि' थोपी गई, और 1856 में 'कुशासन' का झूठा आरोप लगाकर अवध को ब्रिटिश साम्राज्य में मिलाया गया (अंग्रेजों द्वारा हड़पी गई अंतिम प्रमुख रियासत)।
• 1830 में ईसाई मिशनरियों को खुली छूट, 1849 में डलहौजी द्वारा मुग़लों को लाल किला खाली करने का आदेश, तथा 1850 में ईसाई धर्म अपनाने पर पैतृक संपत्ति अधिकार कानून बना।
• 1856 का 'सामान्य सेवा भर्ती अधिनियम': भारतीय सैनिकों हेतु 'समुद्र पार' जाना अनिवार्य किया गया; मराठी लेखक विष्णुभट्ट गोडसे की पुस्तक 'माझा प्रवास' में इस जन-आक्रोश का सजीव वर्णन है।</a:t>
            </a:r>
            <a:endParaRPr lang="en-IN" sz="1300">
              <a:solidFill>
                <a:srgbClr val="F8FAFC"/>
              </a:solidFill>
              <a:latin typeface="Segoe UI" panose="020B0502040204020203" pitchFamily="34" charset="0"/>
            </a:endParaRPr>
          </a:p>
        </p:txBody>
      </p:sp>
      <p:sp>
        <p:nvSpPr>
          <p:cNvPr id="9" name="Rectangle: Rounded Corners 8">
            <a:extLst>
              <a:ext uri="{FF2B5EF4-FFF2-40B4-BE49-F238E27FC236}">
                <a16:creationId xmlns:a16="http://schemas.microsoft.com/office/drawing/2014/main" id="{DDD6AC77-29FB-FDBC-7267-4C75AF980F23}"/>
              </a:ext>
            </a:extLst>
          </p:cNvPr>
          <p:cNvSpPr/>
          <p:nvPr/>
        </p:nvSpPr>
        <p:spPr>
          <a:xfrm>
            <a:off x="5778500" y="4927600"/>
            <a:ext cx="6032500" cy="1333500"/>
          </a:xfrm>
          <a:prstGeom prst="roundRect">
            <a:avLst/>
          </a:prstGeom>
          <a:solidFill>
            <a:srgbClr val="14281E"/>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DD652314-0529-66F5-79E3-52C78AE62934}"/>
              </a:ext>
            </a:extLst>
          </p:cNvPr>
          <p:cNvSpPr txBox="1"/>
          <p:nvPr/>
        </p:nvSpPr>
        <p:spPr>
          <a:xfrm>
            <a:off x="5905500" y="5029200"/>
            <a:ext cx="5778500" cy="477054"/>
          </a:xfrm>
          <a:prstGeom prst="rect">
            <a:avLst/>
          </a:prstGeom>
          <a:noFill/>
        </p:spPr>
        <p:txBody>
          <a:bodyPr vert="horz" wrap="square" rtlCol="0">
            <a:spAutoFit/>
          </a:bodyPr>
          <a:lstStyle/>
          <a:p>
            <a:r>
              <a:rPr lang="en-IN" sz="1250" b="1">
                <a:solidFill>
                  <a:srgbClr val="6EE7B7"/>
                </a:solidFill>
                <a:latin typeface="Segoe UI" panose="020B0502040204020203" pitchFamily="34" charset="0"/>
              </a:rPr>
              <a:t>NMMS </a:t>
            </a:r>
            <a:r>
              <a:rPr lang="hi-IN" sz="1250" b="1">
                <a:solidFill>
                  <a:srgbClr val="6EE7B7"/>
                </a:solidFill>
                <a:latin typeface="Segoe UI" panose="020B0502040204020203" pitchFamily="34" charset="0"/>
              </a:rPr>
              <a:t>फैक्ट: 'माझा प्रवास' के लेखक 'विष्णुभट्ट गोडसे' थे, अवध पर सहायक संधि 1801 में थोपी गई और अंतिम विलय 1856 में हुआ!</a:t>
            </a:r>
            <a:endParaRPr lang="en-IN" sz="1250" b="1">
              <a:solidFill>
                <a:srgbClr val="6EE7B7"/>
              </a:solidFill>
              <a:latin typeface="Segoe UI" panose="020B0502040204020203" pitchFamily="34" charset="0"/>
            </a:endParaRPr>
          </a:p>
        </p:txBody>
      </p:sp>
      <p:sp>
        <p:nvSpPr>
          <p:cNvPr id="11" name="TextBox 10">
            <a:extLst>
              <a:ext uri="{FF2B5EF4-FFF2-40B4-BE49-F238E27FC236}">
                <a16:creationId xmlns:a16="http://schemas.microsoft.com/office/drawing/2014/main" id="{368556CB-EA08-B98C-D654-1B453CEA853A}"/>
              </a:ext>
            </a:extLst>
          </p:cNvPr>
          <p:cNvSpPr txBox="1"/>
          <p:nvPr/>
        </p:nvSpPr>
        <p:spPr>
          <a:xfrm>
            <a:off x="381000" y="6375400"/>
            <a:ext cx="11430000" cy="246221"/>
          </a:xfrm>
          <a:prstGeom prst="rect">
            <a:avLst/>
          </a:prstGeom>
          <a:noFill/>
        </p:spPr>
        <p:txBody>
          <a:bodyPr vert="horz" rtlCol="0">
            <a:spAutoFit/>
          </a:bodyPr>
          <a:lstStyle/>
          <a:p>
            <a:r>
              <a:rPr lang="hi-IN" sz="1000">
                <a:solidFill>
                  <a:srgbClr val="64748B"/>
                </a:solidFill>
                <a:latin typeface="Segoe UI" panose="020B0502040204020203" pitchFamily="34" charset="0"/>
              </a:rPr>
              <a:t>सागर कोचिंग सेंटर भगवानपुर • कक्षा 08: 1857 की महान क्रांति • </a:t>
            </a:r>
            <a:r>
              <a:rPr lang="en-IN" sz="1000">
                <a:solidFill>
                  <a:srgbClr val="64748B"/>
                </a:solidFill>
                <a:latin typeface="Segoe UI" panose="020B0502040204020203" pitchFamily="34" charset="0"/>
              </a:rPr>
              <a:t>NMMS Special</a:t>
            </a:r>
          </a:p>
        </p:txBody>
      </p:sp>
    </p:spTree>
    <p:extLst>
      <p:ext uri="{BB962C8B-B14F-4D97-AF65-F5344CB8AC3E}">
        <p14:creationId xmlns:p14="http://schemas.microsoft.com/office/powerpoint/2010/main" val="42153481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repeatCount="1000000" fill="hold" nodeType="withEffect">
                                  <p:stCondLst>
                                    <p:cond delay="0"/>
                                  </p:stCondLst>
                                  <p:childTnLst>
                                    <p:cmd type="call" cmd="playFrom(0.0)">
                                      <p:cBhvr>
                                        <p:cTn id="6" dur="10055"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remove"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B2C14D2-67F8-668B-B3DB-326611423E57}"/>
              </a:ext>
            </a:extLst>
          </p:cNvPr>
          <p:cNvSpPr/>
          <p:nvPr/>
        </p:nvSpPr>
        <p:spPr>
          <a:xfrm>
            <a:off x="0" y="0"/>
            <a:ext cx="12192000" cy="609600"/>
          </a:xfrm>
          <a:prstGeom prst="rect">
            <a:avLst/>
          </a:prstGeom>
          <a:solidFill>
            <a:srgbClr val="1E293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07EED869-20AF-1B09-5B8F-45F30F55C853}"/>
              </a:ext>
            </a:extLst>
          </p:cNvPr>
          <p:cNvSpPr txBox="1"/>
          <p:nvPr/>
        </p:nvSpPr>
        <p:spPr>
          <a:xfrm>
            <a:off x="381000" y="76200"/>
            <a:ext cx="11430000" cy="338554"/>
          </a:xfrm>
          <a:prstGeom prst="rect">
            <a:avLst/>
          </a:prstGeom>
          <a:noFill/>
        </p:spPr>
        <p:txBody>
          <a:bodyPr vert="horz" rtlCol="0">
            <a:spAutoFit/>
          </a:bodyPr>
          <a:lstStyle/>
          <a:p>
            <a:r>
              <a:rPr lang="hi-IN" sz="1600" b="1">
                <a:solidFill>
                  <a:srgbClr val="F59E0B"/>
                </a:solidFill>
                <a:latin typeface="Segoe UI" panose="020B0502040204020203" pitchFamily="34" charset="0"/>
              </a:rPr>
              <a:t>दृश्य 2: आग में घी — चर्बी वाले कारतूस (</a:t>
            </a:r>
            <a:r>
              <a:rPr lang="en-IN" sz="1600" b="1">
                <a:solidFill>
                  <a:srgbClr val="F59E0B"/>
                </a:solidFill>
                <a:latin typeface="Segoe UI" panose="020B0502040204020203" pitchFamily="34" charset="0"/>
              </a:rPr>
              <a:t>Greased Cartridges) </a:t>
            </a:r>
            <a:r>
              <a:rPr lang="hi-IN" sz="1600" b="1">
                <a:solidFill>
                  <a:srgbClr val="F59E0B"/>
                </a:solidFill>
                <a:latin typeface="Segoe UI" panose="020B0502040204020203" pitchFamily="34" charset="0"/>
              </a:rPr>
              <a:t>का पर्दाफाश</a:t>
            </a:r>
            <a:endParaRPr lang="en-IN" sz="1600" b="1">
              <a:solidFill>
                <a:srgbClr val="F59E0B"/>
              </a:solidFill>
              <a:latin typeface="Segoe UI" panose="020B0502040204020203" pitchFamily="34" charset="0"/>
            </a:endParaRPr>
          </a:p>
        </p:txBody>
      </p:sp>
      <p:sp>
        <p:nvSpPr>
          <p:cNvPr id="4" name="Rectangle: Rounded Corners 3">
            <a:extLst>
              <a:ext uri="{FF2B5EF4-FFF2-40B4-BE49-F238E27FC236}">
                <a16:creationId xmlns:a16="http://schemas.microsoft.com/office/drawing/2014/main" id="{2509B433-C00A-BB3C-5BCA-C8D5CDBAE490}"/>
              </a:ext>
            </a:extLst>
          </p:cNvPr>
          <p:cNvSpPr/>
          <p:nvPr/>
        </p:nvSpPr>
        <p:spPr>
          <a:xfrm>
            <a:off x="381000" y="711200"/>
            <a:ext cx="11430000" cy="431800"/>
          </a:xfrm>
          <a:prstGeom prst="roundRect">
            <a:avLst/>
          </a:prstGeom>
          <a:solidFill>
            <a:srgbClr val="28190F"/>
          </a:solidFill>
          <a:ln w="19050">
            <a:solidFill>
              <a:srgbClr val="B4530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7FFFEE76-BC3F-F113-F976-4600F5649494}"/>
              </a:ext>
            </a:extLst>
          </p:cNvPr>
          <p:cNvSpPr txBox="1"/>
          <p:nvPr/>
        </p:nvSpPr>
        <p:spPr>
          <a:xfrm>
            <a:off x="444500" y="736600"/>
            <a:ext cx="11303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गाय और सुअर की चर्बी से जब बारूद को सनाया था, अंग्रेजों ने खुद अपनी मौत का फरमान सुनाया था!</a:t>
            </a:r>
            <a:endParaRPr lang="en-IN" sz="1200" b="1">
              <a:solidFill>
                <a:srgbClr val="F59E0B"/>
              </a:solidFill>
              <a:latin typeface="Segoe UI" panose="020B0502040204020203" pitchFamily="34" charset="0"/>
            </a:endParaRPr>
          </a:p>
        </p:txBody>
      </p:sp>
      <p:pic>
        <p:nvPicPr>
          <p:cNvPr id="6" name="greased_cartridge">
            <a:hlinkClick r:id="" action="ppaction://media"/>
            <a:extLst>
              <a:ext uri="{FF2B5EF4-FFF2-40B4-BE49-F238E27FC236}">
                <a16:creationId xmlns:a16="http://schemas.microsoft.com/office/drawing/2014/main" id="{BE4594DA-1670-0EA4-FFFA-0085E6FD11EA}"/>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381000" y="1244600"/>
            <a:ext cx="8918221" cy="5016500"/>
          </a:xfrm>
          <a:prstGeom prst="rect">
            <a:avLst/>
          </a:prstGeom>
        </p:spPr>
      </p:pic>
      <p:sp>
        <p:nvSpPr>
          <p:cNvPr id="7" name="Rectangle: Rounded Corners 6">
            <a:extLst>
              <a:ext uri="{FF2B5EF4-FFF2-40B4-BE49-F238E27FC236}">
                <a16:creationId xmlns:a16="http://schemas.microsoft.com/office/drawing/2014/main" id="{46F1D770-31A0-0773-572B-A2AB04056642}"/>
              </a:ext>
            </a:extLst>
          </p:cNvPr>
          <p:cNvSpPr/>
          <p:nvPr/>
        </p:nvSpPr>
        <p:spPr>
          <a:xfrm>
            <a:off x="5778500" y="1244600"/>
            <a:ext cx="6032500" cy="3556000"/>
          </a:xfrm>
          <a:prstGeom prst="roundRect">
            <a:avLst/>
          </a:prstGeom>
          <a:solidFill>
            <a:srgbClr val="1E293B"/>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F447385D-3507-408F-1B44-AC2D3CE4E0B9}"/>
              </a:ext>
            </a:extLst>
          </p:cNvPr>
          <p:cNvSpPr txBox="1"/>
          <p:nvPr/>
        </p:nvSpPr>
        <p:spPr>
          <a:xfrm>
            <a:off x="5969000" y="1371600"/>
            <a:ext cx="5651500" cy="2092881"/>
          </a:xfrm>
          <a:prstGeom prst="rect">
            <a:avLst/>
          </a:prstGeom>
          <a:noFill/>
        </p:spPr>
        <p:txBody>
          <a:bodyPr vert="horz" wrap="square" rtlCol="0">
            <a:spAutoFit/>
          </a:bodyPr>
          <a:lstStyle/>
          <a:p>
            <a:r>
              <a:rPr lang="hi-IN" sz="1300">
                <a:solidFill>
                  <a:srgbClr val="F8FAFC"/>
                </a:solidFill>
                <a:latin typeface="Segoe UI" panose="020B0502040204020203" pitchFamily="34" charset="0"/>
              </a:rPr>
              <a:t>• दिसंबर 1856: पुरानी 'ब्राउन बैस' (</a:t>
            </a:r>
            <a:r>
              <a:rPr lang="en-IN" sz="1300">
                <a:solidFill>
                  <a:srgbClr val="F8FAFC"/>
                </a:solidFill>
                <a:latin typeface="Segoe UI" panose="020B0502040204020203" pitchFamily="34" charset="0"/>
              </a:rPr>
              <a:t>Brown Bess) </a:t>
            </a:r>
            <a:r>
              <a:rPr lang="hi-IN" sz="1300">
                <a:solidFill>
                  <a:srgbClr val="F8FAFC"/>
                </a:solidFill>
                <a:latin typeface="Segoe UI" panose="020B0502040204020203" pitchFamily="34" charset="0"/>
              </a:rPr>
              <a:t>की जगह नई 'एनफील्ड </a:t>
            </a:r>
            <a:r>
              <a:rPr lang="en-IN" sz="1300">
                <a:solidFill>
                  <a:srgbClr val="F8FAFC"/>
                </a:solidFill>
                <a:latin typeface="Segoe UI" panose="020B0502040204020203" pitchFamily="34" charset="0"/>
              </a:rPr>
              <a:t>P-53 </a:t>
            </a:r>
            <a:r>
              <a:rPr lang="hi-IN" sz="1300">
                <a:solidFill>
                  <a:srgbClr val="F8FAFC"/>
                </a:solidFill>
                <a:latin typeface="Segoe UI" panose="020B0502040204020203" pitchFamily="34" charset="0"/>
              </a:rPr>
              <a:t>राइफल' (</a:t>
            </a:r>
            <a:r>
              <a:rPr lang="en-IN" sz="1300">
                <a:solidFill>
                  <a:srgbClr val="F8FAFC"/>
                </a:solidFill>
                <a:latin typeface="Segoe UI" panose="020B0502040204020203" pitchFamily="34" charset="0"/>
              </a:rPr>
              <a:t>Enfield Rifle) </a:t>
            </a:r>
            <a:r>
              <a:rPr lang="hi-IN" sz="1300">
                <a:solidFill>
                  <a:srgbClr val="F8FAFC"/>
                </a:solidFill>
                <a:latin typeface="Segoe UI" panose="020B0502040204020203" pitchFamily="34" charset="0"/>
              </a:rPr>
              <a:t>का प्रयोग शुरू किया गया।
• 1857 विद्रोह का तात्कालिक कारण (</a:t>
            </a:r>
            <a:r>
              <a:rPr lang="en-IN" sz="1300">
                <a:solidFill>
                  <a:srgbClr val="F8FAFC"/>
                </a:solidFill>
                <a:latin typeface="Segoe UI" panose="020B0502040204020203" pitchFamily="34" charset="0"/>
              </a:rPr>
              <a:t>Immediate Cause): </a:t>
            </a:r>
            <a:r>
              <a:rPr lang="hi-IN" sz="1300">
                <a:solidFill>
                  <a:srgbClr val="F8FAFC"/>
                </a:solidFill>
                <a:latin typeface="Segoe UI" panose="020B0502040204020203" pitchFamily="34" charset="0"/>
              </a:rPr>
              <a:t>कारतूस के खोल पर 'गाय और सुअर की चर्बी' का लेप, जिसे लोड करने से पहले सैनिकों को दांत से काटना पड़ता था।
• हिंदू सैनिकों के लिए गाय पूजनीय थी और मुस्लिम सैनिकों के लिए सुअर हराम—दोनों ने इसे अपने धर्म पर सीधा प्रहार माना और कारतूस छूने से साफ इनकार कर दिया।</a:t>
            </a:r>
            <a:endParaRPr lang="en-IN" sz="1300">
              <a:solidFill>
                <a:srgbClr val="F8FAFC"/>
              </a:solidFill>
              <a:latin typeface="Segoe UI" panose="020B0502040204020203" pitchFamily="34" charset="0"/>
            </a:endParaRPr>
          </a:p>
        </p:txBody>
      </p:sp>
      <p:sp>
        <p:nvSpPr>
          <p:cNvPr id="9" name="Rectangle: Rounded Corners 8">
            <a:extLst>
              <a:ext uri="{FF2B5EF4-FFF2-40B4-BE49-F238E27FC236}">
                <a16:creationId xmlns:a16="http://schemas.microsoft.com/office/drawing/2014/main" id="{8B2CB6D5-29B3-958F-B383-E7DBB7B9A544}"/>
              </a:ext>
            </a:extLst>
          </p:cNvPr>
          <p:cNvSpPr/>
          <p:nvPr/>
        </p:nvSpPr>
        <p:spPr>
          <a:xfrm>
            <a:off x="5778500" y="4927600"/>
            <a:ext cx="6032500" cy="1333500"/>
          </a:xfrm>
          <a:prstGeom prst="roundRect">
            <a:avLst/>
          </a:prstGeom>
          <a:solidFill>
            <a:srgbClr val="14281E"/>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2D1D552B-9A53-7D68-C1B0-AACDA555DAEB}"/>
              </a:ext>
            </a:extLst>
          </p:cNvPr>
          <p:cNvSpPr txBox="1"/>
          <p:nvPr/>
        </p:nvSpPr>
        <p:spPr>
          <a:xfrm>
            <a:off x="5905500" y="5029200"/>
            <a:ext cx="5778500" cy="477054"/>
          </a:xfrm>
          <a:prstGeom prst="rect">
            <a:avLst/>
          </a:prstGeom>
          <a:noFill/>
        </p:spPr>
        <p:txBody>
          <a:bodyPr vert="horz" wrap="square" rtlCol="0">
            <a:spAutoFit/>
          </a:bodyPr>
          <a:lstStyle/>
          <a:p>
            <a:r>
              <a:rPr lang="en-IN" sz="1250" b="1">
                <a:solidFill>
                  <a:srgbClr val="6EE7B7"/>
                </a:solidFill>
                <a:latin typeface="Segoe UI" panose="020B0502040204020203" pitchFamily="34" charset="0"/>
              </a:rPr>
              <a:t>NMMS </a:t>
            </a:r>
            <a:r>
              <a:rPr lang="hi-IN" sz="1250" b="1">
                <a:solidFill>
                  <a:srgbClr val="6EE7B7"/>
                </a:solidFill>
                <a:latin typeface="Segoe UI" panose="020B0502040204020203" pitchFamily="34" charset="0"/>
              </a:rPr>
              <a:t>फैक्ट: 1857 के महा-विद्रोह का प्रमुख तात्कालिक कारण (</a:t>
            </a:r>
            <a:r>
              <a:rPr lang="en-IN" sz="1250" b="1">
                <a:solidFill>
                  <a:srgbClr val="6EE7B7"/>
                </a:solidFill>
                <a:latin typeface="Segoe UI" panose="020B0502040204020203" pitchFamily="34" charset="0"/>
              </a:rPr>
              <a:t>Immediate Cause) '</a:t>
            </a:r>
            <a:r>
              <a:rPr lang="hi-IN" sz="1250" b="1">
                <a:solidFill>
                  <a:srgbClr val="6EE7B7"/>
                </a:solidFill>
                <a:latin typeface="Segoe UI" panose="020B0502040204020203" pitchFamily="34" charset="0"/>
              </a:rPr>
              <a:t>चर्बी वाले कारतूसों' (</a:t>
            </a:r>
            <a:r>
              <a:rPr lang="en-IN" sz="1250" b="1">
                <a:solidFill>
                  <a:srgbClr val="6EE7B7"/>
                </a:solidFill>
                <a:latin typeface="Segoe UI" panose="020B0502040204020203" pitchFamily="34" charset="0"/>
              </a:rPr>
              <a:t>Greased Cartridges) </a:t>
            </a:r>
            <a:r>
              <a:rPr lang="hi-IN" sz="1250" b="1">
                <a:solidFill>
                  <a:srgbClr val="6EE7B7"/>
                </a:solidFill>
                <a:latin typeface="Segoe UI" panose="020B0502040204020203" pitchFamily="34" charset="0"/>
              </a:rPr>
              <a:t>का प्रयोग था!</a:t>
            </a:r>
            <a:endParaRPr lang="en-IN" sz="1250" b="1">
              <a:solidFill>
                <a:srgbClr val="6EE7B7"/>
              </a:solidFill>
              <a:latin typeface="Segoe UI" panose="020B0502040204020203" pitchFamily="34" charset="0"/>
            </a:endParaRPr>
          </a:p>
        </p:txBody>
      </p:sp>
      <p:sp>
        <p:nvSpPr>
          <p:cNvPr id="11" name="TextBox 10">
            <a:extLst>
              <a:ext uri="{FF2B5EF4-FFF2-40B4-BE49-F238E27FC236}">
                <a16:creationId xmlns:a16="http://schemas.microsoft.com/office/drawing/2014/main" id="{27215A5F-F053-31E9-B22C-37E9A6A310B9}"/>
              </a:ext>
            </a:extLst>
          </p:cNvPr>
          <p:cNvSpPr txBox="1"/>
          <p:nvPr/>
        </p:nvSpPr>
        <p:spPr>
          <a:xfrm>
            <a:off x="381000" y="6375400"/>
            <a:ext cx="11430000" cy="246221"/>
          </a:xfrm>
          <a:prstGeom prst="rect">
            <a:avLst/>
          </a:prstGeom>
          <a:noFill/>
        </p:spPr>
        <p:txBody>
          <a:bodyPr vert="horz" rtlCol="0">
            <a:spAutoFit/>
          </a:bodyPr>
          <a:lstStyle/>
          <a:p>
            <a:r>
              <a:rPr lang="hi-IN" sz="1000">
                <a:solidFill>
                  <a:srgbClr val="64748B"/>
                </a:solidFill>
                <a:latin typeface="Segoe UI" panose="020B0502040204020203" pitchFamily="34" charset="0"/>
              </a:rPr>
              <a:t>सागर कोचिंग सेंटर भगवानपुर • कक्षा 08: 1857 की महान क्रांति • </a:t>
            </a:r>
            <a:r>
              <a:rPr lang="en-IN" sz="1000">
                <a:solidFill>
                  <a:srgbClr val="64748B"/>
                </a:solidFill>
                <a:latin typeface="Segoe UI" panose="020B0502040204020203" pitchFamily="34" charset="0"/>
              </a:rPr>
              <a:t>NMMS Special</a:t>
            </a:r>
          </a:p>
        </p:txBody>
      </p:sp>
    </p:spTree>
    <p:extLst>
      <p:ext uri="{BB962C8B-B14F-4D97-AF65-F5344CB8AC3E}">
        <p14:creationId xmlns:p14="http://schemas.microsoft.com/office/powerpoint/2010/main" val="1220507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repeatCount="1000000" fill="hold" nodeType="withEffect">
                                  <p:stCondLst>
                                    <p:cond delay="0"/>
                                  </p:stCondLst>
                                  <p:childTnLst>
                                    <p:cmd type="call" cmd="playFrom(0.0)">
                                      <p:cBhvr>
                                        <p:cTn id="6" dur="7083"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remove"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5699444-6DFE-B3F4-266A-C8EA5BF98F4A}"/>
              </a:ext>
            </a:extLst>
          </p:cNvPr>
          <p:cNvSpPr/>
          <p:nvPr/>
        </p:nvSpPr>
        <p:spPr>
          <a:xfrm>
            <a:off x="0" y="0"/>
            <a:ext cx="12192000" cy="609600"/>
          </a:xfrm>
          <a:prstGeom prst="rect">
            <a:avLst/>
          </a:prstGeom>
          <a:solidFill>
            <a:srgbClr val="1E293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B340BA73-6C7E-4B4A-B663-B34CD3885AA6}"/>
              </a:ext>
            </a:extLst>
          </p:cNvPr>
          <p:cNvSpPr txBox="1"/>
          <p:nvPr/>
        </p:nvSpPr>
        <p:spPr>
          <a:xfrm>
            <a:off x="381000" y="76200"/>
            <a:ext cx="11430000" cy="338554"/>
          </a:xfrm>
          <a:prstGeom prst="rect">
            <a:avLst/>
          </a:prstGeom>
          <a:noFill/>
        </p:spPr>
        <p:txBody>
          <a:bodyPr vert="horz" rtlCol="0">
            <a:spAutoFit/>
          </a:bodyPr>
          <a:lstStyle/>
          <a:p>
            <a:r>
              <a:rPr lang="hi-IN" sz="1600" b="1">
                <a:solidFill>
                  <a:srgbClr val="F59E0B"/>
                </a:solidFill>
                <a:latin typeface="Segoe UI" panose="020B0502040204020203" pitchFamily="34" charset="0"/>
              </a:rPr>
              <a:t>दृश्य 3: पहला महा-विस्फोट — अमर बलिदानी मंगल पांडे (29 मार्च 1857)</a:t>
            </a:r>
            <a:endParaRPr lang="en-IN" sz="1600" b="1">
              <a:solidFill>
                <a:srgbClr val="F59E0B"/>
              </a:solidFill>
              <a:latin typeface="Segoe UI" panose="020B0502040204020203" pitchFamily="34" charset="0"/>
            </a:endParaRPr>
          </a:p>
        </p:txBody>
      </p:sp>
      <p:sp>
        <p:nvSpPr>
          <p:cNvPr id="4" name="Rectangle: Rounded Corners 3">
            <a:extLst>
              <a:ext uri="{FF2B5EF4-FFF2-40B4-BE49-F238E27FC236}">
                <a16:creationId xmlns:a16="http://schemas.microsoft.com/office/drawing/2014/main" id="{CF9F6225-AD61-112F-69A7-3BEA08DFACB3}"/>
              </a:ext>
            </a:extLst>
          </p:cNvPr>
          <p:cNvSpPr/>
          <p:nvPr/>
        </p:nvSpPr>
        <p:spPr>
          <a:xfrm>
            <a:off x="381000" y="711200"/>
            <a:ext cx="11430000" cy="431800"/>
          </a:xfrm>
          <a:prstGeom prst="roundRect">
            <a:avLst/>
          </a:prstGeom>
          <a:solidFill>
            <a:srgbClr val="28190F"/>
          </a:solidFill>
          <a:ln w="19050">
            <a:solidFill>
              <a:srgbClr val="B4530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CD4D0341-B0C8-C833-62A8-F581F8C6D16D}"/>
              </a:ext>
            </a:extLst>
          </p:cNvPr>
          <p:cNvSpPr txBox="1"/>
          <p:nvPr/>
        </p:nvSpPr>
        <p:spPr>
          <a:xfrm>
            <a:off x="444500" y="736600"/>
            <a:ext cx="11303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हुकूमत का गुरूर था, बारूद का वो दौर था, अंग्रेजों की छाती पर मंगल पांडे का ज़ोर था!</a:t>
            </a:r>
            <a:endParaRPr lang="en-IN" sz="1200" b="1">
              <a:solidFill>
                <a:srgbClr val="F59E0B"/>
              </a:solidFill>
              <a:latin typeface="Segoe UI" panose="020B0502040204020203" pitchFamily="34" charset="0"/>
            </a:endParaRPr>
          </a:p>
        </p:txBody>
      </p:sp>
      <p:pic>
        <p:nvPicPr>
          <p:cNvPr id="6" name="mangal_pandey_parade">
            <a:hlinkClick r:id="" action="ppaction://media"/>
            <a:extLst>
              <a:ext uri="{FF2B5EF4-FFF2-40B4-BE49-F238E27FC236}">
                <a16:creationId xmlns:a16="http://schemas.microsoft.com/office/drawing/2014/main" id="{83F76FF7-4DDE-42C5-9CED-826C05DBB0A1}"/>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381000" y="1244600"/>
            <a:ext cx="8918221" cy="5016500"/>
          </a:xfrm>
          <a:prstGeom prst="rect">
            <a:avLst/>
          </a:prstGeom>
        </p:spPr>
      </p:pic>
      <p:sp>
        <p:nvSpPr>
          <p:cNvPr id="7" name="Rectangle: Rounded Corners 6">
            <a:extLst>
              <a:ext uri="{FF2B5EF4-FFF2-40B4-BE49-F238E27FC236}">
                <a16:creationId xmlns:a16="http://schemas.microsoft.com/office/drawing/2014/main" id="{03ADF067-F8F6-10FC-3845-F9358929DBBF}"/>
              </a:ext>
            </a:extLst>
          </p:cNvPr>
          <p:cNvSpPr/>
          <p:nvPr/>
        </p:nvSpPr>
        <p:spPr>
          <a:xfrm>
            <a:off x="5778500" y="1244600"/>
            <a:ext cx="6032500" cy="3556000"/>
          </a:xfrm>
          <a:prstGeom prst="roundRect">
            <a:avLst/>
          </a:prstGeom>
          <a:solidFill>
            <a:srgbClr val="1E293B"/>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1F43062C-C441-2205-8AC0-E2F536670CA5}"/>
              </a:ext>
            </a:extLst>
          </p:cNvPr>
          <p:cNvSpPr txBox="1"/>
          <p:nvPr/>
        </p:nvSpPr>
        <p:spPr>
          <a:xfrm>
            <a:off x="5969000" y="1371600"/>
            <a:ext cx="5651500" cy="1692771"/>
          </a:xfrm>
          <a:prstGeom prst="rect">
            <a:avLst/>
          </a:prstGeom>
          <a:noFill/>
        </p:spPr>
        <p:txBody>
          <a:bodyPr vert="horz" wrap="square" rtlCol="0">
            <a:spAutoFit/>
          </a:bodyPr>
          <a:lstStyle/>
          <a:p>
            <a:r>
              <a:rPr lang="hi-IN" sz="1300">
                <a:solidFill>
                  <a:srgbClr val="F8FAFC"/>
                </a:solidFill>
                <a:latin typeface="Segoe UI" panose="020B0502040204020203" pitchFamily="34" charset="0"/>
              </a:rPr>
              <a:t>• 29 मार्च 1857: बैरकपुर छावनी (बंगाल) में 34वीं बंगाल नेटिव इन्फैंट्री के वीर सिपाही मंगल पांडे ने चर्बी वाले कारतूस के विरोध में खुला विद्रोह किया।
• मंगल पांडे ने परेड ग्राउंड पर अंग्रेज सार्जेंट मेजर ह्यूजसन और लेफ्टिनेंट बॉघ पर गोली चलाकर अंग्रेजों के घमंड को चूर-चूर कर दिया।
• मंगल पांडे उत्तर प्रदेश के बलिया (नगवा गाँव) के रहने वाले थे; उन्होंने 'मारो फिरंगी को' का अमर नारा देकर क्रांति की पहली चिंगारी सुलगाई!</a:t>
            </a:r>
            <a:endParaRPr lang="en-IN" sz="1300">
              <a:solidFill>
                <a:srgbClr val="F8FAFC"/>
              </a:solidFill>
              <a:latin typeface="Segoe UI" panose="020B0502040204020203" pitchFamily="34" charset="0"/>
            </a:endParaRPr>
          </a:p>
        </p:txBody>
      </p:sp>
      <p:sp>
        <p:nvSpPr>
          <p:cNvPr id="9" name="Rectangle: Rounded Corners 8">
            <a:extLst>
              <a:ext uri="{FF2B5EF4-FFF2-40B4-BE49-F238E27FC236}">
                <a16:creationId xmlns:a16="http://schemas.microsoft.com/office/drawing/2014/main" id="{12F68D51-7910-710E-7C0A-D0E9F8E45E57}"/>
              </a:ext>
            </a:extLst>
          </p:cNvPr>
          <p:cNvSpPr/>
          <p:nvPr/>
        </p:nvSpPr>
        <p:spPr>
          <a:xfrm>
            <a:off x="5778500" y="4927600"/>
            <a:ext cx="6032500" cy="1333500"/>
          </a:xfrm>
          <a:prstGeom prst="roundRect">
            <a:avLst/>
          </a:prstGeom>
          <a:solidFill>
            <a:srgbClr val="14281E"/>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9019E60B-EEFF-AEE1-F3E2-05511E9FBE77}"/>
              </a:ext>
            </a:extLst>
          </p:cNvPr>
          <p:cNvSpPr txBox="1"/>
          <p:nvPr/>
        </p:nvSpPr>
        <p:spPr>
          <a:xfrm>
            <a:off x="5905500" y="5029200"/>
            <a:ext cx="5778500" cy="477054"/>
          </a:xfrm>
          <a:prstGeom prst="rect">
            <a:avLst/>
          </a:prstGeom>
          <a:noFill/>
        </p:spPr>
        <p:txBody>
          <a:bodyPr vert="horz" wrap="square" rtlCol="0">
            <a:spAutoFit/>
          </a:bodyPr>
          <a:lstStyle/>
          <a:p>
            <a:r>
              <a:rPr lang="en-IN" sz="1250" b="1">
                <a:solidFill>
                  <a:srgbClr val="6EE7B7"/>
                </a:solidFill>
                <a:latin typeface="Segoe UI" panose="020B0502040204020203" pitchFamily="34" charset="0"/>
              </a:rPr>
              <a:t>NMMS </a:t>
            </a:r>
            <a:r>
              <a:rPr lang="hi-IN" sz="1250" b="1">
                <a:solidFill>
                  <a:srgbClr val="6EE7B7"/>
                </a:solidFill>
                <a:latin typeface="Segoe UI" panose="020B0502040204020203" pitchFamily="34" charset="0"/>
              </a:rPr>
              <a:t>फैक्ट: मंगल पांडे ने 29 मार्च 1857 को बैरकपुर छावनी में विद्रोह किया था (रेजिमेंट: 34वीं बंगाल नेटिव इन्फैंट्री)!</a:t>
            </a:r>
            <a:endParaRPr lang="en-IN" sz="1250" b="1">
              <a:solidFill>
                <a:srgbClr val="6EE7B7"/>
              </a:solidFill>
              <a:latin typeface="Segoe UI" panose="020B0502040204020203" pitchFamily="34" charset="0"/>
            </a:endParaRPr>
          </a:p>
        </p:txBody>
      </p:sp>
      <p:sp>
        <p:nvSpPr>
          <p:cNvPr id="11" name="TextBox 10">
            <a:extLst>
              <a:ext uri="{FF2B5EF4-FFF2-40B4-BE49-F238E27FC236}">
                <a16:creationId xmlns:a16="http://schemas.microsoft.com/office/drawing/2014/main" id="{89335CC2-F1DB-8FFF-8229-9D1CF2D45498}"/>
              </a:ext>
            </a:extLst>
          </p:cNvPr>
          <p:cNvSpPr txBox="1"/>
          <p:nvPr/>
        </p:nvSpPr>
        <p:spPr>
          <a:xfrm>
            <a:off x="381000" y="6375400"/>
            <a:ext cx="11430000" cy="246221"/>
          </a:xfrm>
          <a:prstGeom prst="rect">
            <a:avLst/>
          </a:prstGeom>
          <a:noFill/>
        </p:spPr>
        <p:txBody>
          <a:bodyPr vert="horz" rtlCol="0">
            <a:spAutoFit/>
          </a:bodyPr>
          <a:lstStyle/>
          <a:p>
            <a:r>
              <a:rPr lang="hi-IN" sz="1000">
                <a:solidFill>
                  <a:srgbClr val="64748B"/>
                </a:solidFill>
                <a:latin typeface="Segoe UI" panose="020B0502040204020203" pitchFamily="34" charset="0"/>
              </a:rPr>
              <a:t>सागर कोचिंग सेंटर भगवानपुर • कक्षा 08: 1857 की महान क्रांति • </a:t>
            </a:r>
            <a:r>
              <a:rPr lang="en-IN" sz="1000">
                <a:solidFill>
                  <a:srgbClr val="64748B"/>
                </a:solidFill>
                <a:latin typeface="Segoe UI" panose="020B0502040204020203" pitchFamily="34" charset="0"/>
              </a:rPr>
              <a:t>NMMS Special</a:t>
            </a:r>
          </a:p>
        </p:txBody>
      </p:sp>
    </p:spTree>
    <p:extLst>
      <p:ext uri="{BB962C8B-B14F-4D97-AF65-F5344CB8AC3E}">
        <p14:creationId xmlns:p14="http://schemas.microsoft.com/office/powerpoint/2010/main" val="27386801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repeatCount="1000000" fill="hold" nodeType="withEffect">
                                  <p:stCondLst>
                                    <p:cond delay="0"/>
                                  </p:stCondLst>
                                  <p:childTnLst>
                                    <p:cmd type="call" cmd="playFrom(0.0)">
                                      <p:cBhvr>
                                        <p:cTn id="6" dur="7083"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remove"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C815625-00FE-2CCC-9B0D-6EF5530F4C35}"/>
              </a:ext>
            </a:extLst>
          </p:cNvPr>
          <p:cNvSpPr/>
          <p:nvPr/>
        </p:nvSpPr>
        <p:spPr>
          <a:xfrm>
            <a:off x="0" y="0"/>
            <a:ext cx="12192000" cy="609600"/>
          </a:xfrm>
          <a:prstGeom prst="rect">
            <a:avLst/>
          </a:prstGeom>
          <a:solidFill>
            <a:srgbClr val="1E293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9B67F172-BE1B-FC49-7C10-1D351F2DC12B}"/>
              </a:ext>
            </a:extLst>
          </p:cNvPr>
          <p:cNvSpPr txBox="1"/>
          <p:nvPr/>
        </p:nvSpPr>
        <p:spPr>
          <a:xfrm>
            <a:off x="381000" y="76200"/>
            <a:ext cx="11430000" cy="338554"/>
          </a:xfrm>
          <a:prstGeom prst="rect">
            <a:avLst/>
          </a:prstGeom>
          <a:noFill/>
        </p:spPr>
        <p:txBody>
          <a:bodyPr vert="horz" rtlCol="0">
            <a:spAutoFit/>
          </a:bodyPr>
          <a:lstStyle/>
          <a:p>
            <a:r>
              <a:rPr lang="hi-IN" sz="1600" b="1">
                <a:solidFill>
                  <a:srgbClr val="F59E0B"/>
                </a:solidFill>
                <a:latin typeface="Segoe UI" panose="020B0502040204020203" pitchFamily="34" charset="0"/>
              </a:rPr>
              <a:t>दृश्य 4: क्रांति की प्रथम शहादत — मंगल पांडे का अमर बलिदान (8 अप्रैल 1857)</a:t>
            </a:r>
            <a:endParaRPr lang="en-IN" sz="1600" b="1">
              <a:solidFill>
                <a:srgbClr val="F59E0B"/>
              </a:solidFill>
              <a:latin typeface="Segoe UI" panose="020B0502040204020203" pitchFamily="34" charset="0"/>
            </a:endParaRPr>
          </a:p>
        </p:txBody>
      </p:sp>
      <p:sp>
        <p:nvSpPr>
          <p:cNvPr id="4" name="Rectangle: Rounded Corners 3">
            <a:extLst>
              <a:ext uri="{FF2B5EF4-FFF2-40B4-BE49-F238E27FC236}">
                <a16:creationId xmlns:a16="http://schemas.microsoft.com/office/drawing/2014/main" id="{6CA45A97-AFC7-2E89-3074-AD32E6D668BA}"/>
              </a:ext>
            </a:extLst>
          </p:cNvPr>
          <p:cNvSpPr/>
          <p:nvPr/>
        </p:nvSpPr>
        <p:spPr>
          <a:xfrm>
            <a:off x="381000" y="711200"/>
            <a:ext cx="11430000" cy="431800"/>
          </a:xfrm>
          <a:prstGeom prst="roundRect">
            <a:avLst/>
          </a:prstGeom>
          <a:solidFill>
            <a:srgbClr val="28190F"/>
          </a:solidFill>
          <a:ln w="19050">
            <a:solidFill>
              <a:srgbClr val="B4530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537BC24F-3B05-B604-94C1-C5E0D5C16C5F}"/>
              </a:ext>
            </a:extLst>
          </p:cNvPr>
          <p:cNvSpPr txBox="1"/>
          <p:nvPr/>
        </p:nvSpPr>
        <p:spPr>
          <a:xfrm>
            <a:off x="444500" y="736600"/>
            <a:ext cx="11303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फांसी के फंदे को जिसने हंसकर गले लगाया था, सोए हुए भारत को जिसने खून देकर जगाया था!</a:t>
            </a:r>
            <a:endParaRPr lang="en-IN" sz="1200" b="1">
              <a:solidFill>
                <a:srgbClr val="F59E0B"/>
              </a:solidFill>
              <a:latin typeface="Segoe UI" panose="020B0502040204020203" pitchFamily="34" charset="0"/>
            </a:endParaRPr>
          </a:p>
        </p:txBody>
      </p:sp>
      <p:pic>
        <p:nvPicPr>
          <p:cNvPr id="6" name="mangal_pandey">
            <a:hlinkClick r:id="" action="ppaction://media"/>
            <a:extLst>
              <a:ext uri="{FF2B5EF4-FFF2-40B4-BE49-F238E27FC236}">
                <a16:creationId xmlns:a16="http://schemas.microsoft.com/office/drawing/2014/main" id="{CF3641AC-EE27-B80F-8BE5-A87EF6E5F883}"/>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381000" y="1244600"/>
            <a:ext cx="8918221" cy="5016500"/>
          </a:xfrm>
          <a:prstGeom prst="rect">
            <a:avLst/>
          </a:prstGeom>
        </p:spPr>
      </p:pic>
      <p:sp>
        <p:nvSpPr>
          <p:cNvPr id="7" name="Rectangle: Rounded Corners 6">
            <a:extLst>
              <a:ext uri="{FF2B5EF4-FFF2-40B4-BE49-F238E27FC236}">
                <a16:creationId xmlns:a16="http://schemas.microsoft.com/office/drawing/2014/main" id="{29AA8375-98F4-D743-F6A8-F33EC64B61B6}"/>
              </a:ext>
            </a:extLst>
          </p:cNvPr>
          <p:cNvSpPr/>
          <p:nvPr/>
        </p:nvSpPr>
        <p:spPr>
          <a:xfrm>
            <a:off x="5778500" y="1244600"/>
            <a:ext cx="6032500" cy="3556000"/>
          </a:xfrm>
          <a:prstGeom prst="roundRect">
            <a:avLst/>
          </a:prstGeom>
          <a:solidFill>
            <a:srgbClr val="1E293B"/>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752B3FC2-8709-165F-A118-2D576558CB2D}"/>
              </a:ext>
            </a:extLst>
          </p:cNvPr>
          <p:cNvSpPr txBox="1"/>
          <p:nvPr/>
        </p:nvSpPr>
        <p:spPr>
          <a:xfrm>
            <a:off x="5969000" y="1371600"/>
            <a:ext cx="5651500" cy="1692771"/>
          </a:xfrm>
          <a:prstGeom prst="rect">
            <a:avLst/>
          </a:prstGeom>
          <a:noFill/>
        </p:spPr>
        <p:txBody>
          <a:bodyPr vert="horz" wrap="square" rtlCol="0">
            <a:spAutoFit/>
          </a:bodyPr>
          <a:lstStyle/>
          <a:p>
            <a:r>
              <a:rPr lang="hi-IN" sz="1300">
                <a:solidFill>
                  <a:srgbClr val="F8FAFC"/>
                </a:solidFill>
                <a:latin typeface="Segoe UI" panose="020B0502040204020203" pitchFamily="34" charset="0"/>
              </a:rPr>
              <a:t>• 8 अप्रैल 1857: समय से 10 दिन पहले ही अंग्रेजों ने बैरकपुर में मंगल पांडे को फांसी के फंदे पर लटका दिया, ताकि कोई और सिपाही विद्रोह न कर सके।
• स्थानीय जल्लादों ने मंगल पांडे को फांसी देने से इनकार कर दिया था, तब अंग्रेजों ने कलकत्ता से चार जल्लाद मंगवाए।
• मंगल पांडे 1857 के प्रथम स्वतंत्रता संग्राम के पहले अमर बलिदानी बने; उनके बलिदान ने पूरे देश की छावनियों में क्रांति की ज्वाला भड़का दी।</a:t>
            </a:r>
            <a:endParaRPr lang="en-IN" sz="1300">
              <a:solidFill>
                <a:srgbClr val="F8FAFC"/>
              </a:solidFill>
              <a:latin typeface="Segoe UI" panose="020B0502040204020203" pitchFamily="34" charset="0"/>
            </a:endParaRPr>
          </a:p>
        </p:txBody>
      </p:sp>
      <p:sp>
        <p:nvSpPr>
          <p:cNvPr id="9" name="Rectangle: Rounded Corners 8">
            <a:extLst>
              <a:ext uri="{FF2B5EF4-FFF2-40B4-BE49-F238E27FC236}">
                <a16:creationId xmlns:a16="http://schemas.microsoft.com/office/drawing/2014/main" id="{FC0BDD50-1980-81E9-138C-A2CCACBB42F4}"/>
              </a:ext>
            </a:extLst>
          </p:cNvPr>
          <p:cNvSpPr/>
          <p:nvPr/>
        </p:nvSpPr>
        <p:spPr>
          <a:xfrm>
            <a:off x="5778500" y="4927600"/>
            <a:ext cx="6032500" cy="1333500"/>
          </a:xfrm>
          <a:prstGeom prst="roundRect">
            <a:avLst/>
          </a:prstGeom>
          <a:solidFill>
            <a:srgbClr val="14281E"/>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351CBBC4-669B-C808-9629-5682A6AE13E7}"/>
              </a:ext>
            </a:extLst>
          </p:cNvPr>
          <p:cNvSpPr txBox="1"/>
          <p:nvPr/>
        </p:nvSpPr>
        <p:spPr>
          <a:xfrm>
            <a:off x="5905500" y="5029200"/>
            <a:ext cx="5778500" cy="477054"/>
          </a:xfrm>
          <a:prstGeom prst="rect">
            <a:avLst/>
          </a:prstGeom>
          <a:noFill/>
        </p:spPr>
        <p:txBody>
          <a:bodyPr vert="horz" wrap="square" rtlCol="0">
            <a:spAutoFit/>
          </a:bodyPr>
          <a:lstStyle/>
          <a:p>
            <a:r>
              <a:rPr lang="en-IN" sz="1250" b="1">
                <a:solidFill>
                  <a:srgbClr val="6EE7B7"/>
                </a:solidFill>
                <a:latin typeface="Segoe UI" panose="020B0502040204020203" pitchFamily="34" charset="0"/>
              </a:rPr>
              <a:t>NMMS </a:t>
            </a:r>
            <a:r>
              <a:rPr lang="hi-IN" sz="1250" b="1">
                <a:solidFill>
                  <a:srgbClr val="6EE7B7"/>
                </a:solidFill>
                <a:latin typeface="Segoe UI" panose="020B0502040204020203" pitchFamily="34" charset="0"/>
              </a:rPr>
              <a:t>फैक्ट: मंगल पांडे को 8 अप्रैल 1857 को बैरकपुर में फांसी दी गई थी; वे 1857 की क्रांति के प्रथम बलिदानी थे!</a:t>
            </a:r>
            <a:endParaRPr lang="en-IN" sz="1250" b="1">
              <a:solidFill>
                <a:srgbClr val="6EE7B7"/>
              </a:solidFill>
              <a:latin typeface="Segoe UI" panose="020B0502040204020203" pitchFamily="34" charset="0"/>
            </a:endParaRPr>
          </a:p>
        </p:txBody>
      </p:sp>
      <p:sp>
        <p:nvSpPr>
          <p:cNvPr id="11" name="TextBox 10">
            <a:extLst>
              <a:ext uri="{FF2B5EF4-FFF2-40B4-BE49-F238E27FC236}">
                <a16:creationId xmlns:a16="http://schemas.microsoft.com/office/drawing/2014/main" id="{D4E43689-94B9-46AB-A275-ADA33736E3A7}"/>
              </a:ext>
            </a:extLst>
          </p:cNvPr>
          <p:cNvSpPr txBox="1"/>
          <p:nvPr/>
        </p:nvSpPr>
        <p:spPr>
          <a:xfrm>
            <a:off x="381000" y="6375400"/>
            <a:ext cx="11430000" cy="246221"/>
          </a:xfrm>
          <a:prstGeom prst="rect">
            <a:avLst/>
          </a:prstGeom>
          <a:noFill/>
        </p:spPr>
        <p:txBody>
          <a:bodyPr vert="horz" rtlCol="0">
            <a:spAutoFit/>
          </a:bodyPr>
          <a:lstStyle/>
          <a:p>
            <a:r>
              <a:rPr lang="hi-IN" sz="1000">
                <a:solidFill>
                  <a:srgbClr val="64748B"/>
                </a:solidFill>
                <a:latin typeface="Segoe UI" panose="020B0502040204020203" pitchFamily="34" charset="0"/>
              </a:rPr>
              <a:t>सागर कोचिंग सेंटर भगवानपुर • कक्षा 08: 1857 की महान क्रांति • </a:t>
            </a:r>
            <a:r>
              <a:rPr lang="en-IN" sz="1000">
                <a:solidFill>
                  <a:srgbClr val="64748B"/>
                </a:solidFill>
                <a:latin typeface="Segoe UI" panose="020B0502040204020203" pitchFamily="34" charset="0"/>
              </a:rPr>
              <a:t>NMMS Special</a:t>
            </a:r>
          </a:p>
        </p:txBody>
      </p:sp>
    </p:spTree>
    <p:extLst>
      <p:ext uri="{BB962C8B-B14F-4D97-AF65-F5344CB8AC3E}">
        <p14:creationId xmlns:p14="http://schemas.microsoft.com/office/powerpoint/2010/main" val="39811656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repeatCount="1000000" fill="hold" nodeType="withEffect">
                                  <p:stCondLst>
                                    <p:cond delay="0"/>
                                  </p:stCondLst>
                                  <p:childTnLst>
                                    <p:cmd type="call" cmd="playFrom(0.0)">
                                      <p:cBhvr>
                                        <p:cTn id="6" dur="10055"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remove"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926744A-83C3-25F2-B58D-F83F46F8417A}"/>
              </a:ext>
            </a:extLst>
          </p:cNvPr>
          <p:cNvSpPr/>
          <p:nvPr/>
        </p:nvSpPr>
        <p:spPr>
          <a:xfrm>
            <a:off x="0" y="0"/>
            <a:ext cx="12192000" cy="609600"/>
          </a:xfrm>
          <a:prstGeom prst="rect">
            <a:avLst/>
          </a:prstGeom>
          <a:solidFill>
            <a:srgbClr val="1E293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4610BDB3-CF2D-C169-46AA-F894AE9F9AFB}"/>
              </a:ext>
            </a:extLst>
          </p:cNvPr>
          <p:cNvSpPr txBox="1"/>
          <p:nvPr/>
        </p:nvSpPr>
        <p:spPr>
          <a:xfrm>
            <a:off x="381000" y="76200"/>
            <a:ext cx="11430000" cy="338554"/>
          </a:xfrm>
          <a:prstGeom prst="rect">
            <a:avLst/>
          </a:prstGeom>
          <a:noFill/>
        </p:spPr>
        <p:txBody>
          <a:bodyPr vert="horz" rtlCol="0">
            <a:spAutoFit/>
          </a:bodyPr>
          <a:lstStyle/>
          <a:p>
            <a:r>
              <a:rPr lang="hi-IN" sz="1600" b="1">
                <a:solidFill>
                  <a:srgbClr val="F59E0B"/>
                </a:solidFill>
                <a:latin typeface="Segoe UI" panose="020B0502040204020203" pitchFamily="34" charset="0"/>
              </a:rPr>
              <a:t>दृश्य 5: क्रांति का गुप्त संदेश — कमल का फूल और रोटी (</a:t>
            </a:r>
            <a:r>
              <a:rPr lang="en-IN" sz="1600" b="1">
                <a:solidFill>
                  <a:srgbClr val="F59E0B"/>
                </a:solidFill>
                <a:latin typeface="Segoe UI" panose="020B0502040204020203" pitchFamily="34" charset="0"/>
              </a:rPr>
              <a:t>Lotus and Bread)</a:t>
            </a:r>
          </a:p>
        </p:txBody>
      </p:sp>
      <p:sp>
        <p:nvSpPr>
          <p:cNvPr id="4" name="Rectangle: Rounded Corners 3">
            <a:extLst>
              <a:ext uri="{FF2B5EF4-FFF2-40B4-BE49-F238E27FC236}">
                <a16:creationId xmlns:a16="http://schemas.microsoft.com/office/drawing/2014/main" id="{6A1EF7CA-7308-5221-862F-9CA0BD750780}"/>
              </a:ext>
            </a:extLst>
          </p:cNvPr>
          <p:cNvSpPr/>
          <p:nvPr/>
        </p:nvSpPr>
        <p:spPr>
          <a:xfrm>
            <a:off x="381000" y="711200"/>
            <a:ext cx="11430000" cy="431800"/>
          </a:xfrm>
          <a:prstGeom prst="roundRect">
            <a:avLst/>
          </a:prstGeom>
          <a:solidFill>
            <a:srgbClr val="28190F"/>
          </a:solidFill>
          <a:ln w="19050">
            <a:solidFill>
              <a:srgbClr val="B4530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EFD2B352-90DB-EB30-CD5F-039CA39ABF75}"/>
              </a:ext>
            </a:extLst>
          </p:cNvPr>
          <p:cNvSpPr txBox="1"/>
          <p:nvPr/>
        </p:nvSpPr>
        <p:spPr>
          <a:xfrm>
            <a:off x="444500" y="736600"/>
            <a:ext cx="11303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चुपके से रोटी बंटी, कमल का फूल मुस्काया था, अंग्रेजों को भनक न लगी, क्या तूफ़ान आने वाला था!</a:t>
            </a:r>
            <a:endParaRPr lang="en-IN" sz="1200" b="1">
              <a:solidFill>
                <a:srgbClr val="F59E0B"/>
              </a:solidFill>
              <a:latin typeface="Segoe UI" panose="020B0502040204020203" pitchFamily="34" charset="0"/>
            </a:endParaRPr>
          </a:p>
        </p:txBody>
      </p:sp>
      <p:pic>
        <p:nvPicPr>
          <p:cNvPr id="7" name="Picture 6">
            <a:extLst>
              <a:ext uri="{FF2B5EF4-FFF2-40B4-BE49-F238E27FC236}">
                <a16:creationId xmlns:a16="http://schemas.microsoft.com/office/drawing/2014/main" id="{12D23F4C-C74F-299D-0939-359F03A55296}"/>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381000" y="1244600"/>
            <a:ext cx="5207000" cy="5016500"/>
          </a:xfrm>
          <a:prstGeom prst="rect">
            <a:avLst/>
          </a:prstGeom>
        </p:spPr>
      </p:pic>
      <p:sp>
        <p:nvSpPr>
          <p:cNvPr id="8" name="Rectangle: Rounded Corners 7">
            <a:extLst>
              <a:ext uri="{FF2B5EF4-FFF2-40B4-BE49-F238E27FC236}">
                <a16:creationId xmlns:a16="http://schemas.microsoft.com/office/drawing/2014/main" id="{1870D3BE-6F23-7026-CCD9-7AAADB2A1E9A}"/>
              </a:ext>
            </a:extLst>
          </p:cNvPr>
          <p:cNvSpPr/>
          <p:nvPr/>
        </p:nvSpPr>
        <p:spPr>
          <a:xfrm>
            <a:off x="5778500" y="1244600"/>
            <a:ext cx="6032500" cy="3556000"/>
          </a:xfrm>
          <a:prstGeom prst="roundRect">
            <a:avLst/>
          </a:prstGeom>
          <a:solidFill>
            <a:srgbClr val="1E293B"/>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3F65087B-4FAE-FE94-C797-A24536743590}"/>
              </a:ext>
            </a:extLst>
          </p:cNvPr>
          <p:cNvSpPr txBox="1"/>
          <p:nvPr/>
        </p:nvSpPr>
        <p:spPr>
          <a:xfrm>
            <a:off x="5969000" y="1371600"/>
            <a:ext cx="5651500" cy="1692771"/>
          </a:xfrm>
          <a:prstGeom prst="rect">
            <a:avLst/>
          </a:prstGeom>
          <a:noFill/>
        </p:spPr>
        <p:txBody>
          <a:bodyPr vert="horz" wrap="square" rtlCol="0">
            <a:spAutoFit/>
          </a:bodyPr>
          <a:lstStyle/>
          <a:p>
            <a:r>
              <a:rPr lang="hi-IN" sz="1300">
                <a:solidFill>
                  <a:srgbClr val="F8FAFC"/>
                </a:solidFill>
                <a:latin typeface="Segoe UI" panose="020B0502040204020203" pitchFamily="34" charset="0"/>
              </a:rPr>
              <a:t>• क्रांति का गुप्त प्रतीक (</a:t>
            </a:r>
            <a:r>
              <a:rPr lang="en-IN" sz="1300">
                <a:solidFill>
                  <a:srgbClr val="F8FAFC"/>
                </a:solidFill>
                <a:latin typeface="Segoe UI" panose="020B0502040204020203" pitchFamily="34" charset="0"/>
              </a:rPr>
              <a:t>Secret Symbols): '</a:t>
            </a:r>
            <a:r>
              <a:rPr lang="hi-IN" sz="1300">
                <a:solidFill>
                  <a:srgbClr val="F8FAFC"/>
                </a:solidFill>
                <a:latin typeface="Segoe UI" panose="020B0502040204020203" pitchFamily="34" charset="0"/>
              </a:rPr>
              <a:t>लाल कमल का फूल' (छावनियों व सैनिकों हेतु) और 'चपाती/रोटी' (गांव-गांव किसानों व जनता हेतु)।
• संन्यासी, फकीर और मदारियों के भेष में गुप्त संदेशवाहक एक गांव से दूसरे गांव रोटी और कमल पहुंचाकर 31 मई 1857 की तारीख तय कर रहे थे।
• योजना यह थी कि एक ही दिन पूरे भारत की सभी छावनियों में एक साथ बगावत की जाए, जिससे अंग्रेज संभल न सकें।</a:t>
            </a:r>
            <a:endParaRPr lang="en-IN" sz="13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F7796AD6-443E-B1EC-F934-90D0AE5C2B29}"/>
              </a:ext>
            </a:extLst>
          </p:cNvPr>
          <p:cNvSpPr/>
          <p:nvPr/>
        </p:nvSpPr>
        <p:spPr>
          <a:xfrm>
            <a:off x="5778500" y="4927600"/>
            <a:ext cx="6032500" cy="1333500"/>
          </a:xfrm>
          <a:prstGeom prst="roundRect">
            <a:avLst/>
          </a:prstGeom>
          <a:solidFill>
            <a:srgbClr val="14281E"/>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ADA9063C-10CE-BEBD-CB50-80E0F5355E73}"/>
              </a:ext>
            </a:extLst>
          </p:cNvPr>
          <p:cNvSpPr txBox="1"/>
          <p:nvPr/>
        </p:nvSpPr>
        <p:spPr>
          <a:xfrm>
            <a:off x="5905500" y="5029200"/>
            <a:ext cx="5778500" cy="477054"/>
          </a:xfrm>
          <a:prstGeom prst="rect">
            <a:avLst/>
          </a:prstGeom>
          <a:noFill/>
        </p:spPr>
        <p:txBody>
          <a:bodyPr vert="horz" wrap="square" rtlCol="0">
            <a:spAutoFit/>
          </a:bodyPr>
          <a:lstStyle/>
          <a:p>
            <a:r>
              <a:rPr lang="en-IN" sz="1250" b="1">
                <a:solidFill>
                  <a:srgbClr val="6EE7B7"/>
                </a:solidFill>
                <a:latin typeface="Segoe UI" panose="020B0502040204020203" pitchFamily="34" charset="0"/>
              </a:rPr>
              <a:t>NMMS </a:t>
            </a:r>
            <a:r>
              <a:rPr lang="hi-IN" sz="1250" b="1">
                <a:solidFill>
                  <a:srgbClr val="6EE7B7"/>
                </a:solidFill>
                <a:latin typeface="Segoe UI" panose="020B0502040204020203" pitchFamily="34" charset="0"/>
              </a:rPr>
              <a:t>फैक्ट: 1857 के प्रथम स्वतंत्रता संग्राम का आधिकारिक प्रतीक चिह्न 'कमल और रोटी' (</a:t>
            </a:r>
            <a:r>
              <a:rPr lang="en-IN" sz="1250" b="1">
                <a:solidFill>
                  <a:srgbClr val="6EE7B7"/>
                </a:solidFill>
                <a:latin typeface="Segoe UI" panose="020B0502040204020203" pitchFamily="34" charset="0"/>
              </a:rPr>
              <a:t>Lotus &amp; Bread) </a:t>
            </a:r>
            <a:r>
              <a:rPr lang="hi-IN" sz="1250" b="1">
                <a:solidFill>
                  <a:srgbClr val="6EE7B7"/>
                </a:solidFill>
                <a:latin typeface="Segoe UI" panose="020B0502040204020203" pitchFamily="34" charset="0"/>
              </a:rPr>
              <a:t>था!</a:t>
            </a:r>
            <a:endParaRPr lang="en-IN" sz="1250" b="1">
              <a:solidFill>
                <a:srgbClr val="6EE7B7"/>
              </a:solidFill>
              <a:latin typeface="Segoe UI" panose="020B0502040204020203" pitchFamily="34" charset="0"/>
            </a:endParaRPr>
          </a:p>
        </p:txBody>
      </p:sp>
      <p:sp>
        <p:nvSpPr>
          <p:cNvPr id="12" name="TextBox 11">
            <a:extLst>
              <a:ext uri="{FF2B5EF4-FFF2-40B4-BE49-F238E27FC236}">
                <a16:creationId xmlns:a16="http://schemas.microsoft.com/office/drawing/2014/main" id="{2ADBD16A-6F43-CE12-74D0-E7F964E1EE6D}"/>
              </a:ext>
            </a:extLst>
          </p:cNvPr>
          <p:cNvSpPr txBox="1"/>
          <p:nvPr/>
        </p:nvSpPr>
        <p:spPr>
          <a:xfrm>
            <a:off x="381000" y="6375400"/>
            <a:ext cx="11430000" cy="246221"/>
          </a:xfrm>
          <a:prstGeom prst="rect">
            <a:avLst/>
          </a:prstGeom>
          <a:noFill/>
        </p:spPr>
        <p:txBody>
          <a:bodyPr vert="horz" rtlCol="0">
            <a:spAutoFit/>
          </a:bodyPr>
          <a:lstStyle/>
          <a:p>
            <a:r>
              <a:rPr lang="hi-IN" sz="1000">
                <a:solidFill>
                  <a:srgbClr val="64748B"/>
                </a:solidFill>
                <a:latin typeface="Segoe UI" panose="020B0502040204020203" pitchFamily="34" charset="0"/>
              </a:rPr>
              <a:t>सागर कोचिंग सेंटर भगवानपुर • कक्षा 08: 1857 की महान क्रांति • </a:t>
            </a:r>
            <a:r>
              <a:rPr lang="en-IN" sz="1000">
                <a:solidFill>
                  <a:srgbClr val="64748B"/>
                </a:solidFill>
                <a:latin typeface="Segoe UI" panose="020B0502040204020203" pitchFamily="34" charset="0"/>
              </a:rPr>
              <a:t>NMMS Special</a:t>
            </a:r>
          </a:p>
        </p:txBody>
      </p:sp>
    </p:spTree>
    <p:extLst>
      <p:ext uri="{BB962C8B-B14F-4D97-AF65-F5344CB8AC3E}">
        <p14:creationId xmlns:p14="http://schemas.microsoft.com/office/powerpoint/2010/main" val="35037850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A185C4A-B1AE-3AEF-84AB-7AFBCB0A937A}"/>
              </a:ext>
            </a:extLst>
          </p:cNvPr>
          <p:cNvSpPr/>
          <p:nvPr/>
        </p:nvSpPr>
        <p:spPr>
          <a:xfrm>
            <a:off x="0" y="0"/>
            <a:ext cx="12192000" cy="609600"/>
          </a:xfrm>
          <a:prstGeom prst="rect">
            <a:avLst/>
          </a:prstGeom>
          <a:solidFill>
            <a:srgbClr val="1E293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EDF25315-55BB-CF2D-CD3E-55525468DFA1}"/>
              </a:ext>
            </a:extLst>
          </p:cNvPr>
          <p:cNvSpPr txBox="1"/>
          <p:nvPr/>
        </p:nvSpPr>
        <p:spPr>
          <a:xfrm>
            <a:off x="381000" y="76200"/>
            <a:ext cx="11430000" cy="338554"/>
          </a:xfrm>
          <a:prstGeom prst="rect">
            <a:avLst/>
          </a:prstGeom>
          <a:noFill/>
        </p:spPr>
        <p:txBody>
          <a:bodyPr vert="horz" rtlCol="0">
            <a:spAutoFit/>
          </a:bodyPr>
          <a:lstStyle/>
          <a:p>
            <a:r>
              <a:rPr lang="hi-IN" sz="1600" b="1">
                <a:solidFill>
                  <a:srgbClr val="F59E0B"/>
                </a:solidFill>
                <a:latin typeface="Segoe UI" panose="020B0502040204020203" pitchFamily="34" charset="0"/>
              </a:rPr>
              <a:t>दृश्य 6: 10 मई 1857 — मेरठ का महा-विद्रोह (क्रांति का बिगुल)</a:t>
            </a:r>
            <a:endParaRPr lang="en-IN" sz="1600" b="1">
              <a:solidFill>
                <a:srgbClr val="F59E0B"/>
              </a:solidFill>
              <a:latin typeface="Segoe UI" panose="020B0502040204020203" pitchFamily="34" charset="0"/>
            </a:endParaRPr>
          </a:p>
        </p:txBody>
      </p:sp>
      <p:sp>
        <p:nvSpPr>
          <p:cNvPr id="4" name="Rectangle: Rounded Corners 3">
            <a:extLst>
              <a:ext uri="{FF2B5EF4-FFF2-40B4-BE49-F238E27FC236}">
                <a16:creationId xmlns:a16="http://schemas.microsoft.com/office/drawing/2014/main" id="{8C5845B8-9EC3-D2A9-EC20-68382C229689}"/>
              </a:ext>
            </a:extLst>
          </p:cNvPr>
          <p:cNvSpPr/>
          <p:nvPr/>
        </p:nvSpPr>
        <p:spPr>
          <a:xfrm>
            <a:off x="381000" y="711200"/>
            <a:ext cx="11430000" cy="431800"/>
          </a:xfrm>
          <a:prstGeom prst="roundRect">
            <a:avLst/>
          </a:prstGeom>
          <a:solidFill>
            <a:srgbClr val="28190F"/>
          </a:solidFill>
          <a:ln w="19050">
            <a:solidFill>
              <a:srgbClr val="B4530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FC5A0A5C-1EE2-FB99-9AD6-EB92A56DD166}"/>
              </a:ext>
            </a:extLst>
          </p:cNvPr>
          <p:cNvSpPr txBox="1"/>
          <p:nvPr/>
        </p:nvSpPr>
        <p:spPr>
          <a:xfrm>
            <a:off x="444500" y="736600"/>
            <a:ext cx="11303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मेरठ से उठी जो चिंगारी, वो दिल्ली का अंगार बनी, फिरंगियों के तख्त पर, हिंदुस्तानी तलवार तनी!</a:t>
            </a:r>
            <a:endParaRPr lang="en-IN" sz="1200" b="1">
              <a:solidFill>
                <a:srgbClr val="F59E0B"/>
              </a:solidFill>
              <a:latin typeface="Segoe UI" panose="020B0502040204020203" pitchFamily="34" charset="0"/>
            </a:endParaRPr>
          </a:p>
        </p:txBody>
      </p:sp>
      <p:pic>
        <p:nvPicPr>
          <p:cNvPr id="6" name="meerut_cavalry_charge">
            <a:hlinkClick r:id="" action="ppaction://media"/>
            <a:extLst>
              <a:ext uri="{FF2B5EF4-FFF2-40B4-BE49-F238E27FC236}">
                <a16:creationId xmlns:a16="http://schemas.microsoft.com/office/drawing/2014/main" id="{D546139D-EC17-FD08-BA4B-8CECF3DFF624}"/>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381000" y="1244600"/>
            <a:ext cx="8918221" cy="5016500"/>
          </a:xfrm>
          <a:prstGeom prst="rect">
            <a:avLst/>
          </a:prstGeom>
        </p:spPr>
      </p:pic>
      <p:sp>
        <p:nvSpPr>
          <p:cNvPr id="7" name="Rectangle: Rounded Corners 6">
            <a:extLst>
              <a:ext uri="{FF2B5EF4-FFF2-40B4-BE49-F238E27FC236}">
                <a16:creationId xmlns:a16="http://schemas.microsoft.com/office/drawing/2014/main" id="{DC67CD61-9451-CD7F-5326-30D5E75612DA}"/>
              </a:ext>
            </a:extLst>
          </p:cNvPr>
          <p:cNvSpPr/>
          <p:nvPr/>
        </p:nvSpPr>
        <p:spPr>
          <a:xfrm>
            <a:off x="5778500" y="1244600"/>
            <a:ext cx="6032500" cy="3556000"/>
          </a:xfrm>
          <a:prstGeom prst="roundRect">
            <a:avLst/>
          </a:prstGeom>
          <a:solidFill>
            <a:srgbClr val="1E293B"/>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4F6BAB7D-D8CC-19CE-B0E7-00FC814ECF86}"/>
              </a:ext>
            </a:extLst>
          </p:cNvPr>
          <p:cNvSpPr txBox="1"/>
          <p:nvPr/>
        </p:nvSpPr>
        <p:spPr>
          <a:xfrm>
            <a:off x="5969000" y="1371600"/>
            <a:ext cx="5651500" cy="1692771"/>
          </a:xfrm>
          <a:prstGeom prst="rect">
            <a:avLst/>
          </a:prstGeom>
          <a:noFill/>
        </p:spPr>
        <p:txBody>
          <a:bodyPr vert="horz" wrap="square" rtlCol="0">
            <a:spAutoFit/>
          </a:bodyPr>
          <a:lstStyle/>
          <a:p>
            <a:r>
              <a:rPr lang="hi-IN" sz="1300">
                <a:solidFill>
                  <a:srgbClr val="F8FAFC"/>
                </a:solidFill>
                <a:latin typeface="Segoe UI" panose="020B0502040204020203" pitchFamily="34" charset="0"/>
              </a:rPr>
              <a:t>• क्रांति की शुरुआत: 10 मई 1857 को मेरठ छावनी (</a:t>
            </a:r>
            <a:r>
              <a:rPr lang="en-IN" sz="1300">
                <a:solidFill>
                  <a:srgbClr val="F8FAFC"/>
                </a:solidFill>
                <a:latin typeface="Segoe UI" panose="020B0502040204020203" pitchFamily="34" charset="0"/>
              </a:rPr>
              <a:t>Meerut Cantonment) </a:t>
            </a:r>
            <a:r>
              <a:rPr lang="hi-IN" sz="1300">
                <a:solidFill>
                  <a:srgbClr val="F8FAFC"/>
                </a:solidFill>
                <a:latin typeface="Segoe UI" panose="020B0502040204020203" pitchFamily="34" charset="0"/>
              </a:rPr>
              <a:t>से 1857 के प्रथम स्वतंत्रता संग्राम की विधिवत शुरुआत हुई।
• 3री कैवलरी के 85 सिपाहियों ने चर्बी वाले कारतूस छूने से इनकार किया, कोर्ट मार्शल के बाद भड़की बगावत ने अंग्रेजी हुकूमत को थर्रा दिया।
• सिपाहियों ने अपने साथियों को जेल तोड़कर छुड़ाया, अंग्रेज अफसरों को मार गिराया और रात में ही दिल्ली कूच किया।</a:t>
            </a:r>
            <a:endParaRPr lang="en-IN" sz="1300">
              <a:solidFill>
                <a:srgbClr val="F8FAFC"/>
              </a:solidFill>
              <a:latin typeface="Segoe UI" panose="020B0502040204020203" pitchFamily="34" charset="0"/>
            </a:endParaRPr>
          </a:p>
        </p:txBody>
      </p:sp>
      <p:sp>
        <p:nvSpPr>
          <p:cNvPr id="9" name="Rectangle: Rounded Corners 8">
            <a:extLst>
              <a:ext uri="{FF2B5EF4-FFF2-40B4-BE49-F238E27FC236}">
                <a16:creationId xmlns:a16="http://schemas.microsoft.com/office/drawing/2014/main" id="{4A50270B-23AB-3E5B-319A-0629A17CD6D4}"/>
              </a:ext>
            </a:extLst>
          </p:cNvPr>
          <p:cNvSpPr/>
          <p:nvPr/>
        </p:nvSpPr>
        <p:spPr>
          <a:xfrm>
            <a:off x="5778500" y="4927600"/>
            <a:ext cx="6032500" cy="1333500"/>
          </a:xfrm>
          <a:prstGeom prst="roundRect">
            <a:avLst/>
          </a:prstGeom>
          <a:solidFill>
            <a:srgbClr val="14281E"/>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9ED1E6F2-2588-88C1-28BA-65E1256CD2F8}"/>
              </a:ext>
            </a:extLst>
          </p:cNvPr>
          <p:cNvSpPr txBox="1"/>
          <p:nvPr/>
        </p:nvSpPr>
        <p:spPr>
          <a:xfrm>
            <a:off x="5905500" y="5029200"/>
            <a:ext cx="5778500" cy="477054"/>
          </a:xfrm>
          <a:prstGeom prst="rect">
            <a:avLst/>
          </a:prstGeom>
          <a:noFill/>
        </p:spPr>
        <p:txBody>
          <a:bodyPr vert="horz" wrap="square" rtlCol="0">
            <a:spAutoFit/>
          </a:bodyPr>
          <a:lstStyle/>
          <a:p>
            <a:r>
              <a:rPr lang="en-IN" sz="1250" b="1">
                <a:solidFill>
                  <a:srgbClr val="6EE7B7"/>
                </a:solidFill>
                <a:latin typeface="Segoe UI" panose="020B0502040204020203" pitchFamily="34" charset="0"/>
              </a:rPr>
              <a:t>NMMS </a:t>
            </a:r>
            <a:r>
              <a:rPr lang="hi-IN" sz="1250" b="1">
                <a:solidFill>
                  <a:srgbClr val="6EE7B7"/>
                </a:solidFill>
                <a:latin typeface="Segoe UI" panose="020B0502040204020203" pitchFamily="34" charset="0"/>
              </a:rPr>
              <a:t>फैक्ट: 1857 की क्रांति की विधिवत शुरुआत 10 मई 1857 को 'मेरठ छावनी' (</a:t>
            </a:r>
            <a:r>
              <a:rPr lang="en-IN" sz="1250" b="1">
                <a:solidFill>
                  <a:srgbClr val="6EE7B7"/>
                </a:solidFill>
                <a:latin typeface="Segoe UI" panose="020B0502040204020203" pitchFamily="34" charset="0"/>
              </a:rPr>
              <a:t>Meerut) </a:t>
            </a:r>
            <a:r>
              <a:rPr lang="hi-IN" sz="1250" b="1">
                <a:solidFill>
                  <a:srgbClr val="6EE7B7"/>
                </a:solidFill>
                <a:latin typeface="Segoe UI" panose="020B0502040204020203" pitchFamily="34" charset="0"/>
              </a:rPr>
              <a:t>से हुई थी!</a:t>
            </a:r>
            <a:endParaRPr lang="en-IN" sz="1250" b="1">
              <a:solidFill>
                <a:srgbClr val="6EE7B7"/>
              </a:solidFill>
              <a:latin typeface="Segoe UI" panose="020B0502040204020203" pitchFamily="34" charset="0"/>
            </a:endParaRPr>
          </a:p>
        </p:txBody>
      </p:sp>
      <p:sp>
        <p:nvSpPr>
          <p:cNvPr id="11" name="TextBox 10">
            <a:extLst>
              <a:ext uri="{FF2B5EF4-FFF2-40B4-BE49-F238E27FC236}">
                <a16:creationId xmlns:a16="http://schemas.microsoft.com/office/drawing/2014/main" id="{B4629B03-ED90-E961-50E4-514CD94DE567}"/>
              </a:ext>
            </a:extLst>
          </p:cNvPr>
          <p:cNvSpPr txBox="1"/>
          <p:nvPr/>
        </p:nvSpPr>
        <p:spPr>
          <a:xfrm>
            <a:off x="381000" y="6375400"/>
            <a:ext cx="11430000" cy="246221"/>
          </a:xfrm>
          <a:prstGeom prst="rect">
            <a:avLst/>
          </a:prstGeom>
          <a:noFill/>
        </p:spPr>
        <p:txBody>
          <a:bodyPr vert="horz" rtlCol="0">
            <a:spAutoFit/>
          </a:bodyPr>
          <a:lstStyle/>
          <a:p>
            <a:r>
              <a:rPr lang="hi-IN" sz="1000">
                <a:solidFill>
                  <a:srgbClr val="64748B"/>
                </a:solidFill>
                <a:latin typeface="Segoe UI" panose="020B0502040204020203" pitchFamily="34" charset="0"/>
              </a:rPr>
              <a:t>सागर कोचिंग सेंटर भगवानपुर • कक्षा 08: 1857 की महान क्रांति • </a:t>
            </a:r>
            <a:r>
              <a:rPr lang="en-IN" sz="1000">
                <a:solidFill>
                  <a:srgbClr val="64748B"/>
                </a:solidFill>
                <a:latin typeface="Segoe UI" panose="020B0502040204020203" pitchFamily="34" charset="0"/>
              </a:rPr>
              <a:t>NMMS Special</a:t>
            </a:r>
          </a:p>
        </p:txBody>
      </p:sp>
    </p:spTree>
    <p:extLst>
      <p:ext uri="{BB962C8B-B14F-4D97-AF65-F5344CB8AC3E}">
        <p14:creationId xmlns:p14="http://schemas.microsoft.com/office/powerpoint/2010/main" val="11387990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repeatCount="1000000" fill="hold" nodeType="withEffect">
                                  <p:stCondLst>
                                    <p:cond delay="0"/>
                                  </p:stCondLst>
                                  <p:childTnLst>
                                    <p:cmd type="call" cmd="playFrom(0.0)">
                                      <p:cBhvr>
                                        <p:cTn id="6" dur="7083"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remove"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05501E3-1477-DEF8-81F8-5A72A35602D8}"/>
              </a:ext>
            </a:extLst>
          </p:cNvPr>
          <p:cNvSpPr/>
          <p:nvPr/>
        </p:nvSpPr>
        <p:spPr>
          <a:xfrm>
            <a:off x="0" y="0"/>
            <a:ext cx="12192000" cy="609600"/>
          </a:xfrm>
          <a:prstGeom prst="rect">
            <a:avLst/>
          </a:prstGeom>
          <a:solidFill>
            <a:srgbClr val="1E293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FA249024-2C7D-E1EC-15B1-A7D68101FB20}"/>
              </a:ext>
            </a:extLst>
          </p:cNvPr>
          <p:cNvSpPr txBox="1"/>
          <p:nvPr/>
        </p:nvSpPr>
        <p:spPr>
          <a:xfrm>
            <a:off x="381000" y="76200"/>
            <a:ext cx="11430000" cy="338554"/>
          </a:xfrm>
          <a:prstGeom prst="rect">
            <a:avLst/>
          </a:prstGeom>
          <a:noFill/>
        </p:spPr>
        <p:txBody>
          <a:bodyPr vert="horz" rtlCol="0">
            <a:spAutoFit/>
          </a:bodyPr>
          <a:lstStyle/>
          <a:p>
            <a:r>
              <a:rPr lang="hi-IN" sz="1600" b="1">
                <a:solidFill>
                  <a:srgbClr val="F59E0B"/>
                </a:solidFill>
                <a:latin typeface="Segoe UI" panose="020B0502040204020203" pitchFamily="34" charset="0"/>
              </a:rPr>
              <a:t>दृश्य 7: दिल्ली कूच — यमुना पार कर लाल किले पर दस्तक</a:t>
            </a:r>
            <a:endParaRPr lang="en-IN" sz="1600" b="1">
              <a:solidFill>
                <a:srgbClr val="F59E0B"/>
              </a:solidFill>
              <a:latin typeface="Segoe UI" panose="020B0502040204020203" pitchFamily="34" charset="0"/>
            </a:endParaRPr>
          </a:p>
        </p:txBody>
      </p:sp>
      <p:sp>
        <p:nvSpPr>
          <p:cNvPr id="4" name="Rectangle: Rounded Corners 3">
            <a:extLst>
              <a:ext uri="{FF2B5EF4-FFF2-40B4-BE49-F238E27FC236}">
                <a16:creationId xmlns:a16="http://schemas.microsoft.com/office/drawing/2014/main" id="{C1687AC6-B1E0-42ED-BA50-9F0B74EBEF41}"/>
              </a:ext>
            </a:extLst>
          </p:cNvPr>
          <p:cNvSpPr/>
          <p:nvPr/>
        </p:nvSpPr>
        <p:spPr>
          <a:xfrm>
            <a:off x="381000" y="711200"/>
            <a:ext cx="11430000" cy="431800"/>
          </a:xfrm>
          <a:prstGeom prst="roundRect">
            <a:avLst/>
          </a:prstGeom>
          <a:solidFill>
            <a:srgbClr val="28190F"/>
          </a:solidFill>
          <a:ln w="19050">
            <a:solidFill>
              <a:srgbClr val="B4530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B98CB425-3BC6-D336-A5FD-42D8FAB2D796}"/>
              </a:ext>
            </a:extLst>
          </p:cNvPr>
          <p:cNvSpPr txBox="1"/>
          <p:nvPr/>
        </p:nvSpPr>
        <p:spPr>
          <a:xfrm>
            <a:off x="444500" y="736600"/>
            <a:ext cx="11303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यमुना की लहरों को चीर कर, आजादी के मतवाले आए, लाल किले की प्राचीर पर, फिरंगियों के काल मंडराए!</a:t>
            </a:r>
            <a:endParaRPr lang="en-IN" sz="1200" b="1">
              <a:solidFill>
                <a:srgbClr val="F59E0B"/>
              </a:solidFill>
              <a:latin typeface="Segoe UI" panose="020B0502040204020203" pitchFamily="34" charset="0"/>
            </a:endParaRPr>
          </a:p>
        </p:txBody>
      </p:sp>
      <p:pic>
        <p:nvPicPr>
          <p:cNvPr id="6" name="delhi_red_fort_march">
            <a:hlinkClick r:id="" action="ppaction://media"/>
            <a:extLst>
              <a:ext uri="{FF2B5EF4-FFF2-40B4-BE49-F238E27FC236}">
                <a16:creationId xmlns:a16="http://schemas.microsoft.com/office/drawing/2014/main" id="{88DB0A83-5D40-53FB-DE4D-76B750C07AC6}"/>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381000" y="1244600"/>
            <a:ext cx="8918221" cy="5016500"/>
          </a:xfrm>
          <a:prstGeom prst="rect">
            <a:avLst/>
          </a:prstGeom>
        </p:spPr>
      </p:pic>
      <p:sp>
        <p:nvSpPr>
          <p:cNvPr id="7" name="Rectangle: Rounded Corners 6">
            <a:extLst>
              <a:ext uri="{FF2B5EF4-FFF2-40B4-BE49-F238E27FC236}">
                <a16:creationId xmlns:a16="http://schemas.microsoft.com/office/drawing/2014/main" id="{F4259520-9C86-A896-6B72-80DD29C68081}"/>
              </a:ext>
            </a:extLst>
          </p:cNvPr>
          <p:cNvSpPr/>
          <p:nvPr/>
        </p:nvSpPr>
        <p:spPr>
          <a:xfrm>
            <a:off x="5778500" y="1244600"/>
            <a:ext cx="6032500" cy="3556000"/>
          </a:xfrm>
          <a:prstGeom prst="roundRect">
            <a:avLst/>
          </a:prstGeom>
          <a:solidFill>
            <a:srgbClr val="1E293B"/>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8F3357C3-BC33-2DE0-BEA1-31BA7BBCACF8}"/>
              </a:ext>
            </a:extLst>
          </p:cNvPr>
          <p:cNvSpPr txBox="1"/>
          <p:nvPr/>
        </p:nvSpPr>
        <p:spPr>
          <a:xfrm>
            <a:off x="5969000" y="1371600"/>
            <a:ext cx="5651500" cy="1692771"/>
          </a:xfrm>
          <a:prstGeom prst="rect">
            <a:avLst/>
          </a:prstGeom>
          <a:noFill/>
        </p:spPr>
        <p:txBody>
          <a:bodyPr vert="horz" wrap="square" rtlCol="0">
            <a:spAutoFit/>
          </a:bodyPr>
          <a:lstStyle/>
          <a:p>
            <a:r>
              <a:rPr lang="hi-IN" sz="1300">
                <a:solidFill>
                  <a:srgbClr val="F8FAFC"/>
                </a:solidFill>
                <a:latin typeface="Segoe UI" panose="020B0502040204020203" pitchFamily="34" charset="0"/>
              </a:rPr>
              <a:t>• 'दिल्ली चलो' का नारा: 10 मई की रात मेरठ के विद्रोही सैनिकों ने बिना रुके 60 किलोमीटर की दूरी तय कर दिल्ली की ओर कूच किया।
• 11 मई की भोर: घुड़सवारों ने नावों के पुल (</a:t>
            </a:r>
            <a:r>
              <a:rPr lang="en-IN" sz="1300">
                <a:solidFill>
                  <a:srgbClr val="F8FAFC"/>
                </a:solidFill>
                <a:latin typeface="Segoe UI" panose="020B0502040204020203" pitchFamily="34" charset="0"/>
              </a:rPr>
              <a:t>Bridge of Boats) </a:t>
            </a:r>
            <a:r>
              <a:rPr lang="hi-IN" sz="1300">
                <a:solidFill>
                  <a:srgbClr val="F8FAFC"/>
                </a:solidFill>
                <a:latin typeface="Segoe UI" panose="020B0502040204020203" pitchFamily="34" charset="0"/>
              </a:rPr>
              <a:t>से यमुना नदी पार की और दिल्ली के राजघाट चुंगी चौकी पर कब्जा किया।
• दिल्ली की स्थानीय रेजिमेंट भी विद्रोहियों से जा मिली; अंग्रेजों के शस्त्रागार (</a:t>
            </a:r>
            <a:r>
              <a:rPr lang="en-IN" sz="1300">
                <a:solidFill>
                  <a:srgbClr val="F8FAFC"/>
                </a:solidFill>
                <a:latin typeface="Segoe UI" panose="020B0502040204020203" pitchFamily="34" charset="0"/>
              </a:rPr>
              <a:t>Magazine) </a:t>
            </a:r>
            <a:r>
              <a:rPr lang="hi-IN" sz="1300">
                <a:solidFill>
                  <a:srgbClr val="F8FAFC"/>
                </a:solidFill>
                <a:latin typeface="Segoe UI" panose="020B0502040204020203" pitchFamily="34" charset="0"/>
              </a:rPr>
              <a:t>पर कब्जा कर लाल किले का रुख किया गया।</a:t>
            </a:r>
            <a:endParaRPr lang="en-IN" sz="1300">
              <a:solidFill>
                <a:srgbClr val="F8FAFC"/>
              </a:solidFill>
              <a:latin typeface="Segoe UI" panose="020B0502040204020203" pitchFamily="34" charset="0"/>
            </a:endParaRPr>
          </a:p>
        </p:txBody>
      </p:sp>
      <p:sp>
        <p:nvSpPr>
          <p:cNvPr id="9" name="Rectangle: Rounded Corners 8">
            <a:extLst>
              <a:ext uri="{FF2B5EF4-FFF2-40B4-BE49-F238E27FC236}">
                <a16:creationId xmlns:a16="http://schemas.microsoft.com/office/drawing/2014/main" id="{5FE22232-29EA-D1F6-A922-D8D96678380F}"/>
              </a:ext>
            </a:extLst>
          </p:cNvPr>
          <p:cNvSpPr/>
          <p:nvPr/>
        </p:nvSpPr>
        <p:spPr>
          <a:xfrm>
            <a:off x="5778500" y="4927600"/>
            <a:ext cx="6032500" cy="1333500"/>
          </a:xfrm>
          <a:prstGeom prst="roundRect">
            <a:avLst/>
          </a:prstGeom>
          <a:solidFill>
            <a:srgbClr val="14281E"/>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ABDCFEBD-D497-84DC-870B-35831D3F87C9}"/>
              </a:ext>
            </a:extLst>
          </p:cNvPr>
          <p:cNvSpPr txBox="1"/>
          <p:nvPr/>
        </p:nvSpPr>
        <p:spPr>
          <a:xfrm>
            <a:off x="5905500" y="5029200"/>
            <a:ext cx="5778500" cy="477054"/>
          </a:xfrm>
          <a:prstGeom prst="rect">
            <a:avLst/>
          </a:prstGeom>
          <a:noFill/>
        </p:spPr>
        <p:txBody>
          <a:bodyPr vert="horz" wrap="square" rtlCol="0">
            <a:spAutoFit/>
          </a:bodyPr>
          <a:lstStyle/>
          <a:p>
            <a:r>
              <a:rPr lang="en-IN" sz="1250" b="1">
                <a:solidFill>
                  <a:srgbClr val="6EE7B7"/>
                </a:solidFill>
                <a:latin typeface="Segoe UI" panose="020B0502040204020203" pitchFamily="34" charset="0"/>
              </a:rPr>
              <a:t>NMMS </a:t>
            </a:r>
            <a:r>
              <a:rPr lang="hi-IN" sz="1250" b="1">
                <a:solidFill>
                  <a:srgbClr val="6EE7B7"/>
                </a:solidFill>
                <a:latin typeface="Segoe UI" panose="020B0502040204020203" pitchFamily="34" charset="0"/>
              </a:rPr>
              <a:t>फैक्ट: मेरठ के सैनिकों ने 11 मई 1857 की सुबह यमुना पार कर दिल्ली में प्रवेश किया था और नारा दिया था 'दिल्ली चलो'!</a:t>
            </a:r>
            <a:endParaRPr lang="en-IN" sz="1250" b="1">
              <a:solidFill>
                <a:srgbClr val="6EE7B7"/>
              </a:solidFill>
              <a:latin typeface="Segoe UI" panose="020B0502040204020203" pitchFamily="34" charset="0"/>
            </a:endParaRPr>
          </a:p>
        </p:txBody>
      </p:sp>
      <p:sp>
        <p:nvSpPr>
          <p:cNvPr id="11" name="TextBox 10">
            <a:extLst>
              <a:ext uri="{FF2B5EF4-FFF2-40B4-BE49-F238E27FC236}">
                <a16:creationId xmlns:a16="http://schemas.microsoft.com/office/drawing/2014/main" id="{3CE45C0B-4CA4-F642-2E8C-DBF38E3D632B}"/>
              </a:ext>
            </a:extLst>
          </p:cNvPr>
          <p:cNvSpPr txBox="1"/>
          <p:nvPr/>
        </p:nvSpPr>
        <p:spPr>
          <a:xfrm>
            <a:off x="381000" y="6375400"/>
            <a:ext cx="11430000" cy="246221"/>
          </a:xfrm>
          <a:prstGeom prst="rect">
            <a:avLst/>
          </a:prstGeom>
          <a:noFill/>
        </p:spPr>
        <p:txBody>
          <a:bodyPr vert="horz" rtlCol="0">
            <a:spAutoFit/>
          </a:bodyPr>
          <a:lstStyle/>
          <a:p>
            <a:r>
              <a:rPr lang="hi-IN" sz="1000">
                <a:solidFill>
                  <a:srgbClr val="64748B"/>
                </a:solidFill>
                <a:latin typeface="Segoe UI" panose="020B0502040204020203" pitchFamily="34" charset="0"/>
              </a:rPr>
              <a:t>सागर कोचिंग सेंटर भगवानपुर • कक्षा 08: 1857 की महान क्रांति • </a:t>
            </a:r>
            <a:r>
              <a:rPr lang="en-IN" sz="1000">
                <a:solidFill>
                  <a:srgbClr val="64748B"/>
                </a:solidFill>
                <a:latin typeface="Segoe UI" panose="020B0502040204020203" pitchFamily="34" charset="0"/>
              </a:rPr>
              <a:t>NMMS Special</a:t>
            </a:r>
          </a:p>
        </p:txBody>
      </p:sp>
    </p:spTree>
    <p:extLst>
      <p:ext uri="{BB962C8B-B14F-4D97-AF65-F5344CB8AC3E}">
        <p14:creationId xmlns:p14="http://schemas.microsoft.com/office/powerpoint/2010/main" val="1709243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repeatCount="1000000" fill="hold" nodeType="withEffect">
                                  <p:stCondLst>
                                    <p:cond delay="0"/>
                                  </p:stCondLst>
                                  <p:childTnLst>
                                    <p:cmd type="call" cmd="playFrom(0.0)">
                                      <p:cBhvr>
                                        <p:cTn id="6" dur="10048"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remove"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87FA9B1-7C3C-AE28-D3D1-E6A7C42622B8}"/>
              </a:ext>
            </a:extLst>
          </p:cNvPr>
          <p:cNvSpPr/>
          <p:nvPr/>
        </p:nvSpPr>
        <p:spPr>
          <a:xfrm>
            <a:off x="0" y="0"/>
            <a:ext cx="12192000" cy="609600"/>
          </a:xfrm>
          <a:prstGeom prst="rect">
            <a:avLst/>
          </a:prstGeom>
          <a:solidFill>
            <a:srgbClr val="1E293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B2E287DC-71D9-5D18-C512-31CA1BC4E7F3}"/>
              </a:ext>
            </a:extLst>
          </p:cNvPr>
          <p:cNvSpPr txBox="1"/>
          <p:nvPr/>
        </p:nvSpPr>
        <p:spPr>
          <a:xfrm>
            <a:off x="381000" y="76200"/>
            <a:ext cx="11430000" cy="338554"/>
          </a:xfrm>
          <a:prstGeom prst="rect">
            <a:avLst/>
          </a:prstGeom>
          <a:noFill/>
        </p:spPr>
        <p:txBody>
          <a:bodyPr vert="horz" rtlCol="0">
            <a:spAutoFit/>
          </a:bodyPr>
          <a:lstStyle/>
          <a:p>
            <a:r>
              <a:rPr lang="hi-IN" sz="1600" b="1">
                <a:solidFill>
                  <a:srgbClr val="F59E0B"/>
                </a:solidFill>
                <a:latin typeface="Segoe UI" panose="020B0502040204020203" pitchFamily="34" charset="0"/>
              </a:rPr>
              <a:t>दृश्य 8: लाल किले का प्रांगण — विद्रोही सेना का महा-जमावड़ा</a:t>
            </a:r>
            <a:endParaRPr lang="en-IN" sz="1600" b="1">
              <a:solidFill>
                <a:srgbClr val="F59E0B"/>
              </a:solidFill>
              <a:latin typeface="Segoe UI" panose="020B0502040204020203" pitchFamily="34" charset="0"/>
            </a:endParaRPr>
          </a:p>
        </p:txBody>
      </p:sp>
      <p:sp>
        <p:nvSpPr>
          <p:cNvPr id="4" name="Rectangle: Rounded Corners 3">
            <a:extLst>
              <a:ext uri="{FF2B5EF4-FFF2-40B4-BE49-F238E27FC236}">
                <a16:creationId xmlns:a16="http://schemas.microsoft.com/office/drawing/2014/main" id="{1FBA1530-D5B2-B308-5DFF-8894429647C9}"/>
              </a:ext>
            </a:extLst>
          </p:cNvPr>
          <p:cNvSpPr/>
          <p:nvPr/>
        </p:nvSpPr>
        <p:spPr>
          <a:xfrm>
            <a:off x="381000" y="711200"/>
            <a:ext cx="11430000" cy="431800"/>
          </a:xfrm>
          <a:prstGeom prst="roundRect">
            <a:avLst/>
          </a:prstGeom>
          <a:solidFill>
            <a:srgbClr val="28190F"/>
          </a:solidFill>
          <a:ln w="19050">
            <a:solidFill>
              <a:srgbClr val="B4530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3EB79FEF-B55C-3031-6A43-A632844A7A5D}"/>
              </a:ext>
            </a:extLst>
          </p:cNvPr>
          <p:cNvSpPr txBox="1"/>
          <p:nvPr/>
        </p:nvSpPr>
        <p:spPr>
          <a:xfrm>
            <a:off x="444500" y="736600"/>
            <a:ext cx="11303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लाल किले की चौखट पर, हिंदुस्तान का स्वाभिमान जगा, सदियों की गहरी निद्रा से, आज वतन कुर्बान हुआ!</a:t>
            </a:r>
            <a:endParaRPr lang="en-IN" sz="1200" b="1">
              <a:solidFill>
                <a:srgbClr val="F59E0B"/>
              </a:solidFill>
              <a:latin typeface="Segoe UI" panose="020B0502040204020203" pitchFamily="34" charset="0"/>
            </a:endParaRPr>
          </a:p>
        </p:txBody>
      </p:sp>
      <p:pic>
        <p:nvPicPr>
          <p:cNvPr id="6" name="bahadur_shah_red_fort">
            <a:hlinkClick r:id="" action="ppaction://media"/>
            <a:extLst>
              <a:ext uri="{FF2B5EF4-FFF2-40B4-BE49-F238E27FC236}">
                <a16:creationId xmlns:a16="http://schemas.microsoft.com/office/drawing/2014/main" id="{A9E1ECB3-2AD7-F67C-BC50-4EA7651D073C}"/>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381000" y="1244600"/>
            <a:ext cx="8918221" cy="5016500"/>
          </a:xfrm>
          <a:prstGeom prst="rect">
            <a:avLst/>
          </a:prstGeom>
        </p:spPr>
      </p:pic>
      <p:sp>
        <p:nvSpPr>
          <p:cNvPr id="7" name="Rectangle: Rounded Corners 6">
            <a:extLst>
              <a:ext uri="{FF2B5EF4-FFF2-40B4-BE49-F238E27FC236}">
                <a16:creationId xmlns:a16="http://schemas.microsoft.com/office/drawing/2014/main" id="{D8900997-F8AB-74FF-A920-BF4226EB8A8B}"/>
              </a:ext>
            </a:extLst>
          </p:cNvPr>
          <p:cNvSpPr/>
          <p:nvPr/>
        </p:nvSpPr>
        <p:spPr>
          <a:xfrm>
            <a:off x="5778500" y="1244600"/>
            <a:ext cx="6032500" cy="3556000"/>
          </a:xfrm>
          <a:prstGeom prst="roundRect">
            <a:avLst/>
          </a:prstGeom>
          <a:solidFill>
            <a:srgbClr val="1E293B"/>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2BF59E47-723D-4CE0-05A9-0AFAE3F6FC2D}"/>
              </a:ext>
            </a:extLst>
          </p:cNvPr>
          <p:cNvSpPr txBox="1"/>
          <p:nvPr/>
        </p:nvSpPr>
        <p:spPr>
          <a:xfrm>
            <a:off x="5969000" y="1371600"/>
            <a:ext cx="5651500" cy="1692771"/>
          </a:xfrm>
          <a:prstGeom prst="rect">
            <a:avLst/>
          </a:prstGeom>
          <a:noFill/>
        </p:spPr>
        <p:txBody>
          <a:bodyPr vert="horz" wrap="square" rtlCol="0">
            <a:spAutoFit/>
          </a:bodyPr>
          <a:lstStyle/>
          <a:p>
            <a:r>
              <a:rPr lang="hi-IN" sz="1300">
                <a:solidFill>
                  <a:srgbClr val="F8FAFC"/>
                </a:solidFill>
                <a:latin typeface="Segoe UI" panose="020B0502040204020203" pitchFamily="34" charset="0"/>
              </a:rPr>
              <a:t>• लाल किले का प्रांगण: हजारों हिंदू-मुस्लिम सिपाही लाल किले के आंगन में इकट्ठा हुए और तोपों की सलामी दी।
• एकता की अनूठी मिसाल: सैनिकों ने अपनी जाति और धर्म भूलकर एक स्वर में अंग्रेजों के खिलाफ संपूर्ण जंग का ऐलान किया।
• दिल्ली भारत की क्रांति का मुख्य केंद्र बन गई, जहां से पूरे देश के राजाओं और नवाबों को एकजुट होने का पैगाम भेजा गया।</a:t>
            </a:r>
            <a:endParaRPr lang="en-IN" sz="1300">
              <a:solidFill>
                <a:srgbClr val="F8FAFC"/>
              </a:solidFill>
              <a:latin typeface="Segoe UI" panose="020B0502040204020203" pitchFamily="34" charset="0"/>
            </a:endParaRPr>
          </a:p>
        </p:txBody>
      </p:sp>
      <p:sp>
        <p:nvSpPr>
          <p:cNvPr id="9" name="Rectangle: Rounded Corners 8">
            <a:extLst>
              <a:ext uri="{FF2B5EF4-FFF2-40B4-BE49-F238E27FC236}">
                <a16:creationId xmlns:a16="http://schemas.microsoft.com/office/drawing/2014/main" id="{F26F5B4C-6C6A-F4C5-2E31-E994C33F04B8}"/>
              </a:ext>
            </a:extLst>
          </p:cNvPr>
          <p:cNvSpPr/>
          <p:nvPr/>
        </p:nvSpPr>
        <p:spPr>
          <a:xfrm>
            <a:off x="5778500" y="4927600"/>
            <a:ext cx="6032500" cy="1333500"/>
          </a:xfrm>
          <a:prstGeom prst="roundRect">
            <a:avLst/>
          </a:prstGeom>
          <a:solidFill>
            <a:srgbClr val="14281E"/>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85782965-E6A0-1B95-29AA-0D48211572AF}"/>
              </a:ext>
            </a:extLst>
          </p:cNvPr>
          <p:cNvSpPr txBox="1"/>
          <p:nvPr/>
        </p:nvSpPr>
        <p:spPr>
          <a:xfrm>
            <a:off x="5905500" y="5029200"/>
            <a:ext cx="5778500" cy="477054"/>
          </a:xfrm>
          <a:prstGeom prst="rect">
            <a:avLst/>
          </a:prstGeom>
          <a:noFill/>
        </p:spPr>
        <p:txBody>
          <a:bodyPr vert="horz" wrap="square" rtlCol="0">
            <a:spAutoFit/>
          </a:bodyPr>
          <a:lstStyle/>
          <a:p>
            <a:r>
              <a:rPr lang="en-IN" sz="1250" b="1">
                <a:solidFill>
                  <a:srgbClr val="6EE7B7"/>
                </a:solidFill>
                <a:latin typeface="Segoe UI" panose="020B0502040204020203" pitchFamily="34" charset="0"/>
              </a:rPr>
              <a:t>NMMS </a:t>
            </a:r>
            <a:r>
              <a:rPr lang="hi-IN" sz="1250" b="1">
                <a:solidFill>
                  <a:srgbClr val="6EE7B7"/>
                </a:solidFill>
                <a:latin typeface="Segoe UI" panose="020B0502040204020203" pitchFamily="34" charset="0"/>
              </a:rPr>
              <a:t>फैक्ट: 1857 की क्रांति का राजनीतिक और राष्ट्रीय केंद्र 'दिल्ली' (लाल किला) था!</a:t>
            </a:r>
            <a:endParaRPr lang="en-IN" sz="1250" b="1">
              <a:solidFill>
                <a:srgbClr val="6EE7B7"/>
              </a:solidFill>
              <a:latin typeface="Segoe UI" panose="020B0502040204020203" pitchFamily="34" charset="0"/>
            </a:endParaRPr>
          </a:p>
        </p:txBody>
      </p:sp>
      <p:sp>
        <p:nvSpPr>
          <p:cNvPr id="11" name="TextBox 10">
            <a:extLst>
              <a:ext uri="{FF2B5EF4-FFF2-40B4-BE49-F238E27FC236}">
                <a16:creationId xmlns:a16="http://schemas.microsoft.com/office/drawing/2014/main" id="{5C22F8EC-DF29-9AD4-3CAD-A035B95FC935}"/>
              </a:ext>
            </a:extLst>
          </p:cNvPr>
          <p:cNvSpPr txBox="1"/>
          <p:nvPr/>
        </p:nvSpPr>
        <p:spPr>
          <a:xfrm>
            <a:off x="381000" y="6375400"/>
            <a:ext cx="11430000" cy="246221"/>
          </a:xfrm>
          <a:prstGeom prst="rect">
            <a:avLst/>
          </a:prstGeom>
          <a:noFill/>
        </p:spPr>
        <p:txBody>
          <a:bodyPr vert="horz" rtlCol="0">
            <a:spAutoFit/>
          </a:bodyPr>
          <a:lstStyle/>
          <a:p>
            <a:r>
              <a:rPr lang="hi-IN" sz="1000">
                <a:solidFill>
                  <a:srgbClr val="64748B"/>
                </a:solidFill>
                <a:latin typeface="Segoe UI" panose="020B0502040204020203" pitchFamily="34" charset="0"/>
              </a:rPr>
              <a:t>सागर कोचिंग सेंटर भगवानपुर • कक्षा 08: 1857 की महान क्रांति • </a:t>
            </a:r>
            <a:r>
              <a:rPr lang="en-IN" sz="1000">
                <a:solidFill>
                  <a:srgbClr val="64748B"/>
                </a:solidFill>
                <a:latin typeface="Segoe UI" panose="020B0502040204020203" pitchFamily="34" charset="0"/>
              </a:rPr>
              <a:t>NMMS Special</a:t>
            </a:r>
          </a:p>
        </p:txBody>
      </p:sp>
    </p:spTree>
    <p:extLst>
      <p:ext uri="{BB962C8B-B14F-4D97-AF65-F5344CB8AC3E}">
        <p14:creationId xmlns:p14="http://schemas.microsoft.com/office/powerpoint/2010/main" val="5826654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repeatCount="1000000" fill="hold" nodeType="withEffect">
                                  <p:stCondLst>
                                    <p:cond delay="0"/>
                                  </p:stCondLst>
                                  <p:childTnLst>
                                    <p:cmd type="call" cmd="playFrom(0.0)">
                                      <p:cBhvr>
                                        <p:cTn id="6" dur="10055"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remove"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7852D45-E3D7-7DCD-C94A-EFDB1D962FC7}"/>
              </a:ext>
            </a:extLst>
          </p:cNvPr>
          <p:cNvSpPr/>
          <p:nvPr/>
        </p:nvSpPr>
        <p:spPr>
          <a:xfrm>
            <a:off x="0" y="0"/>
            <a:ext cx="12192000" cy="609600"/>
          </a:xfrm>
          <a:prstGeom prst="rect">
            <a:avLst/>
          </a:prstGeom>
          <a:solidFill>
            <a:srgbClr val="1E293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BBDB0C0E-47FB-9C08-7E1E-D316E9E2BD30}"/>
              </a:ext>
            </a:extLst>
          </p:cNvPr>
          <p:cNvSpPr txBox="1"/>
          <p:nvPr/>
        </p:nvSpPr>
        <p:spPr>
          <a:xfrm>
            <a:off x="381000" y="76200"/>
            <a:ext cx="11430000" cy="338554"/>
          </a:xfrm>
          <a:prstGeom prst="rect">
            <a:avLst/>
          </a:prstGeom>
          <a:noFill/>
        </p:spPr>
        <p:txBody>
          <a:bodyPr vert="horz" rtlCol="0">
            <a:spAutoFit/>
          </a:bodyPr>
          <a:lstStyle/>
          <a:p>
            <a:r>
              <a:rPr lang="hi-IN" sz="1600" b="1">
                <a:solidFill>
                  <a:srgbClr val="F59E0B"/>
                </a:solidFill>
                <a:latin typeface="Segoe UI" panose="020B0502040204020203" pitchFamily="34" charset="0"/>
              </a:rPr>
              <a:t>दृश्य 9: दीवान-ए-खास — शहंशाह बहादुर शाह जफर व बेगम ज़ीनत महल</a:t>
            </a:r>
            <a:endParaRPr lang="en-IN" sz="1600" b="1">
              <a:solidFill>
                <a:srgbClr val="F59E0B"/>
              </a:solidFill>
              <a:latin typeface="Segoe UI" panose="020B0502040204020203" pitchFamily="34" charset="0"/>
            </a:endParaRPr>
          </a:p>
        </p:txBody>
      </p:sp>
      <p:sp>
        <p:nvSpPr>
          <p:cNvPr id="4" name="Rectangle: Rounded Corners 3">
            <a:extLst>
              <a:ext uri="{FF2B5EF4-FFF2-40B4-BE49-F238E27FC236}">
                <a16:creationId xmlns:a16="http://schemas.microsoft.com/office/drawing/2014/main" id="{90ADD7CF-F5A3-4BF5-BFFB-2997710052AA}"/>
              </a:ext>
            </a:extLst>
          </p:cNvPr>
          <p:cNvSpPr/>
          <p:nvPr/>
        </p:nvSpPr>
        <p:spPr>
          <a:xfrm>
            <a:off x="381000" y="711200"/>
            <a:ext cx="11430000" cy="431800"/>
          </a:xfrm>
          <a:prstGeom prst="roundRect">
            <a:avLst/>
          </a:prstGeom>
          <a:solidFill>
            <a:srgbClr val="28190F"/>
          </a:solidFill>
          <a:ln w="19050">
            <a:solidFill>
              <a:srgbClr val="B4530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C578B191-94D8-4A37-CB19-3A69553FC2A3}"/>
              </a:ext>
            </a:extLst>
          </p:cNvPr>
          <p:cNvSpPr txBox="1"/>
          <p:nvPr/>
        </p:nvSpPr>
        <p:spPr>
          <a:xfrm>
            <a:off x="444500" y="736600"/>
            <a:ext cx="11303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उम्र बयासी की थी मगर, सीने में हिंदुस्तान था, कांपी फिरंगी हुकूमत, जब शहंशाह का ऐलान था!</a:t>
            </a:r>
            <a:endParaRPr lang="en-IN" sz="1200" b="1">
              <a:solidFill>
                <a:srgbClr val="F59E0B"/>
              </a:solidFill>
              <a:latin typeface="Segoe UI" panose="020B0502040204020203" pitchFamily="34" charset="0"/>
            </a:endParaRPr>
          </a:p>
        </p:txBody>
      </p:sp>
      <p:pic>
        <p:nvPicPr>
          <p:cNvPr id="6" name="bahadur_shah_zinat_mahal">
            <a:hlinkClick r:id="" action="ppaction://media"/>
            <a:extLst>
              <a:ext uri="{FF2B5EF4-FFF2-40B4-BE49-F238E27FC236}">
                <a16:creationId xmlns:a16="http://schemas.microsoft.com/office/drawing/2014/main" id="{091C8617-7AFF-FE29-E9D3-24D78BE28CF2}"/>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381000" y="1244600"/>
            <a:ext cx="8918221" cy="5016500"/>
          </a:xfrm>
          <a:prstGeom prst="rect">
            <a:avLst/>
          </a:prstGeom>
        </p:spPr>
      </p:pic>
      <p:sp>
        <p:nvSpPr>
          <p:cNvPr id="7" name="Rectangle: Rounded Corners 6">
            <a:extLst>
              <a:ext uri="{FF2B5EF4-FFF2-40B4-BE49-F238E27FC236}">
                <a16:creationId xmlns:a16="http://schemas.microsoft.com/office/drawing/2014/main" id="{F289557A-C48B-4D9C-F264-B2E8BA4AFC83}"/>
              </a:ext>
            </a:extLst>
          </p:cNvPr>
          <p:cNvSpPr/>
          <p:nvPr/>
        </p:nvSpPr>
        <p:spPr>
          <a:xfrm>
            <a:off x="5778500" y="1244600"/>
            <a:ext cx="6032500" cy="3556000"/>
          </a:xfrm>
          <a:prstGeom prst="roundRect">
            <a:avLst/>
          </a:prstGeom>
          <a:solidFill>
            <a:srgbClr val="1E293B"/>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C6605797-0C5E-ECD0-E9B1-541B00AD84FB}"/>
              </a:ext>
            </a:extLst>
          </p:cNvPr>
          <p:cNvSpPr txBox="1"/>
          <p:nvPr/>
        </p:nvSpPr>
        <p:spPr>
          <a:xfrm>
            <a:off x="5969000" y="1371600"/>
            <a:ext cx="5651500" cy="2292935"/>
          </a:xfrm>
          <a:prstGeom prst="rect">
            <a:avLst/>
          </a:prstGeom>
          <a:noFill/>
        </p:spPr>
        <p:txBody>
          <a:bodyPr vert="horz" wrap="square" rtlCol="0">
            <a:spAutoFit/>
          </a:bodyPr>
          <a:lstStyle/>
          <a:p>
            <a:r>
              <a:rPr lang="hi-IN" sz="1300">
                <a:solidFill>
                  <a:srgbClr val="F8FAFC"/>
                </a:solidFill>
                <a:latin typeface="Segoe UI" panose="020B0502040204020203" pitchFamily="34" charset="0"/>
              </a:rPr>
              <a:t>• कैनिंग का फैसला: गवर्नर जनरल लॉर्ड कैनिंग ने घोषित किया था कि बहादुर शाह जफर 'आखिरी मुग़ल बादशाह' होंगे और उनके बाद वारिस केवल 'राजकुमार' कहलाएंगे।
• 82 वर्षीय शहंशाह का नेतृत्व: 11 मई 1857 को सिपाहियों ने बहादुर शाह जफर को 'शहंशाह-ए-हिंदुस्तान' घोषित किया; अंग्रेजों ने सितंबर 1857 में दिल्ली पर पुनः क्रूर कब्ज़ा किया (1859 तक संपूर्ण दमन)।
• रंगून देश निकाला (1858) व मृत्यु (1862): अक्टूबर 1858 में अंग्रेजों ने बहादुर शाह जफर और उनकी बेगम 'ज़ीनत महल' को रंगून जेल (बर्मा) भेज दिया, जहाँ 1862 में बादशाह की मृत्यु हुई।</a:t>
            </a:r>
            <a:endParaRPr lang="en-IN" sz="1300">
              <a:solidFill>
                <a:srgbClr val="F8FAFC"/>
              </a:solidFill>
              <a:latin typeface="Segoe UI" panose="020B0502040204020203" pitchFamily="34" charset="0"/>
            </a:endParaRPr>
          </a:p>
        </p:txBody>
      </p:sp>
      <p:sp>
        <p:nvSpPr>
          <p:cNvPr id="9" name="Rectangle: Rounded Corners 8">
            <a:extLst>
              <a:ext uri="{FF2B5EF4-FFF2-40B4-BE49-F238E27FC236}">
                <a16:creationId xmlns:a16="http://schemas.microsoft.com/office/drawing/2014/main" id="{3BA1D4A5-EF3B-C2C1-6BD4-25FCDD8BBF77}"/>
              </a:ext>
            </a:extLst>
          </p:cNvPr>
          <p:cNvSpPr/>
          <p:nvPr/>
        </p:nvSpPr>
        <p:spPr>
          <a:xfrm>
            <a:off x="5778500" y="4927600"/>
            <a:ext cx="6032500" cy="1333500"/>
          </a:xfrm>
          <a:prstGeom prst="roundRect">
            <a:avLst/>
          </a:prstGeom>
          <a:solidFill>
            <a:srgbClr val="14281E"/>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7ADF5801-EC81-5BF8-2254-4A630B35A730}"/>
              </a:ext>
            </a:extLst>
          </p:cNvPr>
          <p:cNvSpPr txBox="1"/>
          <p:nvPr/>
        </p:nvSpPr>
        <p:spPr>
          <a:xfrm>
            <a:off x="5905500" y="5029200"/>
            <a:ext cx="5778500" cy="669414"/>
          </a:xfrm>
          <a:prstGeom prst="rect">
            <a:avLst/>
          </a:prstGeom>
          <a:noFill/>
        </p:spPr>
        <p:txBody>
          <a:bodyPr vert="horz" wrap="square" rtlCol="0">
            <a:spAutoFit/>
          </a:bodyPr>
          <a:lstStyle/>
          <a:p>
            <a:r>
              <a:rPr lang="en-IN" sz="1250" b="1">
                <a:solidFill>
                  <a:srgbClr val="6EE7B7"/>
                </a:solidFill>
                <a:latin typeface="Segoe UI" panose="020B0502040204020203" pitchFamily="34" charset="0"/>
              </a:rPr>
              <a:t>NMMS </a:t>
            </a:r>
            <a:r>
              <a:rPr lang="hi-IN" sz="1250" b="1">
                <a:solidFill>
                  <a:srgbClr val="6EE7B7"/>
                </a:solidFill>
                <a:latin typeface="Segoe UI" panose="020B0502040204020203" pitchFamily="34" charset="0"/>
              </a:rPr>
              <a:t>फैक्ट: लॉर्ड कैनिंग ने जफर को अंतिम मुग़ल बादशाह घोषित किया था; अक्टूबर 1858 में जफर व ज़ीनत महल को रंगून जेल भेजा गया जहाँ 1862 में उनका निधन हुआ!</a:t>
            </a:r>
            <a:endParaRPr lang="en-IN" sz="1250" b="1">
              <a:solidFill>
                <a:srgbClr val="6EE7B7"/>
              </a:solidFill>
              <a:latin typeface="Segoe UI" panose="020B0502040204020203" pitchFamily="34" charset="0"/>
            </a:endParaRPr>
          </a:p>
        </p:txBody>
      </p:sp>
      <p:sp>
        <p:nvSpPr>
          <p:cNvPr id="11" name="TextBox 10">
            <a:extLst>
              <a:ext uri="{FF2B5EF4-FFF2-40B4-BE49-F238E27FC236}">
                <a16:creationId xmlns:a16="http://schemas.microsoft.com/office/drawing/2014/main" id="{F8DFDDB9-81DF-4987-3006-3883F21442B8}"/>
              </a:ext>
            </a:extLst>
          </p:cNvPr>
          <p:cNvSpPr txBox="1"/>
          <p:nvPr/>
        </p:nvSpPr>
        <p:spPr>
          <a:xfrm>
            <a:off x="381000" y="6375400"/>
            <a:ext cx="11430000" cy="246221"/>
          </a:xfrm>
          <a:prstGeom prst="rect">
            <a:avLst/>
          </a:prstGeom>
          <a:noFill/>
        </p:spPr>
        <p:txBody>
          <a:bodyPr vert="horz" rtlCol="0">
            <a:spAutoFit/>
          </a:bodyPr>
          <a:lstStyle/>
          <a:p>
            <a:r>
              <a:rPr lang="hi-IN" sz="1000">
                <a:solidFill>
                  <a:srgbClr val="64748B"/>
                </a:solidFill>
                <a:latin typeface="Segoe UI" panose="020B0502040204020203" pitchFamily="34" charset="0"/>
              </a:rPr>
              <a:t>सागर कोचिंग सेंटर भगवानपुर • कक्षा 08: 1857 की महान क्रांति • </a:t>
            </a:r>
            <a:r>
              <a:rPr lang="en-IN" sz="1000">
                <a:solidFill>
                  <a:srgbClr val="64748B"/>
                </a:solidFill>
                <a:latin typeface="Segoe UI" panose="020B0502040204020203" pitchFamily="34" charset="0"/>
              </a:rPr>
              <a:t>NMMS Special</a:t>
            </a:r>
          </a:p>
        </p:txBody>
      </p:sp>
    </p:spTree>
    <p:extLst>
      <p:ext uri="{BB962C8B-B14F-4D97-AF65-F5344CB8AC3E}">
        <p14:creationId xmlns:p14="http://schemas.microsoft.com/office/powerpoint/2010/main" val="1541263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repeatCount="1000000" fill="hold" nodeType="withEffect">
                                  <p:stCondLst>
                                    <p:cond delay="0"/>
                                  </p:stCondLst>
                                  <p:childTnLst>
                                    <p:cmd type="call" cmd="playFrom(0.0)">
                                      <p:cBhvr>
                                        <p:cTn id="6" dur="7083"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remove"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C325102-11CA-D319-6B59-2F1DC9388DA2}"/>
              </a:ext>
            </a:extLst>
          </p:cNvPr>
          <p:cNvSpPr/>
          <p:nvPr/>
        </p:nvSpPr>
        <p:spPr>
          <a:xfrm>
            <a:off x="0" y="0"/>
            <a:ext cx="12192000" cy="609600"/>
          </a:xfrm>
          <a:prstGeom prst="rect">
            <a:avLst/>
          </a:prstGeom>
          <a:solidFill>
            <a:srgbClr val="1E293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4B5A594E-AD55-7480-ABC7-2AFDCA448AED}"/>
              </a:ext>
            </a:extLst>
          </p:cNvPr>
          <p:cNvSpPr txBox="1"/>
          <p:nvPr/>
        </p:nvSpPr>
        <p:spPr>
          <a:xfrm>
            <a:off x="381000" y="76200"/>
            <a:ext cx="11430000" cy="338554"/>
          </a:xfrm>
          <a:prstGeom prst="rect">
            <a:avLst/>
          </a:prstGeom>
          <a:noFill/>
        </p:spPr>
        <p:txBody>
          <a:bodyPr vert="horz" rtlCol="0">
            <a:spAutoFit/>
          </a:bodyPr>
          <a:lstStyle/>
          <a:p>
            <a:r>
              <a:rPr lang="hi-IN" sz="1600" b="1">
                <a:solidFill>
                  <a:srgbClr val="F59E0B"/>
                </a:solidFill>
                <a:latin typeface="Segoe UI" panose="020B0502040204020203" pitchFamily="34" charset="0"/>
              </a:rPr>
              <a:t>दृश्य 10: खूब लड़ी मर्दानी — झांसी की शेरनी रानी लक्ष्मीबाई</a:t>
            </a:r>
            <a:endParaRPr lang="en-IN" sz="1600" b="1">
              <a:solidFill>
                <a:srgbClr val="F59E0B"/>
              </a:solidFill>
              <a:latin typeface="Segoe UI" panose="020B0502040204020203" pitchFamily="34" charset="0"/>
            </a:endParaRPr>
          </a:p>
        </p:txBody>
      </p:sp>
      <p:sp>
        <p:nvSpPr>
          <p:cNvPr id="4" name="Rectangle: Rounded Corners 3">
            <a:extLst>
              <a:ext uri="{FF2B5EF4-FFF2-40B4-BE49-F238E27FC236}">
                <a16:creationId xmlns:a16="http://schemas.microsoft.com/office/drawing/2014/main" id="{0CE8987E-FCE7-3D24-62D8-BE6F5A28A887}"/>
              </a:ext>
            </a:extLst>
          </p:cNvPr>
          <p:cNvSpPr/>
          <p:nvPr/>
        </p:nvSpPr>
        <p:spPr>
          <a:xfrm>
            <a:off x="381000" y="711200"/>
            <a:ext cx="11430000" cy="431800"/>
          </a:xfrm>
          <a:prstGeom prst="roundRect">
            <a:avLst/>
          </a:prstGeom>
          <a:solidFill>
            <a:srgbClr val="28190F"/>
          </a:solidFill>
          <a:ln w="19050">
            <a:solidFill>
              <a:srgbClr val="B4530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60CEA886-9085-4BCF-B8DB-8B5DD8E31C0C}"/>
              </a:ext>
            </a:extLst>
          </p:cNvPr>
          <p:cNvSpPr txBox="1"/>
          <p:nvPr/>
        </p:nvSpPr>
        <p:spPr>
          <a:xfrm>
            <a:off x="444500" y="736600"/>
            <a:ext cx="11303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सिंहासन हिल उठे राजवंशों ने भृकुटी तानी थी, बूढ़े भारत में भी आई फिर से नई जवानी थी!</a:t>
            </a:r>
            <a:endParaRPr lang="en-IN" sz="1200" b="1">
              <a:solidFill>
                <a:srgbClr val="F59E0B"/>
              </a:solidFill>
              <a:latin typeface="Segoe UI" panose="020B0502040204020203" pitchFamily="34" charset="0"/>
            </a:endParaRPr>
          </a:p>
        </p:txBody>
      </p:sp>
      <p:pic>
        <p:nvPicPr>
          <p:cNvPr id="6" name="rani_lakshmibai">
            <a:hlinkClick r:id="" action="ppaction://media"/>
            <a:extLst>
              <a:ext uri="{FF2B5EF4-FFF2-40B4-BE49-F238E27FC236}">
                <a16:creationId xmlns:a16="http://schemas.microsoft.com/office/drawing/2014/main" id="{B384BD51-593C-83BC-5D60-DE91C6BE37DA}"/>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381000" y="1244600"/>
            <a:ext cx="8918221" cy="5016500"/>
          </a:xfrm>
          <a:prstGeom prst="rect">
            <a:avLst/>
          </a:prstGeom>
        </p:spPr>
      </p:pic>
      <p:sp>
        <p:nvSpPr>
          <p:cNvPr id="7" name="Rectangle: Rounded Corners 6">
            <a:extLst>
              <a:ext uri="{FF2B5EF4-FFF2-40B4-BE49-F238E27FC236}">
                <a16:creationId xmlns:a16="http://schemas.microsoft.com/office/drawing/2014/main" id="{77001146-53C2-09DE-DC04-74356A2448C8}"/>
              </a:ext>
            </a:extLst>
          </p:cNvPr>
          <p:cNvSpPr/>
          <p:nvPr/>
        </p:nvSpPr>
        <p:spPr>
          <a:xfrm>
            <a:off x="5778500" y="1244600"/>
            <a:ext cx="6032500" cy="3556000"/>
          </a:xfrm>
          <a:prstGeom prst="roundRect">
            <a:avLst/>
          </a:prstGeom>
          <a:solidFill>
            <a:srgbClr val="1E293B"/>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F2BCC95E-7062-074A-82A6-FC9172697B5E}"/>
              </a:ext>
            </a:extLst>
          </p:cNvPr>
          <p:cNvSpPr txBox="1"/>
          <p:nvPr/>
        </p:nvSpPr>
        <p:spPr>
          <a:xfrm>
            <a:off x="5969000" y="1371600"/>
            <a:ext cx="5651500" cy="2292935"/>
          </a:xfrm>
          <a:prstGeom prst="rect">
            <a:avLst/>
          </a:prstGeom>
          <a:noFill/>
        </p:spPr>
        <p:txBody>
          <a:bodyPr vert="horz" wrap="square" rtlCol="0">
            <a:spAutoFit/>
          </a:bodyPr>
          <a:lstStyle/>
          <a:p>
            <a:r>
              <a:rPr lang="hi-IN" sz="1300">
                <a:solidFill>
                  <a:srgbClr val="F8FAFC"/>
                </a:solidFill>
                <a:latin typeface="Segoe UI" panose="020B0502040204020203" pitchFamily="34" charset="0"/>
              </a:rPr>
              <a:t>• डलहौजी की हड़प नीति का विरोध: राजा गंगाधर राव के निधन के बाद डलहौजी ने उनके दत्तक पुत्र आनंद राव (दामोदर राव) को झांसी की गद्दी देने से मना किया—रानी ने कहा 'मैं अपनी झांसी नहीं दूंगी!'
• कालपी और ग्वालियर में महा-संग्राम: रानी लक्ष्मीबाई ने तात्या टोपे के साथ मिलकर ग्वालियर के किले पर विजय प्राप्त की और ब्रिटिश सेनापति ह्यूरोज (</a:t>
            </a:r>
            <a:r>
              <a:rPr lang="en-IN" sz="1300">
                <a:solidFill>
                  <a:srgbClr val="F8FAFC"/>
                </a:solidFill>
                <a:latin typeface="Segoe UI" panose="020B0502040204020203" pitchFamily="34" charset="0"/>
              </a:rPr>
              <a:t>Hugh Rose) </a:t>
            </a:r>
            <a:r>
              <a:rPr lang="hi-IN" sz="1300">
                <a:solidFill>
                  <a:srgbClr val="F8FAFC"/>
                </a:solidFill>
                <a:latin typeface="Segoe UI" panose="020B0502040204020203" pitchFamily="34" charset="0"/>
              </a:rPr>
              <a:t>के छक्के छुड़ा दिए।
• जून 1858 का अमर बलिदान: 18 जून 1858 को कोटा-की-सराय (ग्वालियर) में लड़ते हुए 23 वर्ष की अल्पायु में रानी वीरगति को प्राप्त हुईं; अंग्रेज जनरल ह्यूरोज ने कहा—'यहाँ सोई हुई औरत विद्रोहियों में एकमात्र मर्द थी!'</a:t>
            </a:r>
            <a:endParaRPr lang="en-IN" sz="1300">
              <a:solidFill>
                <a:srgbClr val="F8FAFC"/>
              </a:solidFill>
              <a:latin typeface="Segoe UI" panose="020B0502040204020203" pitchFamily="34" charset="0"/>
            </a:endParaRPr>
          </a:p>
        </p:txBody>
      </p:sp>
      <p:sp>
        <p:nvSpPr>
          <p:cNvPr id="9" name="Rectangle: Rounded Corners 8">
            <a:extLst>
              <a:ext uri="{FF2B5EF4-FFF2-40B4-BE49-F238E27FC236}">
                <a16:creationId xmlns:a16="http://schemas.microsoft.com/office/drawing/2014/main" id="{682F6486-6CA6-1F90-51C7-B0C0F17214DA}"/>
              </a:ext>
            </a:extLst>
          </p:cNvPr>
          <p:cNvSpPr/>
          <p:nvPr/>
        </p:nvSpPr>
        <p:spPr>
          <a:xfrm>
            <a:off x="5778500" y="4927600"/>
            <a:ext cx="6032500" cy="1333500"/>
          </a:xfrm>
          <a:prstGeom prst="roundRect">
            <a:avLst/>
          </a:prstGeom>
          <a:solidFill>
            <a:srgbClr val="14281E"/>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BF5AD704-3FC9-5A9C-59F3-E6F45472654A}"/>
              </a:ext>
            </a:extLst>
          </p:cNvPr>
          <p:cNvSpPr txBox="1"/>
          <p:nvPr/>
        </p:nvSpPr>
        <p:spPr>
          <a:xfrm>
            <a:off x="5905500" y="5029200"/>
            <a:ext cx="5778500" cy="477054"/>
          </a:xfrm>
          <a:prstGeom prst="rect">
            <a:avLst/>
          </a:prstGeom>
          <a:noFill/>
        </p:spPr>
        <p:txBody>
          <a:bodyPr vert="horz" wrap="square" rtlCol="0">
            <a:spAutoFit/>
          </a:bodyPr>
          <a:lstStyle/>
          <a:p>
            <a:r>
              <a:rPr lang="en-IN" sz="1250" b="1">
                <a:solidFill>
                  <a:srgbClr val="6EE7B7"/>
                </a:solidFill>
                <a:latin typeface="Segoe UI" panose="020B0502040204020203" pitchFamily="34" charset="0"/>
              </a:rPr>
              <a:t>NMMS </a:t>
            </a:r>
            <a:r>
              <a:rPr lang="hi-IN" sz="1250" b="1">
                <a:solidFill>
                  <a:srgbClr val="6EE7B7"/>
                </a:solidFill>
                <a:latin typeface="Segoe UI" panose="020B0502040204020203" pitchFamily="34" charset="0"/>
              </a:rPr>
              <a:t>फैक्ट: रानी लक्ष्मीबाई का अमर बलिदान 'जून 1858' (18 जून 1858) में ग्वालियर के निकट हुआ था; उनके बचपन का नाम 'मनु / मणिकर्णिका' था!</a:t>
            </a:r>
            <a:endParaRPr lang="en-IN" sz="1250" b="1">
              <a:solidFill>
                <a:srgbClr val="6EE7B7"/>
              </a:solidFill>
              <a:latin typeface="Segoe UI" panose="020B0502040204020203" pitchFamily="34" charset="0"/>
            </a:endParaRPr>
          </a:p>
        </p:txBody>
      </p:sp>
      <p:sp>
        <p:nvSpPr>
          <p:cNvPr id="11" name="TextBox 10">
            <a:extLst>
              <a:ext uri="{FF2B5EF4-FFF2-40B4-BE49-F238E27FC236}">
                <a16:creationId xmlns:a16="http://schemas.microsoft.com/office/drawing/2014/main" id="{E1A4D005-5F83-A9CC-5333-FF3B63C4D101}"/>
              </a:ext>
            </a:extLst>
          </p:cNvPr>
          <p:cNvSpPr txBox="1"/>
          <p:nvPr/>
        </p:nvSpPr>
        <p:spPr>
          <a:xfrm>
            <a:off x="381000" y="6375400"/>
            <a:ext cx="11430000" cy="246221"/>
          </a:xfrm>
          <a:prstGeom prst="rect">
            <a:avLst/>
          </a:prstGeom>
          <a:noFill/>
        </p:spPr>
        <p:txBody>
          <a:bodyPr vert="horz" rtlCol="0">
            <a:spAutoFit/>
          </a:bodyPr>
          <a:lstStyle/>
          <a:p>
            <a:r>
              <a:rPr lang="hi-IN" sz="1000">
                <a:solidFill>
                  <a:srgbClr val="64748B"/>
                </a:solidFill>
                <a:latin typeface="Segoe UI" panose="020B0502040204020203" pitchFamily="34" charset="0"/>
              </a:rPr>
              <a:t>सागर कोचिंग सेंटर भगवानपुर • कक्षा 08: 1857 की महान क्रांति • </a:t>
            </a:r>
            <a:r>
              <a:rPr lang="en-IN" sz="1000">
                <a:solidFill>
                  <a:srgbClr val="64748B"/>
                </a:solidFill>
                <a:latin typeface="Segoe UI" panose="020B0502040204020203" pitchFamily="34" charset="0"/>
              </a:rPr>
              <a:t>NMMS Special</a:t>
            </a:r>
          </a:p>
        </p:txBody>
      </p:sp>
    </p:spTree>
    <p:extLst>
      <p:ext uri="{BB962C8B-B14F-4D97-AF65-F5344CB8AC3E}">
        <p14:creationId xmlns:p14="http://schemas.microsoft.com/office/powerpoint/2010/main" val="23932514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repeatCount="1000000" fill="hold" nodeType="withEffect">
                                  <p:stCondLst>
                                    <p:cond delay="0"/>
                                  </p:stCondLst>
                                  <p:childTnLst>
                                    <p:cmd type="call" cmd="playFrom(0.0)">
                                      <p:cBhvr>
                                        <p:cTn id="6" dur="10055"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remove"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6FBB75E-9D70-39B5-9089-56467CD7C15E}"/>
              </a:ext>
            </a:extLst>
          </p:cNvPr>
          <p:cNvSpPr/>
          <p:nvPr/>
        </p:nvSpPr>
        <p:spPr>
          <a:xfrm>
            <a:off x="0" y="0"/>
            <a:ext cx="12192000" cy="609600"/>
          </a:xfrm>
          <a:prstGeom prst="rect">
            <a:avLst/>
          </a:prstGeom>
          <a:solidFill>
            <a:srgbClr val="1E293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4C7F173B-D0ED-07FF-5CDF-8CE94A5123F3}"/>
              </a:ext>
            </a:extLst>
          </p:cNvPr>
          <p:cNvSpPr txBox="1"/>
          <p:nvPr/>
        </p:nvSpPr>
        <p:spPr>
          <a:xfrm>
            <a:off x="381000" y="76200"/>
            <a:ext cx="11430000" cy="338554"/>
          </a:xfrm>
          <a:prstGeom prst="rect">
            <a:avLst/>
          </a:prstGeom>
          <a:noFill/>
        </p:spPr>
        <p:txBody>
          <a:bodyPr vert="horz" rtlCol="0">
            <a:spAutoFit/>
          </a:bodyPr>
          <a:lstStyle/>
          <a:p>
            <a:r>
              <a:rPr lang="hi-IN" sz="1600" b="1">
                <a:solidFill>
                  <a:srgbClr val="F59E0B"/>
                </a:solidFill>
                <a:latin typeface="Segoe UI" panose="020B0502040204020203" pitchFamily="34" charset="0"/>
              </a:rPr>
              <a:t>दृश्य 11: प्रमुख महानायक — वीर कुंवर सिंह, नाना साहेब व बिरजिस कद्र</a:t>
            </a:r>
            <a:endParaRPr lang="en-IN" sz="1600" b="1">
              <a:solidFill>
                <a:srgbClr val="F59E0B"/>
              </a:solidFill>
              <a:latin typeface="Segoe UI" panose="020B0502040204020203" pitchFamily="34" charset="0"/>
            </a:endParaRPr>
          </a:p>
        </p:txBody>
      </p:sp>
      <p:sp>
        <p:nvSpPr>
          <p:cNvPr id="4" name="Rectangle: Rounded Corners 3">
            <a:extLst>
              <a:ext uri="{FF2B5EF4-FFF2-40B4-BE49-F238E27FC236}">
                <a16:creationId xmlns:a16="http://schemas.microsoft.com/office/drawing/2014/main" id="{EF6B7AA2-FF8D-0B4B-935F-11C7B981939E}"/>
              </a:ext>
            </a:extLst>
          </p:cNvPr>
          <p:cNvSpPr/>
          <p:nvPr/>
        </p:nvSpPr>
        <p:spPr>
          <a:xfrm>
            <a:off x="381000" y="711200"/>
            <a:ext cx="11430000" cy="431800"/>
          </a:xfrm>
          <a:prstGeom prst="roundRect">
            <a:avLst/>
          </a:prstGeom>
          <a:solidFill>
            <a:srgbClr val="28190F"/>
          </a:solidFill>
          <a:ln w="19050">
            <a:solidFill>
              <a:srgbClr val="B4530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5DB324F6-8DB6-79CE-B54B-421263AB45C4}"/>
              </a:ext>
            </a:extLst>
          </p:cNvPr>
          <p:cNvSpPr txBox="1"/>
          <p:nvPr/>
        </p:nvSpPr>
        <p:spPr>
          <a:xfrm>
            <a:off x="444500" y="736600"/>
            <a:ext cx="11303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बासी नहीं थी तलवार उनकी, अस्सी में भी वो शेर थे, कुंवर सिंह की एक दहाड़ से, भागे फिरंगी ढेर थे!</a:t>
            </a:r>
            <a:endParaRPr lang="en-IN" sz="1200" b="1">
              <a:solidFill>
                <a:srgbClr val="F59E0B"/>
              </a:solidFill>
              <a:latin typeface="Segoe UI" panose="020B0502040204020203" pitchFamily="34" charset="0"/>
            </a:endParaRPr>
          </a:p>
        </p:txBody>
      </p:sp>
      <p:pic>
        <p:nvPicPr>
          <p:cNvPr id="6" name="kunwar_singh_ganga">
            <a:hlinkClick r:id="" action="ppaction://media"/>
            <a:extLst>
              <a:ext uri="{FF2B5EF4-FFF2-40B4-BE49-F238E27FC236}">
                <a16:creationId xmlns:a16="http://schemas.microsoft.com/office/drawing/2014/main" id="{677E4737-8A94-1E98-8222-14B611E7A326}"/>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381000" y="1244600"/>
            <a:ext cx="8918221" cy="5016500"/>
          </a:xfrm>
          <a:prstGeom prst="rect">
            <a:avLst/>
          </a:prstGeom>
        </p:spPr>
      </p:pic>
      <p:sp>
        <p:nvSpPr>
          <p:cNvPr id="7" name="Rectangle: Rounded Corners 6">
            <a:extLst>
              <a:ext uri="{FF2B5EF4-FFF2-40B4-BE49-F238E27FC236}">
                <a16:creationId xmlns:a16="http://schemas.microsoft.com/office/drawing/2014/main" id="{3E6E3221-07B0-A108-3341-96C6450FA0E3}"/>
              </a:ext>
            </a:extLst>
          </p:cNvPr>
          <p:cNvSpPr/>
          <p:nvPr/>
        </p:nvSpPr>
        <p:spPr>
          <a:xfrm>
            <a:off x="5778500" y="1244600"/>
            <a:ext cx="6032500" cy="3556000"/>
          </a:xfrm>
          <a:prstGeom prst="roundRect">
            <a:avLst/>
          </a:prstGeom>
          <a:solidFill>
            <a:srgbClr val="1E293B"/>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F5B99379-FCB6-4913-A0E1-0F1CAC7CE192}"/>
              </a:ext>
            </a:extLst>
          </p:cNvPr>
          <p:cNvSpPr txBox="1"/>
          <p:nvPr/>
        </p:nvSpPr>
        <p:spPr>
          <a:xfrm>
            <a:off x="5969000" y="1371600"/>
            <a:ext cx="5651500" cy="2292935"/>
          </a:xfrm>
          <a:prstGeom prst="rect">
            <a:avLst/>
          </a:prstGeom>
          <a:noFill/>
        </p:spPr>
        <p:txBody>
          <a:bodyPr vert="horz" wrap="square" rtlCol="0">
            <a:spAutoFit/>
          </a:bodyPr>
          <a:lstStyle/>
          <a:p>
            <a:r>
              <a:rPr lang="hi-IN" sz="1300">
                <a:solidFill>
                  <a:srgbClr val="F8FAFC"/>
                </a:solidFill>
                <a:latin typeface="Segoe UI" panose="020B0502040204020203" pitchFamily="34" charset="0"/>
              </a:rPr>
              <a:t>• वीर कुंवर सिंह (बिहार): जगदीशपुर (भोजपुर/आरा) के 80 वर्षीय राजपूत जमींदार; गंगा पार करते समय बांह में गोली लगने पर अपनी ही तलवार से बायां हाथ काटकर मां गंगा को समर्पित कर दिया और अंग्रेजों को आरा से खदेड़ दिया!
• नाना साहेब (कानपुर): पेशवा बाजीराव द्वितीय के दत्तक पुत्र; अंग्रेजों द्वारा पेंशन बंद करने पर बिठूर (कानपुर) से तात्या टोपे व अजीमुल्ला खां के साथ बगावत की।
• बेगम हज़रत महल व बिरजिस कद्र (लखनऊ): नवाब वाजिद अली शाह के 11 वर्षीय पुत्र 'बिरजिस कद्र' को लखनऊ का नया नवाब बनाया गया; मार्च 1858 में लखनऊ पर अंग्रेजों का दोबारा कब्जा हुआ।</a:t>
            </a:r>
            <a:endParaRPr lang="en-IN" sz="1300">
              <a:solidFill>
                <a:srgbClr val="F8FAFC"/>
              </a:solidFill>
              <a:latin typeface="Segoe UI" panose="020B0502040204020203" pitchFamily="34" charset="0"/>
            </a:endParaRPr>
          </a:p>
        </p:txBody>
      </p:sp>
      <p:sp>
        <p:nvSpPr>
          <p:cNvPr id="9" name="Rectangle: Rounded Corners 8">
            <a:extLst>
              <a:ext uri="{FF2B5EF4-FFF2-40B4-BE49-F238E27FC236}">
                <a16:creationId xmlns:a16="http://schemas.microsoft.com/office/drawing/2014/main" id="{99E7FB45-3317-41DB-7D32-22295476B01A}"/>
              </a:ext>
            </a:extLst>
          </p:cNvPr>
          <p:cNvSpPr/>
          <p:nvPr/>
        </p:nvSpPr>
        <p:spPr>
          <a:xfrm>
            <a:off x="5778500" y="4927600"/>
            <a:ext cx="6032500" cy="1333500"/>
          </a:xfrm>
          <a:prstGeom prst="roundRect">
            <a:avLst/>
          </a:prstGeom>
          <a:solidFill>
            <a:srgbClr val="14281E"/>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DFB7B75F-BE9A-4136-1649-D8F4C19573FD}"/>
              </a:ext>
            </a:extLst>
          </p:cNvPr>
          <p:cNvSpPr txBox="1"/>
          <p:nvPr/>
        </p:nvSpPr>
        <p:spPr>
          <a:xfrm>
            <a:off x="5905500" y="5029200"/>
            <a:ext cx="5778500" cy="669414"/>
          </a:xfrm>
          <a:prstGeom prst="rect">
            <a:avLst/>
          </a:prstGeom>
          <a:noFill/>
        </p:spPr>
        <p:txBody>
          <a:bodyPr vert="horz" wrap="square" rtlCol="0">
            <a:spAutoFit/>
          </a:bodyPr>
          <a:lstStyle/>
          <a:p>
            <a:r>
              <a:rPr lang="en-IN" sz="1250" b="1">
                <a:solidFill>
                  <a:srgbClr val="6EE7B7"/>
                </a:solidFill>
                <a:latin typeface="Segoe UI" panose="020B0502040204020203" pitchFamily="34" charset="0"/>
              </a:rPr>
              <a:t>NMMS </a:t>
            </a:r>
            <a:r>
              <a:rPr lang="hi-IN" sz="1250" b="1">
                <a:solidFill>
                  <a:srgbClr val="6EE7B7"/>
                </a:solidFill>
                <a:latin typeface="Segoe UI" panose="020B0502040204020203" pitchFamily="34" charset="0"/>
              </a:rPr>
              <a:t>फैक्ट: नाना साहेब पेशवा बाजीराव </a:t>
            </a:r>
            <a:r>
              <a:rPr lang="en-IN" sz="1250" b="1">
                <a:solidFill>
                  <a:srgbClr val="6EE7B7"/>
                </a:solidFill>
                <a:latin typeface="Segoe UI" panose="020B0502040204020203" pitchFamily="34" charset="0"/>
              </a:rPr>
              <a:t>II </a:t>
            </a:r>
            <a:r>
              <a:rPr lang="hi-IN" sz="1250" b="1">
                <a:solidFill>
                  <a:srgbClr val="6EE7B7"/>
                </a:solidFill>
                <a:latin typeface="Segoe UI" panose="020B0502040204020203" pitchFamily="34" charset="0"/>
              </a:rPr>
              <a:t>के दत्तक पुत्र थे (कानपुर), लखनऊ का नवाब बिरजिस कद्र को बनाया गया, तथा वीर कुंवर सिंह बिहार (जगदीशपुर) से संबंधित थे!</a:t>
            </a:r>
            <a:endParaRPr lang="en-IN" sz="1250" b="1">
              <a:solidFill>
                <a:srgbClr val="6EE7B7"/>
              </a:solidFill>
              <a:latin typeface="Segoe UI" panose="020B0502040204020203" pitchFamily="34" charset="0"/>
            </a:endParaRPr>
          </a:p>
        </p:txBody>
      </p:sp>
      <p:sp>
        <p:nvSpPr>
          <p:cNvPr id="11" name="TextBox 10">
            <a:extLst>
              <a:ext uri="{FF2B5EF4-FFF2-40B4-BE49-F238E27FC236}">
                <a16:creationId xmlns:a16="http://schemas.microsoft.com/office/drawing/2014/main" id="{87E8AF52-488E-A6D5-97DE-2588D8490E08}"/>
              </a:ext>
            </a:extLst>
          </p:cNvPr>
          <p:cNvSpPr txBox="1"/>
          <p:nvPr/>
        </p:nvSpPr>
        <p:spPr>
          <a:xfrm>
            <a:off x="381000" y="6375400"/>
            <a:ext cx="11430000" cy="246221"/>
          </a:xfrm>
          <a:prstGeom prst="rect">
            <a:avLst/>
          </a:prstGeom>
          <a:noFill/>
        </p:spPr>
        <p:txBody>
          <a:bodyPr vert="horz" rtlCol="0">
            <a:spAutoFit/>
          </a:bodyPr>
          <a:lstStyle/>
          <a:p>
            <a:r>
              <a:rPr lang="hi-IN" sz="1000">
                <a:solidFill>
                  <a:srgbClr val="64748B"/>
                </a:solidFill>
                <a:latin typeface="Segoe UI" panose="020B0502040204020203" pitchFamily="34" charset="0"/>
              </a:rPr>
              <a:t>सागर कोचिंग सेंटर भगवानपुर • कक्षा 08: 1857 की महान क्रांति • </a:t>
            </a:r>
            <a:r>
              <a:rPr lang="en-IN" sz="1000">
                <a:solidFill>
                  <a:srgbClr val="64748B"/>
                </a:solidFill>
                <a:latin typeface="Segoe UI" panose="020B0502040204020203" pitchFamily="34" charset="0"/>
              </a:rPr>
              <a:t>NMMS Special</a:t>
            </a:r>
          </a:p>
        </p:txBody>
      </p:sp>
    </p:spTree>
    <p:extLst>
      <p:ext uri="{BB962C8B-B14F-4D97-AF65-F5344CB8AC3E}">
        <p14:creationId xmlns:p14="http://schemas.microsoft.com/office/powerpoint/2010/main" val="1793864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repeatCount="1000000" fill="hold" nodeType="withEffect">
                                  <p:stCondLst>
                                    <p:cond delay="0"/>
                                  </p:stCondLst>
                                  <p:childTnLst>
                                    <p:cmd type="call" cmd="playFrom(0.0)">
                                      <p:cBhvr>
                                        <p:cTn id="6" dur="10048"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remove"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64CA98F-66B2-553D-AAA9-E42A072F8255}"/>
              </a:ext>
            </a:extLst>
          </p:cNvPr>
          <p:cNvSpPr/>
          <p:nvPr/>
        </p:nvSpPr>
        <p:spPr>
          <a:xfrm>
            <a:off x="0" y="0"/>
            <a:ext cx="12192000" cy="609600"/>
          </a:xfrm>
          <a:prstGeom prst="rect">
            <a:avLst/>
          </a:prstGeom>
          <a:solidFill>
            <a:srgbClr val="1E293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7670AF26-5A80-A6CC-141A-8BF2C58392FD}"/>
              </a:ext>
            </a:extLst>
          </p:cNvPr>
          <p:cNvSpPr txBox="1"/>
          <p:nvPr/>
        </p:nvSpPr>
        <p:spPr>
          <a:xfrm>
            <a:off x="381000" y="76200"/>
            <a:ext cx="11430000" cy="338554"/>
          </a:xfrm>
          <a:prstGeom prst="rect">
            <a:avLst/>
          </a:prstGeom>
          <a:noFill/>
        </p:spPr>
        <p:txBody>
          <a:bodyPr vert="horz" rtlCol="0">
            <a:spAutoFit/>
          </a:bodyPr>
          <a:lstStyle/>
          <a:p>
            <a:r>
              <a:rPr lang="hi-IN" sz="1600" b="1">
                <a:solidFill>
                  <a:srgbClr val="F59E0B"/>
                </a:solidFill>
                <a:latin typeface="Segoe UI" panose="020B0502040204020203" pitchFamily="34" charset="0"/>
              </a:rPr>
              <a:t>दृश्य 12: परिणाम, 1858 का अधिनियम एवं रंगून निर्वासन</a:t>
            </a:r>
            <a:endParaRPr lang="en-IN" sz="1600" b="1">
              <a:solidFill>
                <a:srgbClr val="F59E0B"/>
              </a:solidFill>
              <a:latin typeface="Segoe UI" panose="020B0502040204020203" pitchFamily="34" charset="0"/>
            </a:endParaRPr>
          </a:p>
        </p:txBody>
      </p:sp>
      <p:sp>
        <p:nvSpPr>
          <p:cNvPr id="4" name="Rectangle: Rounded Corners 3">
            <a:extLst>
              <a:ext uri="{FF2B5EF4-FFF2-40B4-BE49-F238E27FC236}">
                <a16:creationId xmlns:a16="http://schemas.microsoft.com/office/drawing/2014/main" id="{0C1A049D-8914-C65A-9268-94D9EC7D9247}"/>
              </a:ext>
            </a:extLst>
          </p:cNvPr>
          <p:cNvSpPr/>
          <p:nvPr/>
        </p:nvSpPr>
        <p:spPr>
          <a:xfrm>
            <a:off x="381000" y="711200"/>
            <a:ext cx="11430000" cy="431800"/>
          </a:xfrm>
          <a:prstGeom prst="roundRect">
            <a:avLst/>
          </a:prstGeom>
          <a:solidFill>
            <a:srgbClr val="28190F"/>
          </a:solidFill>
          <a:ln w="19050">
            <a:solidFill>
              <a:srgbClr val="B4530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C4F6DA80-3D0F-4F74-ACF5-3E3523DB9672}"/>
              </a:ext>
            </a:extLst>
          </p:cNvPr>
          <p:cNvSpPr txBox="1"/>
          <p:nvPr/>
        </p:nvSpPr>
        <p:spPr>
          <a:xfrm>
            <a:off x="444500" y="736600"/>
            <a:ext cx="11303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हार कर भी वो जीत गए, आज़ादी की नींव सजा गए, कंपनी का घमंड तोड़कर, लंदन तक खलबली मचा गए!</a:t>
            </a:r>
            <a:endParaRPr lang="en-IN" sz="1200" b="1">
              <a:solidFill>
                <a:srgbClr val="F59E0B"/>
              </a:solidFill>
              <a:latin typeface="Segoe UI" panose="020B0502040204020203" pitchFamily="34" charset="0"/>
            </a:endParaRPr>
          </a:p>
        </p:txBody>
      </p:sp>
      <p:pic>
        <p:nvPicPr>
          <p:cNvPr id="6" name="rangoon_exile_bars">
            <a:hlinkClick r:id="" action="ppaction://media"/>
            <a:extLst>
              <a:ext uri="{FF2B5EF4-FFF2-40B4-BE49-F238E27FC236}">
                <a16:creationId xmlns:a16="http://schemas.microsoft.com/office/drawing/2014/main" id="{7AF6E4AF-230B-D8CC-75F2-4D000E3CB5FE}"/>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381000" y="1244600"/>
            <a:ext cx="8918221" cy="5016500"/>
          </a:xfrm>
          <a:prstGeom prst="rect">
            <a:avLst/>
          </a:prstGeom>
        </p:spPr>
      </p:pic>
      <p:sp>
        <p:nvSpPr>
          <p:cNvPr id="7" name="Rectangle: Rounded Corners 6">
            <a:extLst>
              <a:ext uri="{FF2B5EF4-FFF2-40B4-BE49-F238E27FC236}">
                <a16:creationId xmlns:a16="http://schemas.microsoft.com/office/drawing/2014/main" id="{7259ABA4-C6B7-B4EC-CA33-DFD086C25E4A}"/>
              </a:ext>
            </a:extLst>
          </p:cNvPr>
          <p:cNvSpPr/>
          <p:nvPr/>
        </p:nvSpPr>
        <p:spPr>
          <a:xfrm>
            <a:off x="5778500" y="1244600"/>
            <a:ext cx="6032500" cy="3556000"/>
          </a:xfrm>
          <a:prstGeom prst="roundRect">
            <a:avLst/>
          </a:prstGeom>
          <a:solidFill>
            <a:srgbClr val="1E293B"/>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C70E260F-0C40-C1EB-CCF9-36EC10058CEF}"/>
              </a:ext>
            </a:extLst>
          </p:cNvPr>
          <p:cNvSpPr txBox="1"/>
          <p:nvPr/>
        </p:nvSpPr>
        <p:spPr>
          <a:xfrm>
            <a:off x="5969000" y="1371600"/>
            <a:ext cx="5651500" cy="2092881"/>
          </a:xfrm>
          <a:prstGeom prst="rect">
            <a:avLst/>
          </a:prstGeom>
          <a:noFill/>
        </p:spPr>
        <p:txBody>
          <a:bodyPr vert="horz" wrap="square" rtlCol="0">
            <a:spAutoFit/>
          </a:bodyPr>
          <a:lstStyle/>
          <a:p>
            <a:r>
              <a:rPr lang="hi-IN" sz="1300">
                <a:solidFill>
                  <a:srgbClr val="F8FAFC"/>
                </a:solidFill>
                <a:latin typeface="Segoe UI" panose="020B0502040204020203" pitchFamily="34" charset="0"/>
              </a:rPr>
              <a:t>• 1858 का भारत सरकार अधिनियम: ब्रिटिश संसद ने ईस्ट इंडिया कंपनी का 100 वर्ष पुराना (1757-1857) शासन समाप्त कर सत्ता सीधे ब्रिटिश क्राउन (महारानी) को सौंपी।
• गवर्नर जनरल को 'वायसराय' का ओहदा: लॉर्ड कैनिंग भारत के अंतिम गवर्नर जनरल तथा प्रथम वायसराय (1858) बने।
• रंगून जेल निर्वासन: अक्टूबर 1858 में बहादुर शाह जफर और बेगम ज़ीनत महल को बर्मा (रंगून) जेल भेज दिया गया जहाँ 1862 में उनका निधन हुआ; 1859 तक भारत पर अंग्रेजों का पुनः नियंत्रण हुआ।</a:t>
            </a:r>
            <a:endParaRPr lang="en-IN" sz="1300">
              <a:solidFill>
                <a:srgbClr val="F8FAFC"/>
              </a:solidFill>
              <a:latin typeface="Segoe UI" panose="020B0502040204020203" pitchFamily="34" charset="0"/>
            </a:endParaRPr>
          </a:p>
        </p:txBody>
      </p:sp>
      <p:sp>
        <p:nvSpPr>
          <p:cNvPr id="9" name="Rectangle: Rounded Corners 8">
            <a:extLst>
              <a:ext uri="{FF2B5EF4-FFF2-40B4-BE49-F238E27FC236}">
                <a16:creationId xmlns:a16="http://schemas.microsoft.com/office/drawing/2014/main" id="{8DA3EAA6-4648-F93E-5CCB-0079714A9D0C}"/>
              </a:ext>
            </a:extLst>
          </p:cNvPr>
          <p:cNvSpPr/>
          <p:nvPr/>
        </p:nvSpPr>
        <p:spPr>
          <a:xfrm>
            <a:off x="5778500" y="4927600"/>
            <a:ext cx="6032500" cy="1333500"/>
          </a:xfrm>
          <a:prstGeom prst="roundRect">
            <a:avLst/>
          </a:prstGeom>
          <a:solidFill>
            <a:srgbClr val="14281E"/>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97114FF0-E2CA-73E6-EB12-2A0BFE2BD377}"/>
              </a:ext>
            </a:extLst>
          </p:cNvPr>
          <p:cNvSpPr txBox="1"/>
          <p:nvPr/>
        </p:nvSpPr>
        <p:spPr>
          <a:xfrm>
            <a:off x="5905500" y="5029200"/>
            <a:ext cx="5778500" cy="669414"/>
          </a:xfrm>
          <a:prstGeom prst="rect">
            <a:avLst/>
          </a:prstGeom>
          <a:noFill/>
        </p:spPr>
        <p:txBody>
          <a:bodyPr vert="horz" wrap="square" rtlCol="0">
            <a:spAutoFit/>
          </a:bodyPr>
          <a:lstStyle/>
          <a:p>
            <a:r>
              <a:rPr lang="en-IN" sz="1250" b="1">
                <a:solidFill>
                  <a:srgbClr val="6EE7B7"/>
                </a:solidFill>
                <a:latin typeface="Segoe UI" panose="020B0502040204020203" pitchFamily="34" charset="0"/>
              </a:rPr>
              <a:t>NMMS </a:t>
            </a:r>
            <a:r>
              <a:rPr lang="hi-IN" sz="1250" b="1">
                <a:solidFill>
                  <a:srgbClr val="6EE7B7"/>
                </a:solidFill>
                <a:latin typeface="Segoe UI" panose="020B0502040204020203" pitchFamily="34" charset="0"/>
              </a:rPr>
              <a:t>फैक्ट: 1858 के अधिनियम द्वारा ईस्ट इंडिया कंपनी का शासन समाप्त हुआ, तथा भारत के अंतिम गवर्नर जनरल व प्रथम वायसराय 'लॉर्ड कैनिंग' (1858) बने!</a:t>
            </a:r>
            <a:endParaRPr lang="en-IN" sz="1250" b="1">
              <a:solidFill>
                <a:srgbClr val="6EE7B7"/>
              </a:solidFill>
              <a:latin typeface="Segoe UI" panose="020B0502040204020203" pitchFamily="34" charset="0"/>
            </a:endParaRPr>
          </a:p>
        </p:txBody>
      </p:sp>
      <p:sp>
        <p:nvSpPr>
          <p:cNvPr id="11" name="TextBox 10">
            <a:extLst>
              <a:ext uri="{FF2B5EF4-FFF2-40B4-BE49-F238E27FC236}">
                <a16:creationId xmlns:a16="http://schemas.microsoft.com/office/drawing/2014/main" id="{4FC4C9BF-7820-C47A-3ECB-1CC30C4B79FE}"/>
              </a:ext>
            </a:extLst>
          </p:cNvPr>
          <p:cNvSpPr txBox="1"/>
          <p:nvPr/>
        </p:nvSpPr>
        <p:spPr>
          <a:xfrm>
            <a:off x="381000" y="6375400"/>
            <a:ext cx="11430000" cy="246221"/>
          </a:xfrm>
          <a:prstGeom prst="rect">
            <a:avLst/>
          </a:prstGeom>
          <a:noFill/>
        </p:spPr>
        <p:txBody>
          <a:bodyPr vert="horz" rtlCol="0">
            <a:spAutoFit/>
          </a:bodyPr>
          <a:lstStyle/>
          <a:p>
            <a:r>
              <a:rPr lang="hi-IN" sz="1000">
                <a:solidFill>
                  <a:srgbClr val="64748B"/>
                </a:solidFill>
                <a:latin typeface="Segoe UI" panose="020B0502040204020203" pitchFamily="34" charset="0"/>
              </a:rPr>
              <a:t>सागर कोचिंग सेंटर भगवानपुर • कक्षा 08: 1857 की महान क्रांति • </a:t>
            </a:r>
            <a:r>
              <a:rPr lang="en-IN" sz="1000">
                <a:solidFill>
                  <a:srgbClr val="64748B"/>
                </a:solidFill>
                <a:latin typeface="Segoe UI" panose="020B0502040204020203" pitchFamily="34" charset="0"/>
              </a:rPr>
              <a:t>NMMS Special</a:t>
            </a:r>
          </a:p>
        </p:txBody>
      </p:sp>
    </p:spTree>
    <p:extLst>
      <p:ext uri="{BB962C8B-B14F-4D97-AF65-F5344CB8AC3E}">
        <p14:creationId xmlns:p14="http://schemas.microsoft.com/office/powerpoint/2010/main" val="27385146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repeatCount="1000000" fill="hold" nodeType="withEffect">
                                  <p:stCondLst>
                                    <p:cond delay="0"/>
                                  </p:stCondLst>
                                  <p:childTnLst>
                                    <p:cmd type="call" cmd="playFrom(0.0)">
                                      <p:cBhvr>
                                        <p:cTn id="6" dur="7083"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remove"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3D5DACF-0E28-9313-5ED0-C8199E680B19}"/>
              </a:ext>
            </a:extLst>
          </p:cNvPr>
          <p:cNvSpPr/>
          <p:nvPr/>
        </p:nvSpPr>
        <p:spPr>
          <a:xfrm>
            <a:off x="0" y="0"/>
            <a:ext cx="12192000" cy="609600"/>
          </a:xfrm>
          <a:prstGeom prst="rect">
            <a:avLst/>
          </a:prstGeom>
          <a:solidFill>
            <a:srgbClr val="1E293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29950294-31A9-BCFA-3080-32D973111CCF}"/>
              </a:ext>
            </a:extLst>
          </p:cNvPr>
          <p:cNvSpPr txBox="1"/>
          <p:nvPr/>
        </p:nvSpPr>
        <p:spPr>
          <a:xfrm>
            <a:off x="381000" y="76200"/>
            <a:ext cx="11430000" cy="338554"/>
          </a:xfrm>
          <a:prstGeom prst="rect">
            <a:avLst/>
          </a:prstGeom>
          <a:noFill/>
        </p:spPr>
        <p:txBody>
          <a:bodyPr vert="horz" rtlCol="0">
            <a:spAutoFit/>
          </a:bodyPr>
          <a:lstStyle/>
          <a:p>
            <a:r>
              <a:rPr lang="en-IN" sz="1600" b="1">
                <a:solidFill>
                  <a:srgbClr val="F59E0B"/>
                </a:solidFill>
                <a:latin typeface="Segoe UI" panose="020B0502040204020203" pitchFamily="34" charset="0"/>
              </a:rPr>
              <a:t>PYQ </a:t>
            </a:r>
            <a:r>
              <a:rPr lang="hi-IN" sz="1600" b="1">
                <a:solidFill>
                  <a:srgbClr val="F59E0B"/>
                </a:solidFill>
                <a:latin typeface="Segoe UI" panose="020B0502040204020203" pitchFamily="34" charset="0"/>
              </a:rPr>
              <a:t>अभ्यास प्रश्न #1  [</a:t>
            </a:r>
            <a:r>
              <a:rPr lang="en-IN" sz="1600" b="1">
                <a:solidFill>
                  <a:srgbClr val="F59E0B"/>
                </a:solidFill>
                <a:latin typeface="Segoe UI" panose="020B0502040204020203" pitchFamily="34" charset="0"/>
              </a:rPr>
              <a:t>All India NMMS 2023]</a:t>
            </a:r>
          </a:p>
        </p:txBody>
      </p:sp>
      <p:sp>
        <p:nvSpPr>
          <p:cNvPr id="4" name="Rectangle: Rounded Corners 3">
            <a:extLst>
              <a:ext uri="{FF2B5EF4-FFF2-40B4-BE49-F238E27FC236}">
                <a16:creationId xmlns:a16="http://schemas.microsoft.com/office/drawing/2014/main" id="{F48CF4F4-5839-423B-046D-E1E588B67E52}"/>
              </a:ext>
            </a:extLst>
          </p:cNvPr>
          <p:cNvSpPr/>
          <p:nvPr/>
        </p:nvSpPr>
        <p:spPr>
          <a:xfrm>
            <a:off x="457200" y="787400"/>
            <a:ext cx="11277600" cy="1333500"/>
          </a:xfrm>
          <a:prstGeom prst="roundRect">
            <a:avLst/>
          </a:prstGeom>
          <a:solidFill>
            <a:srgbClr val="1E3A8A"/>
          </a:solidFill>
          <a:ln w="25400">
            <a:solidFill>
              <a:srgbClr val="D9770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AEB389A4-784B-B393-82C6-7BD2CEE238D4}"/>
              </a:ext>
            </a:extLst>
          </p:cNvPr>
          <p:cNvSpPr txBox="1"/>
          <p:nvPr/>
        </p:nvSpPr>
        <p:spPr>
          <a:xfrm>
            <a:off x="635000" y="863600"/>
            <a:ext cx="10922000" cy="346249"/>
          </a:xfrm>
          <a:prstGeom prst="rect">
            <a:avLst/>
          </a:prstGeom>
          <a:noFill/>
        </p:spPr>
        <p:txBody>
          <a:bodyPr vert="horz" wrap="square" rtlCol="0">
            <a:spAutoFit/>
          </a:bodyPr>
          <a:lstStyle/>
          <a:p>
            <a:r>
              <a:rPr lang="hi-IN" sz="1650" b="1">
                <a:solidFill>
                  <a:srgbClr val="FFFFFF"/>
                </a:solidFill>
                <a:latin typeface="Segoe UI" panose="020B0502040204020203" pitchFamily="34" charset="0"/>
              </a:rPr>
              <a:t>प्र. 1. 1857 की महान क्रांति का प्रथम बिगुल 10 मई 1857 को किस छावनी से बजा था?</a:t>
            </a:r>
            <a:endParaRPr lang="en-IN" sz="1650" b="1">
              <a:solidFill>
                <a:srgbClr val="FFFFFF"/>
              </a:solidFill>
              <a:latin typeface="Segoe UI" panose="020B0502040204020203" pitchFamily="34" charset="0"/>
            </a:endParaRPr>
          </a:p>
        </p:txBody>
      </p:sp>
      <p:sp>
        <p:nvSpPr>
          <p:cNvPr id="6" name="Rectangle: Rounded Corners 5">
            <a:extLst>
              <a:ext uri="{FF2B5EF4-FFF2-40B4-BE49-F238E27FC236}">
                <a16:creationId xmlns:a16="http://schemas.microsoft.com/office/drawing/2014/main" id="{5296B804-1128-29A3-D44F-835F67D86C2B}"/>
              </a:ext>
            </a:extLst>
          </p:cNvPr>
          <p:cNvSpPr/>
          <p:nvPr/>
        </p:nvSpPr>
        <p:spPr>
          <a:xfrm>
            <a:off x="457200" y="2311400"/>
            <a:ext cx="5461000" cy="1016000"/>
          </a:xfrm>
          <a:prstGeom prst="roundRect">
            <a:avLst/>
          </a:prstGeom>
          <a:solidFill>
            <a:srgbClr val="1E293B"/>
          </a:solidFill>
          <a:ln w="19050">
            <a:solidFill>
              <a:srgbClr val="47556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 name="TextBox 6">
            <a:extLst>
              <a:ext uri="{FF2B5EF4-FFF2-40B4-BE49-F238E27FC236}">
                <a16:creationId xmlns:a16="http://schemas.microsoft.com/office/drawing/2014/main" id="{2AB51ADF-EEB0-166A-8342-BED488A41840}"/>
              </a:ext>
            </a:extLst>
          </p:cNvPr>
          <p:cNvSpPr txBox="1"/>
          <p:nvPr/>
        </p:nvSpPr>
        <p:spPr>
          <a:xfrm>
            <a:off x="647700" y="2463800"/>
            <a:ext cx="5080000" cy="330860"/>
          </a:xfrm>
          <a:prstGeom prst="rect">
            <a:avLst/>
          </a:prstGeom>
          <a:noFill/>
        </p:spPr>
        <p:txBody>
          <a:bodyPr vert="horz" wrap="square" rtlCol="0">
            <a:spAutoFit/>
          </a:bodyPr>
          <a:lstStyle/>
          <a:p>
            <a:r>
              <a:rPr lang="en-IN" sz="1550" b="1">
                <a:solidFill>
                  <a:srgbClr val="F8FAFC"/>
                </a:solidFill>
                <a:latin typeface="Segoe UI" panose="020B0502040204020203" pitchFamily="34" charset="0"/>
              </a:rPr>
              <a:t>(A)  </a:t>
            </a:r>
            <a:r>
              <a:rPr lang="hi-IN" sz="1550" b="1">
                <a:solidFill>
                  <a:srgbClr val="F8FAFC"/>
                </a:solidFill>
                <a:latin typeface="Segoe UI" panose="020B0502040204020203" pitchFamily="34" charset="0"/>
              </a:rPr>
              <a:t>बैरकपुर</a:t>
            </a:r>
            <a:endParaRPr lang="en-IN" sz="1550" b="1">
              <a:solidFill>
                <a:srgbClr val="F8FAFC"/>
              </a:solidFill>
              <a:latin typeface="Segoe UI" panose="020B0502040204020203" pitchFamily="34" charset="0"/>
            </a:endParaRPr>
          </a:p>
        </p:txBody>
      </p:sp>
      <p:sp>
        <p:nvSpPr>
          <p:cNvPr id="8" name="Rectangle: Rounded Corners 7">
            <a:extLst>
              <a:ext uri="{FF2B5EF4-FFF2-40B4-BE49-F238E27FC236}">
                <a16:creationId xmlns:a16="http://schemas.microsoft.com/office/drawing/2014/main" id="{21AB46B4-9882-4445-2595-8C4F0EE77E06}"/>
              </a:ext>
            </a:extLst>
          </p:cNvPr>
          <p:cNvSpPr/>
          <p:nvPr/>
        </p:nvSpPr>
        <p:spPr>
          <a:xfrm>
            <a:off x="6273800" y="2311400"/>
            <a:ext cx="5461000" cy="1016000"/>
          </a:xfrm>
          <a:prstGeom prst="roundRect">
            <a:avLst/>
          </a:prstGeom>
          <a:solidFill>
            <a:srgbClr val="1E293B"/>
          </a:solidFill>
          <a:ln w="19050">
            <a:solidFill>
              <a:srgbClr val="47556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F54A65F7-EA29-8B88-C14D-5D57B322C8C1}"/>
              </a:ext>
            </a:extLst>
          </p:cNvPr>
          <p:cNvSpPr txBox="1"/>
          <p:nvPr/>
        </p:nvSpPr>
        <p:spPr>
          <a:xfrm>
            <a:off x="6464300" y="2463800"/>
            <a:ext cx="5080000" cy="330860"/>
          </a:xfrm>
          <a:prstGeom prst="rect">
            <a:avLst/>
          </a:prstGeom>
          <a:noFill/>
        </p:spPr>
        <p:txBody>
          <a:bodyPr vert="horz" wrap="square" rtlCol="0">
            <a:spAutoFit/>
          </a:bodyPr>
          <a:lstStyle/>
          <a:p>
            <a:r>
              <a:rPr lang="en-IN" sz="1550" b="1">
                <a:solidFill>
                  <a:srgbClr val="F8FAFC"/>
                </a:solidFill>
                <a:latin typeface="Segoe UI" panose="020B0502040204020203" pitchFamily="34" charset="0"/>
              </a:rPr>
              <a:t>(B)  </a:t>
            </a:r>
            <a:r>
              <a:rPr lang="hi-IN" sz="1550" b="1">
                <a:solidFill>
                  <a:srgbClr val="F8FAFC"/>
                </a:solidFill>
                <a:latin typeface="Segoe UI" panose="020B0502040204020203" pitchFamily="34" charset="0"/>
              </a:rPr>
              <a:t>मेरठ छावनी</a:t>
            </a:r>
            <a:endParaRPr lang="en-IN" sz="1550" b="1">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24C1E468-CB20-403E-7511-B3CCA4DFFEFA}"/>
              </a:ext>
            </a:extLst>
          </p:cNvPr>
          <p:cNvSpPr/>
          <p:nvPr/>
        </p:nvSpPr>
        <p:spPr>
          <a:xfrm>
            <a:off x="457200" y="3530600"/>
            <a:ext cx="5461000" cy="1016000"/>
          </a:xfrm>
          <a:prstGeom prst="roundRect">
            <a:avLst/>
          </a:prstGeom>
          <a:solidFill>
            <a:srgbClr val="1E293B"/>
          </a:solidFill>
          <a:ln w="19050">
            <a:solidFill>
              <a:srgbClr val="47556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C8DC078B-D348-21FB-D8EC-5AE1CD01B18C}"/>
              </a:ext>
            </a:extLst>
          </p:cNvPr>
          <p:cNvSpPr txBox="1"/>
          <p:nvPr/>
        </p:nvSpPr>
        <p:spPr>
          <a:xfrm>
            <a:off x="647700" y="3683000"/>
            <a:ext cx="5080000" cy="330860"/>
          </a:xfrm>
          <a:prstGeom prst="rect">
            <a:avLst/>
          </a:prstGeom>
          <a:noFill/>
        </p:spPr>
        <p:txBody>
          <a:bodyPr vert="horz" wrap="square" rtlCol="0">
            <a:spAutoFit/>
          </a:bodyPr>
          <a:lstStyle/>
          <a:p>
            <a:r>
              <a:rPr lang="en-IN" sz="1550" b="1">
                <a:solidFill>
                  <a:srgbClr val="F8FAFC"/>
                </a:solidFill>
                <a:latin typeface="Segoe UI" panose="020B0502040204020203" pitchFamily="34" charset="0"/>
              </a:rPr>
              <a:t>(C)  </a:t>
            </a:r>
            <a:r>
              <a:rPr lang="hi-IN" sz="1550" b="1">
                <a:solidFill>
                  <a:srgbClr val="F8FAFC"/>
                </a:solidFill>
                <a:latin typeface="Segoe UI" panose="020B0502040204020203" pitchFamily="34" charset="0"/>
              </a:rPr>
              <a:t>दिल्ली</a:t>
            </a:r>
            <a:endParaRPr lang="en-IN" sz="1550" b="1">
              <a:solidFill>
                <a:srgbClr val="F8FAFC"/>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CD744711-EE0E-9438-0A57-31A941D89E35}"/>
              </a:ext>
            </a:extLst>
          </p:cNvPr>
          <p:cNvSpPr/>
          <p:nvPr/>
        </p:nvSpPr>
        <p:spPr>
          <a:xfrm>
            <a:off x="6273800" y="3530600"/>
            <a:ext cx="5461000" cy="1016000"/>
          </a:xfrm>
          <a:prstGeom prst="roundRect">
            <a:avLst/>
          </a:prstGeom>
          <a:solidFill>
            <a:srgbClr val="1E293B"/>
          </a:solidFill>
          <a:ln w="19050">
            <a:solidFill>
              <a:srgbClr val="47556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5313007A-9D06-583B-788F-11F8B3162D33}"/>
              </a:ext>
            </a:extLst>
          </p:cNvPr>
          <p:cNvSpPr txBox="1"/>
          <p:nvPr/>
        </p:nvSpPr>
        <p:spPr>
          <a:xfrm>
            <a:off x="6464300" y="3683000"/>
            <a:ext cx="5080000" cy="330860"/>
          </a:xfrm>
          <a:prstGeom prst="rect">
            <a:avLst/>
          </a:prstGeom>
          <a:noFill/>
        </p:spPr>
        <p:txBody>
          <a:bodyPr vert="horz" wrap="square" rtlCol="0">
            <a:spAutoFit/>
          </a:bodyPr>
          <a:lstStyle/>
          <a:p>
            <a:r>
              <a:rPr lang="en-IN" sz="1550" b="1">
                <a:solidFill>
                  <a:srgbClr val="F8FAFC"/>
                </a:solidFill>
                <a:latin typeface="Segoe UI" panose="020B0502040204020203" pitchFamily="34" charset="0"/>
              </a:rPr>
              <a:t>(D)  </a:t>
            </a:r>
            <a:r>
              <a:rPr lang="hi-IN" sz="1550" b="1">
                <a:solidFill>
                  <a:srgbClr val="F8FAFC"/>
                </a:solidFill>
                <a:latin typeface="Segoe UI" panose="020B0502040204020203" pitchFamily="34" charset="0"/>
              </a:rPr>
              <a:t>कानपुर</a:t>
            </a:r>
            <a:endParaRPr lang="en-IN" sz="1550" b="1">
              <a:solidFill>
                <a:srgbClr val="F8FAFC"/>
              </a:solidFill>
              <a:latin typeface="Segoe UI" panose="020B0502040204020203" pitchFamily="34" charset="0"/>
            </a:endParaRPr>
          </a:p>
        </p:txBody>
      </p:sp>
      <p:sp>
        <p:nvSpPr>
          <p:cNvPr id="14" name="Rectangle: Rounded Corners 13">
            <a:extLst>
              <a:ext uri="{FF2B5EF4-FFF2-40B4-BE49-F238E27FC236}">
                <a16:creationId xmlns:a16="http://schemas.microsoft.com/office/drawing/2014/main" id="{596F5BD9-743B-0080-9A66-41CEDDB9F141}"/>
              </a:ext>
            </a:extLst>
          </p:cNvPr>
          <p:cNvSpPr/>
          <p:nvPr/>
        </p:nvSpPr>
        <p:spPr>
          <a:xfrm>
            <a:off x="2921000" y="4826000"/>
            <a:ext cx="6350000" cy="711200"/>
          </a:xfrm>
          <a:prstGeom prst="roundRect">
            <a:avLst/>
          </a:prstGeom>
          <a:solidFill>
            <a:srgbClr val="312E81"/>
          </a:solidFill>
          <a:ln w="19050">
            <a:solidFill>
              <a:srgbClr val="6366F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1C37D43F-4011-4C9C-7528-419883277D84}"/>
              </a:ext>
            </a:extLst>
          </p:cNvPr>
          <p:cNvSpPr txBox="1"/>
          <p:nvPr/>
        </p:nvSpPr>
        <p:spPr>
          <a:xfrm>
            <a:off x="2984500" y="4927600"/>
            <a:ext cx="6223000" cy="307777"/>
          </a:xfrm>
          <a:prstGeom prst="rect">
            <a:avLst/>
          </a:prstGeom>
          <a:noFill/>
        </p:spPr>
        <p:txBody>
          <a:bodyPr vert="horz" rtlCol="0">
            <a:spAutoFit/>
          </a:bodyPr>
          <a:lstStyle/>
          <a:p>
            <a:pPr algn="ctr"/>
            <a:r>
              <a:rPr lang="en-IN" sz="1400" b="1">
                <a:solidFill>
                  <a:srgbClr val="FDE68A"/>
                </a:solidFill>
                <a:latin typeface="Segoe UI" panose="020B0502040204020203" pitchFamily="34" charset="0"/>
              </a:rPr>
              <a:t>⏱ 10 </a:t>
            </a:r>
            <a:r>
              <a:rPr lang="hi-IN" sz="1400" b="1">
                <a:solidFill>
                  <a:srgbClr val="FDE68A"/>
                </a:solidFill>
                <a:latin typeface="Segoe UI" panose="020B0502040204020203" pitchFamily="34" charset="0"/>
              </a:rPr>
              <a:t>सेकंड सोचिए और सही विकल्प चुनिए: (</a:t>
            </a:r>
            <a:r>
              <a:rPr lang="en-IN" sz="1400" b="1">
                <a:solidFill>
                  <a:srgbClr val="FDE68A"/>
                </a:solidFill>
                <a:latin typeface="Segoe UI" panose="020B0502040204020203" pitchFamily="34" charset="0"/>
              </a:rPr>
              <a:t>A), (B), (C) </a:t>
            </a:r>
            <a:r>
              <a:rPr lang="hi-IN" sz="1400" b="1">
                <a:solidFill>
                  <a:srgbClr val="FDE68A"/>
                </a:solidFill>
                <a:latin typeface="Segoe UI" panose="020B0502040204020203" pitchFamily="34" charset="0"/>
              </a:rPr>
              <a:t>या (</a:t>
            </a:r>
            <a:r>
              <a:rPr lang="en-IN" sz="1400" b="1">
                <a:solidFill>
                  <a:srgbClr val="FDE68A"/>
                </a:solidFill>
                <a:latin typeface="Segoe UI" panose="020B0502040204020203" pitchFamily="34" charset="0"/>
              </a:rPr>
              <a:t>D)</a:t>
            </a:r>
          </a:p>
        </p:txBody>
      </p:sp>
      <p:sp>
        <p:nvSpPr>
          <p:cNvPr id="16" name="TextBox 15">
            <a:extLst>
              <a:ext uri="{FF2B5EF4-FFF2-40B4-BE49-F238E27FC236}">
                <a16:creationId xmlns:a16="http://schemas.microsoft.com/office/drawing/2014/main" id="{52EBC023-A8C7-35DF-E094-F0861DFEC935}"/>
              </a:ext>
            </a:extLst>
          </p:cNvPr>
          <p:cNvSpPr txBox="1"/>
          <p:nvPr/>
        </p:nvSpPr>
        <p:spPr>
          <a:xfrm>
            <a:off x="381000" y="6375400"/>
            <a:ext cx="11430000" cy="246221"/>
          </a:xfrm>
          <a:prstGeom prst="rect">
            <a:avLst/>
          </a:prstGeom>
          <a:noFill/>
        </p:spPr>
        <p:txBody>
          <a:bodyPr vert="horz" rtlCol="0">
            <a:spAutoFit/>
          </a:bodyPr>
          <a:lstStyle/>
          <a:p>
            <a:r>
              <a:rPr lang="hi-IN" sz="1000">
                <a:solidFill>
                  <a:srgbClr val="64748B"/>
                </a:solidFill>
                <a:latin typeface="Segoe UI" panose="020B0502040204020203" pitchFamily="34" charset="0"/>
              </a:rPr>
              <a:t>सागर कोचिंग सेंटर भगवानपुर • कक्षा 08: 1857 की महान क्रांति • </a:t>
            </a:r>
            <a:r>
              <a:rPr lang="en-IN" sz="1000">
                <a:solidFill>
                  <a:srgbClr val="64748B"/>
                </a:solidFill>
                <a:latin typeface="Segoe UI" panose="020B0502040204020203" pitchFamily="34" charset="0"/>
              </a:rPr>
              <a:t>NMMS Special</a:t>
            </a:r>
          </a:p>
        </p:txBody>
      </p:sp>
    </p:spTree>
    <p:extLst>
      <p:ext uri="{BB962C8B-B14F-4D97-AF65-F5344CB8AC3E}">
        <p14:creationId xmlns:p14="http://schemas.microsoft.com/office/powerpoint/2010/main" val="421994250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47CA48-5658-E965-F6CA-EC6D869C23BD}"/>
              </a:ext>
            </a:extLst>
          </p:cNvPr>
          <p:cNvSpPr/>
          <p:nvPr/>
        </p:nvSpPr>
        <p:spPr>
          <a:xfrm>
            <a:off x="0" y="0"/>
            <a:ext cx="12192000" cy="609600"/>
          </a:xfrm>
          <a:prstGeom prst="rect">
            <a:avLst/>
          </a:prstGeom>
          <a:solidFill>
            <a:srgbClr val="1E293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01D19D4C-B0E0-986B-2A58-E4CAE12015F0}"/>
              </a:ext>
            </a:extLst>
          </p:cNvPr>
          <p:cNvSpPr txBox="1"/>
          <p:nvPr/>
        </p:nvSpPr>
        <p:spPr>
          <a:xfrm>
            <a:off x="381000" y="76200"/>
            <a:ext cx="11430000" cy="338554"/>
          </a:xfrm>
          <a:prstGeom prst="rect">
            <a:avLst/>
          </a:prstGeom>
          <a:noFill/>
        </p:spPr>
        <p:txBody>
          <a:bodyPr vert="horz" rtlCol="0">
            <a:spAutoFit/>
          </a:bodyPr>
          <a:lstStyle/>
          <a:p>
            <a:r>
              <a:rPr lang="en-US" sz="1600" b="1">
                <a:solidFill>
                  <a:srgbClr val="10B981"/>
                </a:solidFill>
                <a:latin typeface="Segoe UI" panose="020B0502040204020203" pitchFamily="34" charset="0"/>
              </a:rPr>
              <a:t>PYQ अभ्यास प्रश्न #1  [All India NMMS 2023] - Answer &amp; Explanation</a:t>
            </a:r>
            <a:endParaRPr lang="en-IN" sz="1600" b="1">
              <a:solidFill>
                <a:srgbClr val="10B981"/>
              </a:solidFill>
              <a:latin typeface="Segoe UI" panose="020B0502040204020203" pitchFamily="34" charset="0"/>
            </a:endParaRPr>
          </a:p>
        </p:txBody>
      </p:sp>
      <p:sp>
        <p:nvSpPr>
          <p:cNvPr id="4" name="Rectangle: Rounded Corners 3">
            <a:extLst>
              <a:ext uri="{FF2B5EF4-FFF2-40B4-BE49-F238E27FC236}">
                <a16:creationId xmlns:a16="http://schemas.microsoft.com/office/drawing/2014/main" id="{F7B3AA97-0655-E6CE-D0DB-9ECE28431382}"/>
              </a:ext>
            </a:extLst>
          </p:cNvPr>
          <p:cNvSpPr/>
          <p:nvPr/>
        </p:nvSpPr>
        <p:spPr>
          <a:xfrm>
            <a:off x="457200" y="787400"/>
            <a:ext cx="11277600" cy="1333500"/>
          </a:xfrm>
          <a:prstGeom prst="roundRect">
            <a:avLst/>
          </a:prstGeom>
          <a:solidFill>
            <a:srgbClr val="1E3A8A"/>
          </a:solidFill>
          <a:ln w="25400">
            <a:solidFill>
              <a:srgbClr val="D9770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62422050-1431-99F5-350D-5675204F760C}"/>
              </a:ext>
            </a:extLst>
          </p:cNvPr>
          <p:cNvSpPr txBox="1"/>
          <p:nvPr/>
        </p:nvSpPr>
        <p:spPr>
          <a:xfrm>
            <a:off x="635000" y="863600"/>
            <a:ext cx="10922000" cy="346249"/>
          </a:xfrm>
          <a:prstGeom prst="rect">
            <a:avLst/>
          </a:prstGeom>
          <a:noFill/>
        </p:spPr>
        <p:txBody>
          <a:bodyPr vert="horz" wrap="square" rtlCol="0">
            <a:spAutoFit/>
          </a:bodyPr>
          <a:lstStyle/>
          <a:p>
            <a:r>
              <a:rPr lang="hi-IN" sz="1650" b="1">
                <a:solidFill>
                  <a:srgbClr val="FFFFFF"/>
                </a:solidFill>
                <a:latin typeface="Segoe UI" panose="020B0502040204020203" pitchFamily="34" charset="0"/>
              </a:rPr>
              <a:t>प्र. 1. 1857 की महान क्रांति का प्रथम बिगुल 10 मई 1857 को किस छावनी से बजा था?</a:t>
            </a:r>
            <a:endParaRPr lang="en-IN" sz="1650" b="1">
              <a:solidFill>
                <a:srgbClr val="FFFFFF"/>
              </a:solidFill>
              <a:latin typeface="Segoe UI" panose="020B0502040204020203" pitchFamily="34" charset="0"/>
            </a:endParaRPr>
          </a:p>
        </p:txBody>
      </p:sp>
      <p:sp>
        <p:nvSpPr>
          <p:cNvPr id="6" name="Rectangle: Rounded Corners 5">
            <a:extLst>
              <a:ext uri="{FF2B5EF4-FFF2-40B4-BE49-F238E27FC236}">
                <a16:creationId xmlns:a16="http://schemas.microsoft.com/office/drawing/2014/main" id="{A6D32530-4942-4146-D6B1-2CFE00921EB2}"/>
              </a:ext>
            </a:extLst>
          </p:cNvPr>
          <p:cNvSpPr/>
          <p:nvPr/>
        </p:nvSpPr>
        <p:spPr>
          <a:xfrm>
            <a:off x="457200" y="2311400"/>
            <a:ext cx="5461000" cy="1016000"/>
          </a:xfrm>
          <a:prstGeom prst="roundRect">
            <a:avLst/>
          </a:prstGeom>
          <a:solidFill>
            <a:srgbClr val="0F172A"/>
          </a:solidFill>
          <a:ln w="12700">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 name="TextBox 6">
            <a:extLst>
              <a:ext uri="{FF2B5EF4-FFF2-40B4-BE49-F238E27FC236}">
                <a16:creationId xmlns:a16="http://schemas.microsoft.com/office/drawing/2014/main" id="{6FB4FD22-A58A-918B-7844-3791E5E123A9}"/>
              </a:ext>
            </a:extLst>
          </p:cNvPr>
          <p:cNvSpPr txBox="1"/>
          <p:nvPr/>
        </p:nvSpPr>
        <p:spPr>
          <a:xfrm>
            <a:off x="647700" y="2463800"/>
            <a:ext cx="5080000" cy="307777"/>
          </a:xfrm>
          <a:prstGeom prst="rect">
            <a:avLst/>
          </a:prstGeom>
          <a:noFill/>
        </p:spPr>
        <p:txBody>
          <a:bodyPr vert="horz" wrap="square" rtlCol="0">
            <a:spAutoFit/>
          </a:bodyPr>
          <a:lstStyle/>
          <a:p>
            <a:r>
              <a:rPr lang="en-IN" sz="1400">
                <a:solidFill>
                  <a:srgbClr val="94A3B8"/>
                </a:solidFill>
                <a:latin typeface="Segoe UI" panose="020B0502040204020203" pitchFamily="34" charset="0"/>
              </a:rPr>
              <a:t>(A)  </a:t>
            </a:r>
            <a:r>
              <a:rPr lang="hi-IN" sz="1400">
                <a:solidFill>
                  <a:srgbClr val="94A3B8"/>
                </a:solidFill>
                <a:latin typeface="Segoe UI" panose="020B0502040204020203" pitchFamily="34" charset="0"/>
              </a:rPr>
              <a:t>बैरकपुर</a:t>
            </a:r>
            <a:endParaRPr lang="en-IN" sz="1400">
              <a:solidFill>
                <a:srgbClr val="94A3B8"/>
              </a:solidFill>
              <a:latin typeface="Segoe UI" panose="020B0502040204020203" pitchFamily="34" charset="0"/>
            </a:endParaRPr>
          </a:p>
        </p:txBody>
      </p:sp>
      <p:sp>
        <p:nvSpPr>
          <p:cNvPr id="8" name="Rectangle: Rounded Corners 7">
            <a:extLst>
              <a:ext uri="{FF2B5EF4-FFF2-40B4-BE49-F238E27FC236}">
                <a16:creationId xmlns:a16="http://schemas.microsoft.com/office/drawing/2014/main" id="{12ACA3DD-BEC3-3E55-C58E-D91D0C8E11F7}"/>
              </a:ext>
            </a:extLst>
          </p:cNvPr>
          <p:cNvSpPr/>
          <p:nvPr/>
        </p:nvSpPr>
        <p:spPr>
          <a:xfrm>
            <a:off x="6273800" y="2311400"/>
            <a:ext cx="5461000" cy="1016000"/>
          </a:xfrm>
          <a:prstGeom prst="roundRect">
            <a:avLst/>
          </a:prstGeom>
          <a:solidFill>
            <a:srgbClr val="14532D"/>
          </a:solidFill>
          <a:ln w="31750">
            <a:solidFill>
              <a:srgbClr val="22C55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A6B18639-FE4C-BF7B-3772-DF5AD078909F}"/>
              </a:ext>
            </a:extLst>
          </p:cNvPr>
          <p:cNvSpPr txBox="1"/>
          <p:nvPr/>
        </p:nvSpPr>
        <p:spPr>
          <a:xfrm>
            <a:off x="6464300" y="2463800"/>
            <a:ext cx="5080000" cy="338554"/>
          </a:xfrm>
          <a:prstGeom prst="rect">
            <a:avLst/>
          </a:prstGeom>
          <a:noFill/>
        </p:spPr>
        <p:txBody>
          <a:bodyPr vert="horz" wrap="square" rtlCol="0">
            <a:spAutoFit/>
          </a:bodyPr>
          <a:lstStyle/>
          <a:p>
            <a:r>
              <a:rPr lang="en-IN" sz="1600" b="1">
                <a:solidFill>
                  <a:srgbClr val="FDE68A"/>
                </a:solidFill>
                <a:latin typeface="Segoe UI" panose="020B0502040204020203" pitchFamily="34" charset="0"/>
              </a:rPr>
              <a:t>✅  (B)  </a:t>
            </a:r>
            <a:r>
              <a:rPr lang="hi-IN" sz="1600" b="1">
                <a:solidFill>
                  <a:srgbClr val="FDE68A"/>
                </a:solidFill>
                <a:latin typeface="Segoe UI" panose="020B0502040204020203" pitchFamily="34" charset="0"/>
              </a:rPr>
              <a:t>मेरठ छावनी</a:t>
            </a:r>
            <a:endParaRPr lang="en-IN" sz="1600" b="1">
              <a:solidFill>
                <a:srgbClr val="FDE68A"/>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D9576825-9947-BC06-C4B8-E0CD1BC8A6B0}"/>
              </a:ext>
            </a:extLst>
          </p:cNvPr>
          <p:cNvSpPr/>
          <p:nvPr/>
        </p:nvSpPr>
        <p:spPr>
          <a:xfrm>
            <a:off x="457200" y="3530600"/>
            <a:ext cx="5461000" cy="1016000"/>
          </a:xfrm>
          <a:prstGeom prst="roundRect">
            <a:avLst/>
          </a:prstGeom>
          <a:solidFill>
            <a:srgbClr val="0F172A"/>
          </a:solidFill>
          <a:ln w="12700">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8EBBD846-0096-A576-F6FF-636EC05609C6}"/>
              </a:ext>
            </a:extLst>
          </p:cNvPr>
          <p:cNvSpPr txBox="1"/>
          <p:nvPr/>
        </p:nvSpPr>
        <p:spPr>
          <a:xfrm>
            <a:off x="647700" y="3683000"/>
            <a:ext cx="5080000" cy="307777"/>
          </a:xfrm>
          <a:prstGeom prst="rect">
            <a:avLst/>
          </a:prstGeom>
          <a:noFill/>
        </p:spPr>
        <p:txBody>
          <a:bodyPr vert="horz" wrap="square" rtlCol="0">
            <a:spAutoFit/>
          </a:bodyPr>
          <a:lstStyle/>
          <a:p>
            <a:r>
              <a:rPr lang="en-IN" sz="1400">
                <a:solidFill>
                  <a:srgbClr val="94A3B8"/>
                </a:solidFill>
                <a:latin typeface="Segoe UI" panose="020B0502040204020203" pitchFamily="34" charset="0"/>
              </a:rPr>
              <a:t>(C)  </a:t>
            </a:r>
            <a:r>
              <a:rPr lang="hi-IN" sz="1400">
                <a:solidFill>
                  <a:srgbClr val="94A3B8"/>
                </a:solidFill>
                <a:latin typeface="Segoe UI" panose="020B0502040204020203" pitchFamily="34" charset="0"/>
              </a:rPr>
              <a:t>दिल्ली</a:t>
            </a:r>
            <a:endParaRPr lang="en-IN" sz="1400">
              <a:solidFill>
                <a:srgbClr val="94A3B8"/>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7F7B3305-34FD-57DA-E44F-994862A724D9}"/>
              </a:ext>
            </a:extLst>
          </p:cNvPr>
          <p:cNvSpPr/>
          <p:nvPr/>
        </p:nvSpPr>
        <p:spPr>
          <a:xfrm>
            <a:off x="6273800" y="3530600"/>
            <a:ext cx="5461000" cy="1016000"/>
          </a:xfrm>
          <a:prstGeom prst="roundRect">
            <a:avLst/>
          </a:prstGeom>
          <a:solidFill>
            <a:srgbClr val="0F172A"/>
          </a:solidFill>
          <a:ln w="12700">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7EEAEA54-5E33-1C60-3ED3-AA0E09CBF442}"/>
              </a:ext>
            </a:extLst>
          </p:cNvPr>
          <p:cNvSpPr txBox="1"/>
          <p:nvPr/>
        </p:nvSpPr>
        <p:spPr>
          <a:xfrm>
            <a:off x="6464300" y="3683000"/>
            <a:ext cx="5080000" cy="307777"/>
          </a:xfrm>
          <a:prstGeom prst="rect">
            <a:avLst/>
          </a:prstGeom>
          <a:noFill/>
        </p:spPr>
        <p:txBody>
          <a:bodyPr vert="horz" wrap="square" rtlCol="0">
            <a:spAutoFit/>
          </a:bodyPr>
          <a:lstStyle/>
          <a:p>
            <a:r>
              <a:rPr lang="en-IN" sz="1400">
                <a:solidFill>
                  <a:srgbClr val="94A3B8"/>
                </a:solidFill>
                <a:latin typeface="Segoe UI" panose="020B0502040204020203" pitchFamily="34" charset="0"/>
              </a:rPr>
              <a:t>(D)  </a:t>
            </a:r>
            <a:r>
              <a:rPr lang="hi-IN" sz="1400">
                <a:solidFill>
                  <a:srgbClr val="94A3B8"/>
                </a:solidFill>
                <a:latin typeface="Segoe UI" panose="020B0502040204020203" pitchFamily="34" charset="0"/>
              </a:rPr>
              <a:t>कानपुर</a:t>
            </a:r>
            <a:endParaRPr lang="en-IN" sz="1400">
              <a:solidFill>
                <a:srgbClr val="94A3B8"/>
              </a:solidFill>
              <a:latin typeface="Segoe UI" panose="020B0502040204020203" pitchFamily="34" charset="0"/>
            </a:endParaRPr>
          </a:p>
        </p:txBody>
      </p:sp>
      <p:sp>
        <p:nvSpPr>
          <p:cNvPr id="14" name="Rectangle: Rounded Corners 13">
            <a:extLst>
              <a:ext uri="{FF2B5EF4-FFF2-40B4-BE49-F238E27FC236}">
                <a16:creationId xmlns:a16="http://schemas.microsoft.com/office/drawing/2014/main" id="{CB8EA338-2ED0-CD86-DE00-71707DC84819}"/>
              </a:ext>
            </a:extLst>
          </p:cNvPr>
          <p:cNvSpPr/>
          <p:nvPr/>
        </p:nvSpPr>
        <p:spPr>
          <a:xfrm>
            <a:off x="457200" y="4724400"/>
            <a:ext cx="11277600" cy="1422400"/>
          </a:xfrm>
          <a:prstGeom prst="roundRect">
            <a:avLst/>
          </a:prstGeom>
          <a:solidFill>
            <a:srgbClr val="064E3B"/>
          </a:solidFill>
          <a:ln w="2540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A853B86F-0395-B7E8-B721-253965BA58C8}"/>
              </a:ext>
            </a:extLst>
          </p:cNvPr>
          <p:cNvSpPr txBox="1"/>
          <p:nvPr/>
        </p:nvSpPr>
        <p:spPr>
          <a:xfrm>
            <a:off x="635000" y="4775200"/>
            <a:ext cx="10922000" cy="307777"/>
          </a:xfrm>
          <a:prstGeom prst="rect">
            <a:avLst/>
          </a:prstGeom>
          <a:noFill/>
        </p:spPr>
        <p:txBody>
          <a:bodyPr vert="horz" rtlCol="0">
            <a:spAutoFit/>
          </a:bodyPr>
          <a:lstStyle/>
          <a:p>
            <a:r>
              <a:rPr lang="en-IN" sz="1400" b="1">
                <a:solidFill>
                  <a:srgbClr val="FDE68A"/>
                </a:solidFill>
                <a:latin typeface="Segoe UI" panose="020B0502040204020203" pitchFamily="34" charset="0"/>
              </a:rPr>
              <a:t>✅ </a:t>
            </a:r>
            <a:r>
              <a:rPr lang="hi-IN" sz="1400" b="1">
                <a:solidFill>
                  <a:srgbClr val="FDE68A"/>
                </a:solidFill>
                <a:latin typeface="Segoe UI" panose="020B0502040204020203" pitchFamily="34" charset="0"/>
              </a:rPr>
              <a:t>सही उत्तर: (</a:t>
            </a:r>
            <a:r>
              <a:rPr lang="en-IN" sz="1400" b="1">
                <a:solidFill>
                  <a:srgbClr val="FDE68A"/>
                </a:solidFill>
                <a:latin typeface="Segoe UI" panose="020B0502040204020203" pitchFamily="34" charset="0"/>
              </a:rPr>
              <a:t>B)   |   </a:t>
            </a:r>
            <a:r>
              <a:rPr lang="hi-IN" sz="1400" b="1">
                <a:solidFill>
                  <a:srgbClr val="FDE68A"/>
                </a:solidFill>
                <a:latin typeface="Segoe UI" panose="020B0502040204020203" pitchFamily="34" charset="0"/>
              </a:rPr>
              <a:t>परीक्षा व्याख्या (</a:t>
            </a:r>
            <a:r>
              <a:rPr lang="en-IN" sz="1400" b="1">
                <a:solidFill>
                  <a:srgbClr val="FDE68A"/>
                </a:solidFill>
                <a:latin typeface="Segoe UI" panose="020B0502040204020203" pitchFamily="34" charset="0"/>
              </a:rPr>
              <a:t>Exam Explanation):</a:t>
            </a:r>
          </a:p>
        </p:txBody>
      </p:sp>
      <p:sp>
        <p:nvSpPr>
          <p:cNvPr id="16" name="TextBox 15">
            <a:extLst>
              <a:ext uri="{FF2B5EF4-FFF2-40B4-BE49-F238E27FC236}">
                <a16:creationId xmlns:a16="http://schemas.microsoft.com/office/drawing/2014/main" id="{3B5CDE0C-B65F-A8A7-D968-ADD75AF21E52}"/>
              </a:ext>
            </a:extLst>
          </p:cNvPr>
          <p:cNvSpPr txBox="1"/>
          <p:nvPr/>
        </p:nvSpPr>
        <p:spPr>
          <a:xfrm>
            <a:off x="635000" y="5105400"/>
            <a:ext cx="10922000" cy="300082"/>
          </a:xfrm>
          <a:prstGeom prst="rect">
            <a:avLst/>
          </a:prstGeom>
          <a:noFill/>
        </p:spPr>
        <p:txBody>
          <a:bodyPr vert="horz" wrap="square" rtlCol="0">
            <a:spAutoFit/>
          </a:bodyPr>
          <a:lstStyle/>
          <a:p>
            <a:r>
              <a:rPr lang="en-IN" sz="1350">
                <a:solidFill>
                  <a:srgbClr val="FFFFFF"/>
                </a:solidFill>
                <a:latin typeface="Segoe UI" panose="020B0502040204020203" pitchFamily="34" charset="0"/>
              </a:rPr>
              <a:t>💡  10 </a:t>
            </a:r>
            <a:r>
              <a:rPr lang="hi-IN" sz="1350">
                <a:solidFill>
                  <a:srgbClr val="FFFFFF"/>
                </a:solidFill>
                <a:latin typeface="Segoe UI" panose="020B0502040204020203" pitchFamily="34" charset="0"/>
              </a:rPr>
              <a:t>मई 1857 को मेरठ छावनी के सैनिकों ने खुला विद्रोह कर 'दिल्ली चलो' का नारा दिया।</a:t>
            </a:r>
            <a:endParaRPr lang="en-IN" sz="1350">
              <a:solidFill>
                <a:srgbClr val="FFFFFF"/>
              </a:solidFill>
              <a:latin typeface="Segoe UI" panose="020B0502040204020203" pitchFamily="34" charset="0"/>
            </a:endParaRPr>
          </a:p>
        </p:txBody>
      </p:sp>
      <p:sp>
        <p:nvSpPr>
          <p:cNvPr id="17" name="TextBox 16">
            <a:extLst>
              <a:ext uri="{FF2B5EF4-FFF2-40B4-BE49-F238E27FC236}">
                <a16:creationId xmlns:a16="http://schemas.microsoft.com/office/drawing/2014/main" id="{59398F26-BB12-D511-494C-9B360F82643E}"/>
              </a:ext>
            </a:extLst>
          </p:cNvPr>
          <p:cNvSpPr txBox="1"/>
          <p:nvPr/>
        </p:nvSpPr>
        <p:spPr>
          <a:xfrm>
            <a:off x="381000" y="6375400"/>
            <a:ext cx="11430000" cy="246221"/>
          </a:xfrm>
          <a:prstGeom prst="rect">
            <a:avLst/>
          </a:prstGeom>
          <a:noFill/>
        </p:spPr>
        <p:txBody>
          <a:bodyPr vert="horz" rtlCol="0">
            <a:spAutoFit/>
          </a:bodyPr>
          <a:lstStyle/>
          <a:p>
            <a:r>
              <a:rPr lang="hi-IN" sz="1000">
                <a:solidFill>
                  <a:srgbClr val="64748B"/>
                </a:solidFill>
                <a:latin typeface="Segoe UI" panose="020B0502040204020203" pitchFamily="34" charset="0"/>
              </a:rPr>
              <a:t>सागर कोचिंग सेंटर भगवानपुर • कक्षा 08: 1857 की महान क्रांति • </a:t>
            </a:r>
            <a:r>
              <a:rPr lang="en-IN" sz="1000">
                <a:solidFill>
                  <a:srgbClr val="64748B"/>
                </a:solidFill>
                <a:latin typeface="Segoe UI" panose="020B0502040204020203" pitchFamily="34" charset="0"/>
              </a:rPr>
              <a:t>NMMS Special</a:t>
            </a:r>
          </a:p>
        </p:txBody>
      </p:sp>
    </p:spTree>
    <p:extLst>
      <p:ext uri="{BB962C8B-B14F-4D97-AF65-F5344CB8AC3E}">
        <p14:creationId xmlns:p14="http://schemas.microsoft.com/office/powerpoint/2010/main" val="95901412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9113E47-E825-9753-5446-2BFC4A2DE5D7}"/>
              </a:ext>
            </a:extLst>
          </p:cNvPr>
          <p:cNvSpPr/>
          <p:nvPr/>
        </p:nvSpPr>
        <p:spPr>
          <a:xfrm>
            <a:off x="0" y="0"/>
            <a:ext cx="12192000" cy="609600"/>
          </a:xfrm>
          <a:prstGeom prst="rect">
            <a:avLst/>
          </a:prstGeom>
          <a:solidFill>
            <a:srgbClr val="1E293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88895CC4-11A3-C2DC-4DF9-7308EB10972E}"/>
              </a:ext>
            </a:extLst>
          </p:cNvPr>
          <p:cNvSpPr txBox="1"/>
          <p:nvPr/>
        </p:nvSpPr>
        <p:spPr>
          <a:xfrm>
            <a:off x="381000" y="76200"/>
            <a:ext cx="11430000" cy="338554"/>
          </a:xfrm>
          <a:prstGeom prst="rect">
            <a:avLst/>
          </a:prstGeom>
          <a:noFill/>
        </p:spPr>
        <p:txBody>
          <a:bodyPr vert="horz" rtlCol="0">
            <a:spAutoFit/>
          </a:bodyPr>
          <a:lstStyle/>
          <a:p>
            <a:r>
              <a:rPr lang="en-IN" sz="1600" b="1">
                <a:solidFill>
                  <a:srgbClr val="F59E0B"/>
                </a:solidFill>
                <a:latin typeface="Segoe UI" panose="020B0502040204020203" pitchFamily="34" charset="0"/>
              </a:rPr>
              <a:t>PYQ </a:t>
            </a:r>
            <a:r>
              <a:rPr lang="hi-IN" sz="1600" b="1">
                <a:solidFill>
                  <a:srgbClr val="F59E0B"/>
                </a:solidFill>
                <a:latin typeface="Segoe UI" panose="020B0502040204020203" pitchFamily="34" charset="0"/>
              </a:rPr>
              <a:t>अभ्यास प्रश्न #2  [</a:t>
            </a:r>
            <a:r>
              <a:rPr lang="en-IN" sz="1600" b="1">
                <a:solidFill>
                  <a:srgbClr val="F59E0B"/>
                </a:solidFill>
                <a:latin typeface="Segoe UI" panose="020B0502040204020203" pitchFamily="34" charset="0"/>
              </a:rPr>
              <a:t>Bihar NMMS 2022]</a:t>
            </a:r>
          </a:p>
        </p:txBody>
      </p:sp>
      <p:sp>
        <p:nvSpPr>
          <p:cNvPr id="4" name="Rectangle: Rounded Corners 3">
            <a:extLst>
              <a:ext uri="{FF2B5EF4-FFF2-40B4-BE49-F238E27FC236}">
                <a16:creationId xmlns:a16="http://schemas.microsoft.com/office/drawing/2014/main" id="{B686B4E5-D086-E4FF-DD85-D124DB1F6931}"/>
              </a:ext>
            </a:extLst>
          </p:cNvPr>
          <p:cNvSpPr/>
          <p:nvPr/>
        </p:nvSpPr>
        <p:spPr>
          <a:xfrm>
            <a:off x="457200" y="787400"/>
            <a:ext cx="11277600" cy="1333500"/>
          </a:xfrm>
          <a:prstGeom prst="roundRect">
            <a:avLst/>
          </a:prstGeom>
          <a:solidFill>
            <a:srgbClr val="1E3A8A"/>
          </a:solidFill>
          <a:ln w="25400">
            <a:solidFill>
              <a:srgbClr val="D9770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263AF7E0-F24B-1F43-A6DF-39AE037A1D10}"/>
              </a:ext>
            </a:extLst>
          </p:cNvPr>
          <p:cNvSpPr txBox="1"/>
          <p:nvPr/>
        </p:nvSpPr>
        <p:spPr>
          <a:xfrm>
            <a:off x="635000" y="863600"/>
            <a:ext cx="10922000" cy="346249"/>
          </a:xfrm>
          <a:prstGeom prst="rect">
            <a:avLst/>
          </a:prstGeom>
          <a:noFill/>
        </p:spPr>
        <p:txBody>
          <a:bodyPr vert="horz" wrap="square" rtlCol="0">
            <a:spAutoFit/>
          </a:bodyPr>
          <a:lstStyle/>
          <a:p>
            <a:r>
              <a:rPr lang="hi-IN" sz="1650" b="1">
                <a:solidFill>
                  <a:srgbClr val="FFFFFF"/>
                </a:solidFill>
                <a:latin typeface="Segoe UI" panose="020B0502040204020203" pitchFamily="34" charset="0"/>
              </a:rPr>
              <a:t>प्र. 2. 1857 की क्रांति के प्रथम बलिदानी सैनिक निम्नलिखित में से कौन थे?</a:t>
            </a:r>
            <a:endParaRPr lang="en-IN" sz="1650" b="1">
              <a:solidFill>
                <a:srgbClr val="FFFFFF"/>
              </a:solidFill>
              <a:latin typeface="Segoe UI" panose="020B0502040204020203" pitchFamily="34" charset="0"/>
            </a:endParaRPr>
          </a:p>
        </p:txBody>
      </p:sp>
      <p:sp>
        <p:nvSpPr>
          <p:cNvPr id="6" name="Rectangle: Rounded Corners 5">
            <a:extLst>
              <a:ext uri="{FF2B5EF4-FFF2-40B4-BE49-F238E27FC236}">
                <a16:creationId xmlns:a16="http://schemas.microsoft.com/office/drawing/2014/main" id="{C934AE52-B359-1AB9-6183-B7758D764257}"/>
              </a:ext>
            </a:extLst>
          </p:cNvPr>
          <p:cNvSpPr/>
          <p:nvPr/>
        </p:nvSpPr>
        <p:spPr>
          <a:xfrm>
            <a:off x="457200" y="2311400"/>
            <a:ext cx="5461000" cy="1016000"/>
          </a:xfrm>
          <a:prstGeom prst="roundRect">
            <a:avLst/>
          </a:prstGeom>
          <a:solidFill>
            <a:srgbClr val="1E293B"/>
          </a:solidFill>
          <a:ln w="19050">
            <a:solidFill>
              <a:srgbClr val="47556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 name="TextBox 6">
            <a:extLst>
              <a:ext uri="{FF2B5EF4-FFF2-40B4-BE49-F238E27FC236}">
                <a16:creationId xmlns:a16="http://schemas.microsoft.com/office/drawing/2014/main" id="{1602ABAE-B940-08AD-4783-899EEF9389C6}"/>
              </a:ext>
            </a:extLst>
          </p:cNvPr>
          <p:cNvSpPr txBox="1"/>
          <p:nvPr/>
        </p:nvSpPr>
        <p:spPr>
          <a:xfrm>
            <a:off x="647700" y="2463800"/>
            <a:ext cx="5080000" cy="330860"/>
          </a:xfrm>
          <a:prstGeom prst="rect">
            <a:avLst/>
          </a:prstGeom>
          <a:noFill/>
        </p:spPr>
        <p:txBody>
          <a:bodyPr vert="horz" wrap="square" rtlCol="0">
            <a:spAutoFit/>
          </a:bodyPr>
          <a:lstStyle/>
          <a:p>
            <a:r>
              <a:rPr lang="en-IN" sz="1550" b="1">
                <a:solidFill>
                  <a:srgbClr val="F8FAFC"/>
                </a:solidFill>
                <a:latin typeface="Segoe UI" panose="020B0502040204020203" pitchFamily="34" charset="0"/>
              </a:rPr>
              <a:t>(A)  </a:t>
            </a:r>
            <a:r>
              <a:rPr lang="hi-IN" sz="1550" b="1">
                <a:solidFill>
                  <a:srgbClr val="F8FAFC"/>
                </a:solidFill>
                <a:latin typeface="Segoe UI" panose="020B0502040204020203" pitchFamily="34" charset="0"/>
              </a:rPr>
              <a:t>तात्या टोपे</a:t>
            </a:r>
            <a:endParaRPr lang="en-IN" sz="1550" b="1">
              <a:solidFill>
                <a:srgbClr val="F8FAFC"/>
              </a:solidFill>
              <a:latin typeface="Segoe UI" panose="020B0502040204020203" pitchFamily="34" charset="0"/>
            </a:endParaRPr>
          </a:p>
        </p:txBody>
      </p:sp>
      <p:sp>
        <p:nvSpPr>
          <p:cNvPr id="8" name="Rectangle: Rounded Corners 7">
            <a:extLst>
              <a:ext uri="{FF2B5EF4-FFF2-40B4-BE49-F238E27FC236}">
                <a16:creationId xmlns:a16="http://schemas.microsoft.com/office/drawing/2014/main" id="{41DFE9FC-6571-87CC-618D-69A0F3382A09}"/>
              </a:ext>
            </a:extLst>
          </p:cNvPr>
          <p:cNvSpPr/>
          <p:nvPr/>
        </p:nvSpPr>
        <p:spPr>
          <a:xfrm>
            <a:off x="6273800" y="2311400"/>
            <a:ext cx="5461000" cy="1016000"/>
          </a:xfrm>
          <a:prstGeom prst="roundRect">
            <a:avLst/>
          </a:prstGeom>
          <a:solidFill>
            <a:srgbClr val="1E293B"/>
          </a:solidFill>
          <a:ln w="19050">
            <a:solidFill>
              <a:srgbClr val="47556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C9905C03-2359-254D-5865-4C334E2B2C86}"/>
              </a:ext>
            </a:extLst>
          </p:cNvPr>
          <p:cNvSpPr txBox="1"/>
          <p:nvPr/>
        </p:nvSpPr>
        <p:spPr>
          <a:xfrm>
            <a:off x="6464300" y="2463800"/>
            <a:ext cx="5080000" cy="330860"/>
          </a:xfrm>
          <a:prstGeom prst="rect">
            <a:avLst/>
          </a:prstGeom>
          <a:noFill/>
        </p:spPr>
        <p:txBody>
          <a:bodyPr vert="horz" wrap="square" rtlCol="0">
            <a:spAutoFit/>
          </a:bodyPr>
          <a:lstStyle/>
          <a:p>
            <a:r>
              <a:rPr lang="en-IN" sz="1550" b="1">
                <a:solidFill>
                  <a:srgbClr val="F8FAFC"/>
                </a:solidFill>
                <a:latin typeface="Segoe UI" panose="020B0502040204020203" pitchFamily="34" charset="0"/>
              </a:rPr>
              <a:t>(B)  </a:t>
            </a:r>
            <a:r>
              <a:rPr lang="hi-IN" sz="1550" b="1">
                <a:solidFill>
                  <a:srgbClr val="F8FAFC"/>
                </a:solidFill>
                <a:latin typeface="Segoe UI" panose="020B0502040204020203" pitchFamily="34" charset="0"/>
              </a:rPr>
              <a:t>मंगल पांडे</a:t>
            </a:r>
            <a:endParaRPr lang="en-IN" sz="1550" b="1">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6615FF2A-7024-1373-D355-B1B1759B12C4}"/>
              </a:ext>
            </a:extLst>
          </p:cNvPr>
          <p:cNvSpPr/>
          <p:nvPr/>
        </p:nvSpPr>
        <p:spPr>
          <a:xfrm>
            <a:off x="457200" y="3530600"/>
            <a:ext cx="5461000" cy="1016000"/>
          </a:xfrm>
          <a:prstGeom prst="roundRect">
            <a:avLst/>
          </a:prstGeom>
          <a:solidFill>
            <a:srgbClr val="1E293B"/>
          </a:solidFill>
          <a:ln w="19050">
            <a:solidFill>
              <a:srgbClr val="47556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85709BDE-9B73-B924-5A83-47ACBCDD5220}"/>
              </a:ext>
            </a:extLst>
          </p:cNvPr>
          <p:cNvSpPr txBox="1"/>
          <p:nvPr/>
        </p:nvSpPr>
        <p:spPr>
          <a:xfrm>
            <a:off x="647700" y="3683000"/>
            <a:ext cx="5080000" cy="330860"/>
          </a:xfrm>
          <a:prstGeom prst="rect">
            <a:avLst/>
          </a:prstGeom>
          <a:noFill/>
        </p:spPr>
        <p:txBody>
          <a:bodyPr vert="horz" wrap="square" rtlCol="0">
            <a:spAutoFit/>
          </a:bodyPr>
          <a:lstStyle/>
          <a:p>
            <a:r>
              <a:rPr lang="en-IN" sz="1550" b="1">
                <a:solidFill>
                  <a:srgbClr val="F8FAFC"/>
                </a:solidFill>
                <a:latin typeface="Segoe UI" panose="020B0502040204020203" pitchFamily="34" charset="0"/>
              </a:rPr>
              <a:t>(C)  </a:t>
            </a:r>
            <a:r>
              <a:rPr lang="hi-IN" sz="1550" b="1">
                <a:solidFill>
                  <a:srgbClr val="F8FAFC"/>
                </a:solidFill>
                <a:latin typeface="Segoe UI" panose="020B0502040204020203" pitchFamily="34" charset="0"/>
              </a:rPr>
              <a:t>भगत सिंह</a:t>
            </a:r>
            <a:endParaRPr lang="en-IN" sz="1550" b="1">
              <a:solidFill>
                <a:srgbClr val="F8FAFC"/>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6ABFBCCF-AE1F-38D3-739D-2AA8FFDCEEEC}"/>
              </a:ext>
            </a:extLst>
          </p:cNvPr>
          <p:cNvSpPr/>
          <p:nvPr/>
        </p:nvSpPr>
        <p:spPr>
          <a:xfrm>
            <a:off x="6273800" y="3530600"/>
            <a:ext cx="5461000" cy="1016000"/>
          </a:xfrm>
          <a:prstGeom prst="roundRect">
            <a:avLst/>
          </a:prstGeom>
          <a:solidFill>
            <a:srgbClr val="1E293B"/>
          </a:solidFill>
          <a:ln w="19050">
            <a:solidFill>
              <a:srgbClr val="47556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E95210E1-40AB-EB55-D797-A1A3DA98E61C}"/>
              </a:ext>
            </a:extLst>
          </p:cNvPr>
          <p:cNvSpPr txBox="1"/>
          <p:nvPr/>
        </p:nvSpPr>
        <p:spPr>
          <a:xfrm>
            <a:off x="6464300" y="3683000"/>
            <a:ext cx="5080000" cy="330860"/>
          </a:xfrm>
          <a:prstGeom prst="rect">
            <a:avLst/>
          </a:prstGeom>
          <a:noFill/>
        </p:spPr>
        <p:txBody>
          <a:bodyPr vert="horz" wrap="square" rtlCol="0">
            <a:spAutoFit/>
          </a:bodyPr>
          <a:lstStyle/>
          <a:p>
            <a:r>
              <a:rPr lang="en-IN" sz="1550" b="1">
                <a:solidFill>
                  <a:srgbClr val="F8FAFC"/>
                </a:solidFill>
                <a:latin typeface="Segoe UI" panose="020B0502040204020203" pitchFamily="34" charset="0"/>
              </a:rPr>
              <a:t>(D)  </a:t>
            </a:r>
            <a:r>
              <a:rPr lang="hi-IN" sz="1550" b="1">
                <a:solidFill>
                  <a:srgbClr val="F8FAFC"/>
                </a:solidFill>
                <a:latin typeface="Segoe UI" panose="020B0502040204020203" pitchFamily="34" charset="0"/>
              </a:rPr>
              <a:t>वीर कुंवर सिंह</a:t>
            </a:r>
            <a:endParaRPr lang="en-IN" sz="1550" b="1">
              <a:solidFill>
                <a:srgbClr val="F8FAFC"/>
              </a:solidFill>
              <a:latin typeface="Segoe UI" panose="020B0502040204020203" pitchFamily="34" charset="0"/>
            </a:endParaRPr>
          </a:p>
        </p:txBody>
      </p:sp>
      <p:sp>
        <p:nvSpPr>
          <p:cNvPr id="14" name="Rectangle: Rounded Corners 13">
            <a:extLst>
              <a:ext uri="{FF2B5EF4-FFF2-40B4-BE49-F238E27FC236}">
                <a16:creationId xmlns:a16="http://schemas.microsoft.com/office/drawing/2014/main" id="{9F73198E-FB17-1205-6727-3852F5E5E49F}"/>
              </a:ext>
            </a:extLst>
          </p:cNvPr>
          <p:cNvSpPr/>
          <p:nvPr/>
        </p:nvSpPr>
        <p:spPr>
          <a:xfrm>
            <a:off x="2921000" y="4826000"/>
            <a:ext cx="6350000" cy="711200"/>
          </a:xfrm>
          <a:prstGeom prst="roundRect">
            <a:avLst/>
          </a:prstGeom>
          <a:solidFill>
            <a:srgbClr val="312E81"/>
          </a:solidFill>
          <a:ln w="19050">
            <a:solidFill>
              <a:srgbClr val="6366F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AFD7A8C6-E70B-F4C7-1AA9-B5D2A8053ADD}"/>
              </a:ext>
            </a:extLst>
          </p:cNvPr>
          <p:cNvSpPr txBox="1"/>
          <p:nvPr/>
        </p:nvSpPr>
        <p:spPr>
          <a:xfrm>
            <a:off x="2984500" y="4927600"/>
            <a:ext cx="6223000" cy="307777"/>
          </a:xfrm>
          <a:prstGeom prst="rect">
            <a:avLst/>
          </a:prstGeom>
          <a:noFill/>
        </p:spPr>
        <p:txBody>
          <a:bodyPr vert="horz" rtlCol="0">
            <a:spAutoFit/>
          </a:bodyPr>
          <a:lstStyle/>
          <a:p>
            <a:pPr algn="ctr"/>
            <a:r>
              <a:rPr lang="en-IN" sz="1400" b="1">
                <a:solidFill>
                  <a:srgbClr val="FDE68A"/>
                </a:solidFill>
                <a:latin typeface="Segoe UI" panose="020B0502040204020203" pitchFamily="34" charset="0"/>
              </a:rPr>
              <a:t>⏱ 10 </a:t>
            </a:r>
            <a:r>
              <a:rPr lang="hi-IN" sz="1400" b="1">
                <a:solidFill>
                  <a:srgbClr val="FDE68A"/>
                </a:solidFill>
                <a:latin typeface="Segoe UI" panose="020B0502040204020203" pitchFamily="34" charset="0"/>
              </a:rPr>
              <a:t>सेकंड सोचिए और सही विकल्प चुनिए: (</a:t>
            </a:r>
            <a:r>
              <a:rPr lang="en-IN" sz="1400" b="1">
                <a:solidFill>
                  <a:srgbClr val="FDE68A"/>
                </a:solidFill>
                <a:latin typeface="Segoe UI" panose="020B0502040204020203" pitchFamily="34" charset="0"/>
              </a:rPr>
              <a:t>A), (B), (C) </a:t>
            </a:r>
            <a:r>
              <a:rPr lang="hi-IN" sz="1400" b="1">
                <a:solidFill>
                  <a:srgbClr val="FDE68A"/>
                </a:solidFill>
                <a:latin typeface="Segoe UI" panose="020B0502040204020203" pitchFamily="34" charset="0"/>
              </a:rPr>
              <a:t>या (</a:t>
            </a:r>
            <a:r>
              <a:rPr lang="en-IN" sz="1400" b="1">
                <a:solidFill>
                  <a:srgbClr val="FDE68A"/>
                </a:solidFill>
                <a:latin typeface="Segoe UI" panose="020B0502040204020203" pitchFamily="34" charset="0"/>
              </a:rPr>
              <a:t>D)</a:t>
            </a:r>
          </a:p>
        </p:txBody>
      </p:sp>
      <p:sp>
        <p:nvSpPr>
          <p:cNvPr id="16" name="TextBox 15">
            <a:extLst>
              <a:ext uri="{FF2B5EF4-FFF2-40B4-BE49-F238E27FC236}">
                <a16:creationId xmlns:a16="http://schemas.microsoft.com/office/drawing/2014/main" id="{DECA4CF9-7695-8C68-5DA3-23B52E7AE06D}"/>
              </a:ext>
            </a:extLst>
          </p:cNvPr>
          <p:cNvSpPr txBox="1"/>
          <p:nvPr/>
        </p:nvSpPr>
        <p:spPr>
          <a:xfrm>
            <a:off x="381000" y="6375400"/>
            <a:ext cx="11430000" cy="246221"/>
          </a:xfrm>
          <a:prstGeom prst="rect">
            <a:avLst/>
          </a:prstGeom>
          <a:noFill/>
        </p:spPr>
        <p:txBody>
          <a:bodyPr vert="horz" rtlCol="0">
            <a:spAutoFit/>
          </a:bodyPr>
          <a:lstStyle/>
          <a:p>
            <a:r>
              <a:rPr lang="hi-IN" sz="1000">
                <a:solidFill>
                  <a:srgbClr val="64748B"/>
                </a:solidFill>
                <a:latin typeface="Segoe UI" panose="020B0502040204020203" pitchFamily="34" charset="0"/>
              </a:rPr>
              <a:t>सागर कोचिंग सेंटर भगवानपुर • कक्षा 08: 1857 की महान क्रांति • </a:t>
            </a:r>
            <a:r>
              <a:rPr lang="en-IN" sz="1000">
                <a:solidFill>
                  <a:srgbClr val="64748B"/>
                </a:solidFill>
                <a:latin typeface="Segoe UI" panose="020B0502040204020203" pitchFamily="34" charset="0"/>
              </a:rPr>
              <a:t>NMMS Special</a:t>
            </a:r>
          </a:p>
        </p:txBody>
      </p:sp>
    </p:spTree>
    <p:extLst>
      <p:ext uri="{BB962C8B-B14F-4D97-AF65-F5344CB8AC3E}">
        <p14:creationId xmlns:p14="http://schemas.microsoft.com/office/powerpoint/2010/main" val="428426591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2A2F49F-3ACF-8587-8EDD-4AF670E01B82}"/>
              </a:ext>
            </a:extLst>
          </p:cNvPr>
          <p:cNvSpPr/>
          <p:nvPr/>
        </p:nvSpPr>
        <p:spPr>
          <a:xfrm>
            <a:off x="0" y="0"/>
            <a:ext cx="12192000" cy="609600"/>
          </a:xfrm>
          <a:prstGeom prst="rect">
            <a:avLst/>
          </a:prstGeom>
          <a:solidFill>
            <a:srgbClr val="1E293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5144860B-AB66-DB2B-959D-263AA265A498}"/>
              </a:ext>
            </a:extLst>
          </p:cNvPr>
          <p:cNvSpPr txBox="1"/>
          <p:nvPr/>
        </p:nvSpPr>
        <p:spPr>
          <a:xfrm>
            <a:off x="381000" y="76200"/>
            <a:ext cx="11430000" cy="338554"/>
          </a:xfrm>
          <a:prstGeom prst="rect">
            <a:avLst/>
          </a:prstGeom>
          <a:noFill/>
        </p:spPr>
        <p:txBody>
          <a:bodyPr vert="horz" rtlCol="0">
            <a:spAutoFit/>
          </a:bodyPr>
          <a:lstStyle/>
          <a:p>
            <a:r>
              <a:rPr lang="en-IN" sz="1600" b="1">
                <a:solidFill>
                  <a:srgbClr val="10B981"/>
                </a:solidFill>
                <a:latin typeface="Segoe UI" panose="020B0502040204020203" pitchFamily="34" charset="0"/>
              </a:rPr>
              <a:t>PYQ </a:t>
            </a:r>
            <a:r>
              <a:rPr lang="hi-IN" sz="1600" b="1">
                <a:solidFill>
                  <a:srgbClr val="10B981"/>
                </a:solidFill>
                <a:latin typeface="Segoe UI" panose="020B0502040204020203" pitchFamily="34" charset="0"/>
              </a:rPr>
              <a:t>अभ्यास प्रश्न #2  [</a:t>
            </a:r>
            <a:r>
              <a:rPr lang="en-IN" sz="1600" b="1">
                <a:solidFill>
                  <a:srgbClr val="10B981"/>
                </a:solidFill>
                <a:latin typeface="Segoe UI" panose="020B0502040204020203" pitchFamily="34" charset="0"/>
              </a:rPr>
              <a:t>Bihar NMMS 2022] - Answer &amp; Explanation</a:t>
            </a:r>
          </a:p>
        </p:txBody>
      </p:sp>
      <p:sp>
        <p:nvSpPr>
          <p:cNvPr id="4" name="Rectangle: Rounded Corners 3">
            <a:extLst>
              <a:ext uri="{FF2B5EF4-FFF2-40B4-BE49-F238E27FC236}">
                <a16:creationId xmlns:a16="http://schemas.microsoft.com/office/drawing/2014/main" id="{0A23561D-D4C8-BC50-C5FB-C9C4E2A656A9}"/>
              </a:ext>
            </a:extLst>
          </p:cNvPr>
          <p:cNvSpPr/>
          <p:nvPr/>
        </p:nvSpPr>
        <p:spPr>
          <a:xfrm>
            <a:off x="457200" y="787400"/>
            <a:ext cx="11277600" cy="1333500"/>
          </a:xfrm>
          <a:prstGeom prst="roundRect">
            <a:avLst/>
          </a:prstGeom>
          <a:solidFill>
            <a:srgbClr val="1E3A8A"/>
          </a:solidFill>
          <a:ln w="25400">
            <a:solidFill>
              <a:srgbClr val="D9770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5FBF6714-B8AD-AAB2-A8B3-287077DB7CD9}"/>
              </a:ext>
            </a:extLst>
          </p:cNvPr>
          <p:cNvSpPr txBox="1"/>
          <p:nvPr/>
        </p:nvSpPr>
        <p:spPr>
          <a:xfrm>
            <a:off x="635000" y="863600"/>
            <a:ext cx="10922000" cy="346249"/>
          </a:xfrm>
          <a:prstGeom prst="rect">
            <a:avLst/>
          </a:prstGeom>
          <a:noFill/>
        </p:spPr>
        <p:txBody>
          <a:bodyPr vert="horz" wrap="square" rtlCol="0">
            <a:spAutoFit/>
          </a:bodyPr>
          <a:lstStyle/>
          <a:p>
            <a:r>
              <a:rPr lang="hi-IN" sz="1650" b="1">
                <a:solidFill>
                  <a:srgbClr val="FFFFFF"/>
                </a:solidFill>
                <a:latin typeface="Segoe UI" panose="020B0502040204020203" pitchFamily="34" charset="0"/>
              </a:rPr>
              <a:t>प्र. 2. 1857 की क्रांति के प्रथम बलिदानी सैनिक निम्नलिखित में से कौन थे?</a:t>
            </a:r>
            <a:endParaRPr lang="en-IN" sz="1650" b="1">
              <a:solidFill>
                <a:srgbClr val="FFFFFF"/>
              </a:solidFill>
              <a:latin typeface="Segoe UI" panose="020B0502040204020203" pitchFamily="34" charset="0"/>
            </a:endParaRPr>
          </a:p>
        </p:txBody>
      </p:sp>
      <p:sp>
        <p:nvSpPr>
          <p:cNvPr id="6" name="Rectangle: Rounded Corners 5">
            <a:extLst>
              <a:ext uri="{FF2B5EF4-FFF2-40B4-BE49-F238E27FC236}">
                <a16:creationId xmlns:a16="http://schemas.microsoft.com/office/drawing/2014/main" id="{E0380B35-53ED-FF77-2AAB-051BCF52A3E9}"/>
              </a:ext>
            </a:extLst>
          </p:cNvPr>
          <p:cNvSpPr/>
          <p:nvPr/>
        </p:nvSpPr>
        <p:spPr>
          <a:xfrm>
            <a:off x="457200" y="2311400"/>
            <a:ext cx="5461000" cy="1016000"/>
          </a:xfrm>
          <a:prstGeom prst="roundRect">
            <a:avLst/>
          </a:prstGeom>
          <a:solidFill>
            <a:srgbClr val="0F172A"/>
          </a:solidFill>
          <a:ln w="12700">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 name="TextBox 6">
            <a:extLst>
              <a:ext uri="{FF2B5EF4-FFF2-40B4-BE49-F238E27FC236}">
                <a16:creationId xmlns:a16="http://schemas.microsoft.com/office/drawing/2014/main" id="{F89489F6-DEF7-9CAF-C764-B559FD40943B}"/>
              </a:ext>
            </a:extLst>
          </p:cNvPr>
          <p:cNvSpPr txBox="1"/>
          <p:nvPr/>
        </p:nvSpPr>
        <p:spPr>
          <a:xfrm>
            <a:off x="647700" y="2463800"/>
            <a:ext cx="5080000" cy="307777"/>
          </a:xfrm>
          <a:prstGeom prst="rect">
            <a:avLst/>
          </a:prstGeom>
          <a:noFill/>
        </p:spPr>
        <p:txBody>
          <a:bodyPr vert="horz" wrap="square" rtlCol="0">
            <a:spAutoFit/>
          </a:bodyPr>
          <a:lstStyle/>
          <a:p>
            <a:r>
              <a:rPr lang="en-IN" sz="1400">
                <a:solidFill>
                  <a:srgbClr val="94A3B8"/>
                </a:solidFill>
                <a:latin typeface="Segoe UI" panose="020B0502040204020203" pitchFamily="34" charset="0"/>
              </a:rPr>
              <a:t>(A)  </a:t>
            </a:r>
            <a:r>
              <a:rPr lang="hi-IN" sz="1400">
                <a:solidFill>
                  <a:srgbClr val="94A3B8"/>
                </a:solidFill>
                <a:latin typeface="Segoe UI" panose="020B0502040204020203" pitchFamily="34" charset="0"/>
              </a:rPr>
              <a:t>तात्या टोपे</a:t>
            </a:r>
            <a:endParaRPr lang="en-IN" sz="1400">
              <a:solidFill>
                <a:srgbClr val="94A3B8"/>
              </a:solidFill>
              <a:latin typeface="Segoe UI" panose="020B0502040204020203" pitchFamily="34" charset="0"/>
            </a:endParaRPr>
          </a:p>
        </p:txBody>
      </p:sp>
      <p:sp>
        <p:nvSpPr>
          <p:cNvPr id="8" name="Rectangle: Rounded Corners 7">
            <a:extLst>
              <a:ext uri="{FF2B5EF4-FFF2-40B4-BE49-F238E27FC236}">
                <a16:creationId xmlns:a16="http://schemas.microsoft.com/office/drawing/2014/main" id="{F25774A7-4775-AC72-3D9B-2ED8EB023527}"/>
              </a:ext>
            </a:extLst>
          </p:cNvPr>
          <p:cNvSpPr/>
          <p:nvPr/>
        </p:nvSpPr>
        <p:spPr>
          <a:xfrm>
            <a:off x="6273800" y="2311400"/>
            <a:ext cx="5461000" cy="1016000"/>
          </a:xfrm>
          <a:prstGeom prst="roundRect">
            <a:avLst/>
          </a:prstGeom>
          <a:solidFill>
            <a:srgbClr val="14532D"/>
          </a:solidFill>
          <a:ln w="31750">
            <a:solidFill>
              <a:srgbClr val="22C55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0366D285-1AB0-64DD-5AB1-139FA0A7A909}"/>
              </a:ext>
            </a:extLst>
          </p:cNvPr>
          <p:cNvSpPr txBox="1"/>
          <p:nvPr/>
        </p:nvSpPr>
        <p:spPr>
          <a:xfrm>
            <a:off x="6464300" y="2463800"/>
            <a:ext cx="5080000" cy="338554"/>
          </a:xfrm>
          <a:prstGeom prst="rect">
            <a:avLst/>
          </a:prstGeom>
          <a:noFill/>
        </p:spPr>
        <p:txBody>
          <a:bodyPr vert="horz" wrap="square" rtlCol="0">
            <a:spAutoFit/>
          </a:bodyPr>
          <a:lstStyle/>
          <a:p>
            <a:r>
              <a:rPr lang="en-IN" sz="1600" b="1">
                <a:solidFill>
                  <a:srgbClr val="FDE68A"/>
                </a:solidFill>
                <a:latin typeface="Segoe UI" panose="020B0502040204020203" pitchFamily="34" charset="0"/>
              </a:rPr>
              <a:t>✅  (B)  </a:t>
            </a:r>
            <a:r>
              <a:rPr lang="hi-IN" sz="1600" b="1">
                <a:solidFill>
                  <a:srgbClr val="FDE68A"/>
                </a:solidFill>
                <a:latin typeface="Segoe UI" panose="020B0502040204020203" pitchFamily="34" charset="0"/>
              </a:rPr>
              <a:t>मंगल पांडे</a:t>
            </a:r>
            <a:endParaRPr lang="en-IN" sz="1600" b="1">
              <a:solidFill>
                <a:srgbClr val="FDE68A"/>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C35268E1-EEB2-EB4B-6479-2D91CBAFD5BB}"/>
              </a:ext>
            </a:extLst>
          </p:cNvPr>
          <p:cNvSpPr/>
          <p:nvPr/>
        </p:nvSpPr>
        <p:spPr>
          <a:xfrm>
            <a:off x="457200" y="3530600"/>
            <a:ext cx="5461000" cy="1016000"/>
          </a:xfrm>
          <a:prstGeom prst="roundRect">
            <a:avLst/>
          </a:prstGeom>
          <a:solidFill>
            <a:srgbClr val="0F172A"/>
          </a:solidFill>
          <a:ln w="12700">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B324C568-7B33-BF58-35C3-8512EC1EFBB8}"/>
              </a:ext>
            </a:extLst>
          </p:cNvPr>
          <p:cNvSpPr txBox="1"/>
          <p:nvPr/>
        </p:nvSpPr>
        <p:spPr>
          <a:xfrm>
            <a:off x="647700" y="3683000"/>
            <a:ext cx="5080000" cy="307777"/>
          </a:xfrm>
          <a:prstGeom prst="rect">
            <a:avLst/>
          </a:prstGeom>
          <a:noFill/>
        </p:spPr>
        <p:txBody>
          <a:bodyPr vert="horz" wrap="square" rtlCol="0">
            <a:spAutoFit/>
          </a:bodyPr>
          <a:lstStyle/>
          <a:p>
            <a:r>
              <a:rPr lang="en-IN" sz="1400">
                <a:solidFill>
                  <a:srgbClr val="94A3B8"/>
                </a:solidFill>
                <a:latin typeface="Segoe UI" panose="020B0502040204020203" pitchFamily="34" charset="0"/>
              </a:rPr>
              <a:t>(C)  </a:t>
            </a:r>
            <a:r>
              <a:rPr lang="hi-IN" sz="1400">
                <a:solidFill>
                  <a:srgbClr val="94A3B8"/>
                </a:solidFill>
                <a:latin typeface="Segoe UI" panose="020B0502040204020203" pitchFamily="34" charset="0"/>
              </a:rPr>
              <a:t>भगत सिंह</a:t>
            </a:r>
            <a:endParaRPr lang="en-IN" sz="1400">
              <a:solidFill>
                <a:srgbClr val="94A3B8"/>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9EE540A3-87DB-B67D-347E-A79FCD713577}"/>
              </a:ext>
            </a:extLst>
          </p:cNvPr>
          <p:cNvSpPr/>
          <p:nvPr/>
        </p:nvSpPr>
        <p:spPr>
          <a:xfrm>
            <a:off x="6273800" y="3530600"/>
            <a:ext cx="5461000" cy="1016000"/>
          </a:xfrm>
          <a:prstGeom prst="roundRect">
            <a:avLst/>
          </a:prstGeom>
          <a:solidFill>
            <a:srgbClr val="0F172A"/>
          </a:solidFill>
          <a:ln w="12700">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2A10B189-F61A-CF38-524F-3175A90422DE}"/>
              </a:ext>
            </a:extLst>
          </p:cNvPr>
          <p:cNvSpPr txBox="1"/>
          <p:nvPr/>
        </p:nvSpPr>
        <p:spPr>
          <a:xfrm>
            <a:off x="6464300" y="3683000"/>
            <a:ext cx="5080000" cy="307777"/>
          </a:xfrm>
          <a:prstGeom prst="rect">
            <a:avLst/>
          </a:prstGeom>
          <a:noFill/>
        </p:spPr>
        <p:txBody>
          <a:bodyPr vert="horz" wrap="square" rtlCol="0">
            <a:spAutoFit/>
          </a:bodyPr>
          <a:lstStyle/>
          <a:p>
            <a:r>
              <a:rPr lang="en-IN" sz="1400">
                <a:solidFill>
                  <a:srgbClr val="94A3B8"/>
                </a:solidFill>
                <a:latin typeface="Segoe UI" panose="020B0502040204020203" pitchFamily="34" charset="0"/>
              </a:rPr>
              <a:t>(D)  </a:t>
            </a:r>
            <a:r>
              <a:rPr lang="hi-IN" sz="1400">
                <a:solidFill>
                  <a:srgbClr val="94A3B8"/>
                </a:solidFill>
                <a:latin typeface="Segoe UI" panose="020B0502040204020203" pitchFamily="34" charset="0"/>
              </a:rPr>
              <a:t>वीर कुंवर सिंह</a:t>
            </a:r>
            <a:endParaRPr lang="en-IN" sz="1400">
              <a:solidFill>
                <a:srgbClr val="94A3B8"/>
              </a:solidFill>
              <a:latin typeface="Segoe UI" panose="020B0502040204020203" pitchFamily="34" charset="0"/>
            </a:endParaRPr>
          </a:p>
        </p:txBody>
      </p:sp>
      <p:sp>
        <p:nvSpPr>
          <p:cNvPr id="14" name="Rectangle: Rounded Corners 13">
            <a:extLst>
              <a:ext uri="{FF2B5EF4-FFF2-40B4-BE49-F238E27FC236}">
                <a16:creationId xmlns:a16="http://schemas.microsoft.com/office/drawing/2014/main" id="{8EFBB98C-A50F-6A67-E44B-55483209415E}"/>
              </a:ext>
            </a:extLst>
          </p:cNvPr>
          <p:cNvSpPr/>
          <p:nvPr/>
        </p:nvSpPr>
        <p:spPr>
          <a:xfrm>
            <a:off x="457200" y="4724400"/>
            <a:ext cx="11277600" cy="1422400"/>
          </a:xfrm>
          <a:prstGeom prst="roundRect">
            <a:avLst/>
          </a:prstGeom>
          <a:solidFill>
            <a:srgbClr val="064E3B"/>
          </a:solidFill>
          <a:ln w="2540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D66E254C-DED6-BEA2-A6E5-3927785D27E5}"/>
              </a:ext>
            </a:extLst>
          </p:cNvPr>
          <p:cNvSpPr txBox="1"/>
          <p:nvPr/>
        </p:nvSpPr>
        <p:spPr>
          <a:xfrm>
            <a:off x="635000" y="4775200"/>
            <a:ext cx="10922000" cy="307777"/>
          </a:xfrm>
          <a:prstGeom prst="rect">
            <a:avLst/>
          </a:prstGeom>
          <a:noFill/>
        </p:spPr>
        <p:txBody>
          <a:bodyPr vert="horz" rtlCol="0">
            <a:spAutoFit/>
          </a:bodyPr>
          <a:lstStyle/>
          <a:p>
            <a:r>
              <a:rPr lang="en-IN" sz="1400" b="1">
                <a:solidFill>
                  <a:srgbClr val="FDE68A"/>
                </a:solidFill>
                <a:latin typeface="Segoe UI" panose="020B0502040204020203" pitchFamily="34" charset="0"/>
              </a:rPr>
              <a:t>✅ </a:t>
            </a:r>
            <a:r>
              <a:rPr lang="hi-IN" sz="1400" b="1">
                <a:solidFill>
                  <a:srgbClr val="FDE68A"/>
                </a:solidFill>
                <a:latin typeface="Segoe UI" panose="020B0502040204020203" pitchFamily="34" charset="0"/>
              </a:rPr>
              <a:t>सही उत्तर: (</a:t>
            </a:r>
            <a:r>
              <a:rPr lang="en-IN" sz="1400" b="1">
                <a:solidFill>
                  <a:srgbClr val="FDE68A"/>
                </a:solidFill>
                <a:latin typeface="Segoe UI" panose="020B0502040204020203" pitchFamily="34" charset="0"/>
              </a:rPr>
              <a:t>B)   |   </a:t>
            </a:r>
            <a:r>
              <a:rPr lang="hi-IN" sz="1400" b="1">
                <a:solidFill>
                  <a:srgbClr val="FDE68A"/>
                </a:solidFill>
                <a:latin typeface="Segoe UI" panose="020B0502040204020203" pitchFamily="34" charset="0"/>
              </a:rPr>
              <a:t>परीक्षा व्याख्या (</a:t>
            </a:r>
            <a:r>
              <a:rPr lang="en-IN" sz="1400" b="1">
                <a:solidFill>
                  <a:srgbClr val="FDE68A"/>
                </a:solidFill>
                <a:latin typeface="Segoe UI" panose="020B0502040204020203" pitchFamily="34" charset="0"/>
              </a:rPr>
              <a:t>Exam Explanation):</a:t>
            </a:r>
          </a:p>
        </p:txBody>
      </p:sp>
      <p:sp>
        <p:nvSpPr>
          <p:cNvPr id="16" name="TextBox 15">
            <a:extLst>
              <a:ext uri="{FF2B5EF4-FFF2-40B4-BE49-F238E27FC236}">
                <a16:creationId xmlns:a16="http://schemas.microsoft.com/office/drawing/2014/main" id="{B84B4EF3-410A-3E8D-EFB3-82F85BC42672}"/>
              </a:ext>
            </a:extLst>
          </p:cNvPr>
          <p:cNvSpPr txBox="1"/>
          <p:nvPr/>
        </p:nvSpPr>
        <p:spPr>
          <a:xfrm>
            <a:off x="635000" y="5105400"/>
            <a:ext cx="10922000" cy="300082"/>
          </a:xfrm>
          <a:prstGeom prst="rect">
            <a:avLst/>
          </a:prstGeom>
          <a:noFill/>
        </p:spPr>
        <p:txBody>
          <a:bodyPr vert="horz" wrap="square" rtlCol="0">
            <a:spAutoFit/>
          </a:bodyPr>
          <a:lstStyle/>
          <a:p>
            <a:r>
              <a:rPr lang="en-IN" sz="1350">
                <a:solidFill>
                  <a:srgbClr val="FFFFFF"/>
                </a:solidFill>
                <a:latin typeface="Segoe UI" panose="020B0502040204020203" pitchFamily="34" charset="0"/>
              </a:rPr>
              <a:t>💡  </a:t>
            </a:r>
            <a:r>
              <a:rPr lang="hi-IN" sz="1350">
                <a:solidFill>
                  <a:srgbClr val="FFFFFF"/>
                </a:solidFill>
                <a:latin typeface="Segoe UI" panose="020B0502040204020203" pitchFamily="34" charset="0"/>
              </a:rPr>
              <a:t>बैरकपुर छावनी के 34वीं इन्फैंट्री के सैनिक मंगल पांडे को 8 अप्रैल 1857 को फांसी दी गई।</a:t>
            </a:r>
            <a:endParaRPr lang="en-IN" sz="1350">
              <a:solidFill>
                <a:srgbClr val="FFFFFF"/>
              </a:solidFill>
              <a:latin typeface="Segoe UI" panose="020B0502040204020203" pitchFamily="34" charset="0"/>
            </a:endParaRPr>
          </a:p>
        </p:txBody>
      </p:sp>
      <p:sp>
        <p:nvSpPr>
          <p:cNvPr id="17" name="TextBox 16">
            <a:extLst>
              <a:ext uri="{FF2B5EF4-FFF2-40B4-BE49-F238E27FC236}">
                <a16:creationId xmlns:a16="http://schemas.microsoft.com/office/drawing/2014/main" id="{86FD7440-084E-17B9-F561-FF8CD6650255}"/>
              </a:ext>
            </a:extLst>
          </p:cNvPr>
          <p:cNvSpPr txBox="1"/>
          <p:nvPr/>
        </p:nvSpPr>
        <p:spPr>
          <a:xfrm>
            <a:off x="381000" y="6375400"/>
            <a:ext cx="11430000" cy="246221"/>
          </a:xfrm>
          <a:prstGeom prst="rect">
            <a:avLst/>
          </a:prstGeom>
          <a:noFill/>
        </p:spPr>
        <p:txBody>
          <a:bodyPr vert="horz" rtlCol="0">
            <a:spAutoFit/>
          </a:bodyPr>
          <a:lstStyle/>
          <a:p>
            <a:r>
              <a:rPr lang="hi-IN" sz="1000">
                <a:solidFill>
                  <a:srgbClr val="64748B"/>
                </a:solidFill>
                <a:latin typeface="Segoe UI" panose="020B0502040204020203" pitchFamily="34" charset="0"/>
              </a:rPr>
              <a:t>सागर कोचिंग सेंटर भगवानपुर • कक्षा 08: 1857 की महान क्रांति • </a:t>
            </a:r>
            <a:r>
              <a:rPr lang="en-IN" sz="1000">
                <a:solidFill>
                  <a:srgbClr val="64748B"/>
                </a:solidFill>
                <a:latin typeface="Segoe UI" panose="020B0502040204020203" pitchFamily="34" charset="0"/>
              </a:rPr>
              <a:t>NMMS Special</a:t>
            </a:r>
          </a:p>
        </p:txBody>
      </p:sp>
    </p:spTree>
    <p:extLst>
      <p:ext uri="{BB962C8B-B14F-4D97-AF65-F5344CB8AC3E}">
        <p14:creationId xmlns:p14="http://schemas.microsoft.com/office/powerpoint/2010/main" val="28101717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9F8A31E-5B23-49D4-F5B2-419B73623996}"/>
              </a:ext>
            </a:extLst>
          </p:cNvPr>
          <p:cNvSpPr/>
          <p:nvPr/>
        </p:nvSpPr>
        <p:spPr>
          <a:xfrm>
            <a:off x="0" y="0"/>
            <a:ext cx="12192000" cy="609600"/>
          </a:xfrm>
          <a:prstGeom prst="rect">
            <a:avLst/>
          </a:prstGeom>
          <a:solidFill>
            <a:srgbClr val="1E293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40BAB7A1-0585-4D8B-54B6-3E78DFAF165F}"/>
              </a:ext>
            </a:extLst>
          </p:cNvPr>
          <p:cNvSpPr txBox="1"/>
          <p:nvPr/>
        </p:nvSpPr>
        <p:spPr>
          <a:xfrm>
            <a:off x="381000" y="76200"/>
            <a:ext cx="11430000" cy="338554"/>
          </a:xfrm>
          <a:prstGeom prst="rect">
            <a:avLst/>
          </a:prstGeom>
          <a:noFill/>
        </p:spPr>
        <p:txBody>
          <a:bodyPr vert="horz" rtlCol="0">
            <a:spAutoFit/>
          </a:bodyPr>
          <a:lstStyle/>
          <a:p>
            <a:r>
              <a:rPr lang="en-IN" sz="1600" b="1">
                <a:solidFill>
                  <a:srgbClr val="F59E0B"/>
                </a:solidFill>
                <a:latin typeface="Segoe UI" panose="020B0502040204020203" pitchFamily="34" charset="0"/>
              </a:rPr>
              <a:t>PYQ </a:t>
            </a:r>
            <a:r>
              <a:rPr lang="hi-IN" sz="1600" b="1">
                <a:solidFill>
                  <a:srgbClr val="F59E0B"/>
                </a:solidFill>
                <a:latin typeface="Segoe UI" panose="020B0502040204020203" pitchFamily="34" charset="0"/>
              </a:rPr>
              <a:t>अभ्यास प्रश्न #3  [</a:t>
            </a:r>
            <a:r>
              <a:rPr lang="en-IN" sz="1600" b="1">
                <a:solidFill>
                  <a:srgbClr val="F59E0B"/>
                </a:solidFill>
                <a:latin typeface="Segoe UI" panose="020B0502040204020203" pitchFamily="34" charset="0"/>
              </a:rPr>
              <a:t>UP NMMS 2024]</a:t>
            </a:r>
          </a:p>
        </p:txBody>
      </p:sp>
      <p:sp>
        <p:nvSpPr>
          <p:cNvPr id="4" name="Rectangle: Rounded Corners 3">
            <a:extLst>
              <a:ext uri="{FF2B5EF4-FFF2-40B4-BE49-F238E27FC236}">
                <a16:creationId xmlns:a16="http://schemas.microsoft.com/office/drawing/2014/main" id="{29B0618F-5D89-864D-0933-C6F3F4053BC8}"/>
              </a:ext>
            </a:extLst>
          </p:cNvPr>
          <p:cNvSpPr/>
          <p:nvPr/>
        </p:nvSpPr>
        <p:spPr>
          <a:xfrm>
            <a:off x="457200" y="787400"/>
            <a:ext cx="11277600" cy="1333500"/>
          </a:xfrm>
          <a:prstGeom prst="roundRect">
            <a:avLst/>
          </a:prstGeom>
          <a:solidFill>
            <a:srgbClr val="1E3A8A"/>
          </a:solidFill>
          <a:ln w="25400">
            <a:solidFill>
              <a:srgbClr val="D9770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285E95B4-1B53-805F-0CC1-6B3B4C3DBD62}"/>
              </a:ext>
            </a:extLst>
          </p:cNvPr>
          <p:cNvSpPr txBox="1"/>
          <p:nvPr/>
        </p:nvSpPr>
        <p:spPr>
          <a:xfrm>
            <a:off x="635000" y="863600"/>
            <a:ext cx="10922000" cy="346249"/>
          </a:xfrm>
          <a:prstGeom prst="rect">
            <a:avLst/>
          </a:prstGeom>
          <a:noFill/>
        </p:spPr>
        <p:txBody>
          <a:bodyPr vert="horz" wrap="square" rtlCol="0">
            <a:spAutoFit/>
          </a:bodyPr>
          <a:lstStyle/>
          <a:p>
            <a:r>
              <a:rPr lang="hi-IN" sz="1650" b="1">
                <a:solidFill>
                  <a:srgbClr val="FFFFFF"/>
                </a:solidFill>
                <a:latin typeface="Segoe UI" panose="020B0502040204020203" pitchFamily="34" charset="0"/>
              </a:rPr>
              <a:t>प्र. 3. 1857 की क्रांति का सबसे प्रमुख तात्कालिक कारण (</a:t>
            </a:r>
            <a:r>
              <a:rPr lang="en-IN" sz="1650" b="1">
                <a:solidFill>
                  <a:srgbClr val="FFFFFF"/>
                </a:solidFill>
                <a:latin typeface="Segoe UI" panose="020B0502040204020203" pitchFamily="34" charset="0"/>
              </a:rPr>
              <a:t>Immediate Cause) </a:t>
            </a:r>
            <a:r>
              <a:rPr lang="hi-IN" sz="1650" b="1">
                <a:solidFill>
                  <a:srgbClr val="FFFFFF"/>
                </a:solidFill>
                <a:latin typeface="Segoe UI" panose="020B0502040204020203" pitchFamily="34" charset="0"/>
              </a:rPr>
              <a:t>क्या था?</a:t>
            </a:r>
            <a:endParaRPr lang="en-IN" sz="1650" b="1">
              <a:solidFill>
                <a:srgbClr val="FFFFFF"/>
              </a:solidFill>
              <a:latin typeface="Segoe UI" panose="020B0502040204020203" pitchFamily="34" charset="0"/>
            </a:endParaRPr>
          </a:p>
        </p:txBody>
      </p:sp>
      <p:sp>
        <p:nvSpPr>
          <p:cNvPr id="6" name="Rectangle: Rounded Corners 5">
            <a:extLst>
              <a:ext uri="{FF2B5EF4-FFF2-40B4-BE49-F238E27FC236}">
                <a16:creationId xmlns:a16="http://schemas.microsoft.com/office/drawing/2014/main" id="{8BBF3D57-57A5-23CE-439B-104B63066022}"/>
              </a:ext>
            </a:extLst>
          </p:cNvPr>
          <p:cNvSpPr/>
          <p:nvPr/>
        </p:nvSpPr>
        <p:spPr>
          <a:xfrm>
            <a:off x="457200" y="2311400"/>
            <a:ext cx="5461000" cy="1016000"/>
          </a:xfrm>
          <a:prstGeom prst="roundRect">
            <a:avLst/>
          </a:prstGeom>
          <a:solidFill>
            <a:srgbClr val="1E293B"/>
          </a:solidFill>
          <a:ln w="19050">
            <a:solidFill>
              <a:srgbClr val="47556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 name="TextBox 6">
            <a:extLst>
              <a:ext uri="{FF2B5EF4-FFF2-40B4-BE49-F238E27FC236}">
                <a16:creationId xmlns:a16="http://schemas.microsoft.com/office/drawing/2014/main" id="{364CB522-FA07-AB90-0D7C-47F271BB5019}"/>
              </a:ext>
            </a:extLst>
          </p:cNvPr>
          <p:cNvSpPr txBox="1"/>
          <p:nvPr/>
        </p:nvSpPr>
        <p:spPr>
          <a:xfrm>
            <a:off x="647700" y="2463800"/>
            <a:ext cx="5080000" cy="330860"/>
          </a:xfrm>
          <a:prstGeom prst="rect">
            <a:avLst/>
          </a:prstGeom>
          <a:noFill/>
        </p:spPr>
        <p:txBody>
          <a:bodyPr vert="horz" wrap="square" rtlCol="0">
            <a:spAutoFit/>
          </a:bodyPr>
          <a:lstStyle/>
          <a:p>
            <a:r>
              <a:rPr lang="en-IN" sz="1550" b="1">
                <a:solidFill>
                  <a:srgbClr val="F8FAFC"/>
                </a:solidFill>
                <a:latin typeface="Segoe UI" panose="020B0502040204020203" pitchFamily="34" charset="0"/>
              </a:rPr>
              <a:t>(A)  </a:t>
            </a:r>
            <a:r>
              <a:rPr lang="hi-IN" sz="1550" b="1">
                <a:solidFill>
                  <a:srgbClr val="F8FAFC"/>
                </a:solidFill>
                <a:latin typeface="Segoe UI" panose="020B0502040204020203" pitchFamily="34" charset="0"/>
              </a:rPr>
              <a:t>चर्बी वाले नए कारतूस</a:t>
            </a:r>
            <a:endParaRPr lang="en-IN" sz="1550" b="1">
              <a:solidFill>
                <a:srgbClr val="F8FAFC"/>
              </a:solidFill>
              <a:latin typeface="Segoe UI" panose="020B0502040204020203" pitchFamily="34" charset="0"/>
            </a:endParaRPr>
          </a:p>
        </p:txBody>
      </p:sp>
      <p:sp>
        <p:nvSpPr>
          <p:cNvPr id="8" name="Rectangle: Rounded Corners 7">
            <a:extLst>
              <a:ext uri="{FF2B5EF4-FFF2-40B4-BE49-F238E27FC236}">
                <a16:creationId xmlns:a16="http://schemas.microsoft.com/office/drawing/2014/main" id="{EDD2E511-16C6-F1B1-9E78-9F01A4F75C07}"/>
              </a:ext>
            </a:extLst>
          </p:cNvPr>
          <p:cNvSpPr/>
          <p:nvPr/>
        </p:nvSpPr>
        <p:spPr>
          <a:xfrm>
            <a:off x="6273800" y="2311400"/>
            <a:ext cx="5461000" cy="1016000"/>
          </a:xfrm>
          <a:prstGeom prst="roundRect">
            <a:avLst/>
          </a:prstGeom>
          <a:solidFill>
            <a:srgbClr val="1E293B"/>
          </a:solidFill>
          <a:ln w="19050">
            <a:solidFill>
              <a:srgbClr val="47556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8BE51A94-3CF8-8D5E-09E5-57BF13D69ABC}"/>
              </a:ext>
            </a:extLst>
          </p:cNvPr>
          <p:cNvSpPr txBox="1"/>
          <p:nvPr/>
        </p:nvSpPr>
        <p:spPr>
          <a:xfrm>
            <a:off x="6464300" y="2463800"/>
            <a:ext cx="5080000" cy="330860"/>
          </a:xfrm>
          <a:prstGeom prst="rect">
            <a:avLst/>
          </a:prstGeom>
          <a:noFill/>
        </p:spPr>
        <p:txBody>
          <a:bodyPr vert="horz" wrap="square" rtlCol="0">
            <a:spAutoFit/>
          </a:bodyPr>
          <a:lstStyle/>
          <a:p>
            <a:r>
              <a:rPr lang="en-IN" sz="1550" b="1">
                <a:solidFill>
                  <a:srgbClr val="F8FAFC"/>
                </a:solidFill>
                <a:latin typeface="Segoe UI" panose="020B0502040204020203" pitchFamily="34" charset="0"/>
              </a:rPr>
              <a:t>(B)  </a:t>
            </a:r>
            <a:r>
              <a:rPr lang="hi-IN" sz="1550" b="1">
                <a:solidFill>
                  <a:srgbClr val="F8FAFC"/>
                </a:solidFill>
                <a:latin typeface="Segoe UI" panose="020B0502040204020203" pitchFamily="34" charset="0"/>
              </a:rPr>
              <a:t>भारी लगान</a:t>
            </a:r>
            <a:endParaRPr lang="en-IN" sz="1550" b="1">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ED3B2010-4E8B-0E04-859B-64A0D6816DC3}"/>
              </a:ext>
            </a:extLst>
          </p:cNvPr>
          <p:cNvSpPr/>
          <p:nvPr/>
        </p:nvSpPr>
        <p:spPr>
          <a:xfrm>
            <a:off x="457200" y="3530600"/>
            <a:ext cx="5461000" cy="1016000"/>
          </a:xfrm>
          <a:prstGeom prst="roundRect">
            <a:avLst/>
          </a:prstGeom>
          <a:solidFill>
            <a:srgbClr val="1E293B"/>
          </a:solidFill>
          <a:ln w="19050">
            <a:solidFill>
              <a:srgbClr val="47556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DFB9A35B-A7A7-131C-4F64-402CABD4B635}"/>
              </a:ext>
            </a:extLst>
          </p:cNvPr>
          <p:cNvSpPr txBox="1"/>
          <p:nvPr/>
        </p:nvSpPr>
        <p:spPr>
          <a:xfrm>
            <a:off x="647700" y="3683000"/>
            <a:ext cx="5080000" cy="330860"/>
          </a:xfrm>
          <a:prstGeom prst="rect">
            <a:avLst/>
          </a:prstGeom>
          <a:noFill/>
        </p:spPr>
        <p:txBody>
          <a:bodyPr vert="horz" wrap="square" rtlCol="0">
            <a:spAutoFit/>
          </a:bodyPr>
          <a:lstStyle/>
          <a:p>
            <a:r>
              <a:rPr lang="en-IN" sz="1550" b="1">
                <a:solidFill>
                  <a:srgbClr val="F8FAFC"/>
                </a:solidFill>
                <a:latin typeface="Segoe UI" panose="020B0502040204020203" pitchFamily="34" charset="0"/>
              </a:rPr>
              <a:t>(C)  </a:t>
            </a:r>
            <a:r>
              <a:rPr lang="hi-IN" sz="1550" b="1">
                <a:solidFill>
                  <a:srgbClr val="F8FAFC"/>
                </a:solidFill>
                <a:latin typeface="Segoe UI" panose="020B0502040204020203" pitchFamily="34" charset="0"/>
              </a:rPr>
              <a:t>सती प्रथा का अंत</a:t>
            </a:r>
            <a:endParaRPr lang="en-IN" sz="1550" b="1">
              <a:solidFill>
                <a:srgbClr val="F8FAFC"/>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B903B600-AEB4-CA06-3EEC-8407C3688560}"/>
              </a:ext>
            </a:extLst>
          </p:cNvPr>
          <p:cNvSpPr/>
          <p:nvPr/>
        </p:nvSpPr>
        <p:spPr>
          <a:xfrm>
            <a:off x="6273800" y="3530600"/>
            <a:ext cx="5461000" cy="1016000"/>
          </a:xfrm>
          <a:prstGeom prst="roundRect">
            <a:avLst/>
          </a:prstGeom>
          <a:solidFill>
            <a:srgbClr val="1E293B"/>
          </a:solidFill>
          <a:ln w="19050">
            <a:solidFill>
              <a:srgbClr val="47556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36407A59-360C-5A73-02A4-B82F00E10DA7}"/>
              </a:ext>
            </a:extLst>
          </p:cNvPr>
          <p:cNvSpPr txBox="1"/>
          <p:nvPr/>
        </p:nvSpPr>
        <p:spPr>
          <a:xfrm>
            <a:off x="6464300" y="3683000"/>
            <a:ext cx="5080000" cy="330860"/>
          </a:xfrm>
          <a:prstGeom prst="rect">
            <a:avLst/>
          </a:prstGeom>
          <a:noFill/>
        </p:spPr>
        <p:txBody>
          <a:bodyPr vert="horz" wrap="square" rtlCol="0">
            <a:spAutoFit/>
          </a:bodyPr>
          <a:lstStyle/>
          <a:p>
            <a:r>
              <a:rPr lang="en-IN" sz="1550" b="1">
                <a:solidFill>
                  <a:srgbClr val="F8FAFC"/>
                </a:solidFill>
                <a:latin typeface="Segoe UI" panose="020B0502040204020203" pitchFamily="34" charset="0"/>
              </a:rPr>
              <a:t>(D)  </a:t>
            </a:r>
            <a:r>
              <a:rPr lang="hi-IN" sz="1550" b="1">
                <a:solidFill>
                  <a:srgbClr val="F8FAFC"/>
                </a:solidFill>
                <a:latin typeface="Segoe UI" panose="020B0502040204020203" pitchFamily="34" charset="0"/>
              </a:rPr>
              <a:t>रेलवे का निर्माण</a:t>
            </a:r>
            <a:endParaRPr lang="en-IN" sz="1550" b="1">
              <a:solidFill>
                <a:srgbClr val="F8FAFC"/>
              </a:solidFill>
              <a:latin typeface="Segoe UI" panose="020B0502040204020203" pitchFamily="34" charset="0"/>
            </a:endParaRPr>
          </a:p>
        </p:txBody>
      </p:sp>
      <p:sp>
        <p:nvSpPr>
          <p:cNvPr id="14" name="Rectangle: Rounded Corners 13">
            <a:extLst>
              <a:ext uri="{FF2B5EF4-FFF2-40B4-BE49-F238E27FC236}">
                <a16:creationId xmlns:a16="http://schemas.microsoft.com/office/drawing/2014/main" id="{92592F7A-492B-7D72-CB65-32D5F722305B}"/>
              </a:ext>
            </a:extLst>
          </p:cNvPr>
          <p:cNvSpPr/>
          <p:nvPr/>
        </p:nvSpPr>
        <p:spPr>
          <a:xfrm>
            <a:off x="2921000" y="4826000"/>
            <a:ext cx="6350000" cy="711200"/>
          </a:xfrm>
          <a:prstGeom prst="roundRect">
            <a:avLst/>
          </a:prstGeom>
          <a:solidFill>
            <a:srgbClr val="312E81"/>
          </a:solidFill>
          <a:ln w="19050">
            <a:solidFill>
              <a:srgbClr val="6366F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AE985E51-2939-2EFB-74A0-5C9BC8FABD9F}"/>
              </a:ext>
            </a:extLst>
          </p:cNvPr>
          <p:cNvSpPr txBox="1"/>
          <p:nvPr/>
        </p:nvSpPr>
        <p:spPr>
          <a:xfrm>
            <a:off x="2984500" y="4927600"/>
            <a:ext cx="6223000" cy="307777"/>
          </a:xfrm>
          <a:prstGeom prst="rect">
            <a:avLst/>
          </a:prstGeom>
          <a:noFill/>
        </p:spPr>
        <p:txBody>
          <a:bodyPr vert="horz" rtlCol="0">
            <a:spAutoFit/>
          </a:bodyPr>
          <a:lstStyle/>
          <a:p>
            <a:pPr algn="ctr"/>
            <a:r>
              <a:rPr lang="en-IN" sz="1400" b="1">
                <a:solidFill>
                  <a:srgbClr val="FDE68A"/>
                </a:solidFill>
                <a:latin typeface="Segoe UI" panose="020B0502040204020203" pitchFamily="34" charset="0"/>
              </a:rPr>
              <a:t>⏱ 10 </a:t>
            </a:r>
            <a:r>
              <a:rPr lang="hi-IN" sz="1400" b="1">
                <a:solidFill>
                  <a:srgbClr val="FDE68A"/>
                </a:solidFill>
                <a:latin typeface="Segoe UI" panose="020B0502040204020203" pitchFamily="34" charset="0"/>
              </a:rPr>
              <a:t>सेकंड सोचिए और सही विकल्प चुनिए: (</a:t>
            </a:r>
            <a:r>
              <a:rPr lang="en-IN" sz="1400" b="1">
                <a:solidFill>
                  <a:srgbClr val="FDE68A"/>
                </a:solidFill>
                <a:latin typeface="Segoe UI" panose="020B0502040204020203" pitchFamily="34" charset="0"/>
              </a:rPr>
              <a:t>A), (B), (C) </a:t>
            </a:r>
            <a:r>
              <a:rPr lang="hi-IN" sz="1400" b="1">
                <a:solidFill>
                  <a:srgbClr val="FDE68A"/>
                </a:solidFill>
                <a:latin typeface="Segoe UI" panose="020B0502040204020203" pitchFamily="34" charset="0"/>
              </a:rPr>
              <a:t>या (</a:t>
            </a:r>
            <a:r>
              <a:rPr lang="en-IN" sz="1400" b="1">
                <a:solidFill>
                  <a:srgbClr val="FDE68A"/>
                </a:solidFill>
                <a:latin typeface="Segoe UI" panose="020B0502040204020203" pitchFamily="34" charset="0"/>
              </a:rPr>
              <a:t>D)</a:t>
            </a:r>
          </a:p>
        </p:txBody>
      </p:sp>
      <p:sp>
        <p:nvSpPr>
          <p:cNvPr id="16" name="TextBox 15">
            <a:extLst>
              <a:ext uri="{FF2B5EF4-FFF2-40B4-BE49-F238E27FC236}">
                <a16:creationId xmlns:a16="http://schemas.microsoft.com/office/drawing/2014/main" id="{E31E3876-81C3-33A0-F4CD-E1D7D11C2F54}"/>
              </a:ext>
            </a:extLst>
          </p:cNvPr>
          <p:cNvSpPr txBox="1"/>
          <p:nvPr/>
        </p:nvSpPr>
        <p:spPr>
          <a:xfrm>
            <a:off x="381000" y="6375400"/>
            <a:ext cx="11430000" cy="246221"/>
          </a:xfrm>
          <a:prstGeom prst="rect">
            <a:avLst/>
          </a:prstGeom>
          <a:noFill/>
        </p:spPr>
        <p:txBody>
          <a:bodyPr vert="horz" rtlCol="0">
            <a:spAutoFit/>
          </a:bodyPr>
          <a:lstStyle/>
          <a:p>
            <a:r>
              <a:rPr lang="hi-IN" sz="1000">
                <a:solidFill>
                  <a:srgbClr val="64748B"/>
                </a:solidFill>
                <a:latin typeface="Segoe UI" panose="020B0502040204020203" pitchFamily="34" charset="0"/>
              </a:rPr>
              <a:t>सागर कोचिंग सेंटर भगवानपुर • कक्षा 08: 1857 की महान क्रांति • </a:t>
            </a:r>
            <a:r>
              <a:rPr lang="en-IN" sz="1000">
                <a:solidFill>
                  <a:srgbClr val="64748B"/>
                </a:solidFill>
                <a:latin typeface="Segoe UI" panose="020B0502040204020203" pitchFamily="34" charset="0"/>
              </a:rPr>
              <a:t>NMMS Special</a:t>
            </a:r>
          </a:p>
        </p:txBody>
      </p:sp>
    </p:spTree>
    <p:extLst>
      <p:ext uri="{BB962C8B-B14F-4D97-AF65-F5344CB8AC3E}">
        <p14:creationId xmlns:p14="http://schemas.microsoft.com/office/powerpoint/2010/main" val="47862473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5FC8B08-0547-4E23-4852-F171F9CE9870}"/>
              </a:ext>
            </a:extLst>
          </p:cNvPr>
          <p:cNvSpPr/>
          <p:nvPr/>
        </p:nvSpPr>
        <p:spPr>
          <a:xfrm>
            <a:off x="0" y="0"/>
            <a:ext cx="12192000" cy="609600"/>
          </a:xfrm>
          <a:prstGeom prst="rect">
            <a:avLst/>
          </a:prstGeom>
          <a:solidFill>
            <a:srgbClr val="1E293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C4098315-BAA7-A510-63D1-42E5C1890FAA}"/>
              </a:ext>
            </a:extLst>
          </p:cNvPr>
          <p:cNvSpPr txBox="1"/>
          <p:nvPr/>
        </p:nvSpPr>
        <p:spPr>
          <a:xfrm>
            <a:off x="381000" y="76200"/>
            <a:ext cx="11430000" cy="338554"/>
          </a:xfrm>
          <a:prstGeom prst="rect">
            <a:avLst/>
          </a:prstGeom>
          <a:noFill/>
        </p:spPr>
        <p:txBody>
          <a:bodyPr vert="horz" rtlCol="0">
            <a:spAutoFit/>
          </a:bodyPr>
          <a:lstStyle/>
          <a:p>
            <a:r>
              <a:rPr lang="en-US" sz="1600" b="1">
                <a:solidFill>
                  <a:srgbClr val="10B981"/>
                </a:solidFill>
                <a:latin typeface="Segoe UI" panose="020B0502040204020203" pitchFamily="34" charset="0"/>
              </a:rPr>
              <a:t>PYQ अभ्यास प्रश्न #3  [UP NMMS 2024] - Answer &amp; Explanation</a:t>
            </a:r>
            <a:endParaRPr lang="en-IN" sz="1600" b="1">
              <a:solidFill>
                <a:srgbClr val="10B981"/>
              </a:solidFill>
              <a:latin typeface="Segoe UI" panose="020B0502040204020203" pitchFamily="34" charset="0"/>
            </a:endParaRPr>
          </a:p>
        </p:txBody>
      </p:sp>
      <p:sp>
        <p:nvSpPr>
          <p:cNvPr id="4" name="Rectangle: Rounded Corners 3">
            <a:extLst>
              <a:ext uri="{FF2B5EF4-FFF2-40B4-BE49-F238E27FC236}">
                <a16:creationId xmlns:a16="http://schemas.microsoft.com/office/drawing/2014/main" id="{C0B61BE2-ABFF-4306-5FBB-D2179170E904}"/>
              </a:ext>
            </a:extLst>
          </p:cNvPr>
          <p:cNvSpPr/>
          <p:nvPr/>
        </p:nvSpPr>
        <p:spPr>
          <a:xfrm>
            <a:off x="457200" y="787400"/>
            <a:ext cx="11277600" cy="1333500"/>
          </a:xfrm>
          <a:prstGeom prst="roundRect">
            <a:avLst/>
          </a:prstGeom>
          <a:solidFill>
            <a:srgbClr val="1E3A8A"/>
          </a:solidFill>
          <a:ln w="25400">
            <a:solidFill>
              <a:srgbClr val="D9770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042095D0-5AC0-D8D1-95B1-D410A3C177FE}"/>
              </a:ext>
            </a:extLst>
          </p:cNvPr>
          <p:cNvSpPr txBox="1"/>
          <p:nvPr/>
        </p:nvSpPr>
        <p:spPr>
          <a:xfrm>
            <a:off x="635000" y="863600"/>
            <a:ext cx="10922000" cy="346249"/>
          </a:xfrm>
          <a:prstGeom prst="rect">
            <a:avLst/>
          </a:prstGeom>
          <a:noFill/>
        </p:spPr>
        <p:txBody>
          <a:bodyPr vert="horz" wrap="square" rtlCol="0">
            <a:spAutoFit/>
          </a:bodyPr>
          <a:lstStyle/>
          <a:p>
            <a:r>
              <a:rPr lang="hi-IN" sz="1650" b="1">
                <a:solidFill>
                  <a:srgbClr val="FFFFFF"/>
                </a:solidFill>
                <a:latin typeface="Segoe UI" panose="020B0502040204020203" pitchFamily="34" charset="0"/>
              </a:rPr>
              <a:t>प्र. 3. 1857 की क्रांति का सबसे प्रमुख तात्कालिक कारण (</a:t>
            </a:r>
            <a:r>
              <a:rPr lang="en-IN" sz="1650" b="1">
                <a:solidFill>
                  <a:srgbClr val="FFFFFF"/>
                </a:solidFill>
                <a:latin typeface="Segoe UI" panose="020B0502040204020203" pitchFamily="34" charset="0"/>
              </a:rPr>
              <a:t>Immediate Cause) </a:t>
            </a:r>
            <a:r>
              <a:rPr lang="hi-IN" sz="1650" b="1">
                <a:solidFill>
                  <a:srgbClr val="FFFFFF"/>
                </a:solidFill>
                <a:latin typeface="Segoe UI" panose="020B0502040204020203" pitchFamily="34" charset="0"/>
              </a:rPr>
              <a:t>क्या था?</a:t>
            </a:r>
            <a:endParaRPr lang="en-IN" sz="1650" b="1">
              <a:solidFill>
                <a:srgbClr val="FFFFFF"/>
              </a:solidFill>
              <a:latin typeface="Segoe UI" panose="020B0502040204020203" pitchFamily="34" charset="0"/>
            </a:endParaRPr>
          </a:p>
        </p:txBody>
      </p:sp>
      <p:sp>
        <p:nvSpPr>
          <p:cNvPr id="6" name="Rectangle: Rounded Corners 5">
            <a:extLst>
              <a:ext uri="{FF2B5EF4-FFF2-40B4-BE49-F238E27FC236}">
                <a16:creationId xmlns:a16="http://schemas.microsoft.com/office/drawing/2014/main" id="{4255DCDD-09C7-7645-E491-B0A75E48FDC4}"/>
              </a:ext>
            </a:extLst>
          </p:cNvPr>
          <p:cNvSpPr/>
          <p:nvPr/>
        </p:nvSpPr>
        <p:spPr>
          <a:xfrm>
            <a:off x="457200" y="2311400"/>
            <a:ext cx="5461000" cy="1016000"/>
          </a:xfrm>
          <a:prstGeom prst="roundRect">
            <a:avLst/>
          </a:prstGeom>
          <a:solidFill>
            <a:srgbClr val="14532D"/>
          </a:solidFill>
          <a:ln w="31750">
            <a:solidFill>
              <a:srgbClr val="22C55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 name="TextBox 6">
            <a:extLst>
              <a:ext uri="{FF2B5EF4-FFF2-40B4-BE49-F238E27FC236}">
                <a16:creationId xmlns:a16="http://schemas.microsoft.com/office/drawing/2014/main" id="{B646817A-85C3-E2D7-1032-8BC63D2BE48D}"/>
              </a:ext>
            </a:extLst>
          </p:cNvPr>
          <p:cNvSpPr txBox="1"/>
          <p:nvPr/>
        </p:nvSpPr>
        <p:spPr>
          <a:xfrm>
            <a:off x="647700" y="2463800"/>
            <a:ext cx="5080000" cy="338554"/>
          </a:xfrm>
          <a:prstGeom prst="rect">
            <a:avLst/>
          </a:prstGeom>
          <a:noFill/>
        </p:spPr>
        <p:txBody>
          <a:bodyPr vert="horz" wrap="square" rtlCol="0">
            <a:spAutoFit/>
          </a:bodyPr>
          <a:lstStyle/>
          <a:p>
            <a:r>
              <a:rPr lang="en-IN" sz="1600" b="1">
                <a:solidFill>
                  <a:srgbClr val="FDE68A"/>
                </a:solidFill>
                <a:latin typeface="Segoe UI" panose="020B0502040204020203" pitchFamily="34" charset="0"/>
              </a:rPr>
              <a:t>✅  (A)  </a:t>
            </a:r>
            <a:r>
              <a:rPr lang="hi-IN" sz="1600" b="1">
                <a:solidFill>
                  <a:srgbClr val="FDE68A"/>
                </a:solidFill>
                <a:latin typeface="Segoe UI" panose="020B0502040204020203" pitchFamily="34" charset="0"/>
              </a:rPr>
              <a:t>चर्बी वाले नए कारतूस</a:t>
            </a:r>
            <a:endParaRPr lang="en-IN" sz="1600" b="1">
              <a:solidFill>
                <a:srgbClr val="FDE68A"/>
              </a:solidFill>
              <a:latin typeface="Segoe UI" panose="020B0502040204020203" pitchFamily="34" charset="0"/>
            </a:endParaRPr>
          </a:p>
        </p:txBody>
      </p:sp>
      <p:sp>
        <p:nvSpPr>
          <p:cNvPr id="8" name="Rectangle: Rounded Corners 7">
            <a:extLst>
              <a:ext uri="{FF2B5EF4-FFF2-40B4-BE49-F238E27FC236}">
                <a16:creationId xmlns:a16="http://schemas.microsoft.com/office/drawing/2014/main" id="{57C5B5C3-912C-0CD9-7F72-344CC0029246}"/>
              </a:ext>
            </a:extLst>
          </p:cNvPr>
          <p:cNvSpPr/>
          <p:nvPr/>
        </p:nvSpPr>
        <p:spPr>
          <a:xfrm>
            <a:off x="6273800" y="2311400"/>
            <a:ext cx="5461000" cy="1016000"/>
          </a:xfrm>
          <a:prstGeom prst="roundRect">
            <a:avLst/>
          </a:prstGeom>
          <a:solidFill>
            <a:srgbClr val="0F172A"/>
          </a:solidFill>
          <a:ln w="12700">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CBCEC767-9C55-3472-34FD-E9FE7AAC97A7}"/>
              </a:ext>
            </a:extLst>
          </p:cNvPr>
          <p:cNvSpPr txBox="1"/>
          <p:nvPr/>
        </p:nvSpPr>
        <p:spPr>
          <a:xfrm>
            <a:off x="6464300" y="2463800"/>
            <a:ext cx="5080000" cy="307777"/>
          </a:xfrm>
          <a:prstGeom prst="rect">
            <a:avLst/>
          </a:prstGeom>
          <a:noFill/>
        </p:spPr>
        <p:txBody>
          <a:bodyPr vert="horz" wrap="square" rtlCol="0">
            <a:spAutoFit/>
          </a:bodyPr>
          <a:lstStyle/>
          <a:p>
            <a:r>
              <a:rPr lang="en-IN" sz="1400">
                <a:solidFill>
                  <a:srgbClr val="94A3B8"/>
                </a:solidFill>
                <a:latin typeface="Segoe UI" panose="020B0502040204020203" pitchFamily="34" charset="0"/>
              </a:rPr>
              <a:t>(B)  </a:t>
            </a:r>
            <a:r>
              <a:rPr lang="hi-IN" sz="1400">
                <a:solidFill>
                  <a:srgbClr val="94A3B8"/>
                </a:solidFill>
                <a:latin typeface="Segoe UI" panose="020B0502040204020203" pitchFamily="34" charset="0"/>
              </a:rPr>
              <a:t>भारी लगान</a:t>
            </a:r>
            <a:endParaRPr lang="en-IN" sz="1400">
              <a:solidFill>
                <a:srgbClr val="94A3B8"/>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72985FE4-2DEE-5FE9-CDE9-DCC78C2D5A44}"/>
              </a:ext>
            </a:extLst>
          </p:cNvPr>
          <p:cNvSpPr/>
          <p:nvPr/>
        </p:nvSpPr>
        <p:spPr>
          <a:xfrm>
            <a:off x="457200" y="3530600"/>
            <a:ext cx="5461000" cy="1016000"/>
          </a:xfrm>
          <a:prstGeom prst="roundRect">
            <a:avLst/>
          </a:prstGeom>
          <a:solidFill>
            <a:srgbClr val="0F172A"/>
          </a:solidFill>
          <a:ln w="12700">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6953EC71-89BD-C784-50F5-8BE45D90BD0F}"/>
              </a:ext>
            </a:extLst>
          </p:cNvPr>
          <p:cNvSpPr txBox="1"/>
          <p:nvPr/>
        </p:nvSpPr>
        <p:spPr>
          <a:xfrm>
            <a:off x="647700" y="3683000"/>
            <a:ext cx="5080000" cy="307777"/>
          </a:xfrm>
          <a:prstGeom prst="rect">
            <a:avLst/>
          </a:prstGeom>
          <a:noFill/>
        </p:spPr>
        <p:txBody>
          <a:bodyPr vert="horz" wrap="square" rtlCol="0">
            <a:spAutoFit/>
          </a:bodyPr>
          <a:lstStyle/>
          <a:p>
            <a:r>
              <a:rPr lang="en-IN" sz="1400">
                <a:solidFill>
                  <a:srgbClr val="94A3B8"/>
                </a:solidFill>
                <a:latin typeface="Segoe UI" panose="020B0502040204020203" pitchFamily="34" charset="0"/>
              </a:rPr>
              <a:t>(C)  </a:t>
            </a:r>
            <a:r>
              <a:rPr lang="hi-IN" sz="1400">
                <a:solidFill>
                  <a:srgbClr val="94A3B8"/>
                </a:solidFill>
                <a:latin typeface="Segoe UI" panose="020B0502040204020203" pitchFamily="34" charset="0"/>
              </a:rPr>
              <a:t>सती प्रथा का अंत</a:t>
            </a:r>
            <a:endParaRPr lang="en-IN" sz="1400">
              <a:solidFill>
                <a:srgbClr val="94A3B8"/>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AF7AF571-F887-10D7-FA77-F2075403890F}"/>
              </a:ext>
            </a:extLst>
          </p:cNvPr>
          <p:cNvSpPr/>
          <p:nvPr/>
        </p:nvSpPr>
        <p:spPr>
          <a:xfrm>
            <a:off x="6273800" y="3530600"/>
            <a:ext cx="5461000" cy="1016000"/>
          </a:xfrm>
          <a:prstGeom prst="roundRect">
            <a:avLst/>
          </a:prstGeom>
          <a:solidFill>
            <a:srgbClr val="0F172A"/>
          </a:solidFill>
          <a:ln w="12700">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2228F480-EE4D-41B3-EDA9-741D67CFD77C}"/>
              </a:ext>
            </a:extLst>
          </p:cNvPr>
          <p:cNvSpPr txBox="1"/>
          <p:nvPr/>
        </p:nvSpPr>
        <p:spPr>
          <a:xfrm>
            <a:off x="6464300" y="3683000"/>
            <a:ext cx="5080000" cy="307777"/>
          </a:xfrm>
          <a:prstGeom prst="rect">
            <a:avLst/>
          </a:prstGeom>
          <a:noFill/>
        </p:spPr>
        <p:txBody>
          <a:bodyPr vert="horz" wrap="square" rtlCol="0">
            <a:spAutoFit/>
          </a:bodyPr>
          <a:lstStyle/>
          <a:p>
            <a:r>
              <a:rPr lang="en-IN" sz="1400">
                <a:solidFill>
                  <a:srgbClr val="94A3B8"/>
                </a:solidFill>
                <a:latin typeface="Segoe UI" panose="020B0502040204020203" pitchFamily="34" charset="0"/>
              </a:rPr>
              <a:t>(D)  </a:t>
            </a:r>
            <a:r>
              <a:rPr lang="hi-IN" sz="1400">
                <a:solidFill>
                  <a:srgbClr val="94A3B8"/>
                </a:solidFill>
                <a:latin typeface="Segoe UI" panose="020B0502040204020203" pitchFamily="34" charset="0"/>
              </a:rPr>
              <a:t>रेलवे का निर्माण</a:t>
            </a:r>
            <a:endParaRPr lang="en-IN" sz="1400">
              <a:solidFill>
                <a:srgbClr val="94A3B8"/>
              </a:solidFill>
              <a:latin typeface="Segoe UI" panose="020B0502040204020203" pitchFamily="34" charset="0"/>
            </a:endParaRPr>
          </a:p>
        </p:txBody>
      </p:sp>
      <p:sp>
        <p:nvSpPr>
          <p:cNvPr id="14" name="Rectangle: Rounded Corners 13">
            <a:extLst>
              <a:ext uri="{FF2B5EF4-FFF2-40B4-BE49-F238E27FC236}">
                <a16:creationId xmlns:a16="http://schemas.microsoft.com/office/drawing/2014/main" id="{AC0EA2F4-23EC-087E-9705-6BE5408050BE}"/>
              </a:ext>
            </a:extLst>
          </p:cNvPr>
          <p:cNvSpPr/>
          <p:nvPr/>
        </p:nvSpPr>
        <p:spPr>
          <a:xfrm>
            <a:off x="457200" y="4724400"/>
            <a:ext cx="11277600" cy="1422400"/>
          </a:xfrm>
          <a:prstGeom prst="roundRect">
            <a:avLst/>
          </a:prstGeom>
          <a:solidFill>
            <a:srgbClr val="064E3B"/>
          </a:solidFill>
          <a:ln w="2540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57625BA-FB3F-4EEB-29E1-F3DBC30B9E18}"/>
              </a:ext>
            </a:extLst>
          </p:cNvPr>
          <p:cNvSpPr txBox="1"/>
          <p:nvPr/>
        </p:nvSpPr>
        <p:spPr>
          <a:xfrm>
            <a:off x="635000" y="4775200"/>
            <a:ext cx="10922000" cy="307777"/>
          </a:xfrm>
          <a:prstGeom prst="rect">
            <a:avLst/>
          </a:prstGeom>
          <a:noFill/>
        </p:spPr>
        <p:txBody>
          <a:bodyPr vert="horz" rtlCol="0">
            <a:spAutoFit/>
          </a:bodyPr>
          <a:lstStyle/>
          <a:p>
            <a:r>
              <a:rPr lang="en-IN" sz="1400" b="1">
                <a:solidFill>
                  <a:srgbClr val="FDE68A"/>
                </a:solidFill>
                <a:latin typeface="Segoe UI" panose="020B0502040204020203" pitchFamily="34" charset="0"/>
              </a:rPr>
              <a:t>✅ </a:t>
            </a:r>
            <a:r>
              <a:rPr lang="hi-IN" sz="1400" b="1">
                <a:solidFill>
                  <a:srgbClr val="FDE68A"/>
                </a:solidFill>
                <a:latin typeface="Segoe UI" panose="020B0502040204020203" pitchFamily="34" charset="0"/>
              </a:rPr>
              <a:t>सही उत्तर: (</a:t>
            </a:r>
            <a:r>
              <a:rPr lang="en-IN" sz="1400" b="1">
                <a:solidFill>
                  <a:srgbClr val="FDE68A"/>
                </a:solidFill>
                <a:latin typeface="Segoe UI" panose="020B0502040204020203" pitchFamily="34" charset="0"/>
              </a:rPr>
              <a:t>A)   |   </a:t>
            </a:r>
            <a:r>
              <a:rPr lang="hi-IN" sz="1400" b="1">
                <a:solidFill>
                  <a:srgbClr val="FDE68A"/>
                </a:solidFill>
                <a:latin typeface="Segoe UI" panose="020B0502040204020203" pitchFamily="34" charset="0"/>
              </a:rPr>
              <a:t>परीक्षा व्याख्या (</a:t>
            </a:r>
            <a:r>
              <a:rPr lang="en-IN" sz="1400" b="1">
                <a:solidFill>
                  <a:srgbClr val="FDE68A"/>
                </a:solidFill>
                <a:latin typeface="Segoe UI" panose="020B0502040204020203" pitchFamily="34" charset="0"/>
              </a:rPr>
              <a:t>Exam Explanation):</a:t>
            </a:r>
          </a:p>
        </p:txBody>
      </p:sp>
      <p:sp>
        <p:nvSpPr>
          <p:cNvPr id="16" name="TextBox 15">
            <a:extLst>
              <a:ext uri="{FF2B5EF4-FFF2-40B4-BE49-F238E27FC236}">
                <a16:creationId xmlns:a16="http://schemas.microsoft.com/office/drawing/2014/main" id="{E60B0F5C-27E0-BFA0-0AF2-C4C1D86040FE}"/>
              </a:ext>
            </a:extLst>
          </p:cNvPr>
          <p:cNvSpPr txBox="1"/>
          <p:nvPr/>
        </p:nvSpPr>
        <p:spPr>
          <a:xfrm>
            <a:off x="635000" y="5105400"/>
            <a:ext cx="10922000" cy="300082"/>
          </a:xfrm>
          <a:prstGeom prst="rect">
            <a:avLst/>
          </a:prstGeom>
          <a:noFill/>
        </p:spPr>
        <p:txBody>
          <a:bodyPr vert="horz" wrap="square" rtlCol="0">
            <a:spAutoFit/>
          </a:bodyPr>
          <a:lstStyle/>
          <a:p>
            <a:r>
              <a:rPr lang="en-IN" sz="1350">
                <a:solidFill>
                  <a:srgbClr val="FFFFFF"/>
                </a:solidFill>
                <a:latin typeface="Segoe UI" panose="020B0502040204020203" pitchFamily="34" charset="0"/>
              </a:rPr>
              <a:t>💡  </a:t>
            </a:r>
            <a:r>
              <a:rPr lang="hi-IN" sz="1350">
                <a:solidFill>
                  <a:srgbClr val="FFFFFF"/>
                </a:solidFill>
                <a:latin typeface="Segoe UI" panose="020B0502040204020203" pitchFamily="34" charset="0"/>
              </a:rPr>
              <a:t>एनफील्ड राइफल के कारतूसों में गाय और सूअर की चर्बी की बात तात्कालिक चिंगारी बनी।</a:t>
            </a:r>
            <a:endParaRPr lang="en-IN" sz="1350">
              <a:solidFill>
                <a:srgbClr val="FFFFFF"/>
              </a:solidFill>
              <a:latin typeface="Segoe UI" panose="020B0502040204020203" pitchFamily="34" charset="0"/>
            </a:endParaRPr>
          </a:p>
        </p:txBody>
      </p:sp>
      <p:sp>
        <p:nvSpPr>
          <p:cNvPr id="17" name="TextBox 16">
            <a:extLst>
              <a:ext uri="{FF2B5EF4-FFF2-40B4-BE49-F238E27FC236}">
                <a16:creationId xmlns:a16="http://schemas.microsoft.com/office/drawing/2014/main" id="{07567423-8856-DB60-8391-65388281758B}"/>
              </a:ext>
            </a:extLst>
          </p:cNvPr>
          <p:cNvSpPr txBox="1"/>
          <p:nvPr/>
        </p:nvSpPr>
        <p:spPr>
          <a:xfrm>
            <a:off x="381000" y="6375400"/>
            <a:ext cx="11430000" cy="246221"/>
          </a:xfrm>
          <a:prstGeom prst="rect">
            <a:avLst/>
          </a:prstGeom>
          <a:noFill/>
        </p:spPr>
        <p:txBody>
          <a:bodyPr vert="horz" rtlCol="0">
            <a:spAutoFit/>
          </a:bodyPr>
          <a:lstStyle/>
          <a:p>
            <a:r>
              <a:rPr lang="hi-IN" sz="1000">
                <a:solidFill>
                  <a:srgbClr val="64748B"/>
                </a:solidFill>
                <a:latin typeface="Segoe UI" panose="020B0502040204020203" pitchFamily="34" charset="0"/>
              </a:rPr>
              <a:t>सागर कोचिंग सेंटर भगवानपुर • कक्षा 08: 1857 की महान क्रांति • </a:t>
            </a:r>
            <a:r>
              <a:rPr lang="en-IN" sz="1000">
                <a:solidFill>
                  <a:srgbClr val="64748B"/>
                </a:solidFill>
                <a:latin typeface="Segoe UI" panose="020B0502040204020203" pitchFamily="34" charset="0"/>
              </a:rPr>
              <a:t>NMMS Special</a:t>
            </a:r>
          </a:p>
        </p:txBody>
      </p:sp>
    </p:spTree>
    <p:extLst>
      <p:ext uri="{BB962C8B-B14F-4D97-AF65-F5344CB8AC3E}">
        <p14:creationId xmlns:p14="http://schemas.microsoft.com/office/powerpoint/2010/main" val="240265184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100D967-CD99-7726-248C-DD5820F44C5F}"/>
              </a:ext>
            </a:extLst>
          </p:cNvPr>
          <p:cNvSpPr/>
          <p:nvPr/>
        </p:nvSpPr>
        <p:spPr>
          <a:xfrm>
            <a:off x="0" y="0"/>
            <a:ext cx="12192000" cy="609600"/>
          </a:xfrm>
          <a:prstGeom prst="rect">
            <a:avLst/>
          </a:prstGeom>
          <a:solidFill>
            <a:srgbClr val="1E293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6F1C3CF7-4DCD-FF8A-81D5-CB2AC491B34F}"/>
              </a:ext>
            </a:extLst>
          </p:cNvPr>
          <p:cNvSpPr txBox="1"/>
          <p:nvPr/>
        </p:nvSpPr>
        <p:spPr>
          <a:xfrm>
            <a:off x="381000" y="76200"/>
            <a:ext cx="11430000" cy="338554"/>
          </a:xfrm>
          <a:prstGeom prst="rect">
            <a:avLst/>
          </a:prstGeom>
          <a:noFill/>
        </p:spPr>
        <p:txBody>
          <a:bodyPr vert="horz" rtlCol="0">
            <a:spAutoFit/>
          </a:bodyPr>
          <a:lstStyle/>
          <a:p>
            <a:r>
              <a:rPr lang="en-IN" sz="1600" b="1">
                <a:solidFill>
                  <a:srgbClr val="F59E0B"/>
                </a:solidFill>
                <a:latin typeface="Segoe UI" panose="020B0502040204020203" pitchFamily="34" charset="0"/>
              </a:rPr>
              <a:t>PYQ </a:t>
            </a:r>
            <a:r>
              <a:rPr lang="hi-IN" sz="1600" b="1">
                <a:solidFill>
                  <a:srgbClr val="F59E0B"/>
                </a:solidFill>
                <a:latin typeface="Segoe UI" panose="020B0502040204020203" pitchFamily="34" charset="0"/>
              </a:rPr>
              <a:t>अभ्यास प्रश्न #4  [</a:t>
            </a:r>
            <a:r>
              <a:rPr lang="en-IN" sz="1600" b="1">
                <a:solidFill>
                  <a:srgbClr val="F59E0B"/>
                </a:solidFill>
                <a:latin typeface="Segoe UI" panose="020B0502040204020203" pitchFamily="34" charset="0"/>
              </a:rPr>
              <a:t>MP NMMS 2021]</a:t>
            </a:r>
          </a:p>
        </p:txBody>
      </p:sp>
      <p:sp>
        <p:nvSpPr>
          <p:cNvPr id="4" name="Rectangle: Rounded Corners 3">
            <a:extLst>
              <a:ext uri="{FF2B5EF4-FFF2-40B4-BE49-F238E27FC236}">
                <a16:creationId xmlns:a16="http://schemas.microsoft.com/office/drawing/2014/main" id="{75B3E121-71B7-D60E-4BFE-DA336B5FC432}"/>
              </a:ext>
            </a:extLst>
          </p:cNvPr>
          <p:cNvSpPr/>
          <p:nvPr/>
        </p:nvSpPr>
        <p:spPr>
          <a:xfrm>
            <a:off x="457200" y="787400"/>
            <a:ext cx="11277600" cy="1333500"/>
          </a:xfrm>
          <a:prstGeom prst="roundRect">
            <a:avLst/>
          </a:prstGeom>
          <a:solidFill>
            <a:srgbClr val="1E3A8A"/>
          </a:solidFill>
          <a:ln w="25400">
            <a:solidFill>
              <a:srgbClr val="D9770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B230589F-BB7B-57DA-785F-B6C7E26CDEB9}"/>
              </a:ext>
            </a:extLst>
          </p:cNvPr>
          <p:cNvSpPr txBox="1"/>
          <p:nvPr/>
        </p:nvSpPr>
        <p:spPr>
          <a:xfrm>
            <a:off x="635000" y="863600"/>
            <a:ext cx="10922000" cy="346249"/>
          </a:xfrm>
          <a:prstGeom prst="rect">
            <a:avLst/>
          </a:prstGeom>
          <a:noFill/>
        </p:spPr>
        <p:txBody>
          <a:bodyPr vert="horz" wrap="square" rtlCol="0">
            <a:spAutoFit/>
          </a:bodyPr>
          <a:lstStyle/>
          <a:p>
            <a:r>
              <a:rPr lang="hi-IN" sz="1650" b="1">
                <a:solidFill>
                  <a:srgbClr val="FFFFFF"/>
                </a:solidFill>
                <a:latin typeface="Segoe UI" panose="020B0502040204020203" pitchFamily="34" charset="0"/>
              </a:rPr>
              <a:t>प्र. 4. 1857 की क्रांति के समय अंतिम मुग़ल सम्राट कौन थे, जिन्हें क्रांति का नेता चुना गया?</a:t>
            </a:r>
            <a:endParaRPr lang="en-IN" sz="1650" b="1">
              <a:solidFill>
                <a:srgbClr val="FFFFFF"/>
              </a:solidFill>
              <a:latin typeface="Segoe UI" panose="020B0502040204020203" pitchFamily="34" charset="0"/>
            </a:endParaRPr>
          </a:p>
        </p:txBody>
      </p:sp>
      <p:sp>
        <p:nvSpPr>
          <p:cNvPr id="6" name="Rectangle: Rounded Corners 5">
            <a:extLst>
              <a:ext uri="{FF2B5EF4-FFF2-40B4-BE49-F238E27FC236}">
                <a16:creationId xmlns:a16="http://schemas.microsoft.com/office/drawing/2014/main" id="{BCBC227D-9B29-0E6F-09D2-DA0EE78EA361}"/>
              </a:ext>
            </a:extLst>
          </p:cNvPr>
          <p:cNvSpPr/>
          <p:nvPr/>
        </p:nvSpPr>
        <p:spPr>
          <a:xfrm>
            <a:off x="457200" y="2311400"/>
            <a:ext cx="5461000" cy="1016000"/>
          </a:xfrm>
          <a:prstGeom prst="roundRect">
            <a:avLst/>
          </a:prstGeom>
          <a:solidFill>
            <a:srgbClr val="1E293B"/>
          </a:solidFill>
          <a:ln w="19050">
            <a:solidFill>
              <a:srgbClr val="47556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 name="TextBox 6">
            <a:extLst>
              <a:ext uri="{FF2B5EF4-FFF2-40B4-BE49-F238E27FC236}">
                <a16:creationId xmlns:a16="http://schemas.microsoft.com/office/drawing/2014/main" id="{7B5DDA85-5399-946E-379A-5C4136F1031D}"/>
              </a:ext>
            </a:extLst>
          </p:cNvPr>
          <p:cNvSpPr txBox="1"/>
          <p:nvPr/>
        </p:nvSpPr>
        <p:spPr>
          <a:xfrm>
            <a:off x="647700" y="2463800"/>
            <a:ext cx="5080000" cy="330860"/>
          </a:xfrm>
          <a:prstGeom prst="rect">
            <a:avLst/>
          </a:prstGeom>
          <a:noFill/>
        </p:spPr>
        <p:txBody>
          <a:bodyPr vert="horz" wrap="square" rtlCol="0">
            <a:spAutoFit/>
          </a:bodyPr>
          <a:lstStyle/>
          <a:p>
            <a:r>
              <a:rPr lang="en-IN" sz="1550" b="1">
                <a:solidFill>
                  <a:srgbClr val="F8FAFC"/>
                </a:solidFill>
                <a:latin typeface="Segoe UI" panose="020B0502040204020203" pitchFamily="34" charset="0"/>
              </a:rPr>
              <a:t>(A)  </a:t>
            </a:r>
            <a:r>
              <a:rPr lang="hi-IN" sz="1550" b="1">
                <a:solidFill>
                  <a:srgbClr val="F8FAFC"/>
                </a:solidFill>
                <a:latin typeface="Segoe UI" panose="020B0502040204020203" pitchFamily="34" charset="0"/>
              </a:rPr>
              <a:t>शाह आलम द्वितीय</a:t>
            </a:r>
            <a:endParaRPr lang="en-IN" sz="1550" b="1">
              <a:solidFill>
                <a:srgbClr val="F8FAFC"/>
              </a:solidFill>
              <a:latin typeface="Segoe UI" panose="020B0502040204020203" pitchFamily="34" charset="0"/>
            </a:endParaRPr>
          </a:p>
        </p:txBody>
      </p:sp>
      <p:sp>
        <p:nvSpPr>
          <p:cNvPr id="8" name="Rectangle: Rounded Corners 7">
            <a:extLst>
              <a:ext uri="{FF2B5EF4-FFF2-40B4-BE49-F238E27FC236}">
                <a16:creationId xmlns:a16="http://schemas.microsoft.com/office/drawing/2014/main" id="{F437CCAA-5C98-B4EC-8010-3FA863AFF0DB}"/>
              </a:ext>
            </a:extLst>
          </p:cNvPr>
          <p:cNvSpPr/>
          <p:nvPr/>
        </p:nvSpPr>
        <p:spPr>
          <a:xfrm>
            <a:off x="6273800" y="2311400"/>
            <a:ext cx="5461000" cy="1016000"/>
          </a:xfrm>
          <a:prstGeom prst="roundRect">
            <a:avLst/>
          </a:prstGeom>
          <a:solidFill>
            <a:srgbClr val="1E293B"/>
          </a:solidFill>
          <a:ln w="19050">
            <a:solidFill>
              <a:srgbClr val="47556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A866295B-6C7C-3C2C-7991-22C233C9CD07}"/>
              </a:ext>
            </a:extLst>
          </p:cNvPr>
          <p:cNvSpPr txBox="1"/>
          <p:nvPr/>
        </p:nvSpPr>
        <p:spPr>
          <a:xfrm>
            <a:off x="6464300" y="2463800"/>
            <a:ext cx="5080000" cy="330860"/>
          </a:xfrm>
          <a:prstGeom prst="rect">
            <a:avLst/>
          </a:prstGeom>
          <a:noFill/>
        </p:spPr>
        <p:txBody>
          <a:bodyPr vert="horz" wrap="square" rtlCol="0">
            <a:spAutoFit/>
          </a:bodyPr>
          <a:lstStyle/>
          <a:p>
            <a:r>
              <a:rPr lang="en-IN" sz="1550" b="1">
                <a:solidFill>
                  <a:srgbClr val="F8FAFC"/>
                </a:solidFill>
                <a:latin typeface="Segoe UI" panose="020B0502040204020203" pitchFamily="34" charset="0"/>
              </a:rPr>
              <a:t>(B)  </a:t>
            </a:r>
            <a:r>
              <a:rPr lang="hi-IN" sz="1550" b="1">
                <a:solidFill>
                  <a:srgbClr val="F8FAFC"/>
                </a:solidFill>
                <a:latin typeface="Segoe UI" panose="020B0502040204020203" pitchFamily="34" charset="0"/>
              </a:rPr>
              <a:t>बहादुर शाह जफर (द्वितीय)</a:t>
            </a:r>
            <a:endParaRPr lang="en-IN" sz="1550" b="1">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2756EA2F-5A41-82FA-9E9D-A04BDCFD67A1}"/>
              </a:ext>
            </a:extLst>
          </p:cNvPr>
          <p:cNvSpPr/>
          <p:nvPr/>
        </p:nvSpPr>
        <p:spPr>
          <a:xfrm>
            <a:off x="457200" y="3530600"/>
            <a:ext cx="5461000" cy="1016000"/>
          </a:xfrm>
          <a:prstGeom prst="roundRect">
            <a:avLst/>
          </a:prstGeom>
          <a:solidFill>
            <a:srgbClr val="1E293B"/>
          </a:solidFill>
          <a:ln w="19050">
            <a:solidFill>
              <a:srgbClr val="47556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C24EEE25-BE64-3923-5906-8816BE1B73BE}"/>
              </a:ext>
            </a:extLst>
          </p:cNvPr>
          <p:cNvSpPr txBox="1"/>
          <p:nvPr/>
        </p:nvSpPr>
        <p:spPr>
          <a:xfrm>
            <a:off x="647700" y="3683000"/>
            <a:ext cx="5080000" cy="330860"/>
          </a:xfrm>
          <a:prstGeom prst="rect">
            <a:avLst/>
          </a:prstGeom>
          <a:noFill/>
        </p:spPr>
        <p:txBody>
          <a:bodyPr vert="horz" wrap="square" rtlCol="0">
            <a:spAutoFit/>
          </a:bodyPr>
          <a:lstStyle/>
          <a:p>
            <a:r>
              <a:rPr lang="en-IN" sz="1550" b="1">
                <a:solidFill>
                  <a:srgbClr val="F8FAFC"/>
                </a:solidFill>
                <a:latin typeface="Segoe UI" panose="020B0502040204020203" pitchFamily="34" charset="0"/>
              </a:rPr>
              <a:t>(C)  </a:t>
            </a:r>
            <a:r>
              <a:rPr lang="hi-IN" sz="1550" b="1">
                <a:solidFill>
                  <a:srgbClr val="F8FAFC"/>
                </a:solidFill>
                <a:latin typeface="Segoe UI" panose="020B0502040204020203" pitchFamily="34" charset="0"/>
              </a:rPr>
              <a:t>अकबर द्वितीय</a:t>
            </a:r>
            <a:endParaRPr lang="en-IN" sz="1550" b="1">
              <a:solidFill>
                <a:srgbClr val="F8FAFC"/>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EA717A2F-5767-D1B5-2B8E-3BC242DB2673}"/>
              </a:ext>
            </a:extLst>
          </p:cNvPr>
          <p:cNvSpPr/>
          <p:nvPr/>
        </p:nvSpPr>
        <p:spPr>
          <a:xfrm>
            <a:off x="6273800" y="3530600"/>
            <a:ext cx="5461000" cy="1016000"/>
          </a:xfrm>
          <a:prstGeom prst="roundRect">
            <a:avLst/>
          </a:prstGeom>
          <a:solidFill>
            <a:srgbClr val="1E293B"/>
          </a:solidFill>
          <a:ln w="19050">
            <a:solidFill>
              <a:srgbClr val="47556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9D2B67A0-6B37-4E59-1B5F-280D14875E99}"/>
              </a:ext>
            </a:extLst>
          </p:cNvPr>
          <p:cNvSpPr txBox="1"/>
          <p:nvPr/>
        </p:nvSpPr>
        <p:spPr>
          <a:xfrm>
            <a:off x="6464300" y="3683000"/>
            <a:ext cx="5080000" cy="330860"/>
          </a:xfrm>
          <a:prstGeom prst="rect">
            <a:avLst/>
          </a:prstGeom>
          <a:noFill/>
        </p:spPr>
        <p:txBody>
          <a:bodyPr vert="horz" wrap="square" rtlCol="0">
            <a:spAutoFit/>
          </a:bodyPr>
          <a:lstStyle/>
          <a:p>
            <a:r>
              <a:rPr lang="en-IN" sz="1550" b="1">
                <a:solidFill>
                  <a:srgbClr val="F8FAFC"/>
                </a:solidFill>
                <a:latin typeface="Segoe UI" panose="020B0502040204020203" pitchFamily="34" charset="0"/>
              </a:rPr>
              <a:t>(D)  </a:t>
            </a:r>
            <a:r>
              <a:rPr lang="hi-IN" sz="1550" b="1">
                <a:solidFill>
                  <a:srgbClr val="F8FAFC"/>
                </a:solidFill>
                <a:latin typeface="Segoe UI" panose="020B0502040204020203" pitchFamily="34" charset="0"/>
              </a:rPr>
              <a:t>आलमगीर</a:t>
            </a:r>
            <a:endParaRPr lang="en-IN" sz="1550" b="1">
              <a:solidFill>
                <a:srgbClr val="F8FAFC"/>
              </a:solidFill>
              <a:latin typeface="Segoe UI" panose="020B0502040204020203" pitchFamily="34" charset="0"/>
            </a:endParaRPr>
          </a:p>
        </p:txBody>
      </p:sp>
      <p:sp>
        <p:nvSpPr>
          <p:cNvPr id="14" name="Rectangle: Rounded Corners 13">
            <a:extLst>
              <a:ext uri="{FF2B5EF4-FFF2-40B4-BE49-F238E27FC236}">
                <a16:creationId xmlns:a16="http://schemas.microsoft.com/office/drawing/2014/main" id="{54CA8A6C-1731-E7BA-A8F4-F65CD8FDEAD4}"/>
              </a:ext>
            </a:extLst>
          </p:cNvPr>
          <p:cNvSpPr/>
          <p:nvPr/>
        </p:nvSpPr>
        <p:spPr>
          <a:xfrm>
            <a:off x="2921000" y="4826000"/>
            <a:ext cx="6350000" cy="711200"/>
          </a:xfrm>
          <a:prstGeom prst="roundRect">
            <a:avLst/>
          </a:prstGeom>
          <a:solidFill>
            <a:srgbClr val="312E81"/>
          </a:solidFill>
          <a:ln w="19050">
            <a:solidFill>
              <a:srgbClr val="6366F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B45B800C-46E6-4BE0-B071-7EA303B3E8EA}"/>
              </a:ext>
            </a:extLst>
          </p:cNvPr>
          <p:cNvSpPr txBox="1"/>
          <p:nvPr/>
        </p:nvSpPr>
        <p:spPr>
          <a:xfrm>
            <a:off x="2984500" y="4927600"/>
            <a:ext cx="6223000" cy="307777"/>
          </a:xfrm>
          <a:prstGeom prst="rect">
            <a:avLst/>
          </a:prstGeom>
          <a:noFill/>
        </p:spPr>
        <p:txBody>
          <a:bodyPr vert="horz" rtlCol="0">
            <a:spAutoFit/>
          </a:bodyPr>
          <a:lstStyle/>
          <a:p>
            <a:pPr algn="ctr"/>
            <a:r>
              <a:rPr lang="en-IN" sz="1400" b="1">
                <a:solidFill>
                  <a:srgbClr val="FDE68A"/>
                </a:solidFill>
                <a:latin typeface="Segoe UI" panose="020B0502040204020203" pitchFamily="34" charset="0"/>
              </a:rPr>
              <a:t>⏱ 10 </a:t>
            </a:r>
            <a:r>
              <a:rPr lang="hi-IN" sz="1400" b="1">
                <a:solidFill>
                  <a:srgbClr val="FDE68A"/>
                </a:solidFill>
                <a:latin typeface="Segoe UI" panose="020B0502040204020203" pitchFamily="34" charset="0"/>
              </a:rPr>
              <a:t>सेकंड सोचिए और सही विकल्प चुनिए: (</a:t>
            </a:r>
            <a:r>
              <a:rPr lang="en-IN" sz="1400" b="1">
                <a:solidFill>
                  <a:srgbClr val="FDE68A"/>
                </a:solidFill>
                <a:latin typeface="Segoe UI" panose="020B0502040204020203" pitchFamily="34" charset="0"/>
              </a:rPr>
              <a:t>A), (B), (C) </a:t>
            </a:r>
            <a:r>
              <a:rPr lang="hi-IN" sz="1400" b="1">
                <a:solidFill>
                  <a:srgbClr val="FDE68A"/>
                </a:solidFill>
                <a:latin typeface="Segoe UI" panose="020B0502040204020203" pitchFamily="34" charset="0"/>
              </a:rPr>
              <a:t>या (</a:t>
            </a:r>
            <a:r>
              <a:rPr lang="en-IN" sz="1400" b="1">
                <a:solidFill>
                  <a:srgbClr val="FDE68A"/>
                </a:solidFill>
                <a:latin typeface="Segoe UI" panose="020B0502040204020203" pitchFamily="34" charset="0"/>
              </a:rPr>
              <a:t>D)</a:t>
            </a:r>
          </a:p>
        </p:txBody>
      </p:sp>
      <p:sp>
        <p:nvSpPr>
          <p:cNvPr id="16" name="TextBox 15">
            <a:extLst>
              <a:ext uri="{FF2B5EF4-FFF2-40B4-BE49-F238E27FC236}">
                <a16:creationId xmlns:a16="http://schemas.microsoft.com/office/drawing/2014/main" id="{C569C374-452E-4C8B-2CA4-9F17610AC64B}"/>
              </a:ext>
            </a:extLst>
          </p:cNvPr>
          <p:cNvSpPr txBox="1"/>
          <p:nvPr/>
        </p:nvSpPr>
        <p:spPr>
          <a:xfrm>
            <a:off x="381000" y="6375400"/>
            <a:ext cx="11430000" cy="246221"/>
          </a:xfrm>
          <a:prstGeom prst="rect">
            <a:avLst/>
          </a:prstGeom>
          <a:noFill/>
        </p:spPr>
        <p:txBody>
          <a:bodyPr vert="horz" rtlCol="0">
            <a:spAutoFit/>
          </a:bodyPr>
          <a:lstStyle/>
          <a:p>
            <a:r>
              <a:rPr lang="hi-IN" sz="1000">
                <a:solidFill>
                  <a:srgbClr val="64748B"/>
                </a:solidFill>
                <a:latin typeface="Segoe UI" panose="020B0502040204020203" pitchFamily="34" charset="0"/>
              </a:rPr>
              <a:t>सागर कोचिंग सेंटर भगवानपुर • कक्षा 08: 1857 की महान क्रांति • </a:t>
            </a:r>
            <a:r>
              <a:rPr lang="en-IN" sz="1000">
                <a:solidFill>
                  <a:srgbClr val="64748B"/>
                </a:solidFill>
                <a:latin typeface="Segoe UI" panose="020B0502040204020203" pitchFamily="34" charset="0"/>
              </a:rPr>
              <a:t>NMMS Special</a:t>
            </a:r>
          </a:p>
        </p:txBody>
      </p:sp>
    </p:spTree>
    <p:extLst>
      <p:ext uri="{BB962C8B-B14F-4D97-AF65-F5344CB8AC3E}">
        <p14:creationId xmlns:p14="http://schemas.microsoft.com/office/powerpoint/2010/main" val="149574361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6420A00-2895-9262-8100-C2236E16B4C0}"/>
              </a:ext>
            </a:extLst>
          </p:cNvPr>
          <p:cNvSpPr/>
          <p:nvPr/>
        </p:nvSpPr>
        <p:spPr>
          <a:xfrm>
            <a:off x="0" y="0"/>
            <a:ext cx="12192000" cy="609600"/>
          </a:xfrm>
          <a:prstGeom prst="rect">
            <a:avLst/>
          </a:prstGeom>
          <a:solidFill>
            <a:srgbClr val="1E293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BA605FF3-A2DF-A4B3-53CD-C7D77444B251}"/>
              </a:ext>
            </a:extLst>
          </p:cNvPr>
          <p:cNvSpPr txBox="1"/>
          <p:nvPr/>
        </p:nvSpPr>
        <p:spPr>
          <a:xfrm>
            <a:off x="381000" y="76200"/>
            <a:ext cx="11430000" cy="338554"/>
          </a:xfrm>
          <a:prstGeom prst="rect">
            <a:avLst/>
          </a:prstGeom>
          <a:noFill/>
        </p:spPr>
        <p:txBody>
          <a:bodyPr vert="horz" rtlCol="0">
            <a:spAutoFit/>
          </a:bodyPr>
          <a:lstStyle/>
          <a:p>
            <a:r>
              <a:rPr lang="en-IN" sz="1600" b="1">
                <a:solidFill>
                  <a:srgbClr val="10B981"/>
                </a:solidFill>
                <a:latin typeface="Segoe UI" panose="020B0502040204020203" pitchFamily="34" charset="0"/>
              </a:rPr>
              <a:t>PYQ </a:t>
            </a:r>
            <a:r>
              <a:rPr lang="hi-IN" sz="1600" b="1">
                <a:solidFill>
                  <a:srgbClr val="10B981"/>
                </a:solidFill>
                <a:latin typeface="Segoe UI" panose="020B0502040204020203" pitchFamily="34" charset="0"/>
              </a:rPr>
              <a:t>अभ्यास प्रश्न #4  [</a:t>
            </a:r>
            <a:r>
              <a:rPr lang="en-IN" sz="1600" b="1">
                <a:solidFill>
                  <a:srgbClr val="10B981"/>
                </a:solidFill>
                <a:latin typeface="Segoe UI" panose="020B0502040204020203" pitchFamily="34" charset="0"/>
              </a:rPr>
              <a:t>MP NMMS 2021] - Answer &amp; Explanation</a:t>
            </a:r>
          </a:p>
        </p:txBody>
      </p:sp>
      <p:sp>
        <p:nvSpPr>
          <p:cNvPr id="4" name="Rectangle: Rounded Corners 3">
            <a:extLst>
              <a:ext uri="{FF2B5EF4-FFF2-40B4-BE49-F238E27FC236}">
                <a16:creationId xmlns:a16="http://schemas.microsoft.com/office/drawing/2014/main" id="{6B5276DD-B2BE-8235-14E6-B1C1C6224CDF}"/>
              </a:ext>
            </a:extLst>
          </p:cNvPr>
          <p:cNvSpPr/>
          <p:nvPr/>
        </p:nvSpPr>
        <p:spPr>
          <a:xfrm>
            <a:off x="457200" y="787400"/>
            <a:ext cx="11277600" cy="1333500"/>
          </a:xfrm>
          <a:prstGeom prst="roundRect">
            <a:avLst/>
          </a:prstGeom>
          <a:solidFill>
            <a:srgbClr val="1E3A8A"/>
          </a:solidFill>
          <a:ln w="25400">
            <a:solidFill>
              <a:srgbClr val="D9770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86E6C880-FEDE-24A2-36AC-4E392EA7DF60}"/>
              </a:ext>
            </a:extLst>
          </p:cNvPr>
          <p:cNvSpPr txBox="1"/>
          <p:nvPr/>
        </p:nvSpPr>
        <p:spPr>
          <a:xfrm>
            <a:off x="635000" y="863600"/>
            <a:ext cx="10922000" cy="346249"/>
          </a:xfrm>
          <a:prstGeom prst="rect">
            <a:avLst/>
          </a:prstGeom>
          <a:noFill/>
        </p:spPr>
        <p:txBody>
          <a:bodyPr vert="horz" wrap="square" rtlCol="0">
            <a:spAutoFit/>
          </a:bodyPr>
          <a:lstStyle/>
          <a:p>
            <a:r>
              <a:rPr lang="hi-IN" sz="1650" b="1">
                <a:solidFill>
                  <a:srgbClr val="FFFFFF"/>
                </a:solidFill>
                <a:latin typeface="Segoe UI" panose="020B0502040204020203" pitchFamily="34" charset="0"/>
              </a:rPr>
              <a:t>प्र. 4. 1857 की क्रांति के समय अंतिम मुग़ल सम्राट कौन थे, जिन्हें क्रांति का नेता चुना गया?</a:t>
            </a:r>
            <a:endParaRPr lang="en-IN" sz="1650" b="1">
              <a:solidFill>
                <a:srgbClr val="FFFFFF"/>
              </a:solidFill>
              <a:latin typeface="Segoe UI" panose="020B0502040204020203" pitchFamily="34" charset="0"/>
            </a:endParaRPr>
          </a:p>
        </p:txBody>
      </p:sp>
      <p:sp>
        <p:nvSpPr>
          <p:cNvPr id="6" name="Rectangle: Rounded Corners 5">
            <a:extLst>
              <a:ext uri="{FF2B5EF4-FFF2-40B4-BE49-F238E27FC236}">
                <a16:creationId xmlns:a16="http://schemas.microsoft.com/office/drawing/2014/main" id="{FED1B342-F9E9-A405-3835-FC594A9CA985}"/>
              </a:ext>
            </a:extLst>
          </p:cNvPr>
          <p:cNvSpPr/>
          <p:nvPr/>
        </p:nvSpPr>
        <p:spPr>
          <a:xfrm>
            <a:off x="457200" y="2311400"/>
            <a:ext cx="5461000" cy="1016000"/>
          </a:xfrm>
          <a:prstGeom prst="roundRect">
            <a:avLst/>
          </a:prstGeom>
          <a:solidFill>
            <a:srgbClr val="0F172A"/>
          </a:solidFill>
          <a:ln w="12700">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 name="TextBox 6">
            <a:extLst>
              <a:ext uri="{FF2B5EF4-FFF2-40B4-BE49-F238E27FC236}">
                <a16:creationId xmlns:a16="http://schemas.microsoft.com/office/drawing/2014/main" id="{D2E4ED35-F415-8FF6-FCFC-5A3BB5EE0F76}"/>
              </a:ext>
            </a:extLst>
          </p:cNvPr>
          <p:cNvSpPr txBox="1"/>
          <p:nvPr/>
        </p:nvSpPr>
        <p:spPr>
          <a:xfrm>
            <a:off x="647700" y="2463800"/>
            <a:ext cx="5080000" cy="307777"/>
          </a:xfrm>
          <a:prstGeom prst="rect">
            <a:avLst/>
          </a:prstGeom>
          <a:noFill/>
        </p:spPr>
        <p:txBody>
          <a:bodyPr vert="horz" wrap="square" rtlCol="0">
            <a:spAutoFit/>
          </a:bodyPr>
          <a:lstStyle/>
          <a:p>
            <a:r>
              <a:rPr lang="en-IN" sz="1400">
                <a:solidFill>
                  <a:srgbClr val="94A3B8"/>
                </a:solidFill>
                <a:latin typeface="Segoe UI" panose="020B0502040204020203" pitchFamily="34" charset="0"/>
              </a:rPr>
              <a:t>(A)  </a:t>
            </a:r>
            <a:r>
              <a:rPr lang="hi-IN" sz="1400">
                <a:solidFill>
                  <a:srgbClr val="94A3B8"/>
                </a:solidFill>
                <a:latin typeface="Segoe UI" panose="020B0502040204020203" pitchFamily="34" charset="0"/>
              </a:rPr>
              <a:t>शाह आलम द्वितीय</a:t>
            </a:r>
            <a:endParaRPr lang="en-IN" sz="1400">
              <a:solidFill>
                <a:srgbClr val="94A3B8"/>
              </a:solidFill>
              <a:latin typeface="Segoe UI" panose="020B0502040204020203" pitchFamily="34" charset="0"/>
            </a:endParaRPr>
          </a:p>
        </p:txBody>
      </p:sp>
      <p:sp>
        <p:nvSpPr>
          <p:cNvPr id="8" name="Rectangle: Rounded Corners 7">
            <a:extLst>
              <a:ext uri="{FF2B5EF4-FFF2-40B4-BE49-F238E27FC236}">
                <a16:creationId xmlns:a16="http://schemas.microsoft.com/office/drawing/2014/main" id="{31E00C66-34D4-BD47-60D3-4C188A95B0B0}"/>
              </a:ext>
            </a:extLst>
          </p:cNvPr>
          <p:cNvSpPr/>
          <p:nvPr/>
        </p:nvSpPr>
        <p:spPr>
          <a:xfrm>
            <a:off x="6273800" y="2311400"/>
            <a:ext cx="5461000" cy="1016000"/>
          </a:xfrm>
          <a:prstGeom prst="roundRect">
            <a:avLst/>
          </a:prstGeom>
          <a:solidFill>
            <a:srgbClr val="14532D"/>
          </a:solidFill>
          <a:ln w="31750">
            <a:solidFill>
              <a:srgbClr val="22C55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C8F60DAB-0762-6998-B1AB-3DE4183D4DC1}"/>
              </a:ext>
            </a:extLst>
          </p:cNvPr>
          <p:cNvSpPr txBox="1"/>
          <p:nvPr/>
        </p:nvSpPr>
        <p:spPr>
          <a:xfrm>
            <a:off x="6464300" y="2463800"/>
            <a:ext cx="5080000" cy="338554"/>
          </a:xfrm>
          <a:prstGeom prst="rect">
            <a:avLst/>
          </a:prstGeom>
          <a:noFill/>
        </p:spPr>
        <p:txBody>
          <a:bodyPr vert="horz" wrap="square" rtlCol="0">
            <a:spAutoFit/>
          </a:bodyPr>
          <a:lstStyle/>
          <a:p>
            <a:r>
              <a:rPr lang="en-IN" sz="1600" b="1">
                <a:solidFill>
                  <a:srgbClr val="FDE68A"/>
                </a:solidFill>
                <a:latin typeface="Segoe UI" panose="020B0502040204020203" pitchFamily="34" charset="0"/>
              </a:rPr>
              <a:t>✅  (B)  </a:t>
            </a:r>
            <a:r>
              <a:rPr lang="hi-IN" sz="1600" b="1">
                <a:solidFill>
                  <a:srgbClr val="FDE68A"/>
                </a:solidFill>
                <a:latin typeface="Segoe UI" panose="020B0502040204020203" pitchFamily="34" charset="0"/>
              </a:rPr>
              <a:t>बहादुर शाह जफर (द्वितीय)</a:t>
            </a:r>
            <a:endParaRPr lang="en-IN" sz="1600" b="1">
              <a:solidFill>
                <a:srgbClr val="FDE68A"/>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7BF9661C-D00F-82E3-142F-8762DF225501}"/>
              </a:ext>
            </a:extLst>
          </p:cNvPr>
          <p:cNvSpPr/>
          <p:nvPr/>
        </p:nvSpPr>
        <p:spPr>
          <a:xfrm>
            <a:off x="457200" y="3530600"/>
            <a:ext cx="5461000" cy="1016000"/>
          </a:xfrm>
          <a:prstGeom prst="roundRect">
            <a:avLst/>
          </a:prstGeom>
          <a:solidFill>
            <a:srgbClr val="0F172A"/>
          </a:solidFill>
          <a:ln w="12700">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35330391-1334-1A11-757E-3AEFB598CAA5}"/>
              </a:ext>
            </a:extLst>
          </p:cNvPr>
          <p:cNvSpPr txBox="1"/>
          <p:nvPr/>
        </p:nvSpPr>
        <p:spPr>
          <a:xfrm>
            <a:off x="647700" y="3683000"/>
            <a:ext cx="5080000" cy="307777"/>
          </a:xfrm>
          <a:prstGeom prst="rect">
            <a:avLst/>
          </a:prstGeom>
          <a:noFill/>
        </p:spPr>
        <p:txBody>
          <a:bodyPr vert="horz" wrap="square" rtlCol="0">
            <a:spAutoFit/>
          </a:bodyPr>
          <a:lstStyle/>
          <a:p>
            <a:r>
              <a:rPr lang="en-IN" sz="1400">
                <a:solidFill>
                  <a:srgbClr val="94A3B8"/>
                </a:solidFill>
                <a:latin typeface="Segoe UI" panose="020B0502040204020203" pitchFamily="34" charset="0"/>
              </a:rPr>
              <a:t>(C)  </a:t>
            </a:r>
            <a:r>
              <a:rPr lang="hi-IN" sz="1400">
                <a:solidFill>
                  <a:srgbClr val="94A3B8"/>
                </a:solidFill>
                <a:latin typeface="Segoe UI" panose="020B0502040204020203" pitchFamily="34" charset="0"/>
              </a:rPr>
              <a:t>अकबर द्वितीय</a:t>
            </a:r>
            <a:endParaRPr lang="en-IN" sz="1400">
              <a:solidFill>
                <a:srgbClr val="94A3B8"/>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20823DFA-6F97-2674-275D-D7D6670F6556}"/>
              </a:ext>
            </a:extLst>
          </p:cNvPr>
          <p:cNvSpPr/>
          <p:nvPr/>
        </p:nvSpPr>
        <p:spPr>
          <a:xfrm>
            <a:off x="6273800" y="3530600"/>
            <a:ext cx="5461000" cy="1016000"/>
          </a:xfrm>
          <a:prstGeom prst="roundRect">
            <a:avLst/>
          </a:prstGeom>
          <a:solidFill>
            <a:srgbClr val="0F172A"/>
          </a:solidFill>
          <a:ln w="12700">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2667A7A6-E9AA-69AC-4C32-BD61E55A44DF}"/>
              </a:ext>
            </a:extLst>
          </p:cNvPr>
          <p:cNvSpPr txBox="1"/>
          <p:nvPr/>
        </p:nvSpPr>
        <p:spPr>
          <a:xfrm>
            <a:off x="6464300" y="3683000"/>
            <a:ext cx="5080000" cy="307777"/>
          </a:xfrm>
          <a:prstGeom prst="rect">
            <a:avLst/>
          </a:prstGeom>
          <a:noFill/>
        </p:spPr>
        <p:txBody>
          <a:bodyPr vert="horz" wrap="square" rtlCol="0">
            <a:spAutoFit/>
          </a:bodyPr>
          <a:lstStyle/>
          <a:p>
            <a:r>
              <a:rPr lang="en-IN" sz="1400">
                <a:solidFill>
                  <a:srgbClr val="94A3B8"/>
                </a:solidFill>
                <a:latin typeface="Segoe UI" panose="020B0502040204020203" pitchFamily="34" charset="0"/>
              </a:rPr>
              <a:t>(D)  </a:t>
            </a:r>
            <a:r>
              <a:rPr lang="hi-IN" sz="1400">
                <a:solidFill>
                  <a:srgbClr val="94A3B8"/>
                </a:solidFill>
                <a:latin typeface="Segoe UI" panose="020B0502040204020203" pitchFamily="34" charset="0"/>
              </a:rPr>
              <a:t>आलमगीर</a:t>
            </a:r>
            <a:endParaRPr lang="en-IN" sz="1400">
              <a:solidFill>
                <a:srgbClr val="94A3B8"/>
              </a:solidFill>
              <a:latin typeface="Segoe UI" panose="020B0502040204020203" pitchFamily="34" charset="0"/>
            </a:endParaRPr>
          </a:p>
        </p:txBody>
      </p:sp>
      <p:sp>
        <p:nvSpPr>
          <p:cNvPr id="14" name="Rectangle: Rounded Corners 13">
            <a:extLst>
              <a:ext uri="{FF2B5EF4-FFF2-40B4-BE49-F238E27FC236}">
                <a16:creationId xmlns:a16="http://schemas.microsoft.com/office/drawing/2014/main" id="{2FE78253-F0EE-52D4-449A-A4ADBD942957}"/>
              </a:ext>
            </a:extLst>
          </p:cNvPr>
          <p:cNvSpPr/>
          <p:nvPr/>
        </p:nvSpPr>
        <p:spPr>
          <a:xfrm>
            <a:off x="457200" y="4724400"/>
            <a:ext cx="11277600" cy="1422400"/>
          </a:xfrm>
          <a:prstGeom prst="roundRect">
            <a:avLst/>
          </a:prstGeom>
          <a:solidFill>
            <a:srgbClr val="064E3B"/>
          </a:solidFill>
          <a:ln w="2540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11E62825-9D30-743F-509D-906058FE0456}"/>
              </a:ext>
            </a:extLst>
          </p:cNvPr>
          <p:cNvSpPr txBox="1"/>
          <p:nvPr/>
        </p:nvSpPr>
        <p:spPr>
          <a:xfrm>
            <a:off x="635000" y="4775200"/>
            <a:ext cx="10922000" cy="307777"/>
          </a:xfrm>
          <a:prstGeom prst="rect">
            <a:avLst/>
          </a:prstGeom>
          <a:noFill/>
        </p:spPr>
        <p:txBody>
          <a:bodyPr vert="horz" rtlCol="0">
            <a:spAutoFit/>
          </a:bodyPr>
          <a:lstStyle/>
          <a:p>
            <a:r>
              <a:rPr lang="en-IN" sz="1400" b="1">
                <a:solidFill>
                  <a:srgbClr val="FDE68A"/>
                </a:solidFill>
                <a:latin typeface="Segoe UI" panose="020B0502040204020203" pitchFamily="34" charset="0"/>
              </a:rPr>
              <a:t>✅ </a:t>
            </a:r>
            <a:r>
              <a:rPr lang="hi-IN" sz="1400" b="1">
                <a:solidFill>
                  <a:srgbClr val="FDE68A"/>
                </a:solidFill>
                <a:latin typeface="Segoe UI" panose="020B0502040204020203" pitchFamily="34" charset="0"/>
              </a:rPr>
              <a:t>सही उत्तर: (</a:t>
            </a:r>
            <a:r>
              <a:rPr lang="en-IN" sz="1400" b="1">
                <a:solidFill>
                  <a:srgbClr val="FDE68A"/>
                </a:solidFill>
                <a:latin typeface="Segoe UI" panose="020B0502040204020203" pitchFamily="34" charset="0"/>
              </a:rPr>
              <a:t>B)   |   </a:t>
            </a:r>
            <a:r>
              <a:rPr lang="hi-IN" sz="1400" b="1">
                <a:solidFill>
                  <a:srgbClr val="FDE68A"/>
                </a:solidFill>
                <a:latin typeface="Segoe UI" panose="020B0502040204020203" pitchFamily="34" charset="0"/>
              </a:rPr>
              <a:t>परीक्षा व्याख्या (</a:t>
            </a:r>
            <a:r>
              <a:rPr lang="en-IN" sz="1400" b="1">
                <a:solidFill>
                  <a:srgbClr val="FDE68A"/>
                </a:solidFill>
                <a:latin typeface="Segoe UI" panose="020B0502040204020203" pitchFamily="34" charset="0"/>
              </a:rPr>
              <a:t>Exam Explanation):</a:t>
            </a:r>
          </a:p>
        </p:txBody>
      </p:sp>
      <p:sp>
        <p:nvSpPr>
          <p:cNvPr id="16" name="TextBox 15">
            <a:extLst>
              <a:ext uri="{FF2B5EF4-FFF2-40B4-BE49-F238E27FC236}">
                <a16:creationId xmlns:a16="http://schemas.microsoft.com/office/drawing/2014/main" id="{C6A9D7E3-D74F-5A01-A108-F04F51A9A54D}"/>
              </a:ext>
            </a:extLst>
          </p:cNvPr>
          <p:cNvSpPr txBox="1"/>
          <p:nvPr/>
        </p:nvSpPr>
        <p:spPr>
          <a:xfrm>
            <a:off x="635000" y="5105400"/>
            <a:ext cx="10922000" cy="300082"/>
          </a:xfrm>
          <a:prstGeom prst="rect">
            <a:avLst/>
          </a:prstGeom>
          <a:noFill/>
        </p:spPr>
        <p:txBody>
          <a:bodyPr vert="horz" wrap="square" rtlCol="0">
            <a:spAutoFit/>
          </a:bodyPr>
          <a:lstStyle/>
          <a:p>
            <a:r>
              <a:rPr lang="en-IN" sz="1350">
                <a:solidFill>
                  <a:srgbClr val="FFFFFF"/>
                </a:solidFill>
                <a:latin typeface="Segoe UI" panose="020B0502040204020203" pitchFamily="34" charset="0"/>
              </a:rPr>
              <a:t>💡  </a:t>
            </a:r>
            <a:r>
              <a:rPr lang="hi-IN" sz="1350">
                <a:solidFill>
                  <a:srgbClr val="FFFFFF"/>
                </a:solidFill>
                <a:latin typeface="Segoe UI" panose="020B0502040204020203" pitchFamily="34" charset="0"/>
              </a:rPr>
              <a:t>विद्रोहियों ने 82 वर्षीय अंतिम मुग़ल बादशाह बहादुर शाह जफर को भारत का सम्राट घोषित किया था।</a:t>
            </a:r>
            <a:endParaRPr lang="en-IN" sz="1350">
              <a:solidFill>
                <a:srgbClr val="FFFFFF"/>
              </a:solidFill>
              <a:latin typeface="Segoe UI" panose="020B0502040204020203" pitchFamily="34" charset="0"/>
            </a:endParaRPr>
          </a:p>
        </p:txBody>
      </p:sp>
      <p:sp>
        <p:nvSpPr>
          <p:cNvPr id="17" name="TextBox 16">
            <a:extLst>
              <a:ext uri="{FF2B5EF4-FFF2-40B4-BE49-F238E27FC236}">
                <a16:creationId xmlns:a16="http://schemas.microsoft.com/office/drawing/2014/main" id="{956FA1A2-F7BF-F893-BE80-DE7D0BEF18B2}"/>
              </a:ext>
            </a:extLst>
          </p:cNvPr>
          <p:cNvSpPr txBox="1"/>
          <p:nvPr/>
        </p:nvSpPr>
        <p:spPr>
          <a:xfrm>
            <a:off x="381000" y="6375400"/>
            <a:ext cx="11430000" cy="246221"/>
          </a:xfrm>
          <a:prstGeom prst="rect">
            <a:avLst/>
          </a:prstGeom>
          <a:noFill/>
        </p:spPr>
        <p:txBody>
          <a:bodyPr vert="horz" rtlCol="0">
            <a:spAutoFit/>
          </a:bodyPr>
          <a:lstStyle/>
          <a:p>
            <a:r>
              <a:rPr lang="hi-IN" sz="1000">
                <a:solidFill>
                  <a:srgbClr val="64748B"/>
                </a:solidFill>
                <a:latin typeface="Segoe UI" panose="020B0502040204020203" pitchFamily="34" charset="0"/>
              </a:rPr>
              <a:t>सागर कोचिंग सेंटर भगवानपुर • कक्षा 08: 1857 की महान क्रांति • </a:t>
            </a:r>
            <a:r>
              <a:rPr lang="en-IN" sz="1000">
                <a:solidFill>
                  <a:srgbClr val="64748B"/>
                </a:solidFill>
                <a:latin typeface="Segoe UI" panose="020B0502040204020203" pitchFamily="34" charset="0"/>
              </a:rPr>
              <a:t>NMMS Special</a:t>
            </a:r>
          </a:p>
        </p:txBody>
      </p:sp>
    </p:spTree>
    <p:extLst>
      <p:ext uri="{BB962C8B-B14F-4D97-AF65-F5344CB8AC3E}">
        <p14:creationId xmlns:p14="http://schemas.microsoft.com/office/powerpoint/2010/main" val="12009984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DA81AC2-149B-64A0-DB83-A1C88A75F7DC}"/>
              </a:ext>
            </a:extLst>
          </p:cNvPr>
          <p:cNvSpPr/>
          <p:nvPr/>
        </p:nvSpPr>
        <p:spPr>
          <a:xfrm>
            <a:off x="0" y="0"/>
            <a:ext cx="12192000" cy="609600"/>
          </a:xfrm>
          <a:prstGeom prst="rect">
            <a:avLst/>
          </a:prstGeom>
          <a:solidFill>
            <a:srgbClr val="1E293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1ACDB45C-F1E1-5D23-4BEA-105DD3A07BCD}"/>
              </a:ext>
            </a:extLst>
          </p:cNvPr>
          <p:cNvSpPr txBox="1"/>
          <p:nvPr/>
        </p:nvSpPr>
        <p:spPr>
          <a:xfrm>
            <a:off x="381000" y="76200"/>
            <a:ext cx="11430000" cy="338554"/>
          </a:xfrm>
          <a:prstGeom prst="rect">
            <a:avLst/>
          </a:prstGeom>
          <a:noFill/>
        </p:spPr>
        <p:txBody>
          <a:bodyPr vert="horz" rtlCol="0">
            <a:spAutoFit/>
          </a:bodyPr>
          <a:lstStyle/>
          <a:p>
            <a:r>
              <a:rPr lang="en-IN" sz="1600" b="1">
                <a:solidFill>
                  <a:srgbClr val="F59E0B"/>
                </a:solidFill>
                <a:latin typeface="Segoe UI" panose="020B0502040204020203" pitchFamily="34" charset="0"/>
              </a:rPr>
              <a:t>PYQ </a:t>
            </a:r>
            <a:r>
              <a:rPr lang="hi-IN" sz="1600" b="1">
                <a:solidFill>
                  <a:srgbClr val="F59E0B"/>
                </a:solidFill>
                <a:latin typeface="Segoe UI" panose="020B0502040204020203" pitchFamily="34" charset="0"/>
              </a:rPr>
              <a:t>अभ्यास प्रश्न #5  [</a:t>
            </a:r>
            <a:r>
              <a:rPr lang="en-IN" sz="1600" b="1">
                <a:solidFill>
                  <a:srgbClr val="F59E0B"/>
                </a:solidFill>
                <a:latin typeface="Segoe UI" panose="020B0502040204020203" pitchFamily="34" charset="0"/>
              </a:rPr>
              <a:t>Bihar NMMS 2024]</a:t>
            </a:r>
          </a:p>
        </p:txBody>
      </p:sp>
      <p:sp>
        <p:nvSpPr>
          <p:cNvPr id="4" name="Rectangle: Rounded Corners 3">
            <a:extLst>
              <a:ext uri="{FF2B5EF4-FFF2-40B4-BE49-F238E27FC236}">
                <a16:creationId xmlns:a16="http://schemas.microsoft.com/office/drawing/2014/main" id="{BF14B58F-58F1-1160-C8C2-74B02F8D54C8}"/>
              </a:ext>
            </a:extLst>
          </p:cNvPr>
          <p:cNvSpPr/>
          <p:nvPr/>
        </p:nvSpPr>
        <p:spPr>
          <a:xfrm>
            <a:off x="457200" y="787400"/>
            <a:ext cx="11277600" cy="1333500"/>
          </a:xfrm>
          <a:prstGeom prst="roundRect">
            <a:avLst/>
          </a:prstGeom>
          <a:solidFill>
            <a:srgbClr val="1E3A8A"/>
          </a:solidFill>
          <a:ln w="25400">
            <a:solidFill>
              <a:srgbClr val="D9770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5AF98F8C-EE6C-FE32-AE1D-CF79ABE8B257}"/>
              </a:ext>
            </a:extLst>
          </p:cNvPr>
          <p:cNvSpPr txBox="1"/>
          <p:nvPr/>
        </p:nvSpPr>
        <p:spPr>
          <a:xfrm>
            <a:off x="635000" y="863600"/>
            <a:ext cx="10922000" cy="346249"/>
          </a:xfrm>
          <a:prstGeom prst="rect">
            <a:avLst/>
          </a:prstGeom>
          <a:noFill/>
        </p:spPr>
        <p:txBody>
          <a:bodyPr vert="horz" wrap="square" rtlCol="0">
            <a:spAutoFit/>
          </a:bodyPr>
          <a:lstStyle/>
          <a:p>
            <a:r>
              <a:rPr lang="hi-IN" sz="1650" b="1">
                <a:solidFill>
                  <a:srgbClr val="FFFFFF"/>
                </a:solidFill>
                <a:latin typeface="Segoe UI" panose="020B0502040204020203" pitchFamily="34" charset="0"/>
              </a:rPr>
              <a:t>प्र. 5. 1857 की क्रांति में बिहार के जगदीशपुर (आरा) से नेतृत्व किस वीर योद्धा ने किया था?</a:t>
            </a:r>
            <a:endParaRPr lang="en-IN" sz="1650" b="1">
              <a:solidFill>
                <a:srgbClr val="FFFFFF"/>
              </a:solidFill>
              <a:latin typeface="Segoe UI" panose="020B0502040204020203" pitchFamily="34" charset="0"/>
            </a:endParaRPr>
          </a:p>
        </p:txBody>
      </p:sp>
      <p:sp>
        <p:nvSpPr>
          <p:cNvPr id="6" name="Rectangle: Rounded Corners 5">
            <a:extLst>
              <a:ext uri="{FF2B5EF4-FFF2-40B4-BE49-F238E27FC236}">
                <a16:creationId xmlns:a16="http://schemas.microsoft.com/office/drawing/2014/main" id="{2C2F5472-F199-A3F6-0C8E-5D49A8399CC8}"/>
              </a:ext>
            </a:extLst>
          </p:cNvPr>
          <p:cNvSpPr/>
          <p:nvPr/>
        </p:nvSpPr>
        <p:spPr>
          <a:xfrm>
            <a:off x="457200" y="2311400"/>
            <a:ext cx="5461000" cy="1016000"/>
          </a:xfrm>
          <a:prstGeom prst="roundRect">
            <a:avLst/>
          </a:prstGeom>
          <a:solidFill>
            <a:srgbClr val="1E293B"/>
          </a:solidFill>
          <a:ln w="19050">
            <a:solidFill>
              <a:srgbClr val="47556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 name="TextBox 6">
            <a:extLst>
              <a:ext uri="{FF2B5EF4-FFF2-40B4-BE49-F238E27FC236}">
                <a16:creationId xmlns:a16="http://schemas.microsoft.com/office/drawing/2014/main" id="{1669B1ED-8217-926F-9091-A63E297782A9}"/>
              </a:ext>
            </a:extLst>
          </p:cNvPr>
          <p:cNvSpPr txBox="1"/>
          <p:nvPr/>
        </p:nvSpPr>
        <p:spPr>
          <a:xfrm>
            <a:off x="647700" y="2463800"/>
            <a:ext cx="5080000" cy="330860"/>
          </a:xfrm>
          <a:prstGeom prst="rect">
            <a:avLst/>
          </a:prstGeom>
          <a:noFill/>
        </p:spPr>
        <p:txBody>
          <a:bodyPr vert="horz" wrap="square" rtlCol="0">
            <a:spAutoFit/>
          </a:bodyPr>
          <a:lstStyle/>
          <a:p>
            <a:r>
              <a:rPr lang="en-IN" sz="1550" b="1">
                <a:solidFill>
                  <a:srgbClr val="F8FAFC"/>
                </a:solidFill>
                <a:latin typeface="Segoe UI" panose="020B0502040204020203" pitchFamily="34" charset="0"/>
              </a:rPr>
              <a:t>(A)  </a:t>
            </a:r>
            <a:r>
              <a:rPr lang="hi-IN" sz="1550" b="1">
                <a:solidFill>
                  <a:srgbClr val="F8FAFC"/>
                </a:solidFill>
                <a:latin typeface="Segoe UI" panose="020B0502040204020203" pitchFamily="34" charset="0"/>
              </a:rPr>
              <a:t>नाना साहेब</a:t>
            </a:r>
            <a:endParaRPr lang="en-IN" sz="1550" b="1">
              <a:solidFill>
                <a:srgbClr val="F8FAFC"/>
              </a:solidFill>
              <a:latin typeface="Segoe UI" panose="020B0502040204020203" pitchFamily="34" charset="0"/>
            </a:endParaRPr>
          </a:p>
        </p:txBody>
      </p:sp>
      <p:sp>
        <p:nvSpPr>
          <p:cNvPr id="8" name="Rectangle: Rounded Corners 7">
            <a:extLst>
              <a:ext uri="{FF2B5EF4-FFF2-40B4-BE49-F238E27FC236}">
                <a16:creationId xmlns:a16="http://schemas.microsoft.com/office/drawing/2014/main" id="{D1988773-7B64-EB86-E91F-D92DF1CA9955}"/>
              </a:ext>
            </a:extLst>
          </p:cNvPr>
          <p:cNvSpPr/>
          <p:nvPr/>
        </p:nvSpPr>
        <p:spPr>
          <a:xfrm>
            <a:off x="6273800" y="2311400"/>
            <a:ext cx="5461000" cy="1016000"/>
          </a:xfrm>
          <a:prstGeom prst="roundRect">
            <a:avLst/>
          </a:prstGeom>
          <a:solidFill>
            <a:srgbClr val="1E293B"/>
          </a:solidFill>
          <a:ln w="19050">
            <a:solidFill>
              <a:srgbClr val="47556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46993928-4463-9EA0-C81B-58062A841316}"/>
              </a:ext>
            </a:extLst>
          </p:cNvPr>
          <p:cNvSpPr txBox="1"/>
          <p:nvPr/>
        </p:nvSpPr>
        <p:spPr>
          <a:xfrm>
            <a:off x="6464300" y="2463800"/>
            <a:ext cx="5080000" cy="330860"/>
          </a:xfrm>
          <a:prstGeom prst="rect">
            <a:avLst/>
          </a:prstGeom>
          <a:noFill/>
        </p:spPr>
        <p:txBody>
          <a:bodyPr vert="horz" wrap="square" rtlCol="0">
            <a:spAutoFit/>
          </a:bodyPr>
          <a:lstStyle/>
          <a:p>
            <a:r>
              <a:rPr lang="en-IN" sz="1550" b="1">
                <a:solidFill>
                  <a:srgbClr val="F8FAFC"/>
                </a:solidFill>
                <a:latin typeface="Segoe UI" panose="020B0502040204020203" pitchFamily="34" charset="0"/>
              </a:rPr>
              <a:t>(B)  </a:t>
            </a:r>
            <a:r>
              <a:rPr lang="hi-IN" sz="1550" b="1">
                <a:solidFill>
                  <a:srgbClr val="F8FAFC"/>
                </a:solidFill>
                <a:latin typeface="Segoe UI" panose="020B0502040204020203" pitchFamily="34" charset="0"/>
              </a:rPr>
              <a:t>बाबू वीर कुंवर सिंह</a:t>
            </a:r>
            <a:endParaRPr lang="en-IN" sz="1550" b="1">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BA88CA86-CC58-22E2-CAC1-9DC23B46A0E4}"/>
              </a:ext>
            </a:extLst>
          </p:cNvPr>
          <p:cNvSpPr/>
          <p:nvPr/>
        </p:nvSpPr>
        <p:spPr>
          <a:xfrm>
            <a:off x="457200" y="3530600"/>
            <a:ext cx="5461000" cy="1016000"/>
          </a:xfrm>
          <a:prstGeom prst="roundRect">
            <a:avLst/>
          </a:prstGeom>
          <a:solidFill>
            <a:srgbClr val="1E293B"/>
          </a:solidFill>
          <a:ln w="19050">
            <a:solidFill>
              <a:srgbClr val="47556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7A5C7505-8C62-D663-1C2D-96BCD08DFA98}"/>
              </a:ext>
            </a:extLst>
          </p:cNvPr>
          <p:cNvSpPr txBox="1"/>
          <p:nvPr/>
        </p:nvSpPr>
        <p:spPr>
          <a:xfrm>
            <a:off x="647700" y="3683000"/>
            <a:ext cx="5080000" cy="330860"/>
          </a:xfrm>
          <a:prstGeom prst="rect">
            <a:avLst/>
          </a:prstGeom>
          <a:noFill/>
        </p:spPr>
        <p:txBody>
          <a:bodyPr vert="horz" wrap="square" rtlCol="0">
            <a:spAutoFit/>
          </a:bodyPr>
          <a:lstStyle/>
          <a:p>
            <a:r>
              <a:rPr lang="en-IN" sz="1550" b="1">
                <a:solidFill>
                  <a:srgbClr val="F8FAFC"/>
                </a:solidFill>
                <a:latin typeface="Segoe UI" panose="020B0502040204020203" pitchFamily="34" charset="0"/>
              </a:rPr>
              <a:t>(C)  </a:t>
            </a:r>
            <a:r>
              <a:rPr lang="hi-IN" sz="1550" b="1">
                <a:solidFill>
                  <a:srgbClr val="F8FAFC"/>
                </a:solidFill>
                <a:latin typeface="Segoe UI" panose="020B0502040204020203" pitchFamily="34" charset="0"/>
              </a:rPr>
              <a:t>खान बहादुर खां</a:t>
            </a:r>
            <a:endParaRPr lang="en-IN" sz="1550" b="1">
              <a:solidFill>
                <a:srgbClr val="F8FAFC"/>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6B4E22EB-AD4C-14D3-4901-93937655BF0F}"/>
              </a:ext>
            </a:extLst>
          </p:cNvPr>
          <p:cNvSpPr/>
          <p:nvPr/>
        </p:nvSpPr>
        <p:spPr>
          <a:xfrm>
            <a:off x="6273800" y="3530600"/>
            <a:ext cx="5461000" cy="1016000"/>
          </a:xfrm>
          <a:prstGeom prst="roundRect">
            <a:avLst/>
          </a:prstGeom>
          <a:solidFill>
            <a:srgbClr val="1E293B"/>
          </a:solidFill>
          <a:ln w="19050">
            <a:solidFill>
              <a:srgbClr val="47556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AF33EBF1-BC5B-CEF4-02BF-885511575FD5}"/>
              </a:ext>
            </a:extLst>
          </p:cNvPr>
          <p:cNvSpPr txBox="1"/>
          <p:nvPr/>
        </p:nvSpPr>
        <p:spPr>
          <a:xfrm>
            <a:off x="6464300" y="3683000"/>
            <a:ext cx="5080000" cy="330860"/>
          </a:xfrm>
          <a:prstGeom prst="rect">
            <a:avLst/>
          </a:prstGeom>
          <a:noFill/>
        </p:spPr>
        <p:txBody>
          <a:bodyPr vert="horz" wrap="square" rtlCol="0">
            <a:spAutoFit/>
          </a:bodyPr>
          <a:lstStyle/>
          <a:p>
            <a:r>
              <a:rPr lang="en-IN" sz="1550" b="1">
                <a:solidFill>
                  <a:srgbClr val="F8FAFC"/>
                </a:solidFill>
                <a:latin typeface="Segoe UI" panose="020B0502040204020203" pitchFamily="34" charset="0"/>
              </a:rPr>
              <a:t>(D)  </a:t>
            </a:r>
            <a:r>
              <a:rPr lang="hi-IN" sz="1550" b="1">
                <a:solidFill>
                  <a:srgbClr val="F8FAFC"/>
                </a:solidFill>
                <a:latin typeface="Segoe UI" panose="020B0502040204020203" pitchFamily="34" charset="0"/>
              </a:rPr>
              <a:t>लियाकत अली</a:t>
            </a:r>
            <a:endParaRPr lang="en-IN" sz="1550" b="1">
              <a:solidFill>
                <a:srgbClr val="F8FAFC"/>
              </a:solidFill>
              <a:latin typeface="Segoe UI" panose="020B0502040204020203" pitchFamily="34" charset="0"/>
            </a:endParaRPr>
          </a:p>
        </p:txBody>
      </p:sp>
      <p:sp>
        <p:nvSpPr>
          <p:cNvPr id="14" name="Rectangle: Rounded Corners 13">
            <a:extLst>
              <a:ext uri="{FF2B5EF4-FFF2-40B4-BE49-F238E27FC236}">
                <a16:creationId xmlns:a16="http://schemas.microsoft.com/office/drawing/2014/main" id="{35B9B045-1F7B-6A5E-A3CD-197C591400E0}"/>
              </a:ext>
            </a:extLst>
          </p:cNvPr>
          <p:cNvSpPr/>
          <p:nvPr/>
        </p:nvSpPr>
        <p:spPr>
          <a:xfrm>
            <a:off x="2921000" y="4826000"/>
            <a:ext cx="6350000" cy="711200"/>
          </a:xfrm>
          <a:prstGeom prst="roundRect">
            <a:avLst/>
          </a:prstGeom>
          <a:solidFill>
            <a:srgbClr val="312E81"/>
          </a:solidFill>
          <a:ln w="19050">
            <a:solidFill>
              <a:srgbClr val="6366F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54022EA5-CC11-FCD3-35AC-9366D52BE74F}"/>
              </a:ext>
            </a:extLst>
          </p:cNvPr>
          <p:cNvSpPr txBox="1"/>
          <p:nvPr/>
        </p:nvSpPr>
        <p:spPr>
          <a:xfrm>
            <a:off x="2984500" y="4927600"/>
            <a:ext cx="6223000" cy="307777"/>
          </a:xfrm>
          <a:prstGeom prst="rect">
            <a:avLst/>
          </a:prstGeom>
          <a:noFill/>
        </p:spPr>
        <p:txBody>
          <a:bodyPr vert="horz" rtlCol="0">
            <a:spAutoFit/>
          </a:bodyPr>
          <a:lstStyle/>
          <a:p>
            <a:pPr algn="ctr"/>
            <a:r>
              <a:rPr lang="en-IN" sz="1400" b="1">
                <a:solidFill>
                  <a:srgbClr val="FDE68A"/>
                </a:solidFill>
                <a:latin typeface="Segoe UI" panose="020B0502040204020203" pitchFamily="34" charset="0"/>
              </a:rPr>
              <a:t>⏱ 10 </a:t>
            </a:r>
            <a:r>
              <a:rPr lang="hi-IN" sz="1400" b="1">
                <a:solidFill>
                  <a:srgbClr val="FDE68A"/>
                </a:solidFill>
                <a:latin typeface="Segoe UI" panose="020B0502040204020203" pitchFamily="34" charset="0"/>
              </a:rPr>
              <a:t>सेकंड सोचिए और सही विकल्प चुनिए: (</a:t>
            </a:r>
            <a:r>
              <a:rPr lang="en-IN" sz="1400" b="1">
                <a:solidFill>
                  <a:srgbClr val="FDE68A"/>
                </a:solidFill>
                <a:latin typeface="Segoe UI" panose="020B0502040204020203" pitchFamily="34" charset="0"/>
              </a:rPr>
              <a:t>A), (B), (C) </a:t>
            </a:r>
            <a:r>
              <a:rPr lang="hi-IN" sz="1400" b="1">
                <a:solidFill>
                  <a:srgbClr val="FDE68A"/>
                </a:solidFill>
                <a:latin typeface="Segoe UI" panose="020B0502040204020203" pitchFamily="34" charset="0"/>
              </a:rPr>
              <a:t>या (</a:t>
            </a:r>
            <a:r>
              <a:rPr lang="en-IN" sz="1400" b="1">
                <a:solidFill>
                  <a:srgbClr val="FDE68A"/>
                </a:solidFill>
                <a:latin typeface="Segoe UI" panose="020B0502040204020203" pitchFamily="34" charset="0"/>
              </a:rPr>
              <a:t>D)</a:t>
            </a:r>
          </a:p>
        </p:txBody>
      </p:sp>
      <p:sp>
        <p:nvSpPr>
          <p:cNvPr id="16" name="TextBox 15">
            <a:extLst>
              <a:ext uri="{FF2B5EF4-FFF2-40B4-BE49-F238E27FC236}">
                <a16:creationId xmlns:a16="http://schemas.microsoft.com/office/drawing/2014/main" id="{2E42DF5C-D5E3-6F15-ADD8-4A7FEA814F5C}"/>
              </a:ext>
            </a:extLst>
          </p:cNvPr>
          <p:cNvSpPr txBox="1"/>
          <p:nvPr/>
        </p:nvSpPr>
        <p:spPr>
          <a:xfrm>
            <a:off x="381000" y="6375400"/>
            <a:ext cx="11430000" cy="246221"/>
          </a:xfrm>
          <a:prstGeom prst="rect">
            <a:avLst/>
          </a:prstGeom>
          <a:noFill/>
        </p:spPr>
        <p:txBody>
          <a:bodyPr vert="horz" rtlCol="0">
            <a:spAutoFit/>
          </a:bodyPr>
          <a:lstStyle/>
          <a:p>
            <a:r>
              <a:rPr lang="hi-IN" sz="1000">
                <a:solidFill>
                  <a:srgbClr val="64748B"/>
                </a:solidFill>
                <a:latin typeface="Segoe UI" panose="020B0502040204020203" pitchFamily="34" charset="0"/>
              </a:rPr>
              <a:t>सागर कोचिंग सेंटर भगवानपुर • कक्षा 08: 1857 की महान क्रांति • </a:t>
            </a:r>
            <a:r>
              <a:rPr lang="en-IN" sz="1000">
                <a:solidFill>
                  <a:srgbClr val="64748B"/>
                </a:solidFill>
                <a:latin typeface="Segoe UI" panose="020B0502040204020203" pitchFamily="34" charset="0"/>
              </a:rPr>
              <a:t>NMMS Special</a:t>
            </a:r>
          </a:p>
        </p:txBody>
      </p:sp>
    </p:spTree>
    <p:extLst>
      <p:ext uri="{BB962C8B-B14F-4D97-AF65-F5344CB8AC3E}">
        <p14:creationId xmlns:p14="http://schemas.microsoft.com/office/powerpoint/2010/main" val="202361867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7633BF9-6986-BD4D-D7CF-0180EC86926D}"/>
              </a:ext>
            </a:extLst>
          </p:cNvPr>
          <p:cNvSpPr/>
          <p:nvPr/>
        </p:nvSpPr>
        <p:spPr>
          <a:xfrm>
            <a:off x="0" y="0"/>
            <a:ext cx="12192000" cy="609600"/>
          </a:xfrm>
          <a:prstGeom prst="rect">
            <a:avLst/>
          </a:prstGeom>
          <a:solidFill>
            <a:srgbClr val="1E293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6B617F49-99CE-1296-0178-A98EEDBBBBEE}"/>
              </a:ext>
            </a:extLst>
          </p:cNvPr>
          <p:cNvSpPr txBox="1"/>
          <p:nvPr/>
        </p:nvSpPr>
        <p:spPr>
          <a:xfrm>
            <a:off x="381000" y="76200"/>
            <a:ext cx="11430000" cy="338554"/>
          </a:xfrm>
          <a:prstGeom prst="rect">
            <a:avLst/>
          </a:prstGeom>
          <a:noFill/>
        </p:spPr>
        <p:txBody>
          <a:bodyPr vert="horz" rtlCol="0">
            <a:spAutoFit/>
          </a:bodyPr>
          <a:lstStyle/>
          <a:p>
            <a:r>
              <a:rPr lang="en-IN" sz="1600" b="1">
                <a:solidFill>
                  <a:srgbClr val="10B981"/>
                </a:solidFill>
                <a:latin typeface="Segoe UI" panose="020B0502040204020203" pitchFamily="34" charset="0"/>
              </a:rPr>
              <a:t>PYQ </a:t>
            </a:r>
            <a:r>
              <a:rPr lang="hi-IN" sz="1600" b="1">
                <a:solidFill>
                  <a:srgbClr val="10B981"/>
                </a:solidFill>
                <a:latin typeface="Segoe UI" panose="020B0502040204020203" pitchFamily="34" charset="0"/>
              </a:rPr>
              <a:t>अभ्यास प्रश्न #5  [</a:t>
            </a:r>
            <a:r>
              <a:rPr lang="en-IN" sz="1600" b="1">
                <a:solidFill>
                  <a:srgbClr val="10B981"/>
                </a:solidFill>
                <a:latin typeface="Segoe UI" panose="020B0502040204020203" pitchFamily="34" charset="0"/>
              </a:rPr>
              <a:t>Bihar NMMS 2024] - Answer &amp; Explanation</a:t>
            </a:r>
          </a:p>
        </p:txBody>
      </p:sp>
      <p:sp>
        <p:nvSpPr>
          <p:cNvPr id="4" name="Rectangle: Rounded Corners 3">
            <a:extLst>
              <a:ext uri="{FF2B5EF4-FFF2-40B4-BE49-F238E27FC236}">
                <a16:creationId xmlns:a16="http://schemas.microsoft.com/office/drawing/2014/main" id="{2510398B-AF94-8313-2DC3-275BAD3E10E9}"/>
              </a:ext>
            </a:extLst>
          </p:cNvPr>
          <p:cNvSpPr/>
          <p:nvPr/>
        </p:nvSpPr>
        <p:spPr>
          <a:xfrm>
            <a:off x="457200" y="787400"/>
            <a:ext cx="11277600" cy="1333500"/>
          </a:xfrm>
          <a:prstGeom prst="roundRect">
            <a:avLst/>
          </a:prstGeom>
          <a:solidFill>
            <a:srgbClr val="1E3A8A"/>
          </a:solidFill>
          <a:ln w="25400">
            <a:solidFill>
              <a:srgbClr val="D9770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5D15DF85-D97D-E231-6D4E-37F95FAE77BB}"/>
              </a:ext>
            </a:extLst>
          </p:cNvPr>
          <p:cNvSpPr txBox="1"/>
          <p:nvPr/>
        </p:nvSpPr>
        <p:spPr>
          <a:xfrm>
            <a:off x="635000" y="863600"/>
            <a:ext cx="10922000" cy="346249"/>
          </a:xfrm>
          <a:prstGeom prst="rect">
            <a:avLst/>
          </a:prstGeom>
          <a:noFill/>
        </p:spPr>
        <p:txBody>
          <a:bodyPr vert="horz" wrap="square" rtlCol="0">
            <a:spAutoFit/>
          </a:bodyPr>
          <a:lstStyle/>
          <a:p>
            <a:r>
              <a:rPr lang="hi-IN" sz="1650" b="1">
                <a:solidFill>
                  <a:srgbClr val="FFFFFF"/>
                </a:solidFill>
                <a:latin typeface="Segoe UI" panose="020B0502040204020203" pitchFamily="34" charset="0"/>
              </a:rPr>
              <a:t>प्र. 5. 1857 की क्रांति में बिहार के जगदीशपुर (आरा) से नेतृत्व किस वीर योद्धा ने किया था?</a:t>
            </a:r>
            <a:endParaRPr lang="en-IN" sz="1650" b="1">
              <a:solidFill>
                <a:srgbClr val="FFFFFF"/>
              </a:solidFill>
              <a:latin typeface="Segoe UI" panose="020B0502040204020203" pitchFamily="34" charset="0"/>
            </a:endParaRPr>
          </a:p>
        </p:txBody>
      </p:sp>
      <p:sp>
        <p:nvSpPr>
          <p:cNvPr id="6" name="Rectangle: Rounded Corners 5">
            <a:extLst>
              <a:ext uri="{FF2B5EF4-FFF2-40B4-BE49-F238E27FC236}">
                <a16:creationId xmlns:a16="http://schemas.microsoft.com/office/drawing/2014/main" id="{71591D5B-A0D2-025A-69C3-7154D4069204}"/>
              </a:ext>
            </a:extLst>
          </p:cNvPr>
          <p:cNvSpPr/>
          <p:nvPr/>
        </p:nvSpPr>
        <p:spPr>
          <a:xfrm>
            <a:off x="457200" y="2311400"/>
            <a:ext cx="5461000" cy="1016000"/>
          </a:xfrm>
          <a:prstGeom prst="roundRect">
            <a:avLst/>
          </a:prstGeom>
          <a:solidFill>
            <a:srgbClr val="0F172A"/>
          </a:solidFill>
          <a:ln w="12700">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 name="TextBox 6">
            <a:extLst>
              <a:ext uri="{FF2B5EF4-FFF2-40B4-BE49-F238E27FC236}">
                <a16:creationId xmlns:a16="http://schemas.microsoft.com/office/drawing/2014/main" id="{51E542C4-AC64-6535-940D-C0B13027A2FD}"/>
              </a:ext>
            </a:extLst>
          </p:cNvPr>
          <p:cNvSpPr txBox="1"/>
          <p:nvPr/>
        </p:nvSpPr>
        <p:spPr>
          <a:xfrm>
            <a:off x="647700" y="2463800"/>
            <a:ext cx="5080000" cy="307777"/>
          </a:xfrm>
          <a:prstGeom prst="rect">
            <a:avLst/>
          </a:prstGeom>
          <a:noFill/>
        </p:spPr>
        <p:txBody>
          <a:bodyPr vert="horz" wrap="square" rtlCol="0">
            <a:spAutoFit/>
          </a:bodyPr>
          <a:lstStyle/>
          <a:p>
            <a:r>
              <a:rPr lang="en-IN" sz="1400">
                <a:solidFill>
                  <a:srgbClr val="94A3B8"/>
                </a:solidFill>
                <a:latin typeface="Segoe UI" panose="020B0502040204020203" pitchFamily="34" charset="0"/>
              </a:rPr>
              <a:t>(A)  </a:t>
            </a:r>
            <a:r>
              <a:rPr lang="hi-IN" sz="1400">
                <a:solidFill>
                  <a:srgbClr val="94A3B8"/>
                </a:solidFill>
                <a:latin typeface="Segoe UI" panose="020B0502040204020203" pitchFamily="34" charset="0"/>
              </a:rPr>
              <a:t>नाना साहेब</a:t>
            </a:r>
            <a:endParaRPr lang="en-IN" sz="1400">
              <a:solidFill>
                <a:srgbClr val="94A3B8"/>
              </a:solidFill>
              <a:latin typeface="Segoe UI" panose="020B0502040204020203" pitchFamily="34" charset="0"/>
            </a:endParaRPr>
          </a:p>
        </p:txBody>
      </p:sp>
      <p:sp>
        <p:nvSpPr>
          <p:cNvPr id="8" name="Rectangle: Rounded Corners 7">
            <a:extLst>
              <a:ext uri="{FF2B5EF4-FFF2-40B4-BE49-F238E27FC236}">
                <a16:creationId xmlns:a16="http://schemas.microsoft.com/office/drawing/2014/main" id="{62189FDA-399C-89BF-761F-23BC403314A0}"/>
              </a:ext>
            </a:extLst>
          </p:cNvPr>
          <p:cNvSpPr/>
          <p:nvPr/>
        </p:nvSpPr>
        <p:spPr>
          <a:xfrm>
            <a:off x="6273800" y="2311400"/>
            <a:ext cx="5461000" cy="1016000"/>
          </a:xfrm>
          <a:prstGeom prst="roundRect">
            <a:avLst/>
          </a:prstGeom>
          <a:solidFill>
            <a:srgbClr val="14532D"/>
          </a:solidFill>
          <a:ln w="31750">
            <a:solidFill>
              <a:srgbClr val="22C55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522CB872-A00C-3A10-F279-D6D134267E13}"/>
              </a:ext>
            </a:extLst>
          </p:cNvPr>
          <p:cNvSpPr txBox="1"/>
          <p:nvPr/>
        </p:nvSpPr>
        <p:spPr>
          <a:xfrm>
            <a:off x="6464300" y="2463800"/>
            <a:ext cx="5080000" cy="338554"/>
          </a:xfrm>
          <a:prstGeom prst="rect">
            <a:avLst/>
          </a:prstGeom>
          <a:noFill/>
        </p:spPr>
        <p:txBody>
          <a:bodyPr vert="horz" wrap="square" rtlCol="0">
            <a:spAutoFit/>
          </a:bodyPr>
          <a:lstStyle/>
          <a:p>
            <a:r>
              <a:rPr lang="en-IN" sz="1600" b="1">
                <a:solidFill>
                  <a:srgbClr val="FDE68A"/>
                </a:solidFill>
                <a:latin typeface="Segoe UI" panose="020B0502040204020203" pitchFamily="34" charset="0"/>
              </a:rPr>
              <a:t>✅  (B)  </a:t>
            </a:r>
            <a:r>
              <a:rPr lang="hi-IN" sz="1600" b="1">
                <a:solidFill>
                  <a:srgbClr val="FDE68A"/>
                </a:solidFill>
                <a:latin typeface="Segoe UI" panose="020B0502040204020203" pitchFamily="34" charset="0"/>
              </a:rPr>
              <a:t>बाबू वीर कुंवर सिंह</a:t>
            </a:r>
            <a:endParaRPr lang="en-IN" sz="1600" b="1">
              <a:solidFill>
                <a:srgbClr val="FDE68A"/>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F062DA82-4B90-245A-0FE1-9CD36BCD3577}"/>
              </a:ext>
            </a:extLst>
          </p:cNvPr>
          <p:cNvSpPr/>
          <p:nvPr/>
        </p:nvSpPr>
        <p:spPr>
          <a:xfrm>
            <a:off x="457200" y="3530600"/>
            <a:ext cx="5461000" cy="1016000"/>
          </a:xfrm>
          <a:prstGeom prst="roundRect">
            <a:avLst/>
          </a:prstGeom>
          <a:solidFill>
            <a:srgbClr val="0F172A"/>
          </a:solidFill>
          <a:ln w="12700">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D5BA30CE-4F19-A8E3-314F-472B8CED7C44}"/>
              </a:ext>
            </a:extLst>
          </p:cNvPr>
          <p:cNvSpPr txBox="1"/>
          <p:nvPr/>
        </p:nvSpPr>
        <p:spPr>
          <a:xfrm>
            <a:off x="647700" y="3683000"/>
            <a:ext cx="5080000" cy="307777"/>
          </a:xfrm>
          <a:prstGeom prst="rect">
            <a:avLst/>
          </a:prstGeom>
          <a:noFill/>
        </p:spPr>
        <p:txBody>
          <a:bodyPr vert="horz" wrap="square" rtlCol="0">
            <a:spAutoFit/>
          </a:bodyPr>
          <a:lstStyle/>
          <a:p>
            <a:r>
              <a:rPr lang="en-IN" sz="1400">
                <a:solidFill>
                  <a:srgbClr val="94A3B8"/>
                </a:solidFill>
                <a:latin typeface="Segoe UI" panose="020B0502040204020203" pitchFamily="34" charset="0"/>
              </a:rPr>
              <a:t>(C)  </a:t>
            </a:r>
            <a:r>
              <a:rPr lang="hi-IN" sz="1400">
                <a:solidFill>
                  <a:srgbClr val="94A3B8"/>
                </a:solidFill>
                <a:latin typeface="Segoe UI" panose="020B0502040204020203" pitchFamily="34" charset="0"/>
              </a:rPr>
              <a:t>खान बहादुर खां</a:t>
            </a:r>
            <a:endParaRPr lang="en-IN" sz="1400">
              <a:solidFill>
                <a:srgbClr val="94A3B8"/>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98BE09F4-6E08-2051-DD23-F654E5B24011}"/>
              </a:ext>
            </a:extLst>
          </p:cNvPr>
          <p:cNvSpPr/>
          <p:nvPr/>
        </p:nvSpPr>
        <p:spPr>
          <a:xfrm>
            <a:off x="6273800" y="3530600"/>
            <a:ext cx="5461000" cy="1016000"/>
          </a:xfrm>
          <a:prstGeom prst="roundRect">
            <a:avLst/>
          </a:prstGeom>
          <a:solidFill>
            <a:srgbClr val="0F172A"/>
          </a:solidFill>
          <a:ln w="12700">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1703125E-09DE-0881-5498-B7C46C82D4B6}"/>
              </a:ext>
            </a:extLst>
          </p:cNvPr>
          <p:cNvSpPr txBox="1"/>
          <p:nvPr/>
        </p:nvSpPr>
        <p:spPr>
          <a:xfrm>
            <a:off x="6464300" y="3683000"/>
            <a:ext cx="5080000" cy="307777"/>
          </a:xfrm>
          <a:prstGeom prst="rect">
            <a:avLst/>
          </a:prstGeom>
          <a:noFill/>
        </p:spPr>
        <p:txBody>
          <a:bodyPr vert="horz" wrap="square" rtlCol="0">
            <a:spAutoFit/>
          </a:bodyPr>
          <a:lstStyle/>
          <a:p>
            <a:r>
              <a:rPr lang="en-IN" sz="1400">
                <a:solidFill>
                  <a:srgbClr val="94A3B8"/>
                </a:solidFill>
                <a:latin typeface="Segoe UI" panose="020B0502040204020203" pitchFamily="34" charset="0"/>
              </a:rPr>
              <a:t>(D)  </a:t>
            </a:r>
            <a:r>
              <a:rPr lang="hi-IN" sz="1400">
                <a:solidFill>
                  <a:srgbClr val="94A3B8"/>
                </a:solidFill>
                <a:latin typeface="Segoe UI" panose="020B0502040204020203" pitchFamily="34" charset="0"/>
              </a:rPr>
              <a:t>लियाकत अली</a:t>
            </a:r>
            <a:endParaRPr lang="en-IN" sz="1400">
              <a:solidFill>
                <a:srgbClr val="94A3B8"/>
              </a:solidFill>
              <a:latin typeface="Segoe UI" panose="020B0502040204020203" pitchFamily="34" charset="0"/>
            </a:endParaRPr>
          </a:p>
        </p:txBody>
      </p:sp>
      <p:sp>
        <p:nvSpPr>
          <p:cNvPr id="14" name="Rectangle: Rounded Corners 13">
            <a:extLst>
              <a:ext uri="{FF2B5EF4-FFF2-40B4-BE49-F238E27FC236}">
                <a16:creationId xmlns:a16="http://schemas.microsoft.com/office/drawing/2014/main" id="{D8E48218-8E23-FD95-78B8-8AFA7FCD97F4}"/>
              </a:ext>
            </a:extLst>
          </p:cNvPr>
          <p:cNvSpPr/>
          <p:nvPr/>
        </p:nvSpPr>
        <p:spPr>
          <a:xfrm>
            <a:off x="457200" y="4724400"/>
            <a:ext cx="11277600" cy="1422400"/>
          </a:xfrm>
          <a:prstGeom prst="roundRect">
            <a:avLst/>
          </a:prstGeom>
          <a:solidFill>
            <a:srgbClr val="064E3B"/>
          </a:solidFill>
          <a:ln w="2540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ACED8350-3979-8D60-9C88-031D8BAAE7F6}"/>
              </a:ext>
            </a:extLst>
          </p:cNvPr>
          <p:cNvSpPr txBox="1"/>
          <p:nvPr/>
        </p:nvSpPr>
        <p:spPr>
          <a:xfrm>
            <a:off x="635000" y="4775200"/>
            <a:ext cx="10922000" cy="307777"/>
          </a:xfrm>
          <a:prstGeom prst="rect">
            <a:avLst/>
          </a:prstGeom>
          <a:noFill/>
        </p:spPr>
        <p:txBody>
          <a:bodyPr vert="horz" rtlCol="0">
            <a:spAutoFit/>
          </a:bodyPr>
          <a:lstStyle/>
          <a:p>
            <a:r>
              <a:rPr lang="en-IN" sz="1400" b="1">
                <a:solidFill>
                  <a:srgbClr val="FDE68A"/>
                </a:solidFill>
                <a:latin typeface="Segoe UI" panose="020B0502040204020203" pitchFamily="34" charset="0"/>
              </a:rPr>
              <a:t>✅ </a:t>
            </a:r>
            <a:r>
              <a:rPr lang="hi-IN" sz="1400" b="1">
                <a:solidFill>
                  <a:srgbClr val="FDE68A"/>
                </a:solidFill>
                <a:latin typeface="Segoe UI" panose="020B0502040204020203" pitchFamily="34" charset="0"/>
              </a:rPr>
              <a:t>सही उत्तर: (</a:t>
            </a:r>
            <a:r>
              <a:rPr lang="en-IN" sz="1400" b="1">
                <a:solidFill>
                  <a:srgbClr val="FDE68A"/>
                </a:solidFill>
                <a:latin typeface="Segoe UI" panose="020B0502040204020203" pitchFamily="34" charset="0"/>
              </a:rPr>
              <a:t>B)   |   </a:t>
            </a:r>
            <a:r>
              <a:rPr lang="hi-IN" sz="1400" b="1">
                <a:solidFill>
                  <a:srgbClr val="FDE68A"/>
                </a:solidFill>
                <a:latin typeface="Segoe UI" panose="020B0502040204020203" pitchFamily="34" charset="0"/>
              </a:rPr>
              <a:t>परीक्षा व्याख्या (</a:t>
            </a:r>
            <a:r>
              <a:rPr lang="en-IN" sz="1400" b="1">
                <a:solidFill>
                  <a:srgbClr val="FDE68A"/>
                </a:solidFill>
                <a:latin typeface="Segoe UI" panose="020B0502040204020203" pitchFamily="34" charset="0"/>
              </a:rPr>
              <a:t>Exam Explanation):</a:t>
            </a:r>
          </a:p>
        </p:txBody>
      </p:sp>
      <p:sp>
        <p:nvSpPr>
          <p:cNvPr id="16" name="TextBox 15">
            <a:extLst>
              <a:ext uri="{FF2B5EF4-FFF2-40B4-BE49-F238E27FC236}">
                <a16:creationId xmlns:a16="http://schemas.microsoft.com/office/drawing/2014/main" id="{76584C3E-EB3E-06B0-B2E9-7C3ACA758B8E}"/>
              </a:ext>
            </a:extLst>
          </p:cNvPr>
          <p:cNvSpPr txBox="1"/>
          <p:nvPr/>
        </p:nvSpPr>
        <p:spPr>
          <a:xfrm>
            <a:off x="635000" y="5105400"/>
            <a:ext cx="10922000" cy="300082"/>
          </a:xfrm>
          <a:prstGeom prst="rect">
            <a:avLst/>
          </a:prstGeom>
          <a:noFill/>
        </p:spPr>
        <p:txBody>
          <a:bodyPr vert="horz" wrap="square" rtlCol="0">
            <a:spAutoFit/>
          </a:bodyPr>
          <a:lstStyle/>
          <a:p>
            <a:r>
              <a:rPr lang="en-IN" sz="1350">
                <a:solidFill>
                  <a:srgbClr val="FFFFFF"/>
                </a:solidFill>
                <a:latin typeface="Segoe UI" panose="020B0502040204020203" pitchFamily="34" charset="0"/>
              </a:rPr>
              <a:t>💡  80 </a:t>
            </a:r>
            <a:r>
              <a:rPr lang="hi-IN" sz="1350">
                <a:solidFill>
                  <a:srgbClr val="FFFFFF"/>
                </a:solidFill>
                <a:latin typeface="Segoe UI" panose="020B0502040204020203" pitchFamily="34" charset="0"/>
              </a:rPr>
              <a:t>वर्ष के वृद्ध बाबू वीर कुंवर सिंह ने अदम्य वीरता से अंग्रेजों को हराया था।</a:t>
            </a:r>
            <a:endParaRPr lang="en-IN" sz="1350">
              <a:solidFill>
                <a:srgbClr val="FFFFFF"/>
              </a:solidFill>
              <a:latin typeface="Segoe UI" panose="020B0502040204020203" pitchFamily="34" charset="0"/>
            </a:endParaRPr>
          </a:p>
        </p:txBody>
      </p:sp>
      <p:sp>
        <p:nvSpPr>
          <p:cNvPr id="17" name="TextBox 16">
            <a:extLst>
              <a:ext uri="{FF2B5EF4-FFF2-40B4-BE49-F238E27FC236}">
                <a16:creationId xmlns:a16="http://schemas.microsoft.com/office/drawing/2014/main" id="{18B9F483-3B38-C80A-C123-847213F3231F}"/>
              </a:ext>
            </a:extLst>
          </p:cNvPr>
          <p:cNvSpPr txBox="1"/>
          <p:nvPr/>
        </p:nvSpPr>
        <p:spPr>
          <a:xfrm>
            <a:off x="381000" y="6375400"/>
            <a:ext cx="11430000" cy="246221"/>
          </a:xfrm>
          <a:prstGeom prst="rect">
            <a:avLst/>
          </a:prstGeom>
          <a:noFill/>
        </p:spPr>
        <p:txBody>
          <a:bodyPr vert="horz" rtlCol="0">
            <a:spAutoFit/>
          </a:bodyPr>
          <a:lstStyle/>
          <a:p>
            <a:r>
              <a:rPr lang="hi-IN" sz="1000">
                <a:solidFill>
                  <a:srgbClr val="64748B"/>
                </a:solidFill>
                <a:latin typeface="Segoe UI" panose="020B0502040204020203" pitchFamily="34" charset="0"/>
              </a:rPr>
              <a:t>सागर कोचिंग सेंटर भगवानपुर • कक्षा 08: 1857 की महान क्रांति • </a:t>
            </a:r>
            <a:r>
              <a:rPr lang="en-IN" sz="1000">
                <a:solidFill>
                  <a:srgbClr val="64748B"/>
                </a:solidFill>
                <a:latin typeface="Segoe UI" panose="020B0502040204020203" pitchFamily="34" charset="0"/>
              </a:rPr>
              <a:t>NMMS Special</a:t>
            </a:r>
          </a:p>
        </p:txBody>
      </p:sp>
    </p:spTree>
    <p:extLst>
      <p:ext uri="{BB962C8B-B14F-4D97-AF65-F5344CB8AC3E}">
        <p14:creationId xmlns:p14="http://schemas.microsoft.com/office/powerpoint/2010/main" val="16488960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F741781-BD1F-A968-2644-7E74BE669A56}"/>
              </a:ext>
            </a:extLst>
          </p:cNvPr>
          <p:cNvSpPr/>
          <p:nvPr/>
        </p:nvSpPr>
        <p:spPr>
          <a:xfrm>
            <a:off x="0" y="0"/>
            <a:ext cx="12192000" cy="609600"/>
          </a:xfrm>
          <a:prstGeom prst="rect">
            <a:avLst/>
          </a:prstGeom>
          <a:solidFill>
            <a:srgbClr val="1E293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484ECA39-5F0A-14D2-E0F0-52A89B5D1812}"/>
              </a:ext>
            </a:extLst>
          </p:cNvPr>
          <p:cNvSpPr txBox="1"/>
          <p:nvPr/>
        </p:nvSpPr>
        <p:spPr>
          <a:xfrm>
            <a:off x="381000" y="76200"/>
            <a:ext cx="11430000" cy="338554"/>
          </a:xfrm>
          <a:prstGeom prst="rect">
            <a:avLst/>
          </a:prstGeom>
          <a:noFill/>
        </p:spPr>
        <p:txBody>
          <a:bodyPr vert="horz" rtlCol="0">
            <a:spAutoFit/>
          </a:bodyPr>
          <a:lstStyle/>
          <a:p>
            <a:r>
              <a:rPr lang="en-IN" sz="1600" b="1">
                <a:solidFill>
                  <a:srgbClr val="F59E0B"/>
                </a:solidFill>
                <a:latin typeface="Segoe UI" panose="020B0502040204020203" pitchFamily="34" charset="0"/>
              </a:rPr>
              <a:t>PYQ </a:t>
            </a:r>
            <a:r>
              <a:rPr lang="hi-IN" sz="1600" b="1">
                <a:solidFill>
                  <a:srgbClr val="F59E0B"/>
                </a:solidFill>
                <a:latin typeface="Segoe UI" panose="020B0502040204020203" pitchFamily="34" charset="0"/>
              </a:rPr>
              <a:t>अभ्यास प्रश्न #6  [</a:t>
            </a:r>
            <a:r>
              <a:rPr lang="en-IN" sz="1600" b="1">
                <a:solidFill>
                  <a:srgbClr val="F59E0B"/>
                </a:solidFill>
                <a:latin typeface="Segoe UI" panose="020B0502040204020203" pitchFamily="34" charset="0"/>
              </a:rPr>
              <a:t>Rajasthan NMMS 2021]</a:t>
            </a:r>
          </a:p>
        </p:txBody>
      </p:sp>
      <p:sp>
        <p:nvSpPr>
          <p:cNvPr id="4" name="Rectangle: Rounded Corners 3">
            <a:extLst>
              <a:ext uri="{FF2B5EF4-FFF2-40B4-BE49-F238E27FC236}">
                <a16:creationId xmlns:a16="http://schemas.microsoft.com/office/drawing/2014/main" id="{02AA78E1-AB3C-D05C-D868-1640E26D8773}"/>
              </a:ext>
            </a:extLst>
          </p:cNvPr>
          <p:cNvSpPr/>
          <p:nvPr/>
        </p:nvSpPr>
        <p:spPr>
          <a:xfrm>
            <a:off x="457200" y="787400"/>
            <a:ext cx="11277600" cy="1333500"/>
          </a:xfrm>
          <a:prstGeom prst="roundRect">
            <a:avLst/>
          </a:prstGeom>
          <a:solidFill>
            <a:srgbClr val="1E3A8A"/>
          </a:solidFill>
          <a:ln w="25400">
            <a:solidFill>
              <a:srgbClr val="D9770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4DDB0500-A22F-9F9A-F121-B9DDC0E3F22F}"/>
              </a:ext>
            </a:extLst>
          </p:cNvPr>
          <p:cNvSpPr txBox="1"/>
          <p:nvPr/>
        </p:nvSpPr>
        <p:spPr>
          <a:xfrm>
            <a:off x="635000" y="863600"/>
            <a:ext cx="10922000" cy="346249"/>
          </a:xfrm>
          <a:prstGeom prst="rect">
            <a:avLst/>
          </a:prstGeom>
          <a:noFill/>
        </p:spPr>
        <p:txBody>
          <a:bodyPr vert="horz" wrap="square" rtlCol="0">
            <a:spAutoFit/>
          </a:bodyPr>
          <a:lstStyle/>
          <a:p>
            <a:r>
              <a:rPr lang="hi-IN" sz="1650" b="1">
                <a:solidFill>
                  <a:srgbClr val="FFFFFF"/>
                </a:solidFill>
                <a:latin typeface="Segoe UI" panose="020B0502040204020203" pitchFamily="34" charset="0"/>
              </a:rPr>
              <a:t>प्र. 6. झांसी में 1857 की क्रांति का नेतृत्व करने वाली वीरांगना लक्ष्मीबाई के बचपन का नाम क्या था?</a:t>
            </a:r>
            <a:endParaRPr lang="en-IN" sz="1650" b="1">
              <a:solidFill>
                <a:srgbClr val="FFFFFF"/>
              </a:solidFill>
              <a:latin typeface="Segoe UI" panose="020B0502040204020203" pitchFamily="34" charset="0"/>
            </a:endParaRPr>
          </a:p>
        </p:txBody>
      </p:sp>
      <p:sp>
        <p:nvSpPr>
          <p:cNvPr id="6" name="Rectangle: Rounded Corners 5">
            <a:extLst>
              <a:ext uri="{FF2B5EF4-FFF2-40B4-BE49-F238E27FC236}">
                <a16:creationId xmlns:a16="http://schemas.microsoft.com/office/drawing/2014/main" id="{14EA9A46-9CE2-77F6-69E8-3B7216346A3F}"/>
              </a:ext>
            </a:extLst>
          </p:cNvPr>
          <p:cNvSpPr/>
          <p:nvPr/>
        </p:nvSpPr>
        <p:spPr>
          <a:xfrm>
            <a:off x="457200" y="2311400"/>
            <a:ext cx="5461000" cy="1016000"/>
          </a:xfrm>
          <a:prstGeom prst="roundRect">
            <a:avLst/>
          </a:prstGeom>
          <a:solidFill>
            <a:srgbClr val="1E293B"/>
          </a:solidFill>
          <a:ln w="19050">
            <a:solidFill>
              <a:srgbClr val="47556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 name="TextBox 6">
            <a:extLst>
              <a:ext uri="{FF2B5EF4-FFF2-40B4-BE49-F238E27FC236}">
                <a16:creationId xmlns:a16="http://schemas.microsoft.com/office/drawing/2014/main" id="{CD85A0D8-4DD8-4DE6-A181-EBD6CAC48A42}"/>
              </a:ext>
            </a:extLst>
          </p:cNvPr>
          <p:cNvSpPr txBox="1"/>
          <p:nvPr/>
        </p:nvSpPr>
        <p:spPr>
          <a:xfrm>
            <a:off x="647700" y="2463800"/>
            <a:ext cx="5080000" cy="330860"/>
          </a:xfrm>
          <a:prstGeom prst="rect">
            <a:avLst/>
          </a:prstGeom>
          <a:noFill/>
        </p:spPr>
        <p:txBody>
          <a:bodyPr vert="horz" wrap="square" rtlCol="0">
            <a:spAutoFit/>
          </a:bodyPr>
          <a:lstStyle/>
          <a:p>
            <a:r>
              <a:rPr lang="en-IN" sz="1550" b="1">
                <a:solidFill>
                  <a:srgbClr val="F8FAFC"/>
                </a:solidFill>
                <a:latin typeface="Segoe UI" panose="020B0502040204020203" pitchFamily="34" charset="0"/>
              </a:rPr>
              <a:t>(A)  </a:t>
            </a:r>
            <a:r>
              <a:rPr lang="hi-IN" sz="1550" b="1">
                <a:solidFill>
                  <a:srgbClr val="F8FAFC"/>
                </a:solidFill>
                <a:latin typeface="Segoe UI" panose="020B0502040204020203" pitchFamily="34" charset="0"/>
              </a:rPr>
              <a:t>मनु (मणिकर्णिका)</a:t>
            </a:r>
            <a:endParaRPr lang="en-IN" sz="1550" b="1">
              <a:solidFill>
                <a:srgbClr val="F8FAFC"/>
              </a:solidFill>
              <a:latin typeface="Segoe UI" panose="020B0502040204020203" pitchFamily="34" charset="0"/>
            </a:endParaRPr>
          </a:p>
        </p:txBody>
      </p:sp>
      <p:sp>
        <p:nvSpPr>
          <p:cNvPr id="8" name="Rectangle: Rounded Corners 7">
            <a:extLst>
              <a:ext uri="{FF2B5EF4-FFF2-40B4-BE49-F238E27FC236}">
                <a16:creationId xmlns:a16="http://schemas.microsoft.com/office/drawing/2014/main" id="{5A99FAAB-2F90-8A8C-4801-960BCAA1E418}"/>
              </a:ext>
            </a:extLst>
          </p:cNvPr>
          <p:cNvSpPr/>
          <p:nvPr/>
        </p:nvSpPr>
        <p:spPr>
          <a:xfrm>
            <a:off x="6273800" y="2311400"/>
            <a:ext cx="5461000" cy="1016000"/>
          </a:xfrm>
          <a:prstGeom prst="roundRect">
            <a:avLst/>
          </a:prstGeom>
          <a:solidFill>
            <a:srgbClr val="1E293B"/>
          </a:solidFill>
          <a:ln w="19050">
            <a:solidFill>
              <a:srgbClr val="47556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0BB040BD-D256-450B-9D87-F9391244FD2F}"/>
              </a:ext>
            </a:extLst>
          </p:cNvPr>
          <p:cNvSpPr txBox="1"/>
          <p:nvPr/>
        </p:nvSpPr>
        <p:spPr>
          <a:xfrm>
            <a:off x="6464300" y="2463800"/>
            <a:ext cx="5080000" cy="330860"/>
          </a:xfrm>
          <a:prstGeom prst="rect">
            <a:avLst/>
          </a:prstGeom>
          <a:noFill/>
        </p:spPr>
        <p:txBody>
          <a:bodyPr vert="horz" wrap="square" rtlCol="0">
            <a:spAutoFit/>
          </a:bodyPr>
          <a:lstStyle/>
          <a:p>
            <a:r>
              <a:rPr lang="en-IN" sz="1550" b="1">
                <a:solidFill>
                  <a:srgbClr val="F8FAFC"/>
                </a:solidFill>
                <a:latin typeface="Segoe UI" panose="020B0502040204020203" pitchFamily="34" charset="0"/>
              </a:rPr>
              <a:t>(B)  </a:t>
            </a:r>
            <a:r>
              <a:rPr lang="hi-IN" sz="1550" b="1">
                <a:solidFill>
                  <a:srgbClr val="F8FAFC"/>
                </a:solidFill>
                <a:latin typeface="Segoe UI" panose="020B0502040204020203" pitchFamily="34" charset="0"/>
              </a:rPr>
              <a:t>पद्मावती</a:t>
            </a:r>
            <a:endParaRPr lang="en-IN" sz="1550" b="1">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CA952FF5-C2C5-5B8F-A50A-A29561BAEE78}"/>
              </a:ext>
            </a:extLst>
          </p:cNvPr>
          <p:cNvSpPr/>
          <p:nvPr/>
        </p:nvSpPr>
        <p:spPr>
          <a:xfrm>
            <a:off x="457200" y="3530600"/>
            <a:ext cx="5461000" cy="1016000"/>
          </a:xfrm>
          <a:prstGeom prst="roundRect">
            <a:avLst/>
          </a:prstGeom>
          <a:solidFill>
            <a:srgbClr val="1E293B"/>
          </a:solidFill>
          <a:ln w="19050">
            <a:solidFill>
              <a:srgbClr val="47556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1470D2D2-40AA-3AC7-EB50-A6155EE4CB4C}"/>
              </a:ext>
            </a:extLst>
          </p:cNvPr>
          <p:cNvSpPr txBox="1"/>
          <p:nvPr/>
        </p:nvSpPr>
        <p:spPr>
          <a:xfrm>
            <a:off x="647700" y="3683000"/>
            <a:ext cx="5080000" cy="330860"/>
          </a:xfrm>
          <a:prstGeom prst="rect">
            <a:avLst/>
          </a:prstGeom>
          <a:noFill/>
        </p:spPr>
        <p:txBody>
          <a:bodyPr vert="horz" wrap="square" rtlCol="0">
            <a:spAutoFit/>
          </a:bodyPr>
          <a:lstStyle/>
          <a:p>
            <a:r>
              <a:rPr lang="en-IN" sz="1550" b="1">
                <a:solidFill>
                  <a:srgbClr val="F8FAFC"/>
                </a:solidFill>
                <a:latin typeface="Segoe UI" panose="020B0502040204020203" pitchFamily="34" charset="0"/>
              </a:rPr>
              <a:t>(C)  </a:t>
            </a:r>
            <a:r>
              <a:rPr lang="hi-IN" sz="1550" b="1">
                <a:solidFill>
                  <a:srgbClr val="F8FAFC"/>
                </a:solidFill>
                <a:latin typeface="Segoe UI" panose="020B0502040204020203" pitchFamily="34" charset="0"/>
              </a:rPr>
              <a:t>जीजाबाई</a:t>
            </a:r>
            <a:endParaRPr lang="en-IN" sz="1550" b="1">
              <a:solidFill>
                <a:srgbClr val="F8FAFC"/>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6D55317E-9829-2B95-9EEB-CBE3C82DC47C}"/>
              </a:ext>
            </a:extLst>
          </p:cNvPr>
          <p:cNvSpPr/>
          <p:nvPr/>
        </p:nvSpPr>
        <p:spPr>
          <a:xfrm>
            <a:off x="6273800" y="3530600"/>
            <a:ext cx="5461000" cy="1016000"/>
          </a:xfrm>
          <a:prstGeom prst="roundRect">
            <a:avLst/>
          </a:prstGeom>
          <a:solidFill>
            <a:srgbClr val="1E293B"/>
          </a:solidFill>
          <a:ln w="19050">
            <a:solidFill>
              <a:srgbClr val="47556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A7E0E95A-2698-F165-AC15-E13AF2A925BD}"/>
              </a:ext>
            </a:extLst>
          </p:cNvPr>
          <p:cNvSpPr txBox="1"/>
          <p:nvPr/>
        </p:nvSpPr>
        <p:spPr>
          <a:xfrm>
            <a:off x="6464300" y="3683000"/>
            <a:ext cx="5080000" cy="330860"/>
          </a:xfrm>
          <a:prstGeom prst="rect">
            <a:avLst/>
          </a:prstGeom>
          <a:noFill/>
        </p:spPr>
        <p:txBody>
          <a:bodyPr vert="horz" wrap="square" rtlCol="0">
            <a:spAutoFit/>
          </a:bodyPr>
          <a:lstStyle/>
          <a:p>
            <a:r>
              <a:rPr lang="en-IN" sz="1550" b="1">
                <a:solidFill>
                  <a:srgbClr val="F8FAFC"/>
                </a:solidFill>
                <a:latin typeface="Segoe UI" panose="020B0502040204020203" pitchFamily="34" charset="0"/>
              </a:rPr>
              <a:t>(D)  </a:t>
            </a:r>
            <a:r>
              <a:rPr lang="hi-IN" sz="1550" b="1">
                <a:solidFill>
                  <a:srgbClr val="F8FAFC"/>
                </a:solidFill>
                <a:latin typeface="Segoe UI" panose="020B0502040204020203" pitchFamily="34" charset="0"/>
              </a:rPr>
              <a:t>अहिल्याबाई</a:t>
            </a:r>
            <a:endParaRPr lang="en-IN" sz="1550" b="1">
              <a:solidFill>
                <a:srgbClr val="F8FAFC"/>
              </a:solidFill>
              <a:latin typeface="Segoe UI" panose="020B0502040204020203" pitchFamily="34" charset="0"/>
            </a:endParaRPr>
          </a:p>
        </p:txBody>
      </p:sp>
      <p:sp>
        <p:nvSpPr>
          <p:cNvPr id="14" name="Rectangle: Rounded Corners 13">
            <a:extLst>
              <a:ext uri="{FF2B5EF4-FFF2-40B4-BE49-F238E27FC236}">
                <a16:creationId xmlns:a16="http://schemas.microsoft.com/office/drawing/2014/main" id="{E58CFCE1-3127-1493-B5A4-496B89E4EE19}"/>
              </a:ext>
            </a:extLst>
          </p:cNvPr>
          <p:cNvSpPr/>
          <p:nvPr/>
        </p:nvSpPr>
        <p:spPr>
          <a:xfrm>
            <a:off x="2921000" y="4826000"/>
            <a:ext cx="6350000" cy="711200"/>
          </a:xfrm>
          <a:prstGeom prst="roundRect">
            <a:avLst/>
          </a:prstGeom>
          <a:solidFill>
            <a:srgbClr val="312E81"/>
          </a:solidFill>
          <a:ln w="19050">
            <a:solidFill>
              <a:srgbClr val="6366F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191BCB55-163F-D98F-7067-B1AF228B47CE}"/>
              </a:ext>
            </a:extLst>
          </p:cNvPr>
          <p:cNvSpPr txBox="1"/>
          <p:nvPr/>
        </p:nvSpPr>
        <p:spPr>
          <a:xfrm>
            <a:off x="2984500" y="4927600"/>
            <a:ext cx="6223000" cy="307777"/>
          </a:xfrm>
          <a:prstGeom prst="rect">
            <a:avLst/>
          </a:prstGeom>
          <a:noFill/>
        </p:spPr>
        <p:txBody>
          <a:bodyPr vert="horz" rtlCol="0">
            <a:spAutoFit/>
          </a:bodyPr>
          <a:lstStyle/>
          <a:p>
            <a:pPr algn="ctr"/>
            <a:r>
              <a:rPr lang="en-IN" sz="1400" b="1">
                <a:solidFill>
                  <a:srgbClr val="FDE68A"/>
                </a:solidFill>
                <a:latin typeface="Segoe UI" panose="020B0502040204020203" pitchFamily="34" charset="0"/>
              </a:rPr>
              <a:t>⏱ 10 </a:t>
            </a:r>
            <a:r>
              <a:rPr lang="hi-IN" sz="1400" b="1">
                <a:solidFill>
                  <a:srgbClr val="FDE68A"/>
                </a:solidFill>
                <a:latin typeface="Segoe UI" panose="020B0502040204020203" pitchFamily="34" charset="0"/>
              </a:rPr>
              <a:t>सेकंड सोचिए और सही विकल्प चुनिए: (</a:t>
            </a:r>
            <a:r>
              <a:rPr lang="en-IN" sz="1400" b="1">
                <a:solidFill>
                  <a:srgbClr val="FDE68A"/>
                </a:solidFill>
                <a:latin typeface="Segoe UI" panose="020B0502040204020203" pitchFamily="34" charset="0"/>
              </a:rPr>
              <a:t>A), (B), (C) </a:t>
            </a:r>
            <a:r>
              <a:rPr lang="hi-IN" sz="1400" b="1">
                <a:solidFill>
                  <a:srgbClr val="FDE68A"/>
                </a:solidFill>
                <a:latin typeface="Segoe UI" panose="020B0502040204020203" pitchFamily="34" charset="0"/>
              </a:rPr>
              <a:t>या (</a:t>
            </a:r>
            <a:r>
              <a:rPr lang="en-IN" sz="1400" b="1">
                <a:solidFill>
                  <a:srgbClr val="FDE68A"/>
                </a:solidFill>
                <a:latin typeface="Segoe UI" panose="020B0502040204020203" pitchFamily="34" charset="0"/>
              </a:rPr>
              <a:t>D)</a:t>
            </a:r>
          </a:p>
        </p:txBody>
      </p:sp>
      <p:sp>
        <p:nvSpPr>
          <p:cNvPr id="16" name="TextBox 15">
            <a:extLst>
              <a:ext uri="{FF2B5EF4-FFF2-40B4-BE49-F238E27FC236}">
                <a16:creationId xmlns:a16="http://schemas.microsoft.com/office/drawing/2014/main" id="{F9F15F15-9AE0-E550-244B-F6C91BC026F8}"/>
              </a:ext>
            </a:extLst>
          </p:cNvPr>
          <p:cNvSpPr txBox="1"/>
          <p:nvPr/>
        </p:nvSpPr>
        <p:spPr>
          <a:xfrm>
            <a:off x="381000" y="6375400"/>
            <a:ext cx="11430000" cy="246221"/>
          </a:xfrm>
          <a:prstGeom prst="rect">
            <a:avLst/>
          </a:prstGeom>
          <a:noFill/>
        </p:spPr>
        <p:txBody>
          <a:bodyPr vert="horz" rtlCol="0">
            <a:spAutoFit/>
          </a:bodyPr>
          <a:lstStyle/>
          <a:p>
            <a:r>
              <a:rPr lang="hi-IN" sz="1000">
                <a:solidFill>
                  <a:srgbClr val="64748B"/>
                </a:solidFill>
                <a:latin typeface="Segoe UI" panose="020B0502040204020203" pitchFamily="34" charset="0"/>
              </a:rPr>
              <a:t>सागर कोचिंग सेंटर भगवानपुर • कक्षा 08: 1857 की महान क्रांति • </a:t>
            </a:r>
            <a:r>
              <a:rPr lang="en-IN" sz="1000">
                <a:solidFill>
                  <a:srgbClr val="64748B"/>
                </a:solidFill>
                <a:latin typeface="Segoe UI" panose="020B0502040204020203" pitchFamily="34" charset="0"/>
              </a:rPr>
              <a:t>NMMS Special</a:t>
            </a:r>
          </a:p>
        </p:txBody>
      </p:sp>
    </p:spTree>
    <p:extLst>
      <p:ext uri="{BB962C8B-B14F-4D97-AF65-F5344CB8AC3E}">
        <p14:creationId xmlns:p14="http://schemas.microsoft.com/office/powerpoint/2010/main" val="29918631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3960BA3-3FB1-CE0F-92F1-A6EDD01C5628}"/>
              </a:ext>
            </a:extLst>
          </p:cNvPr>
          <p:cNvSpPr/>
          <p:nvPr/>
        </p:nvSpPr>
        <p:spPr>
          <a:xfrm>
            <a:off x="0" y="0"/>
            <a:ext cx="12192000" cy="609600"/>
          </a:xfrm>
          <a:prstGeom prst="rect">
            <a:avLst/>
          </a:prstGeom>
          <a:solidFill>
            <a:srgbClr val="1E293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5A7B9663-16D5-B8E3-C661-A012D13F5D0F}"/>
              </a:ext>
            </a:extLst>
          </p:cNvPr>
          <p:cNvSpPr txBox="1"/>
          <p:nvPr/>
        </p:nvSpPr>
        <p:spPr>
          <a:xfrm>
            <a:off x="381000" y="76200"/>
            <a:ext cx="11430000" cy="338554"/>
          </a:xfrm>
          <a:prstGeom prst="rect">
            <a:avLst/>
          </a:prstGeom>
          <a:noFill/>
        </p:spPr>
        <p:txBody>
          <a:bodyPr vert="horz" rtlCol="0">
            <a:spAutoFit/>
          </a:bodyPr>
          <a:lstStyle/>
          <a:p>
            <a:r>
              <a:rPr lang="en-IN" sz="1600" b="1">
                <a:solidFill>
                  <a:srgbClr val="10B981"/>
                </a:solidFill>
                <a:latin typeface="Segoe UI" panose="020B0502040204020203" pitchFamily="34" charset="0"/>
              </a:rPr>
              <a:t>PYQ </a:t>
            </a:r>
            <a:r>
              <a:rPr lang="hi-IN" sz="1600" b="1">
                <a:solidFill>
                  <a:srgbClr val="10B981"/>
                </a:solidFill>
                <a:latin typeface="Segoe UI" panose="020B0502040204020203" pitchFamily="34" charset="0"/>
              </a:rPr>
              <a:t>अभ्यास प्रश्न #6  [</a:t>
            </a:r>
            <a:r>
              <a:rPr lang="en-IN" sz="1600" b="1">
                <a:solidFill>
                  <a:srgbClr val="10B981"/>
                </a:solidFill>
                <a:latin typeface="Segoe UI" panose="020B0502040204020203" pitchFamily="34" charset="0"/>
              </a:rPr>
              <a:t>Rajasthan NMMS 2021] - Answer &amp; Explanation</a:t>
            </a:r>
          </a:p>
        </p:txBody>
      </p:sp>
      <p:sp>
        <p:nvSpPr>
          <p:cNvPr id="4" name="Rectangle: Rounded Corners 3">
            <a:extLst>
              <a:ext uri="{FF2B5EF4-FFF2-40B4-BE49-F238E27FC236}">
                <a16:creationId xmlns:a16="http://schemas.microsoft.com/office/drawing/2014/main" id="{B77B8009-9CDE-8C21-4DE5-3B1A3ACBDF9B}"/>
              </a:ext>
            </a:extLst>
          </p:cNvPr>
          <p:cNvSpPr/>
          <p:nvPr/>
        </p:nvSpPr>
        <p:spPr>
          <a:xfrm>
            <a:off x="457200" y="787400"/>
            <a:ext cx="11277600" cy="1333500"/>
          </a:xfrm>
          <a:prstGeom prst="roundRect">
            <a:avLst/>
          </a:prstGeom>
          <a:solidFill>
            <a:srgbClr val="1E3A8A"/>
          </a:solidFill>
          <a:ln w="25400">
            <a:solidFill>
              <a:srgbClr val="D9770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BE7F8CC9-5013-103E-3E88-F7A0323D884A}"/>
              </a:ext>
            </a:extLst>
          </p:cNvPr>
          <p:cNvSpPr txBox="1"/>
          <p:nvPr/>
        </p:nvSpPr>
        <p:spPr>
          <a:xfrm>
            <a:off x="635000" y="863600"/>
            <a:ext cx="10922000" cy="346249"/>
          </a:xfrm>
          <a:prstGeom prst="rect">
            <a:avLst/>
          </a:prstGeom>
          <a:noFill/>
        </p:spPr>
        <p:txBody>
          <a:bodyPr vert="horz" wrap="square" rtlCol="0">
            <a:spAutoFit/>
          </a:bodyPr>
          <a:lstStyle/>
          <a:p>
            <a:r>
              <a:rPr lang="hi-IN" sz="1650" b="1">
                <a:solidFill>
                  <a:srgbClr val="FFFFFF"/>
                </a:solidFill>
                <a:latin typeface="Segoe UI" panose="020B0502040204020203" pitchFamily="34" charset="0"/>
              </a:rPr>
              <a:t>प्र. 6. झांसी में 1857 की क्रांति का नेतृत्व करने वाली वीरांगना लक्ष्मीबाई के बचपन का नाम क्या था?</a:t>
            </a:r>
            <a:endParaRPr lang="en-IN" sz="1650" b="1">
              <a:solidFill>
                <a:srgbClr val="FFFFFF"/>
              </a:solidFill>
              <a:latin typeface="Segoe UI" panose="020B0502040204020203" pitchFamily="34" charset="0"/>
            </a:endParaRPr>
          </a:p>
        </p:txBody>
      </p:sp>
      <p:sp>
        <p:nvSpPr>
          <p:cNvPr id="6" name="Rectangle: Rounded Corners 5">
            <a:extLst>
              <a:ext uri="{FF2B5EF4-FFF2-40B4-BE49-F238E27FC236}">
                <a16:creationId xmlns:a16="http://schemas.microsoft.com/office/drawing/2014/main" id="{7BB50332-31D4-E859-3AC6-5357828DB598}"/>
              </a:ext>
            </a:extLst>
          </p:cNvPr>
          <p:cNvSpPr/>
          <p:nvPr/>
        </p:nvSpPr>
        <p:spPr>
          <a:xfrm>
            <a:off x="457200" y="2311400"/>
            <a:ext cx="5461000" cy="1016000"/>
          </a:xfrm>
          <a:prstGeom prst="roundRect">
            <a:avLst/>
          </a:prstGeom>
          <a:solidFill>
            <a:srgbClr val="14532D"/>
          </a:solidFill>
          <a:ln w="31750">
            <a:solidFill>
              <a:srgbClr val="22C55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 name="TextBox 6">
            <a:extLst>
              <a:ext uri="{FF2B5EF4-FFF2-40B4-BE49-F238E27FC236}">
                <a16:creationId xmlns:a16="http://schemas.microsoft.com/office/drawing/2014/main" id="{D3CB082E-3AAB-C572-2366-9C44B3CDCCBE}"/>
              </a:ext>
            </a:extLst>
          </p:cNvPr>
          <p:cNvSpPr txBox="1"/>
          <p:nvPr/>
        </p:nvSpPr>
        <p:spPr>
          <a:xfrm>
            <a:off x="647700" y="2463800"/>
            <a:ext cx="5080000" cy="338554"/>
          </a:xfrm>
          <a:prstGeom prst="rect">
            <a:avLst/>
          </a:prstGeom>
          <a:noFill/>
        </p:spPr>
        <p:txBody>
          <a:bodyPr vert="horz" wrap="square" rtlCol="0">
            <a:spAutoFit/>
          </a:bodyPr>
          <a:lstStyle/>
          <a:p>
            <a:r>
              <a:rPr lang="en-IN" sz="1600" b="1">
                <a:solidFill>
                  <a:srgbClr val="FDE68A"/>
                </a:solidFill>
                <a:latin typeface="Segoe UI" panose="020B0502040204020203" pitchFamily="34" charset="0"/>
              </a:rPr>
              <a:t>✅  (A)  </a:t>
            </a:r>
            <a:r>
              <a:rPr lang="hi-IN" sz="1600" b="1">
                <a:solidFill>
                  <a:srgbClr val="FDE68A"/>
                </a:solidFill>
                <a:latin typeface="Segoe UI" panose="020B0502040204020203" pitchFamily="34" charset="0"/>
              </a:rPr>
              <a:t>मनु (मणिकर्णिका)</a:t>
            </a:r>
            <a:endParaRPr lang="en-IN" sz="1600" b="1">
              <a:solidFill>
                <a:srgbClr val="FDE68A"/>
              </a:solidFill>
              <a:latin typeface="Segoe UI" panose="020B0502040204020203" pitchFamily="34" charset="0"/>
            </a:endParaRPr>
          </a:p>
        </p:txBody>
      </p:sp>
      <p:sp>
        <p:nvSpPr>
          <p:cNvPr id="8" name="Rectangle: Rounded Corners 7">
            <a:extLst>
              <a:ext uri="{FF2B5EF4-FFF2-40B4-BE49-F238E27FC236}">
                <a16:creationId xmlns:a16="http://schemas.microsoft.com/office/drawing/2014/main" id="{B3255DDA-E16D-00A8-4C7B-C836FF2D6028}"/>
              </a:ext>
            </a:extLst>
          </p:cNvPr>
          <p:cNvSpPr/>
          <p:nvPr/>
        </p:nvSpPr>
        <p:spPr>
          <a:xfrm>
            <a:off x="6273800" y="2311400"/>
            <a:ext cx="5461000" cy="1016000"/>
          </a:xfrm>
          <a:prstGeom prst="roundRect">
            <a:avLst/>
          </a:prstGeom>
          <a:solidFill>
            <a:srgbClr val="0F172A"/>
          </a:solidFill>
          <a:ln w="12700">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8C96BC39-7217-313C-FB33-1C446A131ADB}"/>
              </a:ext>
            </a:extLst>
          </p:cNvPr>
          <p:cNvSpPr txBox="1"/>
          <p:nvPr/>
        </p:nvSpPr>
        <p:spPr>
          <a:xfrm>
            <a:off x="6464300" y="2463800"/>
            <a:ext cx="5080000" cy="307777"/>
          </a:xfrm>
          <a:prstGeom prst="rect">
            <a:avLst/>
          </a:prstGeom>
          <a:noFill/>
        </p:spPr>
        <p:txBody>
          <a:bodyPr vert="horz" wrap="square" rtlCol="0">
            <a:spAutoFit/>
          </a:bodyPr>
          <a:lstStyle/>
          <a:p>
            <a:r>
              <a:rPr lang="en-IN" sz="1400">
                <a:solidFill>
                  <a:srgbClr val="94A3B8"/>
                </a:solidFill>
                <a:latin typeface="Segoe UI" panose="020B0502040204020203" pitchFamily="34" charset="0"/>
              </a:rPr>
              <a:t>(B)  </a:t>
            </a:r>
            <a:r>
              <a:rPr lang="hi-IN" sz="1400">
                <a:solidFill>
                  <a:srgbClr val="94A3B8"/>
                </a:solidFill>
                <a:latin typeface="Segoe UI" panose="020B0502040204020203" pitchFamily="34" charset="0"/>
              </a:rPr>
              <a:t>पद्मावती</a:t>
            </a:r>
            <a:endParaRPr lang="en-IN" sz="1400">
              <a:solidFill>
                <a:srgbClr val="94A3B8"/>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94D074D8-6AAE-38E6-BE7E-E451D36600F2}"/>
              </a:ext>
            </a:extLst>
          </p:cNvPr>
          <p:cNvSpPr/>
          <p:nvPr/>
        </p:nvSpPr>
        <p:spPr>
          <a:xfrm>
            <a:off x="457200" y="3530600"/>
            <a:ext cx="5461000" cy="1016000"/>
          </a:xfrm>
          <a:prstGeom prst="roundRect">
            <a:avLst/>
          </a:prstGeom>
          <a:solidFill>
            <a:srgbClr val="0F172A"/>
          </a:solidFill>
          <a:ln w="12700">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1E91D04D-5CE0-03BF-8187-CE8B9CB93CF4}"/>
              </a:ext>
            </a:extLst>
          </p:cNvPr>
          <p:cNvSpPr txBox="1"/>
          <p:nvPr/>
        </p:nvSpPr>
        <p:spPr>
          <a:xfrm>
            <a:off x="647700" y="3683000"/>
            <a:ext cx="5080000" cy="307777"/>
          </a:xfrm>
          <a:prstGeom prst="rect">
            <a:avLst/>
          </a:prstGeom>
          <a:noFill/>
        </p:spPr>
        <p:txBody>
          <a:bodyPr vert="horz" wrap="square" rtlCol="0">
            <a:spAutoFit/>
          </a:bodyPr>
          <a:lstStyle/>
          <a:p>
            <a:r>
              <a:rPr lang="en-IN" sz="1400">
                <a:solidFill>
                  <a:srgbClr val="94A3B8"/>
                </a:solidFill>
                <a:latin typeface="Segoe UI" panose="020B0502040204020203" pitchFamily="34" charset="0"/>
              </a:rPr>
              <a:t>(C)  </a:t>
            </a:r>
            <a:r>
              <a:rPr lang="hi-IN" sz="1400">
                <a:solidFill>
                  <a:srgbClr val="94A3B8"/>
                </a:solidFill>
                <a:latin typeface="Segoe UI" panose="020B0502040204020203" pitchFamily="34" charset="0"/>
              </a:rPr>
              <a:t>जीजाबाई</a:t>
            </a:r>
            <a:endParaRPr lang="en-IN" sz="1400">
              <a:solidFill>
                <a:srgbClr val="94A3B8"/>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F7BE974E-D360-FAC6-1B46-67628EC0E0B7}"/>
              </a:ext>
            </a:extLst>
          </p:cNvPr>
          <p:cNvSpPr/>
          <p:nvPr/>
        </p:nvSpPr>
        <p:spPr>
          <a:xfrm>
            <a:off x="6273800" y="3530600"/>
            <a:ext cx="5461000" cy="1016000"/>
          </a:xfrm>
          <a:prstGeom prst="roundRect">
            <a:avLst/>
          </a:prstGeom>
          <a:solidFill>
            <a:srgbClr val="0F172A"/>
          </a:solidFill>
          <a:ln w="12700">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4D53A03C-0DD4-361D-8288-1930D414F661}"/>
              </a:ext>
            </a:extLst>
          </p:cNvPr>
          <p:cNvSpPr txBox="1"/>
          <p:nvPr/>
        </p:nvSpPr>
        <p:spPr>
          <a:xfrm>
            <a:off x="6464300" y="3683000"/>
            <a:ext cx="5080000" cy="307777"/>
          </a:xfrm>
          <a:prstGeom prst="rect">
            <a:avLst/>
          </a:prstGeom>
          <a:noFill/>
        </p:spPr>
        <p:txBody>
          <a:bodyPr vert="horz" wrap="square" rtlCol="0">
            <a:spAutoFit/>
          </a:bodyPr>
          <a:lstStyle/>
          <a:p>
            <a:r>
              <a:rPr lang="en-IN" sz="1400">
                <a:solidFill>
                  <a:srgbClr val="94A3B8"/>
                </a:solidFill>
                <a:latin typeface="Segoe UI" panose="020B0502040204020203" pitchFamily="34" charset="0"/>
              </a:rPr>
              <a:t>(D)  </a:t>
            </a:r>
            <a:r>
              <a:rPr lang="hi-IN" sz="1400">
                <a:solidFill>
                  <a:srgbClr val="94A3B8"/>
                </a:solidFill>
                <a:latin typeface="Segoe UI" panose="020B0502040204020203" pitchFamily="34" charset="0"/>
              </a:rPr>
              <a:t>अहिल्याबाई</a:t>
            </a:r>
            <a:endParaRPr lang="en-IN" sz="1400">
              <a:solidFill>
                <a:srgbClr val="94A3B8"/>
              </a:solidFill>
              <a:latin typeface="Segoe UI" panose="020B0502040204020203" pitchFamily="34" charset="0"/>
            </a:endParaRPr>
          </a:p>
        </p:txBody>
      </p:sp>
      <p:sp>
        <p:nvSpPr>
          <p:cNvPr id="14" name="Rectangle: Rounded Corners 13">
            <a:extLst>
              <a:ext uri="{FF2B5EF4-FFF2-40B4-BE49-F238E27FC236}">
                <a16:creationId xmlns:a16="http://schemas.microsoft.com/office/drawing/2014/main" id="{7F4C51FC-F619-5D29-9990-3A6311BCFAFF}"/>
              </a:ext>
            </a:extLst>
          </p:cNvPr>
          <p:cNvSpPr/>
          <p:nvPr/>
        </p:nvSpPr>
        <p:spPr>
          <a:xfrm>
            <a:off x="457200" y="4724400"/>
            <a:ext cx="11277600" cy="1422400"/>
          </a:xfrm>
          <a:prstGeom prst="roundRect">
            <a:avLst/>
          </a:prstGeom>
          <a:solidFill>
            <a:srgbClr val="064E3B"/>
          </a:solidFill>
          <a:ln w="2540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BCAD1D53-82F4-998A-5198-C8918C503426}"/>
              </a:ext>
            </a:extLst>
          </p:cNvPr>
          <p:cNvSpPr txBox="1"/>
          <p:nvPr/>
        </p:nvSpPr>
        <p:spPr>
          <a:xfrm>
            <a:off x="635000" y="4775200"/>
            <a:ext cx="10922000" cy="307777"/>
          </a:xfrm>
          <a:prstGeom prst="rect">
            <a:avLst/>
          </a:prstGeom>
          <a:noFill/>
        </p:spPr>
        <p:txBody>
          <a:bodyPr vert="horz" rtlCol="0">
            <a:spAutoFit/>
          </a:bodyPr>
          <a:lstStyle/>
          <a:p>
            <a:r>
              <a:rPr lang="en-IN" sz="1400" b="1">
                <a:solidFill>
                  <a:srgbClr val="FDE68A"/>
                </a:solidFill>
                <a:latin typeface="Segoe UI" panose="020B0502040204020203" pitchFamily="34" charset="0"/>
              </a:rPr>
              <a:t>✅ </a:t>
            </a:r>
            <a:r>
              <a:rPr lang="hi-IN" sz="1400" b="1">
                <a:solidFill>
                  <a:srgbClr val="FDE68A"/>
                </a:solidFill>
                <a:latin typeface="Segoe UI" panose="020B0502040204020203" pitchFamily="34" charset="0"/>
              </a:rPr>
              <a:t>सही उत्तर: (</a:t>
            </a:r>
            <a:r>
              <a:rPr lang="en-IN" sz="1400" b="1">
                <a:solidFill>
                  <a:srgbClr val="FDE68A"/>
                </a:solidFill>
                <a:latin typeface="Segoe UI" panose="020B0502040204020203" pitchFamily="34" charset="0"/>
              </a:rPr>
              <a:t>A)   |   </a:t>
            </a:r>
            <a:r>
              <a:rPr lang="hi-IN" sz="1400" b="1">
                <a:solidFill>
                  <a:srgbClr val="FDE68A"/>
                </a:solidFill>
                <a:latin typeface="Segoe UI" panose="020B0502040204020203" pitchFamily="34" charset="0"/>
              </a:rPr>
              <a:t>परीक्षा व्याख्या (</a:t>
            </a:r>
            <a:r>
              <a:rPr lang="en-IN" sz="1400" b="1">
                <a:solidFill>
                  <a:srgbClr val="FDE68A"/>
                </a:solidFill>
                <a:latin typeface="Segoe UI" panose="020B0502040204020203" pitchFamily="34" charset="0"/>
              </a:rPr>
              <a:t>Exam Explanation):</a:t>
            </a:r>
          </a:p>
        </p:txBody>
      </p:sp>
      <p:sp>
        <p:nvSpPr>
          <p:cNvPr id="16" name="TextBox 15">
            <a:extLst>
              <a:ext uri="{FF2B5EF4-FFF2-40B4-BE49-F238E27FC236}">
                <a16:creationId xmlns:a16="http://schemas.microsoft.com/office/drawing/2014/main" id="{9627709A-B726-21D8-373F-339B5C485A63}"/>
              </a:ext>
            </a:extLst>
          </p:cNvPr>
          <p:cNvSpPr txBox="1"/>
          <p:nvPr/>
        </p:nvSpPr>
        <p:spPr>
          <a:xfrm>
            <a:off x="635000" y="5105400"/>
            <a:ext cx="10922000" cy="300082"/>
          </a:xfrm>
          <a:prstGeom prst="rect">
            <a:avLst/>
          </a:prstGeom>
          <a:noFill/>
        </p:spPr>
        <p:txBody>
          <a:bodyPr vert="horz" wrap="square" rtlCol="0">
            <a:spAutoFit/>
          </a:bodyPr>
          <a:lstStyle/>
          <a:p>
            <a:r>
              <a:rPr lang="en-IN" sz="1350">
                <a:solidFill>
                  <a:srgbClr val="FFFFFF"/>
                </a:solidFill>
                <a:latin typeface="Segoe UI" panose="020B0502040204020203" pitchFamily="34" charset="0"/>
              </a:rPr>
              <a:t>💡  </a:t>
            </a:r>
            <a:r>
              <a:rPr lang="hi-IN" sz="1350">
                <a:solidFill>
                  <a:srgbClr val="FFFFFF"/>
                </a:solidFill>
                <a:latin typeface="Segoe UI" panose="020B0502040204020203" pitchFamily="34" charset="0"/>
              </a:rPr>
              <a:t>रानी लक्ष्मीबाई के बचपन का नाम मणिकर्णिका (मनु) था।</a:t>
            </a:r>
            <a:endParaRPr lang="en-IN" sz="1350">
              <a:solidFill>
                <a:srgbClr val="FFFFFF"/>
              </a:solidFill>
              <a:latin typeface="Segoe UI" panose="020B0502040204020203" pitchFamily="34" charset="0"/>
            </a:endParaRPr>
          </a:p>
        </p:txBody>
      </p:sp>
      <p:sp>
        <p:nvSpPr>
          <p:cNvPr id="17" name="TextBox 16">
            <a:extLst>
              <a:ext uri="{FF2B5EF4-FFF2-40B4-BE49-F238E27FC236}">
                <a16:creationId xmlns:a16="http://schemas.microsoft.com/office/drawing/2014/main" id="{DA283588-B141-A0B5-1F6C-3B49143F3BA1}"/>
              </a:ext>
            </a:extLst>
          </p:cNvPr>
          <p:cNvSpPr txBox="1"/>
          <p:nvPr/>
        </p:nvSpPr>
        <p:spPr>
          <a:xfrm>
            <a:off x="381000" y="6375400"/>
            <a:ext cx="11430000" cy="246221"/>
          </a:xfrm>
          <a:prstGeom prst="rect">
            <a:avLst/>
          </a:prstGeom>
          <a:noFill/>
        </p:spPr>
        <p:txBody>
          <a:bodyPr vert="horz" rtlCol="0">
            <a:spAutoFit/>
          </a:bodyPr>
          <a:lstStyle/>
          <a:p>
            <a:r>
              <a:rPr lang="hi-IN" sz="1000">
                <a:solidFill>
                  <a:srgbClr val="64748B"/>
                </a:solidFill>
                <a:latin typeface="Segoe UI" panose="020B0502040204020203" pitchFamily="34" charset="0"/>
              </a:rPr>
              <a:t>सागर कोचिंग सेंटर भगवानपुर • कक्षा 08: 1857 की महान क्रांति • </a:t>
            </a:r>
            <a:r>
              <a:rPr lang="en-IN" sz="1000">
                <a:solidFill>
                  <a:srgbClr val="64748B"/>
                </a:solidFill>
                <a:latin typeface="Segoe UI" panose="020B0502040204020203" pitchFamily="34" charset="0"/>
              </a:rPr>
              <a:t>NMMS Special</a:t>
            </a:r>
          </a:p>
        </p:txBody>
      </p:sp>
    </p:spTree>
    <p:extLst>
      <p:ext uri="{BB962C8B-B14F-4D97-AF65-F5344CB8AC3E}">
        <p14:creationId xmlns:p14="http://schemas.microsoft.com/office/powerpoint/2010/main" val="2211332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AD34E58-9680-C3A0-D60D-8ED9C3FCDDB1}"/>
              </a:ext>
            </a:extLst>
          </p:cNvPr>
          <p:cNvSpPr/>
          <p:nvPr/>
        </p:nvSpPr>
        <p:spPr>
          <a:xfrm>
            <a:off x="0" y="0"/>
            <a:ext cx="12192000" cy="609600"/>
          </a:xfrm>
          <a:prstGeom prst="rect">
            <a:avLst/>
          </a:prstGeom>
          <a:solidFill>
            <a:srgbClr val="1E293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84D53694-765B-2D24-29C7-985FAA96A7EC}"/>
              </a:ext>
            </a:extLst>
          </p:cNvPr>
          <p:cNvSpPr txBox="1"/>
          <p:nvPr/>
        </p:nvSpPr>
        <p:spPr>
          <a:xfrm>
            <a:off x="381000" y="76200"/>
            <a:ext cx="11430000" cy="338554"/>
          </a:xfrm>
          <a:prstGeom prst="rect">
            <a:avLst/>
          </a:prstGeom>
          <a:noFill/>
        </p:spPr>
        <p:txBody>
          <a:bodyPr vert="horz" rtlCol="0">
            <a:spAutoFit/>
          </a:bodyPr>
          <a:lstStyle/>
          <a:p>
            <a:r>
              <a:rPr lang="en-IN" sz="1600" b="1">
                <a:solidFill>
                  <a:srgbClr val="F59E0B"/>
                </a:solidFill>
                <a:latin typeface="Segoe UI" panose="020B0502040204020203" pitchFamily="34" charset="0"/>
              </a:rPr>
              <a:t>PYQ </a:t>
            </a:r>
            <a:r>
              <a:rPr lang="hi-IN" sz="1600" b="1">
                <a:solidFill>
                  <a:srgbClr val="F59E0B"/>
                </a:solidFill>
                <a:latin typeface="Segoe UI" panose="020B0502040204020203" pitchFamily="34" charset="0"/>
              </a:rPr>
              <a:t>अभ्यास प्रश्न #7  [</a:t>
            </a:r>
            <a:r>
              <a:rPr lang="en-IN" sz="1600" b="1">
                <a:solidFill>
                  <a:srgbClr val="F59E0B"/>
                </a:solidFill>
                <a:latin typeface="Segoe UI" panose="020B0502040204020203" pitchFamily="34" charset="0"/>
              </a:rPr>
              <a:t>Haryana NMMS 2022]</a:t>
            </a:r>
          </a:p>
        </p:txBody>
      </p:sp>
      <p:sp>
        <p:nvSpPr>
          <p:cNvPr id="4" name="Rectangle: Rounded Corners 3">
            <a:extLst>
              <a:ext uri="{FF2B5EF4-FFF2-40B4-BE49-F238E27FC236}">
                <a16:creationId xmlns:a16="http://schemas.microsoft.com/office/drawing/2014/main" id="{014FD4C9-356F-EF81-5626-0D2229D1EE88}"/>
              </a:ext>
            </a:extLst>
          </p:cNvPr>
          <p:cNvSpPr/>
          <p:nvPr/>
        </p:nvSpPr>
        <p:spPr>
          <a:xfrm>
            <a:off x="457200" y="787400"/>
            <a:ext cx="11277600" cy="1333500"/>
          </a:xfrm>
          <a:prstGeom prst="roundRect">
            <a:avLst/>
          </a:prstGeom>
          <a:solidFill>
            <a:srgbClr val="1E3A8A"/>
          </a:solidFill>
          <a:ln w="25400">
            <a:solidFill>
              <a:srgbClr val="D9770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513C61B5-4DCE-61FA-5F9A-73A2BD459BF6}"/>
              </a:ext>
            </a:extLst>
          </p:cNvPr>
          <p:cNvSpPr txBox="1"/>
          <p:nvPr/>
        </p:nvSpPr>
        <p:spPr>
          <a:xfrm>
            <a:off x="635000" y="863600"/>
            <a:ext cx="10922000" cy="600164"/>
          </a:xfrm>
          <a:prstGeom prst="rect">
            <a:avLst/>
          </a:prstGeom>
          <a:noFill/>
        </p:spPr>
        <p:txBody>
          <a:bodyPr vert="horz" wrap="square" rtlCol="0">
            <a:spAutoFit/>
          </a:bodyPr>
          <a:lstStyle/>
          <a:p>
            <a:r>
              <a:rPr lang="hi-IN" sz="1650" b="1">
                <a:solidFill>
                  <a:srgbClr val="FFFFFF"/>
                </a:solidFill>
                <a:latin typeface="Segoe UI" panose="020B0502040204020203" pitchFamily="34" charset="0"/>
              </a:rPr>
              <a:t>प्र. 7. 1857 की क्रांति से पूर्व की घटनाओं एवं जन-असंतोष का सजीव वर्णन करने वाली प्रसिद्ध पुस्तक 'माझा प्रवास' के लेखक कौन थे?</a:t>
            </a:r>
            <a:endParaRPr lang="en-IN" sz="1650" b="1">
              <a:solidFill>
                <a:srgbClr val="FFFFFF"/>
              </a:solidFill>
              <a:latin typeface="Segoe UI" panose="020B0502040204020203" pitchFamily="34" charset="0"/>
            </a:endParaRPr>
          </a:p>
        </p:txBody>
      </p:sp>
      <p:sp>
        <p:nvSpPr>
          <p:cNvPr id="6" name="Rectangle: Rounded Corners 5">
            <a:extLst>
              <a:ext uri="{FF2B5EF4-FFF2-40B4-BE49-F238E27FC236}">
                <a16:creationId xmlns:a16="http://schemas.microsoft.com/office/drawing/2014/main" id="{6D1E7D8B-1D42-6543-6114-49E57714CFB2}"/>
              </a:ext>
            </a:extLst>
          </p:cNvPr>
          <p:cNvSpPr/>
          <p:nvPr/>
        </p:nvSpPr>
        <p:spPr>
          <a:xfrm>
            <a:off x="457200" y="2311400"/>
            <a:ext cx="5461000" cy="1016000"/>
          </a:xfrm>
          <a:prstGeom prst="roundRect">
            <a:avLst/>
          </a:prstGeom>
          <a:solidFill>
            <a:srgbClr val="1E293B"/>
          </a:solidFill>
          <a:ln w="19050">
            <a:solidFill>
              <a:srgbClr val="47556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 name="TextBox 6">
            <a:extLst>
              <a:ext uri="{FF2B5EF4-FFF2-40B4-BE49-F238E27FC236}">
                <a16:creationId xmlns:a16="http://schemas.microsoft.com/office/drawing/2014/main" id="{A69B7C56-B88D-AD39-32E0-AD68E72D7E2C}"/>
              </a:ext>
            </a:extLst>
          </p:cNvPr>
          <p:cNvSpPr txBox="1"/>
          <p:nvPr/>
        </p:nvSpPr>
        <p:spPr>
          <a:xfrm>
            <a:off x="647700" y="2463800"/>
            <a:ext cx="5080000" cy="330860"/>
          </a:xfrm>
          <a:prstGeom prst="rect">
            <a:avLst/>
          </a:prstGeom>
          <a:noFill/>
        </p:spPr>
        <p:txBody>
          <a:bodyPr vert="horz" wrap="square" rtlCol="0">
            <a:spAutoFit/>
          </a:bodyPr>
          <a:lstStyle/>
          <a:p>
            <a:r>
              <a:rPr lang="en-IN" sz="1550" b="1">
                <a:solidFill>
                  <a:srgbClr val="F8FAFC"/>
                </a:solidFill>
                <a:latin typeface="Segoe UI" panose="020B0502040204020203" pitchFamily="34" charset="0"/>
              </a:rPr>
              <a:t>(A)  </a:t>
            </a:r>
            <a:r>
              <a:rPr lang="hi-IN" sz="1550" b="1">
                <a:solidFill>
                  <a:srgbClr val="F8FAFC"/>
                </a:solidFill>
                <a:latin typeface="Segoe UI" panose="020B0502040204020203" pitchFamily="34" charset="0"/>
              </a:rPr>
              <a:t>विष्णुभट्ट गोडसे</a:t>
            </a:r>
            <a:endParaRPr lang="en-IN" sz="1550" b="1">
              <a:solidFill>
                <a:srgbClr val="F8FAFC"/>
              </a:solidFill>
              <a:latin typeface="Segoe UI" panose="020B0502040204020203" pitchFamily="34" charset="0"/>
            </a:endParaRPr>
          </a:p>
        </p:txBody>
      </p:sp>
      <p:sp>
        <p:nvSpPr>
          <p:cNvPr id="8" name="Rectangle: Rounded Corners 7">
            <a:extLst>
              <a:ext uri="{FF2B5EF4-FFF2-40B4-BE49-F238E27FC236}">
                <a16:creationId xmlns:a16="http://schemas.microsoft.com/office/drawing/2014/main" id="{44ECB924-34E9-2993-ADB0-99586E7902A0}"/>
              </a:ext>
            </a:extLst>
          </p:cNvPr>
          <p:cNvSpPr/>
          <p:nvPr/>
        </p:nvSpPr>
        <p:spPr>
          <a:xfrm>
            <a:off x="6273800" y="2311400"/>
            <a:ext cx="5461000" cy="1016000"/>
          </a:xfrm>
          <a:prstGeom prst="roundRect">
            <a:avLst/>
          </a:prstGeom>
          <a:solidFill>
            <a:srgbClr val="1E293B"/>
          </a:solidFill>
          <a:ln w="19050">
            <a:solidFill>
              <a:srgbClr val="47556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7E5A0033-D1DE-36CE-3E63-E4FDAA634396}"/>
              </a:ext>
            </a:extLst>
          </p:cNvPr>
          <p:cNvSpPr txBox="1"/>
          <p:nvPr/>
        </p:nvSpPr>
        <p:spPr>
          <a:xfrm>
            <a:off x="6464300" y="2463800"/>
            <a:ext cx="5080000" cy="330860"/>
          </a:xfrm>
          <a:prstGeom prst="rect">
            <a:avLst/>
          </a:prstGeom>
          <a:noFill/>
        </p:spPr>
        <p:txBody>
          <a:bodyPr vert="horz" wrap="square" rtlCol="0">
            <a:spAutoFit/>
          </a:bodyPr>
          <a:lstStyle/>
          <a:p>
            <a:r>
              <a:rPr lang="en-IN" sz="1550" b="1">
                <a:solidFill>
                  <a:srgbClr val="F8FAFC"/>
                </a:solidFill>
                <a:latin typeface="Segoe UI" panose="020B0502040204020203" pitchFamily="34" charset="0"/>
              </a:rPr>
              <a:t>(B)  </a:t>
            </a:r>
            <a:r>
              <a:rPr lang="hi-IN" sz="1550" b="1">
                <a:solidFill>
                  <a:srgbClr val="F8FAFC"/>
                </a:solidFill>
                <a:latin typeface="Segoe UI" panose="020B0502040204020203" pitchFamily="34" charset="0"/>
              </a:rPr>
              <a:t>सूबेदार सीताराम पांडे</a:t>
            </a:r>
            <a:endParaRPr lang="en-IN" sz="1550" b="1">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41C41A6B-CDC0-4A81-66B1-0BB366A6AA90}"/>
              </a:ext>
            </a:extLst>
          </p:cNvPr>
          <p:cNvSpPr/>
          <p:nvPr/>
        </p:nvSpPr>
        <p:spPr>
          <a:xfrm>
            <a:off x="457200" y="3530600"/>
            <a:ext cx="5461000" cy="1016000"/>
          </a:xfrm>
          <a:prstGeom prst="roundRect">
            <a:avLst/>
          </a:prstGeom>
          <a:solidFill>
            <a:srgbClr val="1E293B"/>
          </a:solidFill>
          <a:ln w="19050">
            <a:solidFill>
              <a:srgbClr val="47556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C2F02C2C-5129-38A4-C5E4-5D337F94CEAD}"/>
              </a:ext>
            </a:extLst>
          </p:cNvPr>
          <p:cNvSpPr txBox="1"/>
          <p:nvPr/>
        </p:nvSpPr>
        <p:spPr>
          <a:xfrm>
            <a:off x="647700" y="3683000"/>
            <a:ext cx="5080000" cy="330860"/>
          </a:xfrm>
          <a:prstGeom prst="rect">
            <a:avLst/>
          </a:prstGeom>
          <a:noFill/>
        </p:spPr>
        <p:txBody>
          <a:bodyPr vert="horz" wrap="square" rtlCol="0">
            <a:spAutoFit/>
          </a:bodyPr>
          <a:lstStyle/>
          <a:p>
            <a:r>
              <a:rPr lang="en-IN" sz="1550" b="1">
                <a:solidFill>
                  <a:srgbClr val="F8FAFC"/>
                </a:solidFill>
                <a:latin typeface="Segoe UI" panose="020B0502040204020203" pitchFamily="34" charset="0"/>
              </a:rPr>
              <a:t>(C)  </a:t>
            </a:r>
            <a:r>
              <a:rPr lang="hi-IN" sz="1550" b="1">
                <a:solidFill>
                  <a:srgbClr val="F8FAFC"/>
                </a:solidFill>
                <a:latin typeface="Segoe UI" panose="020B0502040204020203" pitchFamily="34" charset="0"/>
              </a:rPr>
              <a:t>बंकिमचंद्र चटर्जी</a:t>
            </a:r>
            <a:endParaRPr lang="en-IN" sz="1550" b="1">
              <a:solidFill>
                <a:srgbClr val="F8FAFC"/>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5E731376-44D0-062B-BEDD-FA0CD3B3B4C2}"/>
              </a:ext>
            </a:extLst>
          </p:cNvPr>
          <p:cNvSpPr/>
          <p:nvPr/>
        </p:nvSpPr>
        <p:spPr>
          <a:xfrm>
            <a:off x="6273800" y="3530600"/>
            <a:ext cx="5461000" cy="1016000"/>
          </a:xfrm>
          <a:prstGeom prst="roundRect">
            <a:avLst/>
          </a:prstGeom>
          <a:solidFill>
            <a:srgbClr val="1E293B"/>
          </a:solidFill>
          <a:ln w="19050">
            <a:solidFill>
              <a:srgbClr val="47556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DD546AE1-CCEB-0164-DF94-B1944863C98F}"/>
              </a:ext>
            </a:extLst>
          </p:cNvPr>
          <p:cNvSpPr txBox="1"/>
          <p:nvPr/>
        </p:nvSpPr>
        <p:spPr>
          <a:xfrm>
            <a:off x="6464300" y="3683000"/>
            <a:ext cx="5080000" cy="330860"/>
          </a:xfrm>
          <a:prstGeom prst="rect">
            <a:avLst/>
          </a:prstGeom>
          <a:noFill/>
        </p:spPr>
        <p:txBody>
          <a:bodyPr vert="horz" wrap="square" rtlCol="0">
            <a:spAutoFit/>
          </a:bodyPr>
          <a:lstStyle/>
          <a:p>
            <a:r>
              <a:rPr lang="en-IN" sz="1550" b="1">
                <a:solidFill>
                  <a:srgbClr val="F8FAFC"/>
                </a:solidFill>
                <a:latin typeface="Segoe UI" panose="020B0502040204020203" pitchFamily="34" charset="0"/>
              </a:rPr>
              <a:t>(D)  </a:t>
            </a:r>
            <a:r>
              <a:rPr lang="hi-IN" sz="1550" b="1">
                <a:solidFill>
                  <a:srgbClr val="F8FAFC"/>
                </a:solidFill>
                <a:latin typeface="Segoe UI" panose="020B0502040204020203" pitchFamily="34" charset="0"/>
              </a:rPr>
              <a:t>वीर सावरकर</a:t>
            </a:r>
            <a:endParaRPr lang="en-IN" sz="1550" b="1">
              <a:solidFill>
                <a:srgbClr val="F8FAFC"/>
              </a:solidFill>
              <a:latin typeface="Segoe UI" panose="020B0502040204020203" pitchFamily="34" charset="0"/>
            </a:endParaRPr>
          </a:p>
        </p:txBody>
      </p:sp>
      <p:sp>
        <p:nvSpPr>
          <p:cNvPr id="14" name="Rectangle: Rounded Corners 13">
            <a:extLst>
              <a:ext uri="{FF2B5EF4-FFF2-40B4-BE49-F238E27FC236}">
                <a16:creationId xmlns:a16="http://schemas.microsoft.com/office/drawing/2014/main" id="{A5B64FB6-4D02-758F-102C-E2554725BC6D}"/>
              </a:ext>
            </a:extLst>
          </p:cNvPr>
          <p:cNvSpPr/>
          <p:nvPr/>
        </p:nvSpPr>
        <p:spPr>
          <a:xfrm>
            <a:off x="2921000" y="4826000"/>
            <a:ext cx="6350000" cy="711200"/>
          </a:xfrm>
          <a:prstGeom prst="roundRect">
            <a:avLst/>
          </a:prstGeom>
          <a:solidFill>
            <a:srgbClr val="312E81"/>
          </a:solidFill>
          <a:ln w="19050">
            <a:solidFill>
              <a:srgbClr val="6366F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F245B4E2-45C2-A58E-54E1-F55CE13BA2D0}"/>
              </a:ext>
            </a:extLst>
          </p:cNvPr>
          <p:cNvSpPr txBox="1"/>
          <p:nvPr/>
        </p:nvSpPr>
        <p:spPr>
          <a:xfrm>
            <a:off x="2984500" y="4927600"/>
            <a:ext cx="6223000" cy="307777"/>
          </a:xfrm>
          <a:prstGeom prst="rect">
            <a:avLst/>
          </a:prstGeom>
          <a:noFill/>
        </p:spPr>
        <p:txBody>
          <a:bodyPr vert="horz" rtlCol="0">
            <a:spAutoFit/>
          </a:bodyPr>
          <a:lstStyle/>
          <a:p>
            <a:pPr algn="ctr"/>
            <a:r>
              <a:rPr lang="en-IN" sz="1400" b="1">
                <a:solidFill>
                  <a:srgbClr val="FDE68A"/>
                </a:solidFill>
                <a:latin typeface="Segoe UI" panose="020B0502040204020203" pitchFamily="34" charset="0"/>
              </a:rPr>
              <a:t>⏱ 10 </a:t>
            </a:r>
            <a:r>
              <a:rPr lang="hi-IN" sz="1400" b="1">
                <a:solidFill>
                  <a:srgbClr val="FDE68A"/>
                </a:solidFill>
                <a:latin typeface="Segoe UI" panose="020B0502040204020203" pitchFamily="34" charset="0"/>
              </a:rPr>
              <a:t>सेकंड सोचिए और सही विकल्प चुनिए: (</a:t>
            </a:r>
            <a:r>
              <a:rPr lang="en-IN" sz="1400" b="1">
                <a:solidFill>
                  <a:srgbClr val="FDE68A"/>
                </a:solidFill>
                <a:latin typeface="Segoe UI" panose="020B0502040204020203" pitchFamily="34" charset="0"/>
              </a:rPr>
              <a:t>A), (B), (C) </a:t>
            </a:r>
            <a:r>
              <a:rPr lang="hi-IN" sz="1400" b="1">
                <a:solidFill>
                  <a:srgbClr val="FDE68A"/>
                </a:solidFill>
                <a:latin typeface="Segoe UI" panose="020B0502040204020203" pitchFamily="34" charset="0"/>
              </a:rPr>
              <a:t>या (</a:t>
            </a:r>
            <a:r>
              <a:rPr lang="en-IN" sz="1400" b="1">
                <a:solidFill>
                  <a:srgbClr val="FDE68A"/>
                </a:solidFill>
                <a:latin typeface="Segoe UI" panose="020B0502040204020203" pitchFamily="34" charset="0"/>
              </a:rPr>
              <a:t>D)</a:t>
            </a:r>
          </a:p>
        </p:txBody>
      </p:sp>
      <p:sp>
        <p:nvSpPr>
          <p:cNvPr id="16" name="TextBox 15">
            <a:extLst>
              <a:ext uri="{FF2B5EF4-FFF2-40B4-BE49-F238E27FC236}">
                <a16:creationId xmlns:a16="http://schemas.microsoft.com/office/drawing/2014/main" id="{5F908BA3-B9A3-2B84-0879-D9F108066D01}"/>
              </a:ext>
            </a:extLst>
          </p:cNvPr>
          <p:cNvSpPr txBox="1"/>
          <p:nvPr/>
        </p:nvSpPr>
        <p:spPr>
          <a:xfrm>
            <a:off x="381000" y="6375400"/>
            <a:ext cx="11430000" cy="246221"/>
          </a:xfrm>
          <a:prstGeom prst="rect">
            <a:avLst/>
          </a:prstGeom>
          <a:noFill/>
        </p:spPr>
        <p:txBody>
          <a:bodyPr vert="horz" rtlCol="0">
            <a:spAutoFit/>
          </a:bodyPr>
          <a:lstStyle/>
          <a:p>
            <a:r>
              <a:rPr lang="hi-IN" sz="1000">
                <a:solidFill>
                  <a:srgbClr val="64748B"/>
                </a:solidFill>
                <a:latin typeface="Segoe UI" panose="020B0502040204020203" pitchFamily="34" charset="0"/>
              </a:rPr>
              <a:t>सागर कोचिंग सेंटर भगवानपुर • कक्षा 08: 1857 की महान क्रांति • </a:t>
            </a:r>
            <a:r>
              <a:rPr lang="en-IN" sz="1000">
                <a:solidFill>
                  <a:srgbClr val="64748B"/>
                </a:solidFill>
                <a:latin typeface="Segoe UI" panose="020B0502040204020203" pitchFamily="34" charset="0"/>
              </a:rPr>
              <a:t>NMMS Special</a:t>
            </a:r>
          </a:p>
        </p:txBody>
      </p:sp>
    </p:spTree>
    <p:extLst>
      <p:ext uri="{BB962C8B-B14F-4D97-AF65-F5344CB8AC3E}">
        <p14:creationId xmlns:p14="http://schemas.microsoft.com/office/powerpoint/2010/main" val="236510736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A3700DA-AF5D-9A86-6069-CDF705DEA164}"/>
              </a:ext>
            </a:extLst>
          </p:cNvPr>
          <p:cNvSpPr/>
          <p:nvPr/>
        </p:nvSpPr>
        <p:spPr>
          <a:xfrm>
            <a:off x="0" y="0"/>
            <a:ext cx="12192000" cy="609600"/>
          </a:xfrm>
          <a:prstGeom prst="rect">
            <a:avLst/>
          </a:prstGeom>
          <a:solidFill>
            <a:srgbClr val="1E293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030E7D22-5418-70A0-1C79-6BDD0177D900}"/>
              </a:ext>
            </a:extLst>
          </p:cNvPr>
          <p:cNvSpPr txBox="1"/>
          <p:nvPr/>
        </p:nvSpPr>
        <p:spPr>
          <a:xfrm>
            <a:off x="381000" y="76200"/>
            <a:ext cx="11430000" cy="338554"/>
          </a:xfrm>
          <a:prstGeom prst="rect">
            <a:avLst/>
          </a:prstGeom>
          <a:noFill/>
        </p:spPr>
        <p:txBody>
          <a:bodyPr vert="horz" rtlCol="0">
            <a:spAutoFit/>
          </a:bodyPr>
          <a:lstStyle/>
          <a:p>
            <a:r>
              <a:rPr lang="en-IN" sz="1600" b="1">
                <a:solidFill>
                  <a:srgbClr val="10B981"/>
                </a:solidFill>
                <a:latin typeface="Segoe UI" panose="020B0502040204020203" pitchFamily="34" charset="0"/>
              </a:rPr>
              <a:t>PYQ </a:t>
            </a:r>
            <a:r>
              <a:rPr lang="hi-IN" sz="1600" b="1">
                <a:solidFill>
                  <a:srgbClr val="10B981"/>
                </a:solidFill>
                <a:latin typeface="Segoe UI" panose="020B0502040204020203" pitchFamily="34" charset="0"/>
              </a:rPr>
              <a:t>अभ्यास प्रश्न #7  [</a:t>
            </a:r>
            <a:r>
              <a:rPr lang="en-IN" sz="1600" b="1">
                <a:solidFill>
                  <a:srgbClr val="10B981"/>
                </a:solidFill>
                <a:latin typeface="Segoe UI" panose="020B0502040204020203" pitchFamily="34" charset="0"/>
              </a:rPr>
              <a:t>Haryana NMMS 2022] - Answer &amp; Explanation</a:t>
            </a:r>
          </a:p>
        </p:txBody>
      </p:sp>
      <p:sp>
        <p:nvSpPr>
          <p:cNvPr id="4" name="Rectangle: Rounded Corners 3">
            <a:extLst>
              <a:ext uri="{FF2B5EF4-FFF2-40B4-BE49-F238E27FC236}">
                <a16:creationId xmlns:a16="http://schemas.microsoft.com/office/drawing/2014/main" id="{E8F62B89-E24C-2DF4-4FB1-DDCBC9B53357}"/>
              </a:ext>
            </a:extLst>
          </p:cNvPr>
          <p:cNvSpPr/>
          <p:nvPr/>
        </p:nvSpPr>
        <p:spPr>
          <a:xfrm>
            <a:off x="457200" y="787400"/>
            <a:ext cx="11277600" cy="1333500"/>
          </a:xfrm>
          <a:prstGeom prst="roundRect">
            <a:avLst/>
          </a:prstGeom>
          <a:solidFill>
            <a:srgbClr val="1E3A8A"/>
          </a:solidFill>
          <a:ln w="25400">
            <a:solidFill>
              <a:srgbClr val="D9770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144A79DE-1110-629E-2FEA-5CECD0331F6C}"/>
              </a:ext>
            </a:extLst>
          </p:cNvPr>
          <p:cNvSpPr txBox="1"/>
          <p:nvPr/>
        </p:nvSpPr>
        <p:spPr>
          <a:xfrm>
            <a:off x="635000" y="863600"/>
            <a:ext cx="10922000" cy="600164"/>
          </a:xfrm>
          <a:prstGeom prst="rect">
            <a:avLst/>
          </a:prstGeom>
          <a:noFill/>
        </p:spPr>
        <p:txBody>
          <a:bodyPr vert="horz" wrap="square" rtlCol="0">
            <a:spAutoFit/>
          </a:bodyPr>
          <a:lstStyle/>
          <a:p>
            <a:r>
              <a:rPr lang="hi-IN" sz="1650" b="1">
                <a:solidFill>
                  <a:srgbClr val="FFFFFF"/>
                </a:solidFill>
                <a:latin typeface="Segoe UI" panose="020B0502040204020203" pitchFamily="34" charset="0"/>
              </a:rPr>
              <a:t>प्र. 7. 1857 की क्रांति से पूर्व की घटनाओं एवं जन-असंतोष का सजीव वर्णन करने वाली प्रसिद्ध पुस्तक 'माझा प्रवास' के लेखक कौन थे?</a:t>
            </a:r>
            <a:endParaRPr lang="en-IN" sz="1650" b="1">
              <a:solidFill>
                <a:srgbClr val="FFFFFF"/>
              </a:solidFill>
              <a:latin typeface="Segoe UI" panose="020B0502040204020203" pitchFamily="34" charset="0"/>
            </a:endParaRPr>
          </a:p>
        </p:txBody>
      </p:sp>
      <p:sp>
        <p:nvSpPr>
          <p:cNvPr id="6" name="Rectangle: Rounded Corners 5">
            <a:extLst>
              <a:ext uri="{FF2B5EF4-FFF2-40B4-BE49-F238E27FC236}">
                <a16:creationId xmlns:a16="http://schemas.microsoft.com/office/drawing/2014/main" id="{7705E370-ADCD-3274-70DD-C30E7D923A21}"/>
              </a:ext>
            </a:extLst>
          </p:cNvPr>
          <p:cNvSpPr/>
          <p:nvPr/>
        </p:nvSpPr>
        <p:spPr>
          <a:xfrm>
            <a:off x="457200" y="2311400"/>
            <a:ext cx="5461000" cy="1016000"/>
          </a:xfrm>
          <a:prstGeom prst="roundRect">
            <a:avLst/>
          </a:prstGeom>
          <a:solidFill>
            <a:srgbClr val="14532D"/>
          </a:solidFill>
          <a:ln w="31750">
            <a:solidFill>
              <a:srgbClr val="22C55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 name="TextBox 6">
            <a:extLst>
              <a:ext uri="{FF2B5EF4-FFF2-40B4-BE49-F238E27FC236}">
                <a16:creationId xmlns:a16="http://schemas.microsoft.com/office/drawing/2014/main" id="{C9735DDE-99A9-DB75-CC94-7A7E26A87C6F}"/>
              </a:ext>
            </a:extLst>
          </p:cNvPr>
          <p:cNvSpPr txBox="1"/>
          <p:nvPr/>
        </p:nvSpPr>
        <p:spPr>
          <a:xfrm>
            <a:off x="647700" y="2463800"/>
            <a:ext cx="5080000" cy="338554"/>
          </a:xfrm>
          <a:prstGeom prst="rect">
            <a:avLst/>
          </a:prstGeom>
          <a:noFill/>
        </p:spPr>
        <p:txBody>
          <a:bodyPr vert="horz" wrap="square" rtlCol="0">
            <a:spAutoFit/>
          </a:bodyPr>
          <a:lstStyle/>
          <a:p>
            <a:r>
              <a:rPr lang="en-IN" sz="1600" b="1">
                <a:solidFill>
                  <a:srgbClr val="FDE68A"/>
                </a:solidFill>
                <a:latin typeface="Segoe UI" panose="020B0502040204020203" pitchFamily="34" charset="0"/>
              </a:rPr>
              <a:t>✅  (A)  </a:t>
            </a:r>
            <a:r>
              <a:rPr lang="hi-IN" sz="1600" b="1">
                <a:solidFill>
                  <a:srgbClr val="FDE68A"/>
                </a:solidFill>
                <a:latin typeface="Segoe UI" panose="020B0502040204020203" pitchFamily="34" charset="0"/>
              </a:rPr>
              <a:t>विष्णुभट्ट गोडसे</a:t>
            </a:r>
            <a:endParaRPr lang="en-IN" sz="1600" b="1">
              <a:solidFill>
                <a:srgbClr val="FDE68A"/>
              </a:solidFill>
              <a:latin typeface="Segoe UI" panose="020B0502040204020203" pitchFamily="34" charset="0"/>
            </a:endParaRPr>
          </a:p>
        </p:txBody>
      </p:sp>
      <p:sp>
        <p:nvSpPr>
          <p:cNvPr id="8" name="Rectangle: Rounded Corners 7">
            <a:extLst>
              <a:ext uri="{FF2B5EF4-FFF2-40B4-BE49-F238E27FC236}">
                <a16:creationId xmlns:a16="http://schemas.microsoft.com/office/drawing/2014/main" id="{9FE1317F-7A57-65BB-0AF1-E39AE5594530}"/>
              </a:ext>
            </a:extLst>
          </p:cNvPr>
          <p:cNvSpPr/>
          <p:nvPr/>
        </p:nvSpPr>
        <p:spPr>
          <a:xfrm>
            <a:off x="6273800" y="2311400"/>
            <a:ext cx="5461000" cy="1016000"/>
          </a:xfrm>
          <a:prstGeom prst="roundRect">
            <a:avLst/>
          </a:prstGeom>
          <a:solidFill>
            <a:srgbClr val="0F172A"/>
          </a:solidFill>
          <a:ln w="12700">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F36032BB-1D0F-AC10-E57A-7E2FF43CC944}"/>
              </a:ext>
            </a:extLst>
          </p:cNvPr>
          <p:cNvSpPr txBox="1"/>
          <p:nvPr/>
        </p:nvSpPr>
        <p:spPr>
          <a:xfrm>
            <a:off x="6464300" y="2463800"/>
            <a:ext cx="5080000" cy="307777"/>
          </a:xfrm>
          <a:prstGeom prst="rect">
            <a:avLst/>
          </a:prstGeom>
          <a:noFill/>
        </p:spPr>
        <p:txBody>
          <a:bodyPr vert="horz" wrap="square" rtlCol="0">
            <a:spAutoFit/>
          </a:bodyPr>
          <a:lstStyle/>
          <a:p>
            <a:r>
              <a:rPr lang="en-IN" sz="1400">
                <a:solidFill>
                  <a:srgbClr val="94A3B8"/>
                </a:solidFill>
                <a:latin typeface="Segoe UI" panose="020B0502040204020203" pitchFamily="34" charset="0"/>
              </a:rPr>
              <a:t>(B)  </a:t>
            </a:r>
            <a:r>
              <a:rPr lang="hi-IN" sz="1400">
                <a:solidFill>
                  <a:srgbClr val="94A3B8"/>
                </a:solidFill>
                <a:latin typeface="Segoe UI" panose="020B0502040204020203" pitchFamily="34" charset="0"/>
              </a:rPr>
              <a:t>सूबेदार सीताराम पांडे</a:t>
            </a:r>
            <a:endParaRPr lang="en-IN" sz="1400">
              <a:solidFill>
                <a:srgbClr val="94A3B8"/>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8C292830-B628-CF7A-3285-985D189E51DF}"/>
              </a:ext>
            </a:extLst>
          </p:cNvPr>
          <p:cNvSpPr/>
          <p:nvPr/>
        </p:nvSpPr>
        <p:spPr>
          <a:xfrm>
            <a:off x="457200" y="3530600"/>
            <a:ext cx="5461000" cy="1016000"/>
          </a:xfrm>
          <a:prstGeom prst="roundRect">
            <a:avLst/>
          </a:prstGeom>
          <a:solidFill>
            <a:srgbClr val="0F172A"/>
          </a:solidFill>
          <a:ln w="12700">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1AB84F48-CD36-3EE5-312E-8502BDBD37BF}"/>
              </a:ext>
            </a:extLst>
          </p:cNvPr>
          <p:cNvSpPr txBox="1"/>
          <p:nvPr/>
        </p:nvSpPr>
        <p:spPr>
          <a:xfrm>
            <a:off x="647700" y="3683000"/>
            <a:ext cx="5080000" cy="307777"/>
          </a:xfrm>
          <a:prstGeom prst="rect">
            <a:avLst/>
          </a:prstGeom>
          <a:noFill/>
        </p:spPr>
        <p:txBody>
          <a:bodyPr vert="horz" wrap="square" rtlCol="0">
            <a:spAutoFit/>
          </a:bodyPr>
          <a:lstStyle/>
          <a:p>
            <a:r>
              <a:rPr lang="en-IN" sz="1400">
                <a:solidFill>
                  <a:srgbClr val="94A3B8"/>
                </a:solidFill>
                <a:latin typeface="Segoe UI" panose="020B0502040204020203" pitchFamily="34" charset="0"/>
              </a:rPr>
              <a:t>(C)  </a:t>
            </a:r>
            <a:r>
              <a:rPr lang="hi-IN" sz="1400">
                <a:solidFill>
                  <a:srgbClr val="94A3B8"/>
                </a:solidFill>
                <a:latin typeface="Segoe UI" panose="020B0502040204020203" pitchFamily="34" charset="0"/>
              </a:rPr>
              <a:t>बंकिमचंद्र चटर्जी</a:t>
            </a:r>
            <a:endParaRPr lang="en-IN" sz="1400">
              <a:solidFill>
                <a:srgbClr val="94A3B8"/>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5E9E3B98-4660-8602-EAAC-FA0BF54CC336}"/>
              </a:ext>
            </a:extLst>
          </p:cNvPr>
          <p:cNvSpPr/>
          <p:nvPr/>
        </p:nvSpPr>
        <p:spPr>
          <a:xfrm>
            <a:off x="6273800" y="3530600"/>
            <a:ext cx="5461000" cy="1016000"/>
          </a:xfrm>
          <a:prstGeom prst="roundRect">
            <a:avLst/>
          </a:prstGeom>
          <a:solidFill>
            <a:srgbClr val="0F172A"/>
          </a:solidFill>
          <a:ln w="12700">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E5DB3488-2118-7184-5126-66CBB8C37D24}"/>
              </a:ext>
            </a:extLst>
          </p:cNvPr>
          <p:cNvSpPr txBox="1"/>
          <p:nvPr/>
        </p:nvSpPr>
        <p:spPr>
          <a:xfrm>
            <a:off x="6464300" y="3683000"/>
            <a:ext cx="5080000" cy="307777"/>
          </a:xfrm>
          <a:prstGeom prst="rect">
            <a:avLst/>
          </a:prstGeom>
          <a:noFill/>
        </p:spPr>
        <p:txBody>
          <a:bodyPr vert="horz" wrap="square" rtlCol="0">
            <a:spAutoFit/>
          </a:bodyPr>
          <a:lstStyle/>
          <a:p>
            <a:r>
              <a:rPr lang="en-IN" sz="1400">
                <a:solidFill>
                  <a:srgbClr val="94A3B8"/>
                </a:solidFill>
                <a:latin typeface="Segoe UI" panose="020B0502040204020203" pitchFamily="34" charset="0"/>
              </a:rPr>
              <a:t>(D)  </a:t>
            </a:r>
            <a:r>
              <a:rPr lang="hi-IN" sz="1400">
                <a:solidFill>
                  <a:srgbClr val="94A3B8"/>
                </a:solidFill>
                <a:latin typeface="Segoe UI" panose="020B0502040204020203" pitchFamily="34" charset="0"/>
              </a:rPr>
              <a:t>वीर सावरकर</a:t>
            </a:r>
            <a:endParaRPr lang="en-IN" sz="1400">
              <a:solidFill>
                <a:srgbClr val="94A3B8"/>
              </a:solidFill>
              <a:latin typeface="Segoe UI" panose="020B0502040204020203" pitchFamily="34" charset="0"/>
            </a:endParaRPr>
          </a:p>
        </p:txBody>
      </p:sp>
      <p:sp>
        <p:nvSpPr>
          <p:cNvPr id="14" name="Rectangle: Rounded Corners 13">
            <a:extLst>
              <a:ext uri="{FF2B5EF4-FFF2-40B4-BE49-F238E27FC236}">
                <a16:creationId xmlns:a16="http://schemas.microsoft.com/office/drawing/2014/main" id="{B6E7434D-8F48-E85C-52CD-DC6E20E0D24C}"/>
              </a:ext>
            </a:extLst>
          </p:cNvPr>
          <p:cNvSpPr/>
          <p:nvPr/>
        </p:nvSpPr>
        <p:spPr>
          <a:xfrm>
            <a:off x="457200" y="4724400"/>
            <a:ext cx="11277600" cy="1422400"/>
          </a:xfrm>
          <a:prstGeom prst="roundRect">
            <a:avLst/>
          </a:prstGeom>
          <a:solidFill>
            <a:srgbClr val="064E3B"/>
          </a:solidFill>
          <a:ln w="2540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53906939-E3FA-DAC6-D4F0-9C8070680FA3}"/>
              </a:ext>
            </a:extLst>
          </p:cNvPr>
          <p:cNvSpPr txBox="1"/>
          <p:nvPr/>
        </p:nvSpPr>
        <p:spPr>
          <a:xfrm>
            <a:off x="635000" y="4775200"/>
            <a:ext cx="10922000" cy="307777"/>
          </a:xfrm>
          <a:prstGeom prst="rect">
            <a:avLst/>
          </a:prstGeom>
          <a:noFill/>
        </p:spPr>
        <p:txBody>
          <a:bodyPr vert="horz" rtlCol="0">
            <a:spAutoFit/>
          </a:bodyPr>
          <a:lstStyle/>
          <a:p>
            <a:r>
              <a:rPr lang="en-IN" sz="1400" b="1">
                <a:solidFill>
                  <a:srgbClr val="FDE68A"/>
                </a:solidFill>
                <a:latin typeface="Segoe UI" panose="020B0502040204020203" pitchFamily="34" charset="0"/>
              </a:rPr>
              <a:t>✅ </a:t>
            </a:r>
            <a:r>
              <a:rPr lang="hi-IN" sz="1400" b="1">
                <a:solidFill>
                  <a:srgbClr val="FDE68A"/>
                </a:solidFill>
                <a:latin typeface="Segoe UI" panose="020B0502040204020203" pitchFamily="34" charset="0"/>
              </a:rPr>
              <a:t>सही उत्तर: (</a:t>
            </a:r>
            <a:r>
              <a:rPr lang="en-IN" sz="1400" b="1">
                <a:solidFill>
                  <a:srgbClr val="FDE68A"/>
                </a:solidFill>
                <a:latin typeface="Segoe UI" panose="020B0502040204020203" pitchFamily="34" charset="0"/>
              </a:rPr>
              <a:t>A)   |   </a:t>
            </a:r>
            <a:r>
              <a:rPr lang="hi-IN" sz="1400" b="1">
                <a:solidFill>
                  <a:srgbClr val="FDE68A"/>
                </a:solidFill>
                <a:latin typeface="Segoe UI" panose="020B0502040204020203" pitchFamily="34" charset="0"/>
              </a:rPr>
              <a:t>परीक्षा व्याख्या (</a:t>
            </a:r>
            <a:r>
              <a:rPr lang="en-IN" sz="1400" b="1">
                <a:solidFill>
                  <a:srgbClr val="FDE68A"/>
                </a:solidFill>
                <a:latin typeface="Segoe UI" panose="020B0502040204020203" pitchFamily="34" charset="0"/>
              </a:rPr>
              <a:t>Exam Explanation):</a:t>
            </a:r>
          </a:p>
        </p:txBody>
      </p:sp>
      <p:sp>
        <p:nvSpPr>
          <p:cNvPr id="16" name="TextBox 15">
            <a:extLst>
              <a:ext uri="{FF2B5EF4-FFF2-40B4-BE49-F238E27FC236}">
                <a16:creationId xmlns:a16="http://schemas.microsoft.com/office/drawing/2014/main" id="{2EA3295F-4393-E877-F069-55021FD275F8}"/>
              </a:ext>
            </a:extLst>
          </p:cNvPr>
          <p:cNvSpPr txBox="1"/>
          <p:nvPr/>
        </p:nvSpPr>
        <p:spPr>
          <a:xfrm>
            <a:off x="635000" y="5105400"/>
            <a:ext cx="10922000" cy="507831"/>
          </a:xfrm>
          <a:prstGeom prst="rect">
            <a:avLst/>
          </a:prstGeom>
          <a:noFill/>
        </p:spPr>
        <p:txBody>
          <a:bodyPr vert="horz" wrap="square" rtlCol="0">
            <a:spAutoFit/>
          </a:bodyPr>
          <a:lstStyle/>
          <a:p>
            <a:r>
              <a:rPr lang="en-IN" sz="1350">
                <a:solidFill>
                  <a:srgbClr val="FFFFFF"/>
                </a:solidFill>
                <a:latin typeface="Segoe UI" panose="020B0502040204020203" pitchFamily="34" charset="0"/>
              </a:rPr>
              <a:t>💡  </a:t>
            </a:r>
            <a:r>
              <a:rPr lang="hi-IN" sz="1350">
                <a:solidFill>
                  <a:srgbClr val="FFFFFF"/>
                </a:solidFill>
                <a:latin typeface="Segoe UI" panose="020B0502040204020203" pitchFamily="34" charset="0"/>
              </a:rPr>
              <a:t>महाराष्ट्र के मथुरा जा रहे ब्राह्मण यात्री विष्णुभट्ट गोडसे ने अपनी मराठी पुस्तक 'माझा प्रवास' में 1857 की क्रांति की पूर्व-घटनाओं का प्रत्यक्षदर्शी वर्णन किया है।</a:t>
            </a:r>
            <a:endParaRPr lang="en-IN" sz="1350">
              <a:solidFill>
                <a:srgbClr val="FFFFFF"/>
              </a:solidFill>
              <a:latin typeface="Segoe UI" panose="020B0502040204020203" pitchFamily="34" charset="0"/>
            </a:endParaRPr>
          </a:p>
        </p:txBody>
      </p:sp>
      <p:sp>
        <p:nvSpPr>
          <p:cNvPr id="17" name="TextBox 16">
            <a:extLst>
              <a:ext uri="{FF2B5EF4-FFF2-40B4-BE49-F238E27FC236}">
                <a16:creationId xmlns:a16="http://schemas.microsoft.com/office/drawing/2014/main" id="{459157BA-4882-DDB6-1C23-4417A0FA90AD}"/>
              </a:ext>
            </a:extLst>
          </p:cNvPr>
          <p:cNvSpPr txBox="1"/>
          <p:nvPr/>
        </p:nvSpPr>
        <p:spPr>
          <a:xfrm>
            <a:off x="381000" y="6375400"/>
            <a:ext cx="11430000" cy="246221"/>
          </a:xfrm>
          <a:prstGeom prst="rect">
            <a:avLst/>
          </a:prstGeom>
          <a:noFill/>
        </p:spPr>
        <p:txBody>
          <a:bodyPr vert="horz" rtlCol="0">
            <a:spAutoFit/>
          </a:bodyPr>
          <a:lstStyle/>
          <a:p>
            <a:r>
              <a:rPr lang="hi-IN" sz="1000">
                <a:solidFill>
                  <a:srgbClr val="64748B"/>
                </a:solidFill>
                <a:latin typeface="Segoe UI" panose="020B0502040204020203" pitchFamily="34" charset="0"/>
              </a:rPr>
              <a:t>सागर कोचिंग सेंटर भगवानपुर • कक्षा 08: 1857 की महान क्रांति • </a:t>
            </a:r>
            <a:r>
              <a:rPr lang="en-IN" sz="1000">
                <a:solidFill>
                  <a:srgbClr val="64748B"/>
                </a:solidFill>
                <a:latin typeface="Segoe UI" panose="020B0502040204020203" pitchFamily="34" charset="0"/>
              </a:rPr>
              <a:t>NMMS Special</a:t>
            </a:r>
          </a:p>
        </p:txBody>
      </p:sp>
    </p:spTree>
    <p:extLst>
      <p:ext uri="{BB962C8B-B14F-4D97-AF65-F5344CB8AC3E}">
        <p14:creationId xmlns:p14="http://schemas.microsoft.com/office/powerpoint/2010/main" val="79681168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74F1527-FA37-21EB-B97B-3082A0B4D760}"/>
              </a:ext>
            </a:extLst>
          </p:cNvPr>
          <p:cNvSpPr/>
          <p:nvPr/>
        </p:nvSpPr>
        <p:spPr>
          <a:xfrm>
            <a:off x="0" y="0"/>
            <a:ext cx="12192000" cy="609600"/>
          </a:xfrm>
          <a:prstGeom prst="rect">
            <a:avLst/>
          </a:prstGeom>
          <a:solidFill>
            <a:srgbClr val="1E293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3B90B6B0-B2C6-0A6B-8DC1-D73621916800}"/>
              </a:ext>
            </a:extLst>
          </p:cNvPr>
          <p:cNvSpPr txBox="1"/>
          <p:nvPr/>
        </p:nvSpPr>
        <p:spPr>
          <a:xfrm>
            <a:off x="381000" y="76200"/>
            <a:ext cx="11430000" cy="338554"/>
          </a:xfrm>
          <a:prstGeom prst="rect">
            <a:avLst/>
          </a:prstGeom>
          <a:noFill/>
        </p:spPr>
        <p:txBody>
          <a:bodyPr vert="horz" rtlCol="0">
            <a:spAutoFit/>
          </a:bodyPr>
          <a:lstStyle/>
          <a:p>
            <a:r>
              <a:rPr lang="en-IN" sz="1600" b="1">
                <a:solidFill>
                  <a:srgbClr val="F59E0B"/>
                </a:solidFill>
                <a:latin typeface="Segoe UI" panose="020B0502040204020203" pitchFamily="34" charset="0"/>
              </a:rPr>
              <a:t>PYQ </a:t>
            </a:r>
            <a:r>
              <a:rPr lang="hi-IN" sz="1600" b="1">
                <a:solidFill>
                  <a:srgbClr val="F59E0B"/>
                </a:solidFill>
                <a:latin typeface="Segoe UI" panose="020B0502040204020203" pitchFamily="34" charset="0"/>
              </a:rPr>
              <a:t>अभ्यास प्रश्न #8  [</a:t>
            </a:r>
            <a:r>
              <a:rPr lang="en-IN" sz="1600" b="1">
                <a:solidFill>
                  <a:srgbClr val="F59E0B"/>
                </a:solidFill>
                <a:latin typeface="Segoe UI" panose="020B0502040204020203" pitchFamily="34" charset="0"/>
              </a:rPr>
              <a:t>UP NMMS 2023]</a:t>
            </a:r>
          </a:p>
        </p:txBody>
      </p:sp>
      <p:sp>
        <p:nvSpPr>
          <p:cNvPr id="4" name="Rectangle: Rounded Corners 3">
            <a:extLst>
              <a:ext uri="{FF2B5EF4-FFF2-40B4-BE49-F238E27FC236}">
                <a16:creationId xmlns:a16="http://schemas.microsoft.com/office/drawing/2014/main" id="{7EC9C6CA-0543-73C2-7FBE-691CBA1BB89F}"/>
              </a:ext>
            </a:extLst>
          </p:cNvPr>
          <p:cNvSpPr/>
          <p:nvPr/>
        </p:nvSpPr>
        <p:spPr>
          <a:xfrm>
            <a:off x="457200" y="787400"/>
            <a:ext cx="11277600" cy="1333500"/>
          </a:xfrm>
          <a:prstGeom prst="roundRect">
            <a:avLst/>
          </a:prstGeom>
          <a:solidFill>
            <a:srgbClr val="1E3A8A"/>
          </a:solidFill>
          <a:ln w="25400">
            <a:solidFill>
              <a:srgbClr val="D9770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489DABA2-2136-C944-C882-975608D20C29}"/>
              </a:ext>
            </a:extLst>
          </p:cNvPr>
          <p:cNvSpPr txBox="1"/>
          <p:nvPr/>
        </p:nvSpPr>
        <p:spPr>
          <a:xfrm>
            <a:off x="635000" y="863600"/>
            <a:ext cx="10922000" cy="346249"/>
          </a:xfrm>
          <a:prstGeom prst="rect">
            <a:avLst/>
          </a:prstGeom>
          <a:noFill/>
        </p:spPr>
        <p:txBody>
          <a:bodyPr vert="horz" wrap="square" rtlCol="0">
            <a:spAutoFit/>
          </a:bodyPr>
          <a:lstStyle/>
          <a:p>
            <a:r>
              <a:rPr lang="hi-IN" sz="1650" b="1">
                <a:solidFill>
                  <a:srgbClr val="FFFFFF"/>
                </a:solidFill>
                <a:latin typeface="Segoe UI" panose="020B0502040204020203" pitchFamily="34" charset="0"/>
              </a:rPr>
              <a:t>प्र. 8. कानपुर में 1857 की क्रांति का नेतृत्व किसने किया था?</a:t>
            </a:r>
            <a:endParaRPr lang="en-IN" sz="1650" b="1">
              <a:solidFill>
                <a:srgbClr val="FFFFFF"/>
              </a:solidFill>
              <a:latin typeface="Segoe UI" panose="020B0502040204020203" pitchFamily="34" charset="0"/>
            </a:endParaRPr>
          </a:p>
        </p:txBody>
      </p:sp>
      <p:sp>
        <p:nvSpPr>
          <p:cNvPr id="6" name="Rectangle: Rounded Corners 5">
            <a:extLst>
              <a:ext uri="{FF2B5EF4-FFF2-40B4-BE49-F238E27FC236}">
                <a16:creationId xmlns:a16="http://schemas.microsoft.com/office/drawing/2014/main" id="{5BD277BD-1E48-CD4F-229A-AA8ECCFEFF12}"/>
              </a:ext>
            </a:extLst>
          </p:cNvPr>
          <p:cNvSpPr/>
          <p:nvPr/>
        </p:nvSpPr>
        <p:spPr>
          <a:xfrm>
            <a:off x="457200" y="2311400"/>
            <a:ext cx="5461000" cy="1016000"/>
          </a:xfrm>
          <a:prstGeom prst="roundRect">
            <a:avLst/>
          </a:prstGeom>
          <a:solidFill>
            <a:srgbClr val="1E293B"/>
          </a:solidFill>
          <a:ln w="19050">
            <a:solidFill>
              <a:srgbClr val="47556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 name="TextBox 6">
            <a:extLst>
              <a:ext uri="{FF2B5EF4-FFF2-40B4-BE49-F238E27FC236}">
                <a16:creationId xmlns:a16="http://schemas.microsoft.com/office/drawing/2014/main" id="{9CD0B1D1-7DA0-DAA9-CC20-D553E0E1BB1B}"/>
              </a:ext>
            </a:extLst>
          </p:cNvPr>
          <p:cNvSpPr txBox="1"/>
          <p:nvPr/>
        </p:nvSpPr>
        <p:spPr>
          <a:xfrm>
            <a:off x="647700" y="2463800"/>
            <a:ext cx="5080000" cy="330860"/>
          </a:xfrm>
          <a:prstGeom prst="rect">
            <a:avLst/>
          </a:prstGeom>
          <a:noFill/>
        </p:spPr>
        <p:txBody>
          <a:bodyPr vert="horz" wrap="square" rtlCol="0">
            <a:spAutoFit/>
          </a:bodyPr>
          <a:lstStyle/>
          <a:p>
            <a:r>
              <a:rPr lang="en-IN" sz="1550" b="1">
                <a:solidFill>
                  <a:srgbClr val="F8FAFC"/>
                </a:solidFill>
                <a:latin typeface="Segoe UI" panose="020B0502040204020203" pitchFamily="34" charset="0"/>
              </a:rPr>
              <a:t>(A)  </a:t>
            </a:r>
            <a:r>
              <a:rPr lang="hi-IN" sz="1550" b="1">
                <a:solidFill>
                  <a:srgbClr val="F8FAFC"/>
                </a:solidFill>
                <a:latin typeface="Segoe UI" panose="020B0502040204020203" pitchFamily="34" charset="0"/>
              </a:rPr>
              <a:t>नाना साहेब (धोंधू पंत)</a:t>
            </a:r>
            <a:endParaRPr lang="en-IN" sz="1550" b="1">
              <a:solidFill>
                <a:srgbClr val="F8FAFC"/>
              </a:solidFill>
              <a:latin typeface="Segoe UI" panose="020B0502040204020203" pitchFamily="34" charset="0"/>
            </a:endParaRPr>
          </a:p>
        </p:txBody>
      </p:sp>
      <p:sp>
        <p:nvSpPr>
          <p:cNvPr id="8" name="Rectangle: Rounded Corners 7">
            <a:extLst>
              <a:ext uri="{FF2B5EF4-FFF2-40B4-BE49-F238E27FC236}">
                <a16:creationId xmlns:a16="http://schemas.microsoft.com/office/drawing/2014/main" id="{7135A231-0C27-2F21-17C5-5181541AD56B}"/>
              </a:ext>
            </a:extLst>
          </p:cNvPr>
          <p:cNvSpPr/>
          <p:nvPr/>
        </p:nvSpPr>
        <p:spPr>
          <a:xfrm>
            <a:off x="6273800" y="2311400"/>
            <a:ext cx="5461000" cy="1016000"/>
          </a:xfrm>
          <a:prstGeom prst="roundRect">
            <a:avLst/>
          </a:prstGeom>
          <a:solidFill>
            <a:srgbClr val="1E293B"/>
          </a:solidFill>
          <a:ln w="19050">
            <a:solidFill>
              <a:srgbClr val="47556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DC413669-6301-4E54-17FB-18FCD970414D}"/>
              </a:ext>
            </a:extLst>
          </p:cNvPr>
          <p:cNvSpPr txBox="1"/>
          <p:nvPr/>
        </p:nvSpPr>
        <p:spPr>
          <a:xfrm>
            <a:off x="6464300" y="2463800"/>
            <a:ext cx="5080000" cy="330860"/>
          </a:xfrm>
          <a:prstGeom prst="rect">
            <a:avLst/>
          </a:prstGeom>
          <a:noFill/>
        </p:spPr>
        <p:txBody>
          <a:bodyPr vert="horz" wrap="square" rtlCol="0">
            <a:spAutoFit/>
          </a:bodyPr>
          <a:lstStyle/>
          <a:p>
            <a:r>
              <a:rPr lang="en-IN" sz="1550" b="1">
                <a:solidFill>
                  <a:srgbClr val="F8FAFC"/>
                </a:solidFill>
                <a:latin typeface="Segoe UI" panose="020B0502040204020203" pitchFamily="34" charset="0"/>
              </a:rPr>
              <a:t>(B)  </a:t>
            </a:r>
            <a:r>
              <a:rPr lang="hi-IN" sz="1550" b="1">
                <a:solidFill>
                  <a:srgbClr val="F8FAFC"/>
                </a:solidFill>
                <a:latin typeface="Segoe UI" panose="020B0502040204020203" pitchFamily="34" charset="0"/>
              </a:rPr>
              <a:t>बहादुर शाह जफर</a:t>
            </a:r>
            <a:endParaRPr lang="en-IN" sz="1550" b="1">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E259C814-6300-8274-3319-3E0844B4A152}"/>
              </a:ext>
            </a:extLst>
          </p:cNvPr>
          <p:cNvSpPr/>
          <p:nvPr/>
        </p:nvSpPr>
        <p:spPr>
          <a:xfrm>
            <a:off x="457200" y="3530600"/>
            <a:ext cx="5461000" cy="1016000"/>
          </a:xfrm>
          <a:prstGeom prst="roundRect">
            <a:avLst/>
          </a:prstGeom>
          <a:solidFill>
            <a:srgbClr val="1E293B"/>
          </a:solidFill>
          <a:ln w="19050">
            <a:solidFill>
              <a:srgbClr val="47556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D6907F7F-B042-12E8-7152-D349E065D35B}"/>
              </a:ext>
            </a:extLst>
          </p:cNvPr>
          <p:cNvSpPr txBox="1"/>
          <p:nvPr/>
        </p:nvSpPr>
        <p:spPr>
          <a:xfrm>
            <a:off x="647700" y="3683000"/>
            <a:ext cx="5080000" cy="330860"/>
          </a:xfrm>
          <a:prstGeom prst="rect">
            <a:avLst/>
          </a:prstGeom>
          <a:noFill/>
        </p:spPr>
        <p:txBody>
          <a:bodyPr vert="horz" wrap="square" rtlCol="0">
            <a:spAutoFit/>
          </a:bodyPr>
          <a:lstStyle/>
          <a:p>
            <a:r>
              <a:rPr lang="en-IN" sz="1550" b="1">
                <a:solidFill>
                  <a:srgbClr val="F8FAFC"/>
                </a:solidFill>
                <a:latin typeface="Segoe UI" panose="020B0502040204020203" pitchFamily="34" charset="0"/>
              </a:rPr>
              <a:t>(C)  </a:t>
            </a:r>
            <a:r>
              <a:rPr lang="hi-IN" sz="1550" b="1">
                <a:solidFill>
                  <a:srgbClr val="F8FAFC"/>
                </a:solidFill>
                <a:latin typeface="Segoe UI" panose="020B0502040204020203" pitchFamily="34" charset="0"/>
              </a:rPr>
              <a:t>रानी लक्ष्मीबाई</a:t>
            </a:r>
            <a:endParaRPr lang="en-IN" sz="1550" b="1">
              <a:solidFill>
                <a:srgbClr val="F8FAFC"/>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DF443A3C-1078-BE32-3940-E34A85A83F60}"/>
              </a:ext>
            </a:extLst>
          </p:cNvPr>
          <p:cNvSpPr/>
          <p:nvPr/>
        </p:nvSpPr>
        <p:spPr>
          <a:xfrm>
            <a:off x="6273800" y="3530600"/>
            <a:ext cx="5461000" cy="1016000"/>
          </a:xfrm>
          <a:prstGeom prst="roundRect">
            <a:avLst/>
          </a:prstGeom>
          <a:solidFill>
            <a:srgbClr val="1E293B"/>
          </a:solidFill>
          <a:ln w="19050">
            <a:solidFill>
              <a:srgbClr val="47556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A13D99B2-C704-5316-8FDE-7E6AB8923F8C}"/>
              </a:ext>
            </a:extLst>
          </p:cNvPr>
          <p:cNvSpPr txBox="1"/>
          <p:nvPr/>
        </p:nvSpPr>
        <p:spPr>
          <a:xfrm>
            <a:off x="6464300" y="3683000"/>
            <a:ext cx="5080000" cy="330860"/>
          </a:xfrm>
          <a:prstGeom prst="rect">
            <a:avLst/>
          </a:prstGeom>
          <a:noFill/>
        </p:spPr>
        <p:txBody>
          <a:bodyPr vert="horz" wrap="square" rtlCol="0">
            <a:spAutoFit/>
          </a:bodyPr>
          <a:lstStyle/>
          <a:p>
            <a:r>
              <a:rPr lang="en-IN" sz="1550" b="1">
                <a:solidFill>
                  <a:srgbClr val="F8FAFC"/>
                </a:solidFill>
                <a:latin typeface="Segoe UI" panose="020B0502040204020203" pitchFamily="34" charset="0"/>
              </a:rPr>
              <a:t>(D)  </a:t>
            </a:r>
            <a:r>
              <a:rPr lang="hi-IN" sz="1550" b="1">
                <a:solidFill>
                  <a:srgbClr val="F8FAFC"/>
                </a:solidFill>
                <a:latin typeface="Segoe UI" panose="020B0502040204020203" pitchFamily="34" charset="0"/>
              </a:rPr>
              <a:t>कुंवर सिंह</a:t>
            </a:r>
            <a:endParaRPr lang="en-IN" sz="1550" b="1">
              <a:solidFill>
                <a:srgbClr val="F8FAFC"/>
              </a:solidFill>
              <a:latin typeface="Segoe UI" panose="020B0502040204020203" pitchFamily="34" charset="0"/>
            </a:endParaRPr>
          </a:p>
        </p:txBody>
      </p:sp>
      <p:sp>
        <p:nvSpPr>
          <p:cNvPr id="14" name="Rectangle: Rounded Corners 13">
            <a:extLst>
              <a:ext uri="{FF2B5EF4-FFF2-40B4-BE49-F238E27FC236}">
                <a16:creationId xmlns:a16="http://schemas.microsoft.com/office/drawing/2014/main" id="{526E7D0F-B217-C119-46AD-86E78296A875}"/>
              </a:ext>
            </a:extLst>
          </p:cNvPr>
          <p:cNvSpPr/>
          <p:nvPr/>
        </p:nvSpPr>
        <p:spPr>
          <a:xfrm>
            <a:off x="2921000" y="4826000"/>
            <a:ext cx="6350000" cy="711200"/>
          </a:xfrm>
          <a:prstGeom prst="roundRect">
            <a:avLst/>
          </a:prstGeom>
          <a:solidFill>
            <a:srgbClr val="312E81"/>
          </a:solidFill>
          <a:ln w="19050">
            <a:solidFill>
              <a:srgbClr val="6366F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D58497F6-F1D6-3006-4B95-4C7F2D901D7C}"/>
              </a:ext>
            </a:extLst>
          </p:cNvPr>
          <p:cNvSpPr txBox="1"/>
          <p:nvPr/>
        </p:nvSpPr>
        <p:spPr>
          <a:xfrm>
            <a:off x="2984500" y="4927600"/>
            <a:ext cx="6223000" cy="307777"/>
          </a:xfrm>
          <a:prstGeom prst="rect">
            <a:avLst/>
          </a:prstGeom>
          <a:noFill/>
        </p:spPr>
        <p:txBody>
          <a:bodyPr vert="horz" rtlCol="0">
            <a:spAutoFit/>
          </a:bodyPr>
          <a:lstStyle/>
          <a:p>
            <a:pPr algn="ctr"/>
            <a:r>
              <a:rPr lang="en-IN" sz="1400" b="1">
                <a:solidFill>
                  <a:srgbClr val="FDE68A"/>
                </a:solidFill>
                <a:latin typeface="Segoe UI" panose="020B0502040204020203" pitchFamily="34" charset="0"/>
              </a:rPr>
              <a:t>⏱ 10 </a:t>
            </a:r>
            <a:r>
              <a:rPr lang="hi-IN" sz="1400" b="1">
                <a:solidFill>
                  <a:srgbClr val="FDE68A"/>
                </a:solidFill>
                <a:latin typeface="Segoe UI" panose="020B0502040204020203" pitchFamily="34" charset="0"/>
              </a:rPr>
              <a:t>सेकंड सोचिए और सही विकल्प चुनिए: (</a:t>
            </a:r>
            <a:r>
              <a:rPr lang="en-IN" sz="1400" b="1">
                <a:solidFill>
                  <a:srgbClr val="FDE68A"/>
                </a:solidFill>
                <a:latin typeface="Segoe UI" panose="020B0502040204020203" pitchFamily="34" charset="0"/>
              </a:rPr>
              <a:t>A), (B), (C) </a:t>
            </a:r>
            <a:r>
              <a:rPr lang="hi-IN" sz="1400" b="1">
                <a:solidFill>
                  <a:srgbClr val="FDE68A"/>
                </a:solidFill>
                <a:latin typeface="Segoe UI" panose="020B0502040204020203" pitchFamily="34" charset="0"/>
              </a:rPr>
              <a:t>या (</a:t>
            </a:r>
            <a:r>
              <a:rPr lang="en-IN" sz="1400" b="1">
                <a:solidFill>
                  <a:srgbClr val="FDE68A"/>
                </a:solidFill>
                <a:latin typeface="Segoe UI" panose="020B0502040204020203" pitchFamily="34" charset="0"/>
              </a:rPr>
              <a:t>D)</a:t>
            </a:r>
          </a:p>
        </p:txBody>
      </p:sp>
      <p:sp>
        <p:nvSpPr>
          <p:cNvPr id="16" name="TextBox 15">
            <a:extLst>
              <a:ext uri="{FF2B5EF4-FFF2-40B4-BE49-F238E27FC236}">
                <a16:creationId xmlns:a16="http://schemas.microsoft.com/office/drawing/2014/main" id="{B37BF3ED-8B66-BF0F-7CBA-77C2971FE83D}"/>
              </a:ext>
            </a:extLst>
          </p:cNvPr>
          <p:cNvSpPr txBox="1"/>
          <p:nvPr/>
        </p:nvSpPr>
        <p:spPr>
          <a:xfrm>
            <a:off x="381000" y="6375400"/>
            <a:ext cx="11430000" cy="246221"/>
          </a:xfrm>
          <a:prstGeom prst="rect">
            <a:avLst/>
          </a:prstGeom>
          <a:noFill/>
        </p:spPr>
        <p:txBody>
          <a:bodyPr vert="horz" rtlCol="0">
            <a:spAutoFit/>
          </a:bodyPr>
          <a:lstStyle/>
          <a:p>
            <a:r>
              <a:rPr lang="hi-IN" sz="1000">
                <a:solidFill>
                  <a:srgbClr val="64748B"/>
                </a:solidFill>
                <a:latin typeface="Segoe UI" panose="020B0502040204020203" pitchFamily="34" charset="0"/>
              </a:rPr>
              <a:t>सागर कोचिंग सेंटर भगवानपुर • कक्षा 08: 1857 की महान क्रांति • </a:t>
            </a:r>
            <a:r>
              <a:rPr lang="en-IN" sz="1000">
                <a:solidFill>
                  <a:srgbClr val="64748B"/>
                </a:solidFill>
                <a:latin typeface="Segoe UI" panose="020B0502040204020203" pitchFamily="34" charset="0"/>
              </a:rPr>
              <a:t>NMMS Special</a:t>
            </a:r>
          </a:p>
        </p:txBody>
      </p:sp>
    </p:spTree>
    <p:extLst>
      <p:ext uri="{BB962C8B-B14F-4D97-AF65-F5344CB8AC3E}">
        <p14:creationId xmlns:p14="http://schemas.microsoft.com/office/powerpoint/2010/main" val="61885500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E625590-FD4F-8D31-9441-DB9ABE4761EB}"/>
              </a:ext>
            </a:extLst>
          </p:cNvPr>
          <p:cNvSpPr/>
          <p:nvPr/>
        </p:nvSpPr>
        <p:spPr>
          <a:xfrm>
            <a:off x="0" y="0"/>
            <a:ext cx="12192000" cy="609600"/>
          </a:xfrm>
          <a:prstGeom prst="rect">
            <a:avLst/>
          </a:prstGeom>
          <a:solidFill>
            <a:srgbClr val="1E293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0045F0F7-0CC2-0D86-15B0-A26F66749AAE}"/>
              </a:ext>
            </a:extLst>
          </p:cNvPr>
          <p:cNvSpPr txBox="1"/>
          <p:nvPr/>
        </p:nvSpPr>
        <p:spPr>
          <a:xfrm>
            <a:off x="381000" y="76200"/>
            <a:ext cx="11430000" cy="338554"/>
          </a:xfrm>
          <a:prstGeom prst="rect">
            <a:avLst/>
          </a:prstGeom>
          <a:noFill/>
        </p:spPr>
        <p:txBody>
          <a:bodyPr vert="horz" rtlCol="0">
            <a:spAutoFit/>
          </a:bodyPr>
          <a:lstStyle/>
          <a:p>
            <a:r>
              <a:rPr lang="en-US" sz="1600" b="1">
                <a:solidFill>
                  <a:srgbClr val="10B981"/>
                </a:solidFill>
                <a:latin typeface="Segoe UI" panose="020B0502040204020203" pitchFamily="34" charset="0"/>
              </a:rPr>
              <a:t>PYQ अभ्यास प्रश्न #8  [UP NMMS 2023] - Answer &amp; Explanation</a:t>
            </a:r>
            <a:endParaRPr lang="en-IN" sz="1600" b="1">
              <a:solidFill>
                <a:srgbClr val="10B981"/>
              </a:solidFill>
              <a:latin typeface="Segoe UI" panose="020B0502040204020203" pitchFamily="34" charset="0"/>
            </a:endParaRPr>
          </a:p>
        </p:txBody>
      </p:sp>
      <p:sp>
        <p:nvSpPr>
          <p:cNvPr id="4" name="Rectangle: Rounded Corners 3">
            <a:extLst>
              <a:ext uri="{FF2B5EF4-FFF2-40B4-BE49-F238E27FC236}">
                <a16:creationId xmlns:a16="http://schemas.microsoft.com/office/drawing/2014/main" id="{F242A2B1-FD30-5DCF-C27B-1EC39DA444A7}"/>
              </a:ext>
            </a:extLst>
          </p:cNvPr>
          <p:cNvSpPr/>
          <p:nvPr/>
        </p:nvSpPr>
        <p:spPr>
          <a:xfrm>
            <a:off x="457200" y="787400"/>
            <a:ext cx="11277600" cy="1333500"/>
          </a:xfrm>
          <a:prstGeom prst="roundRect">
            <a:avLst/>
          </a:prstGeom>
          <a:solidFill>
            <a:srgbClr val="1E3A8A"/>
          </a:solidFill>
          <a:ln w="25400">
            <a:solidFill>
              <a:srgbClr val="D9770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3C34B6DA-849E-1F50-76BE-B67E0B8E62CB}"/>
              </a:ext>
            </a:extLst>
          </p:cNvPr>
          <p:cNvSpPr txBox="1"/>
          <p:nvPr/>
        </p:nvSpPr>
        <p:spPr>
          <a:xfrm>
            <a:off x="635000" y="863600"/>
            <a:ext cx="10922000" cy="346249"/>
          </a:xfrm>
          <a:prstGeom prst="rect">
            <a:avLst/>
          </a:prstGeom>
          <a:noFill/>
        </p:spPr>
        <p:txBody>
          <a:bodyPr vert="horz" wrap="square" rtlCol="0">
            <a:spAutoFit/>
          </a:bodyPr>
          <a:lstStyle/>
          <a:p>
            <a:r>
              <a:rPr lang="hi-IN" sz="1650" b="1">
                <a:solidFill>
                  <a:srgbClr val="FFFFFF"/>
                </a:solidFill>
                <a:latin typeface="Segoe UI" panose="020B0502040204020203" pitchFamily="34" charset="0"/>
              </a:rPr>
              <a:t>प्र. 8. कानपुर में 1857 की क्रांति का नेतृत्व किसने किया था?</a:t>
            </a:r>
            <a:endParaRPr lang="en-IN" sz="1650" b="1">
              <a:solidFill>
                <a:srgbClr val="FFFFFF"/>
              </a:solidFill>
              <a:latin typeface="Segoe UI" panose="020B0502040204020203" pitchFamily="34" charset="0"/>
            </a:endParaRPr>
          </a:p>
        </p:txBody>
      </p:sp>
      <p:sp>
        <p:nvSpPr>
          <p:cNvPr id="6" name="Rectangle: Rounded Corners 5">
            <a:extLst>
              <a:ext uri="{FF2B5EF4-FFF2-40B4-BE49-F238E27FC236}">
                <a16:creationId xmlns:a16="http://schemas.microsoft.com/office/drawing/2014/main" id="{D2496CEA-A95F-BE15-E90A-E6C45F22E0D4}"/>
              </a:ext>
            </a:extLst>
          </p:cNvPr>
          <p:cNvSpPr/>
          <p:nvPr/>
        </p:nvSpPr>
        <p:spPr>
          <a:xfrm>
            <a:off x="457200" y="2311400"/>
            <a:ext cx="5461000" cy="1016000"/>
          </a:xfrm>
          <a:prstGeom prst="roundRect">
            <a:avLst/>
          </a:prstGeom>
          <a:solidFill>
            <a:srgbClr val="14532D"/>
          </a:solidFill>
          <a:ln w="31750">
            <a:solidFill>
              <a:srgbClr val="22C55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 name="TextBox 6">
            <a:extLst>
              <a:ext uri="{FF2B5EF4-FFF2-40B4-BE49-F238E27FC236}">
                <a16:creationId xmlns:a16="http://schemas.microsoft.com/office/drawing/2014/main" id="{A210C093-4DDA-0171-38C6-D30335090DD3}"/>
              </a:ext>
            </a:extLst>
          </p:cNvPr>
          <p:cNvSpPr txBox="1"/>
          <p:nvPr/>
        </p:nvSpPr>
        <p:spPr>
          <a:xfrm>
            <a:off x="647700" y="2463800"/>
            <a:ext cx="5080000" cy="338554"/>
          </a:xfrm>
          <a:prstGeom prst="rect">
            <a:avLst/>
          </a:prstGeom>
          <a:noFill/>
        </p:spPr>
        <p:txBody>
          <a:bodyPr vert="horz" wrap="square" rtlCol="0">
            <a:spAutoFit/>
          </a:bodyPr>
          <a:lstStyle/>
          <a:p>
            <a:r>
              <a:rPr lang="en-IN" sz="1600" b="1">
                <a:solidFill>
                  <a:srgbClr val="FDE68A"/>
                </a:solidFill>
                <a:latin typeface="Segoe UI" panose="020B0502040204020203" pitchFamily="34" charset="0"/>
              </a:rPr>
              <a:t>✅  (A)  </a:t>
            </a:r>
            <a:r>
              <a:rPr lang="hi-IN" sz="1600" b="1">
                <a:solidFill>
                  <a:srgbClr val="FDE68A"/>
                </a:solidFill>
                <a:latin typeface="Segoe UI" panose="020B0502040204020203" pitchFamily="34" charset="0"/>
              </a:rPr>
              <a:t>नाना साहेब (धोंधू पंत)</a:t>
            </a:r>
            <a:endParaRPr lang="en-IN" sz="1600" b="1">
              <a:solidFill>
                <a:srgbClr val="FDE68A"/>
              </a:solidFill>
              <a:latin typeface="Segoe UI" panose="020B0502040204020203" pitchFamily="34" charset="0"/>
            </a:endParaRPr>
          </a:p>
        </p:txBody>
      </p:sp>
      <p:sp>
        <p:nvSpPr>
          <p:cNvPr id="8" name="Rectangle: Rounded Corners 7">
            <a:extLst>
              <a:ext uri="{FF2B5EF4-FFF2-40B4-BE49-F238E27FC236}">
                <a16:creationId xmlns:a16="http://schemas.microsoft.com/office/drawing/2014/main" id="{B3A137F1-1F22-9903-D0AA-ED012B2FA7FC}"/>
              </a:ext>
            </a:extLst>
          </p:cNvPr>
          <p:cNvSpPr/>
          <p:nvPr/>
        </p:nvSpPr>
        <p:spPr>
          <a:xfrm>
            <a:off x="6273800" y="2311400"/>
            <a:ext cx="5461000" cy="1016000"/>
          </a:xfrm>
          <a:prstGeom prst="roundRect">
            <a:avLst/>
          </a:prstGeom>
          <a:solidFill>
            <a:srgbClr val="0F172A"/>
          </a:solidFill>
          <a:ln w="12700">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703E2AEE-519D-D0F1-5811-32B0F3CA40E9}"/>
              </a:ext>
            </a:extLst>
          </p:cNvPr>
          <p:cNvSpPr txBox="1"/>
          <p:nvPr/>
        </p:nvSpPr>
        <p:spPr>
          <a:xfrm>
            <a:off x="6464300" y="2463800"/>
            <a:ext cx="5080000" cy="307777"/>
          </a:xfrm>
          <a:prstGeom prst="rect">
            <a:avLst/>
          </a:prstGeom>
          <a:noFill/>
        </p:spPr>
        <p:txBody>
          <a:bodyPr vert="horz" wrap="square" rtlCol="0">
            <a:spAutoFit/>
          </a:bodyPr>
          <a:lstStyle/>
          <a:p>
            <a:r>
              <a:rPr lang="en-IN" sz="1400">
                <a:solidFill>
                  <a:srgbClr val="94A3B8"/>
                </a:solidFill>
                <a:latin typeface="Segoe UI" panose="020B0502040204020203" pitchFamily="34" charset="0"/>
              </a:rPr>
              <a:t>(B)  </a:t>
            </a:r>
            <a:r>
              <a:rPr lang="hi-IN" sz="1400">
                <a:solidFill>
                  <a:srgbClr val="94A3B8"/>
                </a:solidFill>
                <a:latin typeface="Segoe UI" panose="020B0502040204020203" pitchFamily="34" charset="0"/>
              </a:rPr>
              <a:t>बहादुर शाह जफर</a:t>
            </a:r>
            <a:endParaRPr lang="en-IN" sz="1400">
              <a:solidFill>
                <a:srgbClr val="94A3B8"/>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84563A91-8CB1-C03A-03FD-291720F01928}"/>
              </a:ext>
            </a:extLst>
          </p:cNvPr>
          <p:cNvSpPr/>
          <p:nvPr/>
        </p:nvSpPr>
        <p:spPr>
          <a:xfrm>
            <a:off x="457200" y="3530600"/>
            <a:ext cx="5461000" cy="1016000"/>
          </a:xfrm>
          <a:prstGeom prst="roundRect">
            <a:avLst/>
          </a:prstGeom>
          <a:solidFill>
            <a:srgbClr val="0F172A"/>
          </a:solidFill>
          <a:ln w="12700">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61892033-8503-C5DE-5849-AEB470FEA30A}"/>
              </a:ext>
            </a:extLst>
          </p:cNvPr>
          <p:cNvSpPr txBox="1"/>
          <p:nvPr/>
        </p:nvSpPr>
        <p:spPr>
          <a:xfrm>
            <a:off x="647700" y="3683000"/>
            <a:ext cx="5080000" cy="307777"/>
          </a:xfrm>
          <a:prstGeom prst="rect">
            <a:avLst/>
          </a:prstGeom>
          <a:noFill/>
        </p:spPr>
        <p:txBody>
          <a:bodyPr vert="horz" wrap="square" rtlCol="0">
            <a:spAutoFit/>
          </a:bodyPr>
          <a:lstStyle/>
          <a:p>
            <a:r>
              <a:rPr lang="en-IN" sz="1400">
                <a:solidFill>
                  <a:srgbClr val="94A3B8"/>
                </a:solidFill>
                <a:latin typeface="Segoe UI" panose="020B0502040204020203" pitchFamily="34" charset="0"/>
              </a:rPr>
              <a:t>(C)  </a:t>
            </a:r>
            <a:r>
              <a:rPr lang="hi-IN" sz="1400">
                <a:solidFill>
                  <a:srgbClr val="94A3B8"/>
                </a:solidFill>
                <a:latin typeface="Segoe UI" panose="020B0502040204020203" pitchFamily="34" charset="0"/>
              </a:rPr>
              <a:t>रानी लक्ष्मीबाई</a:t>
            </a:r>
            <a:endParaRPr lang="en-IN" sz="1400">
              <a:solidFill>
                <a:srgbClr val="94A3B8"/>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34680AAF-BA38-0BF2-0DB7-0E25B6C3C267}"/>
              </a:ext>
            </a:extLst>
          </p:cNvPr>
          <p:cNvSpPr/>
          <p:nvPr/>
        </p:nvSpPr>
        <p:spPr>
          <a:xfrm>
            <a:off x="6273800" y="3530600"/>
            <a:ext cx="5461000" cy="1016000"/>
          </a:xfrm>
          <a:prstGeom prst="roundRect">
            <a:avLst/>
          </a:prstGeom>
          <a:solidFill>
            <a:srgbClr val="0F172A"/>
          </a:solidFill>
          <a:ln w="12700">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054398F8-18A9-F7E0-B296-10D02A2942FF}"/>
              </a:ext>
            </a:extLst>
          </p:cNvPr>
          <p:cNvSpPr txBox="1"/>
          <p:nvPr/>
        </p:nvSpPr>
        <p:spPr>
          <a:xfrm>
            <a:off x="6464300" y="3683000"/>
            <a:ext cx="5080000" cy="307777"/>
          </a:xfrm>
          <a:prstGeom prst="rect">
            <a:avLst/>
          </a:prstGeom>
          <a:noFill/>
        </p:spPr>
        <p:txBody>
          <a:bodyPr vert="horz" wrap="square" rtlCol="0">
            <a:spAutoFit/>
          </a:bodyPr>
          <a:lstStyle/>
          <a:p>
            <a:r>
              <a:rPr lang="en-IN" sz="1400">
                <a:solidFill>
                  <a:srgbClr val="94A3B8"/>
                </a:solidFill>
                <a:latin typeface="Segoe UI" panose="020B0502040204020203" pitchFamily="34" charset="0"/>
              </a:rPr>
              <a:t>(D)  </a:t>
            </a:r>
            <a:r>
              <a:rPr lang="hi-IN" sz="1400">
                <a:solidFill>
                  <a:srgbClr val="94A3B8"/>
                </a:solidFill>
                <a:latin typeface="Segoe UI" panose="020B0502040204020203" pitchFamily="34" charset="0"/>
              </a:rPr>
              <a:t>कुंवर सिंह</a:t>
            </a:r>
            <a:endParaRPr lang="en-IN" sz="1400">
              <a:solidFill>
                <a:srgbClr val="94A3B8"/>
              </a:solidFill>
              <a:latin typeface="Segoe UI" panose="020B0502040204020203" pitchFamily="34" charset="0"/>
            </a:endParaRPr>
          </a:p>
        </p:txBody>
      </p:sp>
      <p:sp>
        <p:nvSpPr>
          <p:cNvPr id="14" name="Rectangle: Rounded Corners 13">
            <a:extLst>
              <a:ext uri="{FF2B5EF4-FFF2-40B4-BE49-F238E27FC236}">
                <a16:creationId xmlns:a16="http://schemas.microsoft.com/office/drawing/2014/main" id="{E57C1D07-8179-BA35-5661-A9E67FBDE7B5}"/>
              </a:ext>
            </a:extLst>
          </p:cNvPr>
          <p:cNvSpPr/>
          <p:nvPr/>
        </p:nvSpPr>
        <p:spPr>
          <a:xfrm>
            <a:off x="457200" y="4724400"/>
            <a:ext cx="11277600" cy="1422400"/>
          </a:xfrm>
          <a:prstGeom prst="roundRect">
            <a:avLst/>
          </a:prstGeom>
          <a:solidFill>
            <a:srgbClr val="064E3B"/>
          </a:solidFill>
          <a:ln w="2540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49891595-11EA-74D7-5149-8A1FC55E709E}"/>
              </a:ext>
            </a:extLst>
          </p:cNvPr>
          <p:cNvSpPr txBox="1"/>
          <p:nvPr/>
        </p:nvSpPr>
        <p:spPr>
          <a:xfrm>
            <a:off x="635000" y="4775200"/>
            <a:ext cx="10922000" cy="307777"/>
          </a:xfrm>
          <a:prstGeom prst="rect">
            <a:avLst/>
          </a:prstGeom>
          <a:noFill/>
        </p:spPr>
        <p:txBody>
          <a:bodyPr vert="horz" rtlCol="0">
            <a:spAutoFit/>
          </a:bodyPr>
          <a:lstStyle/>
          <a:p>
            <a:r>
              <a:rPr lang="en-IN" sz="1400" b="1">
                <a:solidFill>
                  <a:srgbClr val="FDE68A"/>
                </a:solidFill>
                <a:latin typeface="Segoe UI" panose="020B0502040204020203" pitchFamily="34" charset="0"/>
              </a:rPr>
              <a:t>✅ </a:t>
            </a:r>
            <a:r>
              <a:rPr lang="hi-IN" sz="1400" b="1">
                <a:solidFill>
                  <a:srgbClr val="FDE68A"/>
                </a:solidFill>
                <a:latin typeface="Segoe UI" panose="020B0502040204020203" pitchFamily="34" charset="0"/>
              </a:rPr>
              <a:t>सही उत्तर: (</a:t>
            </a:r>
            <a:r>
              <a:rPr lang="en-IN" sz="1400" b="1">
                <a:solidFill>
                  <a:srgbClr val="FDE68A"/>
                </a:solidFill>
                <a:latin typeface="Segoe UI" panose="020B0502040204020203" pitchFamily="34" charset="0"/>
              </a:rPr>
              <a:t>A)   |   </a:t>
            </a:r>
            <a:r>
              <a:rPr lang="hi-IN" sz="1400" b="1">
                <a:solidFill>
                  <a:srgbClr val="FDE68A"/>
                </a:solidFill>
                <a:latin typeface="Segoe UI" panose="020B0502040204020203" pitchFamily="34" charset="0"/>
              </a:rPr>
              <a:t>परीक्षा व्याख्या (</a:t>
            </a:r>
            <a:r>
              <a:rPr lang="en-IN" sz="1400" b="1">
                <a:solidFill>
                  <a:srgbClr val="FDE68A"/>
                </a:solidFill>
                <a:latin typeface="Segoe UI" panose="020B0502040204020203" pitchFamily="34" charset="0"/>
              </a:rPr>
              <a:t>Exam Explanation):</a:t>
            </a:r>
          </a:p>
        </p:txBody>
      </p:sp>
      <p:sp>
        <p:nvSpPr>
          <p:cNvPr id="16" name="TextBox 15">
            <a:extLst>
              <a:ext uri="{FF2B5EF4-FFF2-40B4-BE49-F238E27FC236}">
                <a16:creationId xmlns:a16="http://schemas.microsoft.com/office/drawing/2014/main" id="{04256DB9-FD87-D915-0424-E965A53CCBA4}"/>
              </a:ext>
            </a:extLst>
          </p:cNvPr>
          <p:cNvSpPr txBox="1"/>
          <p:nvPr/>
        </p:nvSpPr>
        <p:spPr>
          <a:xfrm>
            <a:off x="635000" y="5105400"/>
            <a:ext cx="10922000" cy="300082"/>
          </a:xfrm>
          <a:prstGeom prst="rect">
            <a:avLst/>
          </a:prstGeom>
          <a:noFill/>
        </p:spPr>
        <p:txBody>
          <a:bodyPr vert="horz" wrap="square" rtlCol="0">
            <a:spAutoFit/>
          </a:bodyPr>
          <a:lstStyle/>
          <a:p>
            <a:r>
              <a:rPr lang="en-IN" sz="1350">
                <a:solidFill>
                  <a:srgbClr val="FFFFFF"/>
                </a:solidFill>
                <a:latin typeface="Segoe UI" panose="020B0502040204020203" pitchFamily="34" charset="0"/>
              </a:rPr>
              <a:t>💡  </a:t>
            </a:r>
            <a:r>
              <a:rPr lang="hi-IN" sz="1350">
                <a:solidFill>
                  <a:srgbClr val="FFFFFF"/>
                </a:solidFill>
                <a:latin typeface="Segoe UI" panose="020B0502040204020203" pitchFamily="34" charset="0"/>
              </a:rPr>
              <a:t>पेशवा बाजीराव द्वितीय के दत्तक पुत्र नाना साहेब ने कानपुर से नेतृत्व किया।</a:t>
            </a:r>
            <a:endParaRPr lang="en-IN" sz="1350">
              <a:solidFill>
                <a:srgbClr val="FFFFFF"/>
              </a:solidFill>
              <a:latin typeface="Segoe UI" panose="020B0502040204020203" pitchFamily="34" charset="0"/>
            </a:endParaRPr>
          </a:p>
        </p:txBody>
      </p:sp>
      <p:sp>
        <p:nvSpPr>
          <p:cNvPr id="17" name="TextBox 16">
            <a:extLst>
              <a:ext uri="{FF2B5EF4-FFF2-40B4-BE49-F238E27FC236}">
                <a16:creationId xmlns:a16="http://schemas.microsoft.com/office/drawing/2014/main" id="{2B23F28D-CC0A-4F6E-EFA1-0B90E786EF18}"/>
              </a:ext>
            </a:extLst>
          </p:cNvPr>
          <p:cNvSpPr txBox="1"/>
          <p:nvPr/>
        </p:nvSpPr>
        <p:spPr>
          <a:xfrm>
            <a:off x="381000" y="6375400"/>
            <a:ext cx="11430000" cy="246221"/>
          </a:xfrm>
          <a:prstGeom prst="rect">
            <a:avLst/>
          </a:prstGeom>
          <a:noFill/>
        </p:spPr>
        <p:txBody>
          <a:bodyPr vert="horz" rtlCol="0">
            <a:spAutoFit/>
          </a:bodyPr>
          <a:lstStyle/>
          <a:p>
            <a:r>
              <a:rPr lang="hi-IN" sz="1000">
                <a:solidFill>
                  <a:srgbClr val="64748B"/>
                </a:solidFill>
                <a:latin typeface="Segoe UI" panose="020B0502040204020203" pitchFamily="34" charset="0"/>
              </a:rPr>
              <a:t>सागर कोचिंग सेंटर भगवानपुर • कक्षा 08: 1857 की महान क्रांति • </a:t>
            </a:r>
            <a:r>
              <a:rPr lang="en-IN" sz="1000">
                <a:solidFill>
                  <a:srgbClr val="64748B"/>
                </a:solidFill>
                <a:latin typeface="Segoe UI" panose="020B0502040204020203" pitchFamily="34" charset="0"/>
              </a:rPr>
              <a:t>NMMS Special</a:t>
            </a:r>
          </a:p>
        </p:txBody>
      </p:sp>
    </p:spTree>
    <p:extLst>
      <p:ext uri="{BB962C8B-B14F-4D97-AF65-F5344CB8AC3E}">
        <p14:creationId xmlns:p14="http://schemas.microsoft.com/office/powerpoint/2010/main" val="278781366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52D46CE-8AB7-7144-DB24-1EA7DDFA5E2D}"/>
              </a:ext>
            </a:extLst>
          </p:cNvPr>
          <p:cNvSpPr/>
          <p:nvPr/>
        </p:nvSpPr>
        <p:spPr>
          <a:xfrm>
            <a:off x="0" y="0"/>
            <a:ext cx="12192000" cy="609600"/>
          </a:xfrm>
          <a:prstGeom prst="rect">
            <a:avLst/>
          </a:prstGeom>
          <a:solidFill>
            <a:srgbClr val="1E293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5DDBC54F-B44E-EEAA-5FB5-DA663A2441C9}"/>
              </a:ext>
            </a:extLst>
          </p:cNvPr>
          <p:cNvSpPr txBox="1"/>
          <p:nvPr/>
        </p:nvSpPr>
        <p:spPr>
          <a:xfrm>
            <a:off x="381000" y="76200"/>
            <a:ext cx="11430000" cy="338554"/>
          </a:xfrm>
          <a:prstGeom prst="rect">
            <a:avLst/>
          </a:prstGeom>
          <a:noFill/>
        </p:spPr>
        <p:txBody>
          <a:bodyPr vert="horz" rtlCol="0">
            <a:spAutoFit/>
          </a:bodyPr>
          <a:lstStyle/>
          <a:p>
            <a:r>
              <a:rPr lang="en-IN" sz="1600" b="1">
                <a:solidFill>
                  <a:srgbClr val="F59E0B"/>
                </a:solidFill>
                <a:latin typeface="Segoe UI" panose="020B0502040204020203" pitchFamily="34" charset="0"/>
              </a:rPr>
              <a:t>PYQ </a:t>
            </a:r>
            <a:r>
              <a:rPr lang="hi-IN" sz="1600" b="1">
                <a:solidFill>
                  <a:srgbClr val="F59E0B"/>
                </a:solidFill>
                <a:latin typeface="Segoe UI" panose="020B0502040204020203" pitchFamily="34" charset="0"/>
              </a:rPr>
              <a:t>अभ्यास प्रश्न #9  [</a:t>
            </a:r>
            <a:r>
              <a:rPr lang="en-IN" sz="1600" b="1">
                <a:solidFill>
                  <a:srgbClr val="F59E0B"/>
                </a:solidFill>
                <a:latin typeface="Segoe UI" panose="020B0502040204020203" pitchFamily="34" charset="0"/>
              </a:rPr>
              <a:t>Rajasthan NMMS 2023]</a:t>
            </a:r>
          </a:p>
        </p:txBody>
      </p:sp>
      <p:sp>
        <p:nvSpPr>
          <p:cNvPr id="4" name="Rectangle: Rounded Corners 3">
            <a:extLst>
              <a:ext uri="{FF2B5EF4-FFF2-40B4-BE49-F238E27FC236}">
                <a16:creationId xmlns:a16="http://schemas.microsoft.com/office/drawing/2014/main" id="{12EB4F16-2087-0D7B-D57C-333642B91D05}"/>
              </a:ext>
            </a:extLst>
          </p:cNvPr>
          <p:cNvSpPr/>
          <p:nvPr/>
        </p:nvSpPr>
        <p:spPr>
          <a:xfrm>
            <a:off x="457200" y="787400"/>
            <a:ext cx="11277600" cy="1333500"/>
          </a:xfrm>
          <a:prstGeom prst="roundRect">
            <a:avLst/>
          </a:prstGeom>
          <a:solidFill>
            <a:srgbClr val="1E3A8A"/>
          </a:solidFill>
          <a:ln w="25400">
            <a:solidFill>
              <a:srgbClr val="D9770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619ACFE5-B563-904E-59EE-BD7F58B14723}"/>
              </a:ext>
            </a:extLst>
          </p:cNvPr>
          <p:cNvSpPr txBox="1"/>
          <p:nvPr/>
        </p:nvSpPr>
        <p:spPr>
          <a:xfrm>
            <a:off x="635000" y="863600"/>
            <a:ext cx="10922000" cy="600164"/>
          </a:xfrm>
          <a:prstGeom prst="rect">
            <a:avLst/>
          </a:prstGeom>
          <a:noFill/>
        </p:spPr>
        <p:txBody>
          <a:bodyPr vert="horz" wrap="square" rtlCol="0">
            <a:spAutoFit/>
          </a:bodyPr>
          <a:lstStyle/>
          <a:p>
            <a:r>
              <a:rPr lang="hi-IN" sz="1650" b="1">
                <a:solidFill>
                  <a:srgbClr val="FFFFFF"/>
                </a:solidFill>
                <a:latin typeface="Segoe UI" panose="020B0502040204020203" pitchFamily="34" charset="0"/>
              </a:rPr>
              <a:t>प्र. 9. ब्रिटिश संसद ने किस वर्ष 'भारत सरकार अधिनियम' पारित कर कंपनी का शासन समाप्त किया तथा गवर्नर जनरल को 'वायसराय' का ओहदा दिया?</a:t>
            </a:r>
            <a:endParaRPr lang="en-IN" sz="1650" b="1">
              <a:solidFill>
                <a:srgbClr val="FFFFFF"/>
              </a:solidFill>
              <a:latin typeface="Segoe UI" panose="020B0502040204020203" pitchFamily="34" charset="0"/>
            </a:endParaRPr>
          </a:p>
        </p:txBody>
      </p:sp>
      <p:sp>
        <p:nvSpPr>
          <p:cNvPr id="6" name="Rectangle: Rounded Corners 5">
            <a:extLst>
              <a:ext uri="{FF2B5EF4-FFF2-40B4-BE49-F238E27FC236}">
                <a16:creationId xmlns:a16="http://schemas.microsoft.com/office/drawing/2014/main" id="{FD6F9FC4-6CC1-3B79-0498-7BB65A68F39B}"/>
              </a:ext>
            </a:extLst>
          </p:cNvPr>
          <p:cNvSpPr/>
          <p:nvPr/>
        </p:nvSpPr>
        <p:spPr>
          <a:xfrm>
            <a:off x="457200" y="2311400"/>
            <a:ext cx="5461000" cy="1016000"/>
          </a:xfrm>
          <a:prstGeom prst="roundRect">
            <a:avLst/>
          </a:prstGeom>
          <a:solidFill>
            <a:srgbClr val="1E293B"/>
          </a:solidFill>
          <a:ln w="19050">
            <a:solidFill>
              <a:srgbClr val="47556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 name="TextBox 6">
            <a:extLst>
              <a:ext uri="{FF2B5EF4-FFF2-40B4-BE49-F238E27FC236}">
                <a16:creationId xmlns:a16="http://schemas.microsoft.com/office/drawing/2014/main" id="{5BEFD434-1F1A-433A-575C-92CAE4F7F7B1}"/>
              </a:ext>
            </a:extLst>
          </p:cNvPr>
          <p:cNvSpPr txBox="1"/>
          <p:nvPr/>
        </p:nvSpPr>
        <p:spPr>
          <a:xfrm>
            <a:off x="647700" y="2463800"/>
            <a:ext cx="5080000" cy="330860"/>
          </a:xfrm>
          <a:prstGeom prst="rect">
            <a:avLst/>
          </a:prstGeom>
          <a:noFill/>
        </p:spPr>
        <p:txBody>
          <a:bodyPr vert="horz" wrap="square" rtlCol="0">
            <a:spAutoFit/>
          </a:bodyPr>
          <a:lstStyle/>
          <a:p>
            <a:r>
              <a:rPr lang="en-IN" sz="1550" b="1">
                <a:solidFill>
                  <a:srgbClr val="F8FAFC"/>
                </a:solidFill>
                <a:latin typeface="Segoe UI" panose="020B0502040204020203" pitchFamily="34" charset="0"/>
              </a:rPr>
              <a:t>(A)  1856 </a:t>
            </a:r>
            <a:r>
              <a:rPr lang="hi-IN" sz="1550" b="1">
                <a:solidFill>
                  <a:srgbClr val="F8FAFC"/>
                </a:solidFill>
                <a:latin typeface="Segoe UI" panose="020B0502040204020203" pitchFamily="34" charset="0"/>
              </a:rPr>
              <a:t>में</a:t>
            </a:r>
            <a:endParaRPr lang="en-IN" sz="1550" b="1">
              <a:solidFill>
                <a:srgbClr val="F8FAFC"/>
              </a:solidFill>
              <a:latin typeface="Segoe UI" panose="020B0502040204020203" pitchFamily="34" charset="0"/>
            </a:endParaRPr>
          </a:p>
        </p:txBody>
      </p:sp>
      <p:sp>
        <p:nvSpPr>
          <p:cNvPr id="8" name="Rectangle: Rounded Corners 7">
            <a:extLst>
              <a:ext uri="{FF2B5EF4-FFF2-40B4-BE49-F238E27FC236}">
                <a16:creationId xmlns:a16="http://schemas.microsoft.com/office/drawing/2014/main" id="{62401E84-12F4-5CFA-1CDD-BDF0D8238268}"/>
              </a:ext>
            </a:extLst>
          </p:cNvPr>
          <p:cNvSpPr/>
          <p:nvPr/>
        </p:nvSpPr>
        <p:spPr>
          <a:xfrm>
            <a:off x="6273800" y="2311400"/>
            <a:ext cx="5461000" cy="1016000"/>
          </a:xfrm>
          <a:prstGeom prst="roundRect">
            <a:avLst/>
          </a:prstGeom>
          <a:solidFill>
            <a:srgbClr val="1E293B"/>
          </a:solidFill>
          <a:ln w="19050">
            <a:solidFill>
              <a:srgbClr val="47556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7428692A-7410-5341-5CF3-DBE79588FC4B}"/>
              </a:ext>
            </a:extLst>
          </p:cNvPr>
          <p:cNvSpPr txBox="1"/>
          <p:nvPr/>
        </p:nvSpPr>
        <p:spPr>
          <a:xfrm>
            <a:off x="6464300" y="2463800"/>
            <a:ext cx="5080000" cy="330860"/>
          </a:xfrm>
          <a:prstGeom prst="rect">
            <a:avLst/>
          </a:prstGeom>
          <a:noFill/>
        </p:spPr>
        <p:txBody>
          <a:bodyPr vert="horz" wrap="square" rtlCol="0">
            <a:spAutoFit/>
          </a:bodyPr>
          <a:lstStyle/>
          <a:p>
            <a:r>
              <a:rPr lang="en-IN" sz="1550" b="1">
                <a:solidFill>
                  <a:srgbClr val="F8FAFC"/>
                </a:solidFill>
                <a:latin typeface="Segoe UI" panose="020B0502040204020203" pitchFamily="34" charset="0"/>
              </a:rPr>
              <a:t>(B)  1857 </a:t>
            </a:r>
            <a:r>
              <a:rPr lang="hi-IN" sz="1550" b="1">
                <a:solidFill>
                  <a:srgbClr val="F8FAFC"/>
                </a:solidFill>
                <a:latin typeface="Segoe UI" panose="020B0502040204020203" pitchFamily="34" charset="0"/>
              </a:rPr>
              <a:t>में</a:t>
            </a:r>
            <a:endParaRPr lang="en-IN" sz="1550" b="1">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0E9D2469-7344-DAB9-153A-D2E10BA36C7C}"/>
              </a:ext>
            </a:extLst>
          </p:cNvPr>
          <p:cNvSpPr/>
          <p:nvPr/>
        </p:nvSpPr>
        <p:spPr>
          <a:xfrm>
            <a:off x="457200" y="3530600"/>
            <a:ext cx="5461000" cy="1016000"/>
          </a:xfrm>
          <a:prstGeom prst="roundRect">
            <a:avLst/>
          </a:prstGeom>
          <a:solidFill>
            <a:srgbClr val="1E293B"/>
          </a:solidFill>
          <a:ln w="19050">
            <a:solidFill>
              <a:srgbClr val="47556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F11669A2-E105-254F-BE9C-7D717C427835}"/>
              </a:ext>
            </a:extLst>
          </p:cNvPr>
          <p:cNvSpPr txBox="1"/>
          <p:nvPr/>
        </p:nvSpPr>
        <p:spPr>
          <a:xfrm>
            <a:off x="647700" y="3683000"/>
            <a:ext cx="5080000" cy="330860"/>
          </a:xfrm>
          <a:prstGeom prst="rect">
            <a:avLst/>
          </a:prstGeom>
          <a:noFill/>
        </p:spPr>
        <p:txBody>
          <a:bodyPr vert="horz" wrap="square" rtlCol="0">
            <a:spAutoFit/>
          </a:bodyPr>
          <a:lstStyle/>
          <a:p>
            <a:r>
              <a:rPr lang="en-IN" sz="1550" b="1">
                <a:solidFill>
                  <a:srgbClr val="F8FAFC"/>
                </a:solidFill>
                <a:latin typeface="Segoe UI" panose="020B0502040204020203" pitchFamily="34" charset="0"/>
              </a:rPr>
              <a:t>(C)  1858 </a:t>
            </a:r>
            <a:r>
              <a:rPr lang="hi-IN" sz="1550" b="1">
                <a:solidFill>
                  <a:srgbClr val="F8FAFC"/>
                </a:solidFill>
                <a:latin typeface="Segoe UI" panose="020B0502040204020203" pitchFamily="34" charset="0"/>
              </a:rPr>
              <a:t>में</a:t>
            </a:r>
            <a:endParaRPr lang="en-IN" sz="1550" b="1">
              <a:solidFill>
                <a:srgbClr val="F8FAFC"/>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94825A54-BE1B-9E85-39D1-64C612FAF6CB}"/>
              </a:ext>
            </a:extLst>
          </p:cNvPr>
          <p:cNvSpPr/>
          <p:nvPr/>
        </p:nvSpPr>
        <p:spPr>
          <a:xfrm>
            <a:off x="6273800" y="3530600"/>
            <a:ext cx="5461000" cy="1016000"/>
          </a:xfrm>
          <a:prstGeom prst="roundRect">
            <a:avLst/>
          </a:prstGeom>
          <a:solidFill>
            <a:srgbClr val="1E293B"/>
          </a:solidFill>
          <a:ln w="19050">
            <a:solidFill>
              <a:srgbClr val="47556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98590852-65E1-9E49-E6C7-DB1D1E91A486}"/>
              </a:ext>
            </a:extLst>
          </p:cNvPr>
          <p:cNvSpPr txBox="1"/>
          <p:nvPr/>
        </p:nvSpPr>
        <p:spPr>
          <a:xfrm>
            <a:off x="6464300" y="3683000"/>
            <a:ext cx="5080000" cy="330860"/>
          </a:xfrm>
          <a:prstGeom prst="rect">
            <a:avLst/>
          </a:prstGeom>
          <a:noFill/>
        </p:spPr>
        <p:txBody>
          <a:bodyPr vert="horz" wrap="square" rtlCol="0">
            <a:spAutoFit/>
          </a:bodyPr>
          <a:lstStyle/>
          <a:p>
            <a:r>
              <a:rPr lang="en-IN" sz="1550" b="1">
                <a:solidFill>
                  <a:srgbClr val="F8FAFC"/>
                </a:solidFill>
                <a:latin typeface="Segoe UI" panose="020B0502040204020203" pitchFamily="34" charset="0"/>
              </a:rPr>
              <a:t>(D)  1862 </a:t>
            </a:r>
            <a:r>
              <a:rPr lang="hi-IN" sz="1550" b="1">
                <a:solidFill>
                  <a:srgbClr val="F8FAFC"/>
                </a:solidFill>
                <a:latin typeface="Segoe UI" panose="020B0502040204020203" pitchFamily="34" charset="0"/>
              </a:rPr>
              <a:t>में</a:t>
            </a:r>
            <a:endParaRPr lang="en-IN" sz="1550" b="1">
              <a:solidFill>
                <a:srgbClr val="F8FAFC"/>
              </a:solidFill>
              <a:latin typeface="Segoe UI" panose="020B0502040204020203" pitchFamily="34" charset="0"/>
            </a:endParaRPr>
          </a:p>
        </p:txBody>
      </p:sp>
      <p:sp>
        <p:nvSpPr>
          <p:cNvPr id="14" name="Rectangle: Rounded Corners 13">
            <a:extLst>
              <a:ext uri="{FF2B5EF4-FFF2-40B4-BE49-F238E27FC236}">
                <a16:creationId xmlns:a16="http://schemas.microsoft.com/office/drawing/2014/main" id="{361D3173-D827-AA81-68A1-9BF0D8ACA0EE}"/>
              </a:ext>
            </a:extLst>
          </p:cNvPr>
          <p:cNvSpPr/>
          <p:nvPr/>
        </p:nvSpPr>
        <p:spPr>
          <a:xfrm>
            <a:off x="2921000" y="4826000"/>
            <a:ext cx="6350000" cy="711200"/>
          </a:xfrm>
          <a:prstGeom prst="roundRect">
            <a:avLst/>
          </a:prstGeom>
          <a:solidFill>
            <a:srgbClr val="312E81"/>
          </a:solidFill>
          <a:ln w="19050">
            <a:solidFill>
              <a:srgbClr val="6366F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EB7B6BA9-66E3-A662-3B1F-2558A26E61AE}"/>
              </a:ext>
            </a:extLst>
          </p:cNvPr>
          <p:cNvSpPr txBox="1"/>
          <p:nvPr/>
        </p:nvSpPr>
        <p:spPr>
          <a:xfrm>
            <a:off x="2984500" y="4927600"/>
            <a:ext cx="6223000" cy="307777"/>
          </a:xfrm>
          <a:prstGeom prst="rect">
            <a:avLst/>
          </a:prstGeom>
          <a:noFill/>
        </p:spPr>
        <p:txBody>
          <a:bodyPr vert="horz" rtlCol="0">
            <a:spAutoFit/>
          </a:bodyPr>
          <a:lstStyle/>
          <a:p>
            <a:pPr algn="ctr"/>
            <a:r>
              <a:rPr lang="en-IN" sz="1400" b="1">
                <a:solidFill>
                  <a:srgbClr val="FDE68A"/>
                </a:solidFill>
                <a:latin typeface="Segoe UI" panose="020B0502040204020203" pitchFamily="34" charset="0"/>
              </a:rPr>
              <a:t>⏱ 10 </a:t>
            </a:r>
            <a:r>
              <a:rPr lang="hi-IN" sz="1400" b="1">
                <a:solidFill>
                  <a:srgbClr val="FDE68A"/>
                </a:solidFill>
                <a:latin typeface="Segoe UI" panose="020B0502040204020203" pitchFamily="34" charset="0"/>
              </a:rPr>
              <a:t>सेकंड सोचिए और सही विकल्प चुनिए: (</a:t>
            </a:r>
            <a:r>
              <a:rPr lang="en-IN" sz="1400" b="1">
                <a:solidFill>
                  <a:srgbClr val="FDE68A"/>
                </a:solidFill>
                <a:latin typeface="Segoe UI" panose="020B0502040204020203" pitchFamily="34" charset="0"/>
              </a:rPr>
              <a:t>A), (B), (C) </a:t>
            </a:r>
            <a:r>
              <a:rPr lang="hi-IN" sz="1400" b="1">
                <a:solidFill>
                  <a:srgbClr val="FDE68A"/>
                </a:solidFill>
                <a:latin typeface="Segoe UI" panose="020B0502040204020203" pitchFamily="34" charset="0"/>
              </a:rPr>
              <a:t>या (</a:t>
            </a:r>
            <a:r>
              <a:rPr lang="en-IN" sz="1400" b="1">
                <a:solidFill>
                  <a:srgbClr val="FDE68A"/>
                </a:solidFill>
                <a:latin typeface="Segoe UI" panose="020B0502040204020203" pitchFamily="34" charset="0"/>
              </a:rPr>
              <a:t>D)</a:t>
            </a:r>
          </a:p>
        </p:txBody>
      </p:sp>
      <p:sp>
        <p:nvSpPr>
          <p:cNvPr id="16" name="TextBox 15">
            <a:extLst>
              <a:ext uri="{FF2B5EF4-FFF2-40B4-BE49-F238E27FC236}">
                <a16:creationId xmlns:a16="http://schemas.microsoft.com/office/drawing/2014/main" id="{8A9B8991-55DC-4F57-9F9A-B49F8A3F4A84}"/>
              </a:ext>
            </a:extLst>
          </p:cNvPr>
          <p:cNvSpPr txBox="1"/>
          <p:nvPr/>
        </p:nvSpPr>
        <p:spPr>
          <a:xfrm>
            <a:off x="381000" y="6375400"/>
            <a:ext cx="11430000" cy="246221"/>
          </a:xfrm>
          <a:prstGeom prst="rect">
            <a:avLst/>
          </a:prstGeom>
          <a:noFill/>
        </p:spPr>
        <p:txBody>
          <a:bodyPr vert="horz" rtlCol="0">
            <a:spAutoFit/>
          </a:bodyPr>
          <a:lstStyle/>
          <a:p>
            <a:r>
              <a:rPr lang="hi-IN" sz="1000">
                <a:solidFill>
                  <a:srgbClr val="64748B"/>
                </a:solidFill>
                <a:latin typeface="Segoe UI" panose="020B0502040204020203" pitchFamily="34" charset="0"/>
              </a:rPr>
              <a:t>सागर कोचिंग सेंटर भगवानपुर • कक्षा 08: 1857 की महान क्रांति • </a:t>
            </a:r>
            <a:r>
              <a:rPr lang="en-IN" sz="1000">
                <a:solidFill>
                  <a:srgbClr val="64748B"/>
                </a:solidFill>
                <a:latin typeface="Segoe UI" panose="020B0502040204020203" pitchFamily="34" charset="0"/>
              </a:rPr>
              <a:t>NMMS Special</a:t>
            </a:r>
          </a:p>
        </p:txBody>
      </p:sp>
    </p:spTree>
    <p:extLst>
      <p:ext uri="{BB962C8B-B14F-4D97-AF65-F5344CB8AC3E}">
        <p14:creationId xmlns:p14="http://schemas.microsoft.com/office/powerpoint/2010/main" val="146581628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451FDF5-4868-204D-D055-4771001CDE80}"/>
              </a:ext>
            </a:extLst>
          </p:cNvPr>
          <p:cNvSpPr/>
          <p:nvPr/>
        </p:nvSpPr>
        <p:spPr>
          <a:xfrm>
            <a:off x="0" y="0"/>
            <a:ext cx="12192000" cy="609600"/>
          </a:xfrm>
          <a:prstGeom prst="rect">
            <a:avLst/>
          </a:prstGeom>
          <a:solidFill>
            <a:srgbClr val="1E293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985C47BD-B634-4A25-E701-8CA38CFF78B6}"/>
              </a:ext>
            </a:extLst>
          </p:cNvPr>
          <p:cNvSpPr txBox="1"/>
          <p:nvPr/>
        </p:nvSpPr>
        <p:spPr>
          <a:xfrm>
            <a:off x="381000" y="76200"/>
            <a:ext cx="11430000" cy="338554"/>
          </a:xfrm>
          <a:prstGeom prst="rect">
            <a:avLst/>
          </a:prstGeom>
          <a:noFill/>
        </p:spPr>
        <p:txBody>
          <a:bodyPr vert="horz" rtlCol="0">
            <a:spAutoFit/>
          </a:bodyPr>
          <a:lstStyle/>
          <a:p>
            <a:r>
              <a:rPr lang="en-IN" sz="1600" b="1">
                <a:solidFill>
                  <a:srgbClr val="10B981"/>
                </a:solidFill>
                <a:latin typeface="Segoe UI" panose="020B0502040204020203" pitchFamily="34" charset="0"/>
              </a:rPr>
              <a:t>PYQ </a:t>
            </a:r>
            <a:r>
              <a:rPr lang="hi-IN" sz="1600" b="1">
                <a:solidFill>
                  <a:srgbClr val="10B981"/>
                </a:solidFill>
                <a:latin typeface="Segoe UI" panose="020B0502040204020203" pitchFamily="34" charset="0"/>
              </a:rPr>
              <a:t>अभ्यास प्रश्न #9  [</a:t>
            </a:r>
            <a:r>
              <a:rPr lang="en-IN" sz="1600" b="1">
                <a:solidFill>
                  <a:srgbClr val="10B981"/>
                </a:solidFill>
                <a:latin typeface="Segoe UI" panose="020B0502040204020203" pitchFamily="34" charset="0"/>
              </a:rPr>
              <a:t>Rajasthan NMMS 2023] - Answer &amp; Explanation</a:t>
            </a:r>
          </a:p>
        </p:txBody>
      </p:sp>
      <p:sp>
        <p:nvSpPr>
          <p:cNvPr id="4" name="Rectangle: Rounded Corners 3">
            <a:extLst>
              <a:ext uri="{FF2B5EF4-FFF2-40B4-BE49-F238E27FC236}">
                <a16:creationId xmlns:a16="http://schemas.microsoft.com/office/drawing/2014/main" id="{69C8FC88-5329-82C9-5405-2BC71396E45F}"/>
              </a:ext>
            </a:extLst>
          </p:cNvPr>
          <p:cNvSpPr/>
          <p:nvPr/>
        </p:nvSpPr>
        <p:spPr>
          <a:xfrm>
            <a:off x="457200" y="787400"/>
            <a:ext cx="11277600" cy="1333500"/>
          </a:xfrm>
          <a:prstGeom prst="roundRect">
            <a:avLst/>
          </a:prstGeom>
          <a:solidFill>
            <a:srgbClr val="1E3A8A"/>
          </a:solidFill>
          <a:ln w="25400">
            <a:solidFill>
              <a:srgbClr val="D9770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7A847314-0EB9-203D-6481-042D92CFB856}"/>
              </a:ext>
            </a:extLst>
          </p:cNvPr>
          <p:cNvSpPr txBox="1"/>
          <p:nvPr/>
        </p:nvSpPr>
        <p:spPr>
          <a:xfrm>
            <a:off x="635000" y="863600"/>
            <a:ext cx="10922000" cy="600164"/>
          </a:xfrm>
          <a:prstGeom prst="rect">
            <a:avLst/>
          </a:prstGeom>
          <a:noFill/>
        </p:spPr>
        <p:txBody>
          <a:bodyPr vert="horz" wrap="square" rtlCol="0">
            <a:spAutoFit/>
          </a:bodyPr>
          <a:lstStyle/>
          <a:p>
            <a:r>
              <a:rPr lang="hi-IN" sz="1650" b="1">
                <a:solidFill>
                  <a:srgbClr val="FFFFFF"/>
                </a:solidFill>
                <a:latin typeface="Segoe UI" panose="020B0502040204020203" pitchFamily="34" charset="0"/>
              </a:rPr>
              <a:t>प्र. 9. ब्रिटिश संसद ने किस वर्ष 'भारत सरकार अधिनियम' पारित कर कंपनी का शासन समाप्त किया तथा गवर्नर जनरल को 'वायसराय' का ओहदा दिया?</a:t>
            </a:r>
            <a:endParaRPr lang="en-IN" sz="1650" b="1">
              <a:solidFill>
                <a:srgbClr val="FFFFFF"/>
              </a:solidFill>
              <a:latin typeface="Segoe UI" panose="020B0502040204020203" pitchFamily="34" charset="0"/>
            </a:endParaRPr>
          </a:p>
        </p:txBody>
      </p:sp>
      <p:sp>
        <p:nvSpPr>
          <p:cNvPr id="6" name="Rectangle: Rounded Corners 5">
            <a:extLst>
              <a:ext uri="{FF2B5EF4-FFF2-40B4-BE49-F238E27FC236}">
                <a16:creationId xmlns:a16="http://schemas.microsoft.com/office/drawing/2014/main" id="{68852137-CFA1-7421-2A5C-D02A2A1982D4}"/>
              </a:ext>
            </a:extLst>
          </p:cNvPr>
          <p:cNvSpPr/>
          <p:nvPr/>
        </p:nvSpPr>
        <p:spPr>
          <a:xfrm>
            <a:off x="457200" y="2311400"/>
            <a:ext cx="5461000" cy="1016000"/>
          </a:xfrm>
          <a:prstGeom prst="roundRect">
            <a:avLst/>
          </a:prstGeom>
          <a:solidFill>
            <a:srgbClr val="0F172A"/>
          </a:solidFill>
          <a:ln w="12700">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 name="TextBox 6">
            <a:extLst>
              <a:ext uri="{FF2B5EF4-FFF2-40B4-BE49-F238E27FC236}">
                <a16:creationId xmlns:a16="http://schemas.microsoft.com/office/drawing/2014/main" id="{E64DE0C1-BB39-F002-4B81-893A117526D8}"/>
              </a:ext>
            </a:extLst>
          </p:cNvPr>
          <p:cNvSpPr txBox="1"/>
          <p:nvPr/>
        </p:nvSpPr>
        <p:spPr>
          <a:xfrm>
            <a:off x="647700" y="2463800"/>
            <a:ext cx="5080000" cy="307777"/>
          </a:xfrm>
          <a:prstGeom prst="rect">
            <a:avLst/>
          </a:prstGeom>
          <a:noFill/>
        </p:spPr>
        <p:txBody>
          <a:bodyPr vert="horz" wrap="square" rtlCol="0">
            <a:spAutoFit/>
          </a:bodyPr>
          <a:lstStyle/>
          <a:p>
            <a:r>
              <a:rPr lang="en-IN" sz="1400">
                <a:solidFill>
                  <a:srgbClr val="94A3B8"/>
                </a:solidFill>
                <a:latin typeface="Segoe UI" panose="020B0502040204020203" pitchFamily="34" charset="0"/>
              </a:rPr>
              <a:t>(A)  1856 </a:t>
            </a:r>
            <a:r>
              <a:rPr lang="hi-IN" sz="1400">
                <a:solidFill>
                  <a:srgbClr val="94A3B8"/>
                </a:solidFill>
                <a:latin typeface="Segoe UI" panose="020B0502040204020203" pitchFamily="34" charset="0"/>
              </a:rPr>
              <a:t>में</a:t>
            </a:r>
            <a:endParaRPr lang="en-IN" sz="1400">
              <a:solidFill>
                <a:srgbClr val="94A3B8"/>
              </a:solidFill>
              <a:latin typeface="Segoe UI" panose="020B0502040204020203" pitchFamily="34" charset="0"/>
            </a:endParaRPr>
          </a:p>
        </p:txBody>
      </p:sp>
      <p:sp>
        <p:nvSpPr>
          <p:cNvPr id="8" name="Rectangle: Rounded Corners 7">
            <a:extLst>
              <a:ext uri="{FF2B5EF4-FFF2-40B4-BE49-F238E27FC236}">
                <a16:creationId xmlns:a16="http://schemas.microsoft.com/office/drawing/2014/main" id="{9FE19EF9-0A58-06EC-8716-31149AC292FC}"/>
              </a:ext>
            </a:extLst>
          </p:cNvPr>
          <p:cNvSpPr/>
          <p:nvPr/>
        </p:nvSpPr>
        <p:spPr>
          <a:xfrm>
            <a:off x="6273800" y="2311400"/>
            <a:ext cx="5461000" cy="1016000"/>
          </a:xfrm>
          <a:prstGeom prst="roundRect">
            <a:avLst/>
          </a:prstGeom>
          <a:solidFill>
            <a:srgbClr val="0F172A"/>
          </a:solidFill>
          <a:ln w="12700">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37859244-52FD-D04F-C9F1-09E1336700F6}"/>
              </a:ext>
            </a:extLst>
          </p:cNvPr>
          <p:cNvSpPr txBox="1"/>
          <p:nvPr/>
        </p:nvSpPr>
        <p:spPr>
          <a:xfrm>
            <a:off x="6464300" y="2463800"/>
            <a:ext cx="5080000" cy="307777"/>
          </a:xfrm>
          <a:prstGeom prst="rect">
            <a:avLst/>
          </a:prstGeom>
          <a:noFill/>
        </p:spPr>
        <p:txBody>
          <a:bodyPr vert="horz" wrap="square" rtlCol="0">
            <a:spAutoFit/>
          </a:bodyPr>
          <a:lstStyle/>
          <a:p>
            <a:r>
              <a:rPr lang="en-IN" sz="1400">
                <a:solidFill>
                  <a:srgbClr val="94A3B8"/>
                </a:solidFill>
                <a:latin typeface="Segoe UI" panose="020B0502040204020203" pitchFamily="34" charset="0"/>
              </a:rPr>
              <a:t>(B)  1857 </a:t>
            </a:r>
            <a:r>
              <a:rPr lang="hi-IN" sz="1400">
                <a:solidFill>
                  <a:srgbClr val="94A3B8"/>
                </a:solidFill>
                <a:latin typeface="Segoe UI" panose="020B0502040204020203" pitchFamily="34" charset="0"/>
              </a:rPr>
              <a:t>में</a:t>
            </a:r>
            <a:endParaRPr lang="en-IN" sz="1400">
              <a:solidFill>
                <a:srgbClr val="94A3B8"/>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72A3D04B-7C47-B383-6AAE-17B5B837088E}"/>
              </a:ext>
            </a:extLst>
          </p:cNvPr>
          <p:cNvSpPr/>
          <p:nvPr/>
        </p:nvSpPr>
        <p:spPr>
          <a:xfrm>
            <a:off x="457200" y="3530600"/>
            <a:ext cx="5461000" cy="1016000"/>
          </a:xfrm>
          <a:prstGeom prst="roundRect">
            <a:avLst/>
          </a:prstGeom>
          <a:solidFill>
            <a:srgbClr val="14532D"/>
          </a:solidFill>
          <a:ln w="31750">
            <a:solidFill>
              <a:srgbClr val="22C55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1EB5488C-CEAF-F85C-73D5-B73FE18B1E17}"/>
              </a:ext>
            </a:extLst>
          </p:cNvPr>
          <p:cNvSpPr txBox="1"/>
          <p:nvPr/>
        </p:nvSpPr>
        <p:spPr>
          <a:xfrm>
            <a:off x="647700" y="3683000"/>
            <a:ext cx="5080000" cy="338554"/>
          </a:xfrm>
          <a:prstGeom prst="rect">
            <a:avLst/>
          </a:prstGeom>
          <a:noFill/>
        </p:spPr>
        <p:txBody>
          <a:bodyPr vert="horz" wrap="square" rtlCol="0">
            <a:spAutoFit/>
          </a:bodyPr>
          <a:lstStyle/>
          <a:p>
            <a:r>
              <a:rPr lang="en-IN" sz="1600" b="1">
                <a:solidFill>
                  <a:srgbClr val="FDE68A"/>
                </a:solidFill>
                <a:latin typeface="Segoe UI" panose="020B0502040204020203" pitchFamily="34" charset="0"/>
              </a:rPr>
              <a:t>✅  (C)  1858 </a:t>
            </a:r>
            <a:r>
              <a:rPr lang="hi-IN" sz="1600" b="1">
                <a:solidFill>
                  <a:srgbClr val="FDE68A"/>
                </a:solidFill>
                <a:latin typeface="Segoe UI" panose="020B0502040204020203" pitchFamily="34" charset="0"/>
              </a:rPr>
              <a:t>में</a:t>
            </a:r>
            <a:endParaRPr lang="en-IN" sz="1600" b="1">
              <a:solidFill>
                <a:srgbClr val="FDE68A"/>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6D1F1A16-FD43-7AAA-B3DC-66BCB27C3EDF}"/>
              </a:ext>
            </a:extLst>
          </p:cNvPr>
          <p:cNvSpPr/>
          <p:nvPr/>
        </p:nvSpPr>
        <p:spPr>
          <a:xfrm>
            <a:off x="6273800" y="3530600"/>
            <a:ext cx="5461000" cy="1016000"/>
          </a:xfrm>
          <a:prstGeom prst="roundRect">
            <a:avLst/>
          </a:prstGeom>
          <a:solidFill>
            <a:srgbClr val="0F172A"/>
          </a:solidFill>
          <a:ln w="12700">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0368E70A-C90D-4435-54F1-E87F55AD77ED}"/>
              </a:ext>
            </a:extLst>
          </p:cNvPr>
          <p:cNvSpPr txBox="1"/>
          <p:nvPr/>
        </p:nvSpPr>
        <p:spPr>
          <a:xfrm>
            <a:off x="6464300" y="3683000"/>
            <a:ext cx="5080000" cy="307777"/>
          </a:xfrm>
          <a:prstGeom prst="rect">
            <a:avLst/>
          </a:prstGeom>
          <a:noFill/>
        </p:spPr>
        <p:txBody>
          <a:bodyPr vert="horz" wrap="square" rtlCol="0">
            <a:spAutoFit/>
          </a:bodyPr>
          <a:lstStyle/>
          <a:p>
            <a:r>
              <a:rPr lang="en-IN" sz="1400">
                <a:solidFill>
                  <a:srgbClr val="94A3B8"/>
                </a:solidFill>
                <a:latin typeface="Segoe UI" panose="020B0502040204020203" pitchFamily="34" charset="0"/>
              </a:rPr>
              <a:t>(D)  1862 </a:t>
            </a:r>
            <a:r>
              <a:rPr lang="hi-IN" sz="1400">
                <a:solidFill>
                  <a:srgbClr val="94A3B8"/>
                </a:solidFill>
                <a:latin typeface="Segoe UI" panose="020B0502040204020203" pitchFamily="34" charset="0"/>
              </a:rPr>
              <a:t>में</a:t>
            </a:r>
            <a:endParaRPr lang="en-IN" sz="1400">
              <a:solidFill>
                <a:srgbClr val="94A3B8"/>
              </a:solidFill>
              <a:latin typeface="Segoe UI" panose="020B0502040204020203" pitchFamily="34" charset="0"/>
            </a:endParaRPr>
          </a:p>
        </p:txBody>
      </p:sp>
      <p:sp>
        <p:nvSpPr>
          <p:cNvPr id="14" name="Rectangle: Rounded Corners 13">
            <a:extLst>
              <a:ext uri="{FF2B5EF4-FFF2-40B4-BE49-F238E27FC236}">
                <a16:creationId xmlns:a16="http://schemas.microsoft.com/office/drawing/2014/main" id="{7CCB2555-C1E7-F832-3891-936E3920BF3E}"/>
              </a:ext>
            </a:extLst>
          </p:cNvPr>
          <p:cNvSpPr/>
          <p:nvPr/>
        </p:nvSpPr>
        <p:spPr>
          <a:xfrm>
            <a:off x="457200" y="4724400"/>
            <a:ext cx="11277600" cy="1422400"/>
          </a:xfrm>
          <a:prstGeom prst="roundRect">
            <a:avLst/>
          </a:prstGeom>
          <a:solidFill>
            <a:srgbClr val="064E3B"/>
          </a:solidFill>
          <a:ln w="2540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E160FA7D-0D6A-75E2-CF95-2841B3672440}"/>
              </a:ext>
            </a:extLst>
          </p:cNvPr>
          <p:cNvSpPr txBox="1"/>
          <p:nvPr/>
        </p:nvSpPr>
        <p:spPr>
          <a:xfrm>
            <a:off x="635000" y="4775200"/>
            <a:ext cx="10922000" cy="307777"/>
          </a:xfrm>
          <a:prstGeom prst="rect">
            <a:avLst/>
          </a:prstGeom>
          <a:noFill/>
        </p:spPr>
        <p:txBody>
          <a:bodyPr vert="horz" rtlCol="0">
            <a:spAutoFit/>
          </a:bodyPr>
          <a:lstStyle/>
          <a:p>
            <a:r>
              <a:rPr lang="en-IN" sz="1400" b="1">
                <a:solidFill>
                  <a:srgbClr val="FDE68A"/>
                </a:solidFill>
                <a:latin typeface="Segoe UI" panose="020B0502040204020203" pitchFamily="34" charset="0"/>
              </a:rPr>
              <a:t>✅ </a:t>
            </a:r>
            <a:r>
              <a:rPr lang="hi-IN" sz="1400" b="1">
                <a:solidFill>
                  <a:srgbClr val="FDE68A"/>
                </a:solidFill>
                <a:latin typeface="Segoe UI" panose="020B0502040204020203" pitchFamily="34" charset="0"/>
              </a:rPr>
              <a:t>सही उत्तर: (</a:t>
            </a:r>
            <a:r>
              <a:rPr lang="en-IN" sz="1400" b="1">
                <a:solidFill>
                  <a:srgbClr val="FDE68A"/>
                </a:solidFill>
                <a:latin typeface="Segoe UI" panose="020B0502040204020203" pitchFamily="34" charset="0"/>
              </a:rPr>
              <a:t>C)   |   </a:t>
            </a:r>
            <a:r>
              <a:rPr lang="hi-IN" sz="1400" b="1">
                <a:solidFill>
                  <a:srgbClr val="FDE68A"/>
                </a:solidFill>
                <a:latin typeface="Segoe UI" panose="020B0502040204020203" pitchFamily="34" charset="0"/>
              </a:rPr>
              <a:t>परीक्षा व्याख्या (</a:t>
            </a:r>
            <a:r>
              <a:rPr lang="en-IN" sz="1400" b="1">
                <a:solidFill>
                  <a:srgbClr val="FDE68A"/>
                </a:solidFill>
                <a:latin typeface="Segoe UI" panose="020B0502040204020203" pitchFamily="34" charset="0"/>
              </a:rPr>
              <a:t>Exam Explanation):</a:t>
            </a:r>
          </a:p>
        </p:txBody>
      </p:sp>
      <p:sp>
        <p:nvSpPr>
          <p:cNvPr id="16" name="TextBox 15">
            <a:extLst>
              <a:ext uri="{FF2B5EF4-FFF2-40B4-BE49-F238E27FC236}">
                <a16:creationId xmlns:a16="http://schemas.microsoft.com/office/drawing/2014/main" id="{BB233AC2-8147-2079-CB3E-D103F0FD175A}"/>
              </a:ext>
            </a:extLst>
          </p:cNvPr>
          <p:cNvSpPr txBox="1"/>
          <p:nvPr/>
        </p:nvSpPr>
        <p:spPr>
          <a:xfrm>
            <a:off x="635000" y="5105400"/>
            <a:ext cx="10922000" cy="507831"/>
          </a:xfrm>
          <a:prstGeom prst="rect">
            <a:avLst/>
          </a:prstGeom>
          <a:noFill/>
        </p:spPr>
        <p:txBody>
          <a:bodyPr vert="horz" wrap="square" rtlCol="0">
            <a:spAutoFit/>
          </a:bodyPr>
          <a:lstStyle/>
          <a:p>
            <a:r>
              <a:rPr lang="en-IN" sz="1350">
                <a:solidFill>
                  <a:srgbClr val="FFFFFF"/>
                </a:solidFill>
                <a:latin typeface="Segoe UI" panose="020B0502040204020203" pitchFamily="34" charset="0"/>
              </a:rPr>
              <a:t>💡  1858 </a:t>
            </a:r>
            <a:r>
              <a:rPr lang="hi-IN" sz="1350">
                <a:solidFill>
                  <a:srgbClr val="FFFFFF"/>
                </a:solidFill>
                <a:latin typeface="Segoe UI" panose="020B0502040204020203" pitchFamily="34" charset="0"/>
              </a:rPr>
              <a:t>के भारत सरकार अधिनियम द्वारा ईस्ट इंडिया कंपनी के सारे अधिकार ब्रिटिश ताज (क्राउन) को सौंपे गए और लॉर्ड कैनिंग प्रथम वायसराय बने।</a:t>
            </a:r>
            <a:endParaRPr lang="en-IN" sz="1350">
              <a:solidFill>
                <a:srgbClr val="FFFFFF"/>
              </a:solidFill>
              <a:latin typeface="Segoe UI" panose="020B0502040204020203" pitchFamily="34" charset="0"/>
            </a:endParaRPr>
          </a:p>
        </p:txBody>
      </p:sp>
      <p:sp>
        <p:nvSpPr>
          <p:cNvPr id="17" name="TextBox 16">
            <a:extLst>
              <a:ext uri="{FF2B5EF4-FFF2-40B4-BE49-F238E27FC236}">
                <a16:creationId xmlns:a16="http://schemas.microsoft.com/office/drawing/2014/main" id="{19BE0AC9-90BD-8D29-9C6C-7CFF4000A204}"/>
              </a:ext>
            </a:extLst>
          </p:cNvPr>
          <p:cNvSpPr txBox="1"/>
          <p:nvPr/>
        </p:nvSpPr>
        <p:spPr>
          <a:xfrm>
            <a:off x="381000" y="6375400"/>
            <a:ext cx="11430000" cy="246221"/>
          </a:xfrm>
          <a:prstGeom prst="rect">
            <a:avLst/>
          </a:prstGeom>
          <a:noFill/>
        </p:spPr>
        <p:txBody>
          <a:bodyPr vert="horz" rtlCol="0">
            <a:spAutoFit/>
          </a:bodyPr>
          <a:lstStyle/>
          <a:p>
            <a:r>
              <a:rPr lang="hi-IN" sz="1000">
                <a:solidFill>
                  <a:srgbClr val="64748B"/>
                </a:solidFill>
                <a:latin typeface="Segoe UI" panose="020B0502040204020203" pitchFamily="34" charset="0"/>
              </a:rPr>
              <a:t>सागर कोचिंग सेंटर भगवानपुर • कक्षा 08: 1857 की महान क्रांति • </a:t>
            </a:r>
            <a:r>
              <a:rPr lang="en-IN" sz="1000">
                <a:solidFill>
                  <a:srgbClr val="64748B"/>
                </a:solidFill>
                <a:latin typeface="Segoe UI" panose="020B0502040204020203" pitchFamily="34" charset="0"/>
              </a:rPr>
              <a:t>NMMS Special</a:t>
            </a:r>
          </a:p>
        </p:txBody>
      </p:sp>
    </p:spTree>
    <p:extLst>
      <p:ext uri="{BB962C8B-B14F-4D97-AF65-F5344CB8AC3E}">
        <p14:creationId xmlns:p14="http://schemas.microsoft.com/office/powerpoint/2010/main" val="107832139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80FEE2C-40D3-E826-DFCF-671706B9630A}"/>
              </a:ext>
            </a:extLst>
          </p:cNvPr>
          <p:cNvSpPr/>
          <p:nvPr/>
        </p:nvSpPr>
        <p:spPr>
          <a:xfrm>
            <a:off x="0" y="0"/>
            <a:ext cx="12192000" cy="609600"/>
          </a:xfrm>
          <a:prstGeom prst="rect">
            <a:avLst/>
          </a:prstGeom>
          <a:solidFill>
            <a:srgbClr val="1E293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A2F14A54-1A09-2BCD-9305-5B04E73903DB}"/>
              </a:ext>
            </a:extLst>
          </p:cNvPr>
          <p:cNvSpPr txBox="1"/>
          <p:nvPr/>
        </p:nvSpPr>
        <p:spPr>
          <a:xfrm>
            <a:off x="381000" y="76200"/>
            <a:ext cx="11430000" cy="338554"/>
          </a:xfrm>
          <a:prstGeom prst="rect">
            <a:avLst/>
          </a:prstGeom>
          <a:noFill/>
        </p:spPr>
        <p:txBody>
          <a:bodyPr vert="horz" rtlCol="0">
            <a:spAutoFit/>
          </a:bodyPr>
          <a:lstStyle/>
          <a:p>
            <a:r>
              <a:rPr lang="en-IN" sz="1600" b="1">
                <a:solidFill>
                  <a:srgbClr val="F59E0B"/>
                </a:solidFill>
                <a:latin typeface="Segoe UI" panose="020B0502040204020203" pitchFamily="34" charset="0"/>
              </a:rPr>
              <a:t>PYQ </a:t>
            </a:r>
            <a:r>
              <a:rPr lang="hi-IN" sz="1600" b="1">
                <a:solidFill>
                  <a:srgbClr val="F59E0B"/>
                </a:solidFill>
                <a:latin typeface="Segoe UI" panose="020B0502040204020203" pitchFamily="34" charset="0"/>
              </a:rPr>
              <a:t>अभ्यास प्रश्न #10  [</a:t>
            </a:r>
            <a:r>
              <a:rPr lang="en-IN" sz="1600" b="1">
                <a:solidFill>
                  <a:srgbClr val="F59E0B"/>
                </a:solidFill>
                <a:latin typeface="Segoe UI" panose="020B0502040204020203" pitchFamily="34" charset="0"/>
              </a:rPr>
              <a:t>Bihar NMMS 2023]</a:t>
            </a:r>
          </a:p>
        </p:txBody>
      </p:sp>
      <p:sp>
        <p:nvSpPr>
          <p:cNvPr id="4" name="Rectangle: Rounded Corners 3">
            <a:extLst>
              <a:ext uri="{FF2B5EF4-FFF2-40B4-BE49-F238E27FC236}">
                <a16:creationId xmlns:a16="http://schemas.microsoft.com/office/drawing/2014/main" id="{01C61433-42E9-98B3-FF31-9C21BF7913B4}"/>
              </a:ext>
            </a:extLst>
          </p:cNvPr>
          <p:cNvSpPr/>
          <p:nvPr/>
        </p:nvSpPr>
        <p:spPr>
          <a:xfrm>
            <a:off x="457200" y="787400"/>
            <a:ext cx="11277600" cy="1333500"/>
          </a:xfrm>
          <a:prstGeom prst="roundRect">
            <a:avLst/>
          </a:prstGeom>
          <a:solidFill>
            <a:srgbClr val="1E3A8A"/>
          </a:solidFill>
          <a:ln w="25400">
            <a:solidFill>
              <a:srgbClr val="D9770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59E41C2F-725A-2607-CBDF-44D14B88842B}"/>
              </a:ext>
            </a:extLst>
          </p:cNvPr>
          <p:cNvSpPr txBox="1"/>
          <p:nvPr/>
        </p:nvSpPr>
        <p:spPr>
          <a:xfrm>
            <a:off x="635000" y="863600"/>
            <a:ext cx="10922000" cy="346249"/>
          </a:xfrm>
          <a:prstGeom prst="rect">
            <a:avLst/>
          </a:prstGeom>
          <a:noFill/>
        </p:spPr>
        <p:txBody>
          <a:bodyPr vert="horz" wrap="square" rtlCol="0">
            <a:spAutoFit/>
          </a:bodyPr>
          <a:lstStyle/>
          <a:p>
            <a:r>
              <a:rPr lang="hi-IN" sz="1650" b="1">
                <a:solidFill>
                  <a:srgbClr val="FFFFFF"/>
                </a:solidFill>
                <a:latin typeface="Segoe UI" panose="020B0502040204020203" pitchFamily="34" charset="0"/>
              </a:rPr>
              <a:t>प्र. 10. 1857 की क्रांति के दौरान लखनऊ (अवध) में जनता एवं सिपाहियों द्वारा किसे नया नवाब घोषित किया गया था?</a:t>
            </a:r>
            <a:endParaRPr lang="en-IN" sz="1650" b="1">
              <a:solidFill>
                <a:srgbClr val="FFFFFF"/>
              </a:solidFill>
              <a:latin typeface="Segoe UI" panose="020B0502040204020203" pitchFamily="34" charset="0"/>
            </a:endParaRPr>
          </a:p>
        </p:txBody>
      </p:sp>
      <p:sp>
        <p:nvSpPr>
          <p:cNvPr id="6" name="Rectangle: Rounded Corners 5">
            <a:extLst>
              <a:ext uri="{FF2B5EF4-FFF2-40B4-BE49-F238E27FC236}">
                <a16:creationId xmlns:a16="http://schemas.microsoft.com/office/drawing/2014/main" id="{511A5550-AD93-7F44-B8EA-2934CED54E8F}"/>
              </a:ext>
            </a:extLst>
          </p:cNvPr>
          <p:cNvSpPr/>
          <p:nvPr/>
        </p:nvSpPr>
        <p:spPr>
          <a:xfrm>
            <a:off x="457200" y="2311400"/>
            <a:ext cx="5461000" cy="1016000"/>
          </a:xfrm>
          <a:prstGeom prst="roundRect">
            <a:avLst/>
          </a:prstGeom>
          <a:solidFill>
            <a:srgbClr val="1E293B"/>
          </a:solidFill>
          <a:ln w="19050">
            <a:solidFill>
              <a:srgbClr val="47556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 name="TextBox 6">
            <a:extLst>
              <a:ext uri="{FF2B5EF4-FFF2-40B4-BE49-F238E27FC236}">
                <a16:creationId xmlns:a16="http://schemas.microsoft.com/office/drawing/2014/main" id="{77DA2FF3-E262-A5BF-209B-B1A9E292F551}"/>
              </a:ext>
            </a:extLst>
          </p:cNvPr>
          <p:cNvSpPr txBox="1"/>
          <p:nvPr/>
        </p:nvSpPr>
        <p:spPr>
          <a:xfrm>
            <a:off x="647700" y="2463800"/>
            <a:ext cx="5080000" cy="330860"/>
          </a:xfrm>
          <a:prstGeom prst="rect">
            <a:avLst/>
          </a:prstGeom>
          <a:noFill/>
        </p:spPr>
        <p:txBody>
          <a:bodyPr vert="horz" wrap="square" rtlCol="0">
            <a:spAutoFit/>
          </a:bodyPr>
          <a:lstStyle/>
          <a:p>
            <a:r>
              <a:rPr lang="en-IN" sz="1550" b="1">
                <a:solidFill>
                  <a:srgbClr val="F8FAFC"/>
                </a:solidFill>
                <a:latin typeface="Segoe UI" panose="020B0502040204020203" pitchFamily="34" charset="0"/>
              </a:rPr>
              <a:t>(A)  </a:t>
            </a:r>
            <a:r>
              <a:rPr lang="hi-IN" sz="1550" b="1">
                <a:solidFill>
                  <a:srgbClr val="F8FAFC"/>
                </a:solidFill>
                <a:latin typeface="Segoe UI" panose="020B0502040204020203" pitchFamily="34" charset="0"/>
              </a:rPr>
              <a:t>वाजिद अली शाह</a:t>
            </a:r>
            <a:endParaRPr lang="en-IN" sz="1550" b="1">
              <a:solidFill>
                <a:srgbClr val="F8FAFC"/>
              </a:solidFill>
              <a:latin typeface="Segoe UI" panose="020B0502040204020203" pitchFamily="34" charset="0"/>
            </a:endParaRPr>
          </a:p>
        </p:txBody>
      </p:sp>
      <p:sp>
        <p:nvSpPr>
          <p:cNvPr id="8" name="Rectangle: Rounded Corners 7">
            <a:extLst>
              <a:ext uri="{FF2B5EF4-FFF2-40B4-BE49-F238E27FC236}">
                <a16:creationId xmlns:a16="http://schemas.microsoft.com/office/drawing/2014/main" id="{8801969A-7530-328D-CC4A-5C3ECE3953F9}"/>
              </a:ext>
            </a:extLst>
          </p:cNvPr>
          <p:cNvSpPr/>
          <p:nvPr/>
        </p:nvSpPr>
        <p:spPr>
          <a:xfrm>
            <a:off x="6273800" y="2311400"/>
            <a:ext cx="5461000" cy="1016000"/>
          </a:xfrm>
          <a:prstGeom prst="roundRect">
            <a:avLst/>
          </a:prstGeom>
          <a:solidFill>
            <a:srgbClr val="1E293B"/>
          </a:solidFill>
          <a:ln w="19050">
            <a:solidFill>
              <a:srgbClr val="47556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813E1461-52CE-B526-5035-C8CB81F1EED6}"/>
              </a:ext>
            </a:extLst>
          </p:cNvPr>
          <p:cNvSpPr txBox="1"/>
          <p:nvPr/>
        </p:nvSpPr>
        <p:spPr>
          <a:xfrm>
            <a:off x="6464300" y="2463800"/>
            <a:ext cx="5080000" cy="330860"/>
          </a:xfrm>
          <a:prstGeom prst="rect">
            <a:avLst/>
          </a:prstGeom>
          <a:noFill/>
        </p:spPr>
        <p:txBody>
          <a:bodyPr vert="horz" wrap="square" rtlCol="0">
            <a:spAutoFit/>
          </a:bodyPr>
          <a:lstStyle/>
          <a:p>
            <a:r>
              <a:rPr lang="en-IN" sz="1550" b="1">
                <a:solidFill>
                  <a:srgbClr val="F8FAFC"/>
                </a:solidFill>
                <a:latin typeface="Segoe UI" panose="020B0502040204020203" pitchFamily="34" charset="0"/>
              </a:rPr>
              <a:t>(B)  </a:t>
            </a:r>
            <a:r>
              <a:rPr lang="hi-IN" sz="1550" b="1">
                <a:solidFill>
                  <a:srgbClr val="F8FAFC"/>
                </a:solidFill>
                <a:latin typeface="Segoe UI" panose="020B0502040204020203" pitchFamily="34" charset="0"/>
              </a:rPr>
              <a:t>बिरजिस कद्र</a:t>
            </a:r>
            <a:endParaRPr lang="en-IN" sz="1550" b="1">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0CC3F1F8-AFDD-29B2-238F-AFA2FFBF7341}"/>
              </a:ext>
            </a:extLst>
          </p:cNvPr>
          <p:cNvSpPr/>
          <p:nvPr/>
        </p:nvSpPr>
        <p:spPr>
          <a:xfrm>
            <a:off x="457200" y="3530600"/>
            <a:ext cx="5461000" cy="1016000"/>
          </a:xfrm>
          <a:prstGeom prst="roundRect">
            <a:avLst/>
          </a:prstGeom>
          <a:solidFill>
            <a:srgbClr val="1E293B"/>
          </a:solidFill>
          <a:ln w="19050">
            <a:solidFill>
              <a:srgbClr val="47556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4E344804-C09D-7FB4-5E57-A5FBF2DFFC47}"/>
              </a:ext>
            </a:extLst>
          </p:cNvPr>
          <p:cNvSpPr txBox="1"/>
          <p:nvPr/>
        </p:nvSpPr>
        <p:spPr>
          <a:xfrm>
            <a:off x="647700" y="3683000"/>
            <a:ext cx="5080000" cy="330860"/>
          </a:xfrm>
          <a:prstGeom prst="rect">
            <a:avLst/>
          </a:prstGeom>
          <a:noFill/>
        </p:spPr>
        <p:txBody>
          <a:bodyPr vert="horz" wrap="square" rtlCol="0">
            <a:spAutoFit/>
          </a:bodyPr>
          <a:lstStyle/>
          <a:p>
            <a:r>
              <a:rPr lang="en-IN" sz="1550" b="1">
                <a:solidFill>
                  <a:srgbClr val="F8FAFC"/>
                </a:solidFill>
                <a:latin typeface="Segoe UI" panose="020B0502040204020203" pitchFamily="34" charset="0"/>
              </a:rPr>
              <a:t>(C)  </a:t>
            </a:r>
            <a:r>
              <a:rPr lang="hi-IN" sz="1550" b="1">
                <a:solidFill>
                  <a:srgbClr val="F8FAFC"/>
                </a:solidFill>
                <a:latin typeface="Segoe UI" panose="020B0502040204020203" pitchFamily="34" charset="0"/>
              </a:rPr>
              <a:t>खान बहादुर खान</a:t>
            </a:r>
            <a:endParaRPr lang="en-IN" sz="1550" b="1">
              <a:solidFill>
                <a:srgbClr val="F8FAFC"/>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041968E2-7CA7-924A-EEEB-45CFC712D2CB}"/>
              </a:ext>
            </a:extLst>
          </p:cNvPr>
          <p:cNvSpPr/>
          <p:nvPr/>
        </p:nvSpPr>
        <p:spPr>
          <a:xfrm>
            <a:off x="6273800" y="3530600"/>
            <a:ext cx="5461000" cy="1016000"/>
          </a:xfrm>
          <a:prstGeom prst="roundRect">
            <a:avLst/>
          </a:prstGeom>
          <a:solidFill>
            <a:srgbClr val="1E293B"/>
          </a:solidFill>
          <a:ln w="19050">
            <a:solidFill>
              <a:srgbClr val="47556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ECE594AF-6B69-3045-4B3D-0662587B9FCE}"/>
              </a:ext>
            </a:extLst>
          </p:cNvPr>
          <p:cNvSpPr txBox="1"/>
          <p:nvPr/>
        </p:nvSpPr>
        <p:spPr>
          <a:xfrm>
            <a:off x="6464300" y="3683000"/>
            <a:ext cx="5080000" cy="330860"/>
          </a:xfrm>
          <a:prstGeom prst="rect">
            <a:avLst/>
          </a:prstGeom>
          <a:noFill/>
        </p:spPr>
        <p:txBody>
          <a:bodyPr vert="horz" wrap="square" rtlCol="0">
            <a:spAutoFit/>
          </a:bodyPr>
          <a:lstStyle/>
          <a:p>
            <a:r>
              <a:rPr lang="en-IN" sz="1550" b="1">
                <a:solidFill>
                  <a:srgbClr val="F8FAFC"/>
                </a:solidFill>
                <a:latin typeface="Segoe UI" panose="020B0502040204020203" pitchFamily="34" charset="0"/>
              </a:rPr>
              <a:t>(D)  </a:t>
            </a:r>
            <a:r>
              <a:rPr lang="hi-IN" sz="1550" b="1">
                <a:solidFill>
                  <a:srgbClr val="F8FAFC"/>
                </a:solidFill>
                <a:latin typeface="Segoe UI" panose="020B0502040204020203" pitchFamily="34" charset="0"/>
              </a:rPr>
              <a:t>नाना साहेब</a:t>
            </a:r>
            <a:endParaRPr lang="en-IN" sz="1550" b="1">
              <a:solidFill>
                <a:srgbClr val="F8FAFC"/>
              </a:solidFill>
              <a:latin typeface="Segoe UI" panose="020B0502040204020203" pitchFamily="34" charset="0"/>
            </a:endParaRPr>
          </a:p>
        </p:txBody>
      </p:sp>
      <p:sp>
        <p:nvSpPr>
          <p:cNvPr id="14" name="Rectangle: Rounded Corners 13">
            <a:extLst>
              <a:ext uri="{FF2B5EF4-FFF2-40B4-BE49-F238E27FC236}">
                <a16:creationId xmlns:a16="http://schemas.microsoft.com/office/drawing/2014/main" id="{03177469-C895-6E6B-9FFA-4EFA82D1C1A7}"/>
              </a:ext>
            </a:extLst>
          </p:cNvPr>
          <p:cNvSpPr/>
          <p:nvPr/>
        </p:nvSpPr>
        <p:spPr>
          <a:xfrm>
            <a:off x="2921000" y="4826000"/>
            <a:ext cx="6350000" cy="711200"/>
          </a:xfrm>
          <a:prstGeom prst="roundRect">
            <a:avLst/>
          </a:prstGeom>
          <a:solidFill>
            <a:srgbClr val="312E81"/>
          </a:solidFill>
          <a:ln w="19050">
            <a:solidFill>
              <a:srgbClr val="6366F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B3819B01-BF0D-373B-2726-B4A080C86A43}"/>
              </a:ext>
            </a:extLst>
          </p:cNvPr>
          <p:cNvSpPr txBox="1"/>
          <p:nvPr/>
        </p:nvSpPr>
        <p:spPr>
          <a:xfrm>
            <a:off x="2984500" y="4927600"/>
            <a:ext cx="6223000" cy="307777"/>
          </a:xfrm>
          <a:prstGeom prst="rect">
            <a:avLst/>
          </a:prstGeom>
          <a:noFill/>
        </p:spPr>
        <p:txBody>
          <a:bodyPr vert="horz" rtlCol="0">
            <a:spAutoFit/>
          </a:bodyPr>
          <a:lstStyle/>
          <a:p>
            <a:pPr algn="ctr"/>
            <a:r>
              <a:rPr lang="en-IN" sz="1400" b="1">
                <a:solidFill>
                  <a:srgbClr val="FDE68A"/>
                </a:solidFill>
                <a:latin typeface="Segoe UI" panose="020B0502040204020203" pitchFamily="34" charset="0"/>
              </a:rPr>
              <a:t>⏱ 10 </a:t>
            </a:r>
            <a:r>
              <a:rPr lang="hi-IN" sz="1400" b="1">
                <a:solidFill>
                  <a:srgbClr val="FDE68A"/>
                </a:solidFill>
                <a:latin typeface="Segoe UI" panose="020B0502040204020203" pitchFamily="34" charset="0"/>
              </a:rPr>
              <a:t>सेकंड सोचिए और सही विकल्प चुनिए: (</a:t>
            </a:r>
            <a:r>
              <a:rPr lang="en-IN" sz="1400" b="1">
                <a:solidFill>
                  <a:srgbClr val="FDE68A"/>
                </a:solidFill>
                <a:latin typeface="Segoe UI" panose="020B0502040204020203" pitchFamily="34" charset="0"/>
              </a:rPr>
              <a:t>A), (B), (C) </a:t>
            </a:r>
            <a:r>
              <a:rPr lang="hi-IN" sz="1400" b="1">
                <a:solidFill>
                  <a:srgbClr val="FDE68A"/>
                </a:solidFill>
                <a:latin typeface="Segoe UI" panose="020B0502040204020203" pitchFamily="34" charset="0"/>
              </a:rPr>
              <a:t>या (</a:t>
            </a:r>
            <a:r>
              <a:rPr lang="en-IN" sz="1400" b="1">
                <a:solidFill>
                  <a:srgbClr val="FDE68A"/>
                </a:solidFill>
                <a:latin typeface="Segoe UI" panose="020B0502040204020203" pitchFamily="34" charset="0"/>
              </a:rPr>
              <a:t>D)</a:t>
            </a:r>
          </a:p>
        </p:txBody>
      </p:sp>
      <p:sp>
        <p:nvSpPr>
          <p:cNvPr id="16" name="TextBox 15">
            <a:extLst>
              <a:ext uri="{FF2B5EF4-FFF2-40B4-BE49-F238E27FC236}">
                <a16:creationId xmlns:a16="http://schemas.microsoft.com/office/drawing/2014/main" id="{F20B5F2A-08AF-CECB-E138-59C6C2186787}"/>
              </a:ext>
            </a:extLst>
          </p:cNvPr>
          <p:cNvSpPr txBox="1"/>
          <p:nvPr/>
        </p:nvSpPr>
        <p:spPr>
          <a:xfrm>
            <a:off x="381000" y="6375400"/>
            <a:ext cx="11430000" cy="246221"/>
          </a:xfrm>
          <a:prstGeom prst="rect">
            <a:avLst/>
          </a:prstGeom>
          <a:noFill/>
        </p:spPr>
        <p:txBody>
          <a:bodyPr vert="horz" rtlCol="0">
            <a:spAutoFit/>
          </a:bodyPr>
          <a:lstStyle/>
          <a:p>
            <a:r>
              <a:rPr lang="hi-IN" sz="1000">
                <a:solidFill>
                  <a:srgbClr val="64748B"/>
                </a:solidFill>
                <a:latin typeface="Segoe UI" panose="020B0502040204020203" pitchFamily="34" charset="0"/>
              </a:rPr>
              <a:t>सागर कोचिंग सेंटर भगवानपुर • कक्षा 08: 1857 की महान क्रांति • </a:t>
            </a:r>
            <a:r>
              <a:rPr lang="en-IN" sz="1000">
                <a:solidFill>
                  <a:srgbClr val="64748B"/>
                </a:solidFill>
                <a:latin typeface="Segoe UI" panose="020B0502040204020203" pitchFamily="34" charset="0"/>
              </a:rPr>
              <a:t>NMMS Special</a:t>
            </a:r>
          </a:p>
        </p:txBody>
      </p:sp>
    </p:spTree>
    <p:extLst>
      <p:ext uri="{BB962C8B-B14F-4D97-AF65-F5344CB8AC3E}">
        <p14:creationId xmlns:p14="http://schemas.microsoft.com/office/powerpoint/2010/main" val="384058238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87CFDD8-3471-F6BF-47A8-539AC12BA60F}"/>
              </a:ext>
            </a:extLst>
          </p:cNvPr>
          <p:cNvSpPr/>
          <p:nvPr/>
        </p:nvSpPr>
        <p:spPr>
          <a:xfrm>
            <a:off x="0" y="0"/>
            <a:ext cx="12192000" cy="609600"/>
          </a:xfrm>
          <a:prstGeom prst="rect">
            <a:avLst/>
          </a:prstGeom>
          <a:solidFill>
            <a:srgbClr val="1E293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6B6B8DBE-CAAD-5259-70C4-AC0325FB4EE8}"/>
              </a:ext>
            </a:extLst>
          </p:cNvPr>
          <p:cNvSpPr txBox="1"/>
          <p:nvPr/>
        </p:nvSpPr>
        <p:spPr>
          <a:xfrm>
            <a:off x="381000" y="76200"/>
            <a:ext cx="11430000" cy="338554"/>
          </a:xfrm>
          <a:prstGeom prst="rect">
            <a:avLst/>
          </a:prstGeom>
          <a:noFill/>
        </p:spPr>
        <p:txBody>
          <a:bodyPr vert="horz" rtlCol="0">
            <a:spAutoFit/>
          </a:bodyPr>
          <a:lstStyle/>
          <a:p>
            <a:r>
              <a:rPr lang="en-IN" sz="1600" b="1">
                <a:solidFill>
                  <a:srgbClr val="10B981"/>
                </a:solidFill>
                <a:latin typeface="Segoe UI" panose="020B0502040204020203" pitchFamily="34" charset="0"/>
              </a:rPr>
              <a:t>PYQ </a:t>
            </a:r>
            <a:r>
              <a:rPr lang="hi-IN" sz="1600" b="1">
                <a:solidFill>
                  <a:srgbClr val="10B981"/>
                </a:solidFill>
                <a:latin typeface="Segoe UI" panose="020B0502040204020203" pitchFamily="34" charset="0"/>
              </a:rPr>
              <a:t>अभ्यास प्रश्न #10  [</a:t>
            </a:r>
            <a:r>
              <a:rPr lang="en-IN" sz="1600" b="1">
                <a:solidFill>
                  <a:srgbClr val="10B981"/>
                </a:solidFill>
                <a:latin typeface="Segoe UI" panose="020B0502040204020203" pitchFamily="34" charset="0"/>
              </a:rPr>
              <a:t>Bihar NMMS 2023] - Answer &amp; Explanation</a:t>
            </a:r>
          </a:p>
        </p:txBody>
      </p:sp>
      <p:sp>
        <p:nvSpPr>
          <p:cNvPr id="4" name="Rectangle: Rounded Corners 3">
            <a:extLst>
              <a:ext uri="{FF2B5EF4-FFF2-40B4-BE49-F238E27FC236}">
                <a16:creationId xmlns:a16="http://schemas.microsoft.com/office/drawing/2014/main" id="{EF40EF61-9F3B-E9CE-0D50-04CDE543FF65}"/>
              </a:ext>
            </a:extLst>
          </p:cNvPr>
          <p:cNvSpPr/>
          <p:nvPr/>
        </p:nvSpPr>
        <p:spPr>
          <a:xfrm>
            <a:off x="457200" y="787400"/>
            <a:ext cx="11277600" cy="1333500"/>
          </a:xfrm>
          <a:prstGeom prst="roundRect">
            <a:avLst/>
          </a:prstGeom>
          <a:solidFill>
            <a:srgbClr val="1E3A8A"/>
          </a:solidFill>
          <a:ln w="25400">
            <a:solidFill>
              <a:srgbClr val="D9770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9F0D97E8-6C48-48CB-9166-EB1CA3950D72}"/>
              </a:ext>
            </a:extLst>
          </p:cNvPr>
          <p:cNvSpPr txBox="1"/>
          <p:nvPr/>
        </p:nvSpPr>
        <p:spPr>
          <a:xfrm>
            <a:off x="635000" y="863600"/>
            <a:ext cx="10922000" cy="346249"/>
          </a:xfrm>
          <a:prstGeom prst="rect">
            <a:avLst/>
          </a:prstGeom>
          <a:noFill/>
        </p:spPr>
        <p:txBody>
          <a:bodyPr vert="horz" wrap="square" rtlCol="0">
            <a:spAutoFit/>
          </a:bodyPr>
          <a:lstStyle/>
          <a:p>
            <a:r>
              <a:rPr lang="hi-IN" sz="1650" b="1">
                <a:solidFill>
                  <a:srgbClr val="FFFFFF"/>
                </a:solidFill>
                <a:latin typeface="Segoe UI" panose="020B0502040204020203" pitchFamily="34" charset="0"/>
              </a:rPr>
              <a:t>प्र. 10. 1857 की क्रांति के दौरान लखनऊ (अवध) में जनता एवं सिपाहियों द्वारा किसे नया नवाब घोषित किया गया था?</a:t>
            </a:r>
            <a:endParaRPr lang="en-IN" sz="1650" b="1">
              <a:solidFill>
                <a:srgbClr val="FFFFFF"/>
              </a:solidFill>
              <a:latin typeface="Segoe UI" panose="020B0502040204020203" pitchFamily="34" charset="0"/>
            </a:endParaRPr>
          </a:p>
        </p:txBody>
      </p:sp>
      <p:sp>
        <p:nvSpPr>
          <p:cNvPr id="6" name="Rectangle: Rounded Corners 5">
            <a:extLst>
              <a:ext uri="{FF2B5EF4-FFF2-40B4-BE49-F238E27FC236}">
                <a16:creationId xmlns:a16="http://schemas.microsoft.com/office/drawing/2014/main" id="{7D960575-8AD3-29BF-2E41-DE30B0390EF6}"/>
              </a:ext>
            </a:extLst>
          </p:cNvPr>
          <p:cNvSpPr/>
          <p:nvPr/>
        </p:nvSpPr>
        <p:spPr>
          <a:xfrm>
            <a:off x="457200" y="2311400"/>
            <a:ext cx="5461000" cy="1016000"/>
          </a:xfrm>
          <a:prstGeom prst="roundRect">
            <a:avLst/>
          </a:prstGeom>
          <a:solidFill>
            <a:srgbClr val="0F172A"/>
          </a:solidFill>
          <a:ln w="12700">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 name="TextBox 6">
            <a:extLst>
              <a:ext uri="{FF2B5EF4-FFF2-40B4-BE49-F238E27FC236}">
                <a16:creationId xmlns:a16="http://schemas.microsoft.com/office/drawing/2014/main" id="{B85F8908-E9FB-D278-7497-40A458285BC0}"/>
              </a:ext>
            </a:extLst>
          </p:cNvPr>
          <p:cNvSpPr txBox="1"/>
          <p:nvPr/>
        </p:nvSpPr>
        <p:spPr>
          <a:xfrm>
            <a:off x="647700" y="2463800"/>
            <a:ext cx="5080000" cy="307777"/>
          </a:xfrm>
          <a:prstGeom prst="rect">
            <a:avLst/>
          </a:prstGeom>
          <a:noFill/>
        </p:spPr>
        <p:txBody>
          <a:bodyPr vert="horz" wrap="square" rtlCol="0">
            <a:spAutoFit/>
          </a:bodyPr>
          <a:lstStyle/>
          <a:p>
            <a:r>
              <a:rPr lang="en-IN" sz="1400">
                <a:solidFill>
                  <a:srgbClr val="94A3B8"/>
                </a:solidFill>
                <a:latin typeface="Segoe UI" panose="020B0502040204020203" pitchFamily="34" charset="0"/>
              </a:rPr>
              <a:t>(A)  </a:t>
            </a:r>
            <a:r>
              <a:rPr lang="hi-IN" sz="1400">
                <a:solidFill>
                  <a:srgbClr val="94A3B8"/>
                </a:solidFill>
                <a:latin typeface="Segoe UI" panose="020B0502040204020203" pitchFamily="34" charset="0"/>
              </a:rPr>
              <a:t>वाजिद अली शाह</a:t>
            </a:r>
            <a:endParaRPr lang="en-IN" sz="1400">
              <a:solidFill>
                <a:srgbClr val="94A3B8"/>
              </a:solidFill>
              <a:latin typeface="Segoe UI" panose="020B0502040204020203" pitchFamily="34" charset="0"/>
            </a:endParaRPr>
          </a:p>
        </p:txBody>
      </p:sp>
      <p:sp>
        <p:nvSpPr>
          <p:cNvPr id="8" name="Rectangle: Rounded Corners 7">
            <a:extLst>
              <a:ext uri="{FF2B5EF4-FFF2-40B4-BE49-F238E27FC236}">
                <a16:creationId xmlns:a16="http://schemas.microsoft.com/office/drawing/2014/main" id="{57405049-9B23-1F65-8CA1-0E6D3D6FF624}"/>
              </a:ext>
            </a:extLst>
          </p:cNvPr>
          <p:cNvSpPr/>
          <p:nvPr/>
        </p:nvSpPr>
        <p:spPr>
          <a:xfrm>
            <a:off x="6273800" y="2311400"/>
            <a:ext cx="5461000" cy="1016000"/>
          </a:xfrm>
          <a:prstGeom prst="roundRect">
            <a:avLst/>
          </a:prstGeom>
          <a:solidFill>
            <a:srgbClr val="14532D"/>
          </a:solidFill>
          <a:ln w="31750">
            <a:solidFill>
              <a:srgbClr val="22C55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64E1FBB4-1CAB-D013-F90C-F2B93135EE47}"/>
              </a:ext>
            </a:extLst>
          </p:cNvPr>
          <p:cNvSpPr txBox="1"/>
          <p:nvPr/>
        </p:nvSpPr>
        <p:spPr>
          <a:xfrm>
            <a:off x="6464300" y="2463800"/>
            <a:ext cx="5080000" cy="338554"/>
          </a:xfrm>
          <a:prstGeom prst="rect">
            <a:avLst/>
          </a:prstGeom>
          <a:noFill/>
        </p:spPr>
        <p:txBody>
          <a:bodyPr vert="horz" wrap="square" rtlCol="0">
            <a:spAutoFit/>
          </a:bodyPr>
          <a:lstStyle/>
          <a:p>
            <a:r>
              <a:rPr lang="en-IN" sz="1600" b="1">
                <a:solidFill>
                  <a:srgbClr val="FDE68A"/>
                </a:solidFill>
                <a:latin typeface="Segoe UI" panose="020B0502040204020203" pitchFamily="34" charset="0"/>
              </a:rPr>
              <a:t>✅  (B)  </a:t>
            </a:r>
            <a:r>
              <a:rPr lang="hi-IN" sz="1600" b="1">
                <a:solidFill>
                  <a:srgbClr val="FDE68A"/>
                </a:solidFill>
                <a:latin typeface="Segoe UI" panose="020B0502040204020203" pitchFamily="34" charset="0"/>
              </a:rPr>
              <a:t>बिरजिस कद्र</a:t>
            </a:r>
            <a:endParaRPr lang="en-IN" sz="1600" b="1">
              <a:solidFill>
                <a:srgbClr val="FDE68A"/>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88036925-6A56-D9CB-9753-A4CCDADA497D}"/>
              </a:ext>
            </a:extLst>
          </p:cNvPr>
          <p:cNvSpPr/>
          <p:nvPr/>
        </p:nvSpPr>
        <p:spPr>
          <a:xfrm>
            <a:off x="457200" y="3530600"/>
            <a:ext cx="5461000" cy="1016000"/>
          </a:xfrm>
          <a:prstGeom prst="roundRect">
            <a:avLst/>
          </a:prstGeom>
          <a:solidFill>
            <a:srgbClr val="0F172A"/>
          </a:solidFill>
          <a:ln w="12700">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0D1AE6C7-722A-642F-738B-EE1E8BC6E4F0}"/>
              </a:ext>
            </a:extLst>
          </p:cNvPr>
          <p:cNvSpPr txBox="1"/>
          <p:nvPr/>
        </p:nvSpPr>
        <p:spPr>
          <a:xfrm>
            <a:off x="647700" y="3683000"/>
            <a:ext cx="5080000" cy="307777"/>
          </a:xfrm>
          <a:prstGeom prst="rect">
            <a:avLst/>
          </a:prstGeom>
          <a:noFill/>
        </p:spPr>
        <p:txBody>
          <a:bodyPr vert="horz" wrap="square" rtlCol="0">
            <a:spAutoFit/>
          </a:bodyPr>
          <a:lstStyle/>
          <a:p>
            <a:r>
              <a:rPr lang="en-IN" sz="1400">
                <a:solidFill>
                  <a:srgbClr val="94A3B8"/>
                </a:solidFill>
                <a:latin typeface="Segoe UI" panose="020B0502040204020203" pitchFamily="34" charset="0"/>
              </a:rPr>
              <a:t>(C)  </a:t>
            </a:r>
            <a:r>
              <a:rPr lang="hi-IN" sz="1400">
                <a:solidFill>
                  <a:srgbClr val="94A3B8"/>
                </a:solidFill>
                <a:latin typeface="Segoe UI" panose="020B0502040204020203" pitchFamily="34" charset="0"/>
              </a:rPr>
              <a:t>खान बहादुर खान</a:t>
            </a:r>
            <a:endParaRPr lang="en-IN" sz="1400">
              <a:solidFill>
                <a:srgbClr val="94A3B8"/>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A489CBE1-405D-982D-5F43-3A1EA6D1BEFD}"/>
              </a:ext>
            </a:extLst>
          </p:cNvPr>
          <p:cNvSpPr/>
          <p:nvPr/>
        </p:nvSpPr>
        <p:spPr>
          <a:xfrm>
            <a:off x="6273800" y="3530600"/>
            <a:ext cx="5461000" cy="1016000"/>
          </a:xfrm>
          <a:prstGeom prst="roundRect">
            <a:avLst/>
          </a:prstGeom>
          <a:solidFill>
            <a:srgbClr val="0F172A"/>
          </a:solidFill>
          <a:ln w="12700">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8ECF39D3-C0A2-0C9E-CEB6-3854D86BD7D7}"/>
              </a:ext>
            </a:extLst>
          </p:cNvPr>
          <p:cNvSpPr txBox="1"/>
          <p:nvPr/>
        </p:nvSpPr>
        <p:spPr>
          <a:xfrm>
            <a:off x="6464300" y="3683000"/>
            <a:ext cx="5080000" cy="307777"/>
          </a:xfrm>
          <a:prstGeom prst="rect">
            <a:avLst/>
          </a:prstGeom>
          <a:noFill/>
        </p:spPr>
        <p:txBody>
          <a:bodyPr vert="horz" wrap="square" rtlCol="0">
            <a:spAutoFit/>
          </a:bodyPr>
          <a:lstStyle/>
          <a:p>
            <a:r>
              <a:rPr lang="en-IN" sz="1400">
                <a:solidFill>
                  <a:srgbClr val="94A3B8"/>
                </a:solidFill>
                <a:latin typeface="Segoe UI" panose="020B0502040204020203" pitchFamily="34" charset="0"/>
              </a:rPr>
              <a:t>(D)  </a:t>
            </a:r>
            <a:r>
              <a:rPr lang="hi-IN" sz="1400">
                <a:solidFill>
                  <a:srgbClr val="94A3B8"/>
                </a:solidFill>
                <a:latin typeface="Segoe UI" panose="020B0502040204020203" pitchFamily="34" charset="0"/>
              </a:rPr>
              <a:t>नाना साहेब</a:t>
            </a:r>
            <a:endParaRPr lang="en-IN" sz="1400">
              <a:solidFill>
                <a:srgbClr val="94A3B8"/>
              </a:solidFill>
              <a:latin typeface="Segoe UI" panose="020B0502040204020203" pitchFamily="34" charset="0"/>
            </a:endParaRPr>
          </a:p>
        </p:txBody>
      </p:sp>
      <p:sp>
        <p:nvSpPr>
          <p:cNvPr id="14" name="Rectangle: Rounded Corners 13">
            <a:extLst>
              <a:ext uri="{FF2B5EF4-FFF2-40B4-BE49-F238E27FC236}">
                <a16:creationId xmlns:a16="http://schemas.microsoft.com/office/drawing/2014/main" id="{8CB1866E-9EB6-CE82-5572-1D818A1D784F}"/>
              </a:ext>
            </a:extLst>
          </p:cNvPr>
          <p:cNvSpPr/>
          <p:nvPr/>
        </p:nvSpPr>
        <p:spPr>
          <a:xfrm>
            <a:off x="457200" y="4724400"/>
            <a:ext cx="11277600" cy="1422400"/>
          </a:xfrm>
          <a:prstGeom prst="roundRect">
            <a:avLst/>
          </a:prstGeom>
          <a:solidFill>
            <a:srgbClr val="064E3B"/>
          </a:solidFill>
          <a:ln w="2540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F386CCBF-936F-E50C-A9EA-6855B20370A7}"/>
              </a:ext>
            </a:extLst>
          </p:cNvPr>
          <p:cNvSpPr txBox="1"/>
          <p:nvPr/>
        </p:nvSpPr>
        <p:spPr>
          <a:xfrm>
            <a:off x="635000" y="4775200"/>
            <a:ext cx="10922000" cy="307777"/>
          </a:xfrm>
          <a:prstGeom prst="rect">
            <a:avLst/>
          </a:prstGeom>
          <a:noFill/>
        </p:spPr>
        <p:txBody>
          <a:bodyPr vert="horz" rtlCol="0">
            <a:spAutoFit/>
          </a:bodyPr>
          <a:lstStyle/>
          <a:p>
            <a:r>
              <a:rPr lang="en-IN" sz="1400" b="1">
                <a:solidFill>
                  <a:srgbClr val="FDE68A"/>
                </a:solidFill>
                <a:latin typeface="Segoe UI" panose="020B0502040204020203" pitchFamily="34" charset="0"/>
              </a:rPr>
              <a:t>✅ </a:t>
            </a:r>
            <a:r>
              <a:rPr lang="hi-IN" sz="1400" b="1">
                <a:solidFill>
                  <a:srgbClr val="FDE68A"/>
                </a:solidFill>
                <a:latin typeface="Segoe UI" panose="020B0502040204020203" pitchFamily="34" charset="0"/>
              </a:rPr>
              <a:t>सही उत्तर: (</a:t>
            </a:r>
            <a:r>
              <a:rPr lang="en-IN" sz="1400" b="1">
                <a:solidFill>
                  <a:srgbClr val="FDE68A"/>
                </a:solidFill>
                <a:latin typeface="Segoe UI" panose="020B0502040204020203" pitchFamily="34" charset="0"/>
              </a:rPr>
              <a:t>B)   |   </a:t>
            </a:r>
            <a:r>
              <a:rPr lang="hi-IN" sz="1400" b="1">
                <a:solidFill>
                  <a:srgbClr val="FDE68A"/>
                </a:solidFill>
                <a:latin typeface="Segoe UI" panose="020B0502040204020203" pitchFamily="34" charset="0"/>
              </a:rPr>
              <a:t>परीक्षा व्याख्या (</a:t>
            </a:r>
            <a:r>
              <a:rPr lang="en-IN" sz="1400" b="1">
                <a:solidFill>
                  <a:srgbClr val="FDE68A"/>
                </a:solidFill>
                <a:latin typeface="Segoe UI" panose="020B0502040204020203" pitchFamily="34" charset="0"/>
              </a:rPr>
              <a:t>Exam Explanation):</a:t>
            </a:r>
          </a:p>
        </p:txBody>
      </p:sp>
      <p:sp>
        <p:nvSpPr>
          <p:cNvPr id="16" name="TextBox 15">
            <a:extLst>
              <a:ext uri="{FF2B5EF4-FFF2-40B4-BE49-F238E27FC236}">
                <a16:creationId xmlns:a16="http://schemas.microsoft.com/office/drawing/2014/main" id="{90823062-B215-BDA5-8C66-6C0B4306EB93}"/>
              </a:ext>
            </a:extLst>
          </p:cNvPr>
          <p:cNvSpPr txBox="1"/>
          <p:nvPr/>
        </p:nvSpPr>
        <p:spPr>
          <a:xfrm>
            <a:off x="635000" y="5105400"/>
            <a:ext cx="10922000" cy="300082"/>
          </a:xfrm>
          <a:prstGeom prst="rect">
            <a:avLst/>
          </a:prstGeom>
          <a:noFill/>
        </p:spPr>
        <p:txBody>
          <a:bodyPr vert="horz" wrap="square" rtlCol="0">
            <a:spAutoFit/>
          </a:bodyPr>
          <a:lstStyle/>
          <a:p>
            <a:r>
              <a:rPr lang="en-IN" sz="1350">
                <a:solidFill>
                  <a:srgbClr val="FFFFFF"/>
                </a:solidFill>
                <a:latin typeface="Segoe UI" panose="020B0502040204020203" pitchFamily="34" charset="0"/>
              </a:rPr>
              <a:t>💡  </a:t>
            </a:r>
            <a:r>
              <a:rPr lang="hi-IN" sz="1350">
                <a:solidFill>
                  <a:srgbClr val="FFFFFF"/>
                </a:solidFill>
                <a:latin typeface="Segoe UI" panose="020B0502040204020203" pitchFamily="34" charset="0"/>
              </a:rPr>
              <a:t>लखनऊ में बेगम हज़रत महल के 11 वर्षीय पुत्र 'बिरजिस कद्र' को नवाब बनाया गया। मार्च 1858 में अंग्रेजों ने लखनऊ पर पुनः कब्जा किया।</a:t>
            </a:r>
            <a:endParaRPr lang="en-IN" sz="1350">
              <a:solidFill>
                <a:srgbClr val="FFFFFF"/>
              </a:solidFill>
              <a:latin typeface="Segoe UI" panose="020B0502040204020203" pitchFamily="34" charset="0"/>
            </a:endParaRPr>
          </a:p>
        </p:txBody>
      </p:sp>
      <p:sp>
        <p:nvSpPr>
          <p:cNvPr id="17" name="TextBox 16">
            <a:extLst>
              <a:ext uri="{FF2B5EF4-FFF2-40B4-BE49-F238E27FC236}">
                <a16:creationId xmlns:a16="http://schemas.microsoft.com/office/drawing/2014/main" id="{CFEBA31E-862A-2A3C-2743-770A50A6A025}"/>
              </a:ext>
            </a:extLst>
          </p:cNvPr>
          <p:cNvSpPr txBox="1"/>
          <p:nvPr/>
        </p:nvSpPr>
        <p:spPr>
          <a:xfrm>
            <a:off x="381000" y="6375400"/>
            <a:ext cx="11430000" cy="246221"/>
          </a:xfrm>
          <a:prstGeom prst="rect">
            <a:avLst/>
          </a:prstGeom>
          <a:noFill/>
        </p:spPr>
        <p:txBody>
          <a:bodyPr vert="horz" rtlCol="0">
            <a:spAutoFit/>
          </a:bodyPr>
          <a:lstStyle/>
          <a:p>
            <a:r>
              <a:rPr lang="hi-IN" sz="1000">
                <a:solidFill>
                  <a:srgbClr val="64748B"/>
                </a:solidFill>
                <a:latin typeface="Segoe UI" panose="020B0502040204020203" pitchFamily="34" charset="0"/>
              </a:rPr>
              <a:t>सागर कोचिंग सेंटर भगवानपुर • कक्षा 08: 1857 की महान क्रांति • </a:t>
            </a:r>
            <a:r>
              <a:rPr lang="en-IN" sz="1000">
                <a:solidFill>
                  <a:srgbClr val="64748B"/>
                </a:solidFill>
                <a:latin typeface="Segoe UI" panose="020B0502040204020203" pitchFamily="34" charset="0"/>
              </a:rPr>
              <a:t>NMMS Special</a:t>
            </a:r>
          </a:p>
        </p:txBody>
      </p:sp>
    </p:spTree>
    <p:extLst>
      <p:ext uri="{BB962C8B-B14F-4D97-AF65-F5344CB8AC3E}">
        <p14:creationId xmlns:p14="http://schemas.microsoft.com/office/powerpoint/2010/main" val="245622899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4203</Words>
  <Application>Microsoft Office PowerPoint</Application>
  <PresentationFormat>Custom</PresentationFormat>
  <Paragraphs>235</Paragraphs>
  <Slides>33</Slides>
  <Notes>0</Notes>
  <HiddenSlides>0</HiddenSlides>
  <MMClips>11</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33</vt:i4>
      </vt:variant>
    </vt:vector>
  </HeadingPairs>
  <TitlesOfParts>
    <vt:vector size="38" baseType="lpstr">
      <vt:lpstr>Arial</vt:lpstr>
      <vt:lpstr>Calibri</vt:lpstr>
      <vt:lpstr>Calibri Light</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Sudhir Kumar</dc:creator>
  <cp:lastModifiedBy>Sudhir Kumar</cp:lastModifiedBy>
  <cp:revision>1</cp:revision>
  <dcterms:created xsi:type="dcterms:W3CDTF">2026-10-29T05:57:23Z</dcterms:created>
  <dcterms:modified xsi:type="dcterms:W3CDTF">2026-10-29T05:57:23Z</dcterms:modified>
</cp:coreProperties>
</file>