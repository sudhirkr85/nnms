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B02F4-3D5F-D0D4-41C8-701BF2A647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C953DF-C179-DD16-0C4D-66AD713C9D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3D873D-BA2B-6AA1-3392-03AC03BDC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5EDD-D885-4FD6-AFD7-DF2CCAAF8A38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74FD0-E128-C839-011F-91DFEE285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71385-F242-7276-06B6-CFABBB5BC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49992-DC42-40EB-BAD1-36E2895735B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561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9F22D-A6D9-22DB-75AD-767AB4F4F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803CA3-B06F-E01D-2F9E-4D9B5CA13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DE71FD-8D40-3473-1F76-2A3F1EC94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5EDD-D885-4FD6-AFD7-DF2CCAAF8A38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E8536-0BC8-0EDF-42BA-E227872CC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5554B-AD91-296B-3E59-EE1C20247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49992-DC42-40EB-BAD1-36E2895735B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9332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6F35A-21B7-AAF5-CC19-D4D227780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13C4CE-5015-CE9C-30A8-9A7A6C3CD7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7DEB39-F023-3C5F-90D0-700EA4209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5EDD-D885-4FD6-AFD7-DF2CCAAF8A38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7E44C3-7949-BB86-DF21-EC5B6D4F7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9681B-D25B-DF6B-9032-461508215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49992-DC42-40EB-BAD1-36E2895735B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2501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FA0DF-FA84-2571-3460-8B61AF41D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56597-5940-523E-E64C-C1F96DD59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30B16E-A48F-12FB-E77E-D77CE8F6ED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A67F0B-6D50-DCB5-452F-288AB460E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5EDD-D885-4FD6-AFD7-DF2CCAAF8A38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D85514-A8E3-C631-C0BC-2642A8EB0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37EE7C-DDA4-ECD8-FDD7-A0DC41F5A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49992-DC42-40EB-BAD1-36E2895735B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3118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C88BD-01E5-C0B6-348C-69E63F219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21A19B-CF07-1853-1E1C-7EFC434A8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10FCB9-E16E-5FF5-AA8A-7530B82233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99F6-1381-45F8-91E6-6EF1E944CC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BA0C45-1499-9B56-B532-E06366B4CC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D829DC-EBF4-E195-406F-A1C4C6EF5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5EDD-D885-4FD6-AFD7-DF2CCAAF8A38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AF3E76-6376-29B3-253B-BC47EB663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F8083D-D628-7C14-6F12-EDB3CE1E2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49992-DC42-40EB-BAD1-36E2895735B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483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EB5C8-5B26-1F4C-EC01-40B97AFCB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8DC7C7-7065-E57B-E568-3B49A7AB4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5EDD-D885-4FD6-AFD7-DF2CCAAF8A38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F8EB44-8504-CFE0-70B9-8DBE7C66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0B0D2-350F-BB61-1407-2E24F4B3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49992-DC42-40EB-BAD1-36E2895735B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0555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7A8376-182B-EE5F-9DB6-125CAE331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5EDD-D885-4FD6-AFD7-DF2CCAAF8A38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238DC-C62C-8014-324C-310D66F7F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7C7EC0-0433-38F3-B500-9D51A6846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49992-DC42-40EB-BAD1-36E2895735B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9937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06374-1253-F77E-7CB1-AB9E07D97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FAA31-44FE-178C-A54A-7261BFE154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EF09F0-52C9-2805-8DB7-23339491CF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470056-B0E7-51FB-EE68-740CE7D856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5EDD-D885-4FD6-AFD7-DF2CCAAF8A38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854391-FC8A-1569-FA60-921838D1F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F7F430-39A7-777A-579E-4CF431DD7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49992-DC42-40EB-BAD1-36E2895735B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5902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6B027-6203-143D-B054-E76EA8C64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0E98E9-DC3B-1504-F78E-9ABFF5E0439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E196D5-AFA1-C101-B70B-D5394D2988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B67C7D-4EDE-3845-EACC-CB671752B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5EDD-D885-4FD6-AFD7-DF2CCAAF8A38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EDA9F1-E9FF-D21B-7011-593C2C30F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D7ABAC-01A1-0485-F9A1-1B5BF47D5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49992-DC42-40EB-BAD1-36E2895735B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9885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D04FE-6900-89FB-A12B-6542CE131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450804-6881-99A0-0575-2C71A59E90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B4EDE-A0D9-0EF1-67D3-E46B0CAA2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5EDD-D885-4FD6-AFD7-DF2CCAAF8A38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57BF8-352F-3E18-4914-4AA071777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7B68E6-3D69-008A-1E9D-3916BF64B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49992-DC42-40EB-BAD1-36E2895735B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4267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086326-81FA-1BC2-A6A4-60F40029B0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6332C0-C138-EE67-018A-17EDE490E4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9DA23C-3799-BE6C-8F46-E735D5BCA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5EDD-D885-4FD6-AFD7-DF2CCAAF8A38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CC473C-8A93-0F16-2025-4CE69E7AE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41414B-518B-F75B-2B0A-993BAA1D0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49992-DC42-40EB-BAD1-36E2895735B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729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A42CA2-270F-37C0-E6B1-3CF7C5FD1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27922C-E72A-D533-0624-C23D45C75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2A0C7-B32B-1834-C656-8762501606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255EDD-D885-4FD6-AFD7-DF2CCAAF8A38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6CBDB-F693-8FB9-7E02-C988642306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2B2A6-20AE-46BA-E039-086FF3F3BD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049992-DC42-40EB-BAD1-36E2895735B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493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C556967-30E1-C1FE-8FE7-2BA0C01B0571}"/>
              </a:ext>
            </a:extLst>
          </p:cNvPr>
          <p:cNvSpPr/>
          <p:nvPr/>
        </p:nvSpPr>
        <p:spPr>
          <a:xfrm>
            <a:off x="457200" y="304800"/>
            <a:ext cx="11277600" cy="6248400"/>
          </a:xfrm>
          <a:prstGeom prst="round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3FE278-14B9-BD45-3EC2-3051BE18DAF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500" y="584200"/>
            <a:ext cx="1651000" cy="1651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424414F-CADC-2D23-6F4E-ED153755477C}"/>
              </a:ext>
            </a:extLst>
          </p:cNvPr>
          <p:cNvSpPr txBox="1"/>
          <p:nvPr/>
        </p:nvSpPr>
        <p:spPr>
          <a:xfrm>
            <a:off x="762000" y="2438400"/>
            <a:ext cx="1066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IN" sz="2400" b="1">
                <a:solidFill>
                  <a:srgbClr val="FDE68A"/>
                </a:solidFill>
                <a:latin typeface="Segoe UI" panose="020B0502040204020203" pitchFamily="34" charset="0"/>
              </a:rPr>
              <a:t>SAGAR COACHING CENTRE BHAGWANPUR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1C5CE2-D06B-CBB2-063B-8D604D40F8C2}"/>
              </a:ext>
            </a:extLst>
          </p:cNvPr>
          <p:cNvSpPr txBox="1"/>
          <p:nvPr/>
        </p:nvSpPr>
        <p:spPr>
          <a:xfrm>
            <a:off x="762000" y="2971800"/>
            <a:ext cx="10668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hi-IN" sz="1500" b="1">
                <a:solidFill>
                  <a:srgbClr val="93C5FD"/>
                </a:solidFill>
                <a:latin typeface="Segoe UI" panose="020B0502040204020203" pitchFamily="34" charset="0"/>
              </a:rPr>
              <a:t>राष्ट्रीय आय-सह-मेधा छात्रवृत्ति परीक्षा (</a:t>
            </a:r>
            <a:r>
              <a:rPr lang="en-IN" sz="1500" b="1">
                <a:solidFill>
                  <a:srgbClr val="93C5FD"/>
                </a:solidFill>
                <a:latin typeface="Segoe UI" panose="020B0502040204020203" pitchFamily="34" charset="0"/>
              </a:rPr>
              <a:t>NMMS) • </a:t>
            </a:r>
            <a:r>
              <a:rPr lang="hi-IN" sz="1500" b="1">
                <a:solidFill>
                  <a:srgbClr val="93C5FD"/>
                </a:solidFill>
                <a:latin typeface="Segoe UI" panose="020B0502040204020203" pitchFamily="34" charset="0"/>
              </a:rPr>
              <a:t>कक्षा 08 • इतिहास</a:t>
            </a:r>
            <a:endParaRPr lang="en-IN" sz="1500" b="1">
              <a:solidFill>
                <a:srgbClr val="93C5FD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4928AA-89B6-54CF-2C3D-538B34E08F0A}"/>
              </a:ext>
            </a:extLst>
          </p:cNvPr>
          <p:cNvSpPr txBox="1"/>
          <p:nvPr/>
        </p:nvSpPr>
        <p:spPr>
          <a:xfrm>
            <a:off x="762000" y="3657600"/>
            <a:ext cx="10668000" cy="67710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hi-IN" sz="3800" b="1">
                <a:solidFill>
                  <a:srgbClr val="FFFFFF"/>
                </a:solidFill>
                <a:latin typeface="Segoe UI" panose="020B0502040204020203" pitchFamily="34" charset="0"/>
              </a:rPr>
              <a:t>1857 की महान क्रांति</a:t>
            </a:r>
            <a:endParaRPr lang="en-IN" sz="38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948B9E-87DF-6FC7-5E37-C1E74D0BD692}"/>
              </a:ext>
            </a:extLst>
          </p:cNvPr>
          <p:cNvSpPr txBox="1"/>
          <p:nvPr/>
        </p:nvSpPr>
        <p:spPr>
          <a:xfrm>
            <a:off x="762000" y="4445000"/>
            <a:ext cx="10668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hi-IN" sz="1600">
                <a:solidFill>
                  <a:srgbClr val="F1F5F9"/>
                </a:solidFill>
                <a:latin typeface="Segoe UI" panose="020B0502040204020203" pitchFamily="34" charset="0"/>
              </a:rPr>
              <a:t>प्रथम स्वतंत्रता संग्राम (</a:t>
            </a:r>
            <a:r>
              <a:rPr lang="en-IN" sz="1600">
                <a:solidFill>
                  <a:srgbClr val="F1F5F9"/>
                </a:solidFill>
                <a:latin typeface="Segoe UI" panose="020B0502040204020203" pitchFamily="34" charset="0"/>
              </a:rPr>
              <a:t>The Revolt of 1857)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4A882FB-9B07-DBCE-9910-1299C9793175}"/>
              </a:ext>
            </a:extLst>
          </p:cNvPr>
          <p:cNvSpPr/>
          <p:nvPr/>
        </p:nvSpPr>
        <p:spPr>
          <a:xfrm>
            <a:off x="2921000" y="5232400"/>
            <a:ext cx="6350000" cy="711200"/>
          </a:xfrm>
          <a:prstGeom prst="roundRect">
            <a:avLst/>
          </a:prstGeom>
          <a:solidFill>
            <a:srgbClr val="064E3B"/>
          </a:solidFill>
          <a:ln w="1905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35F474-8561-7DD5-8351-819FDE1F1750}"/>
              </a:ext>
            </a:extLst>
          </p:cNvPr>
          <p:cNvSpPr txBox="1"/>
          <p:nvPr/>
        </p:nvSpPr>
        <p:spPr>
          <a:xfrm>
            <a:off x="2984500" y="53594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मार्गदर्शक: श्रवण कुमार 'सागर'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Sagar Sir)  |  sagarcoaching.tech</a:t>
            </a:r>
          </a:p>
        </p:txBody>
      </p:sp>
    </p:spTree>
    <p:extLst>
      <p:ext uri="{BB962C8B-B14F-4D97-AF65-F5344CB8AC3E}">
        <p14:creationId xmlns:p14="http://schemas.microsoft.com/office/powerpoint/2010/main" val="564139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215F31-BB33-7D13-7B3F-DFC41CFC3D20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F98672-5520-CF15-F383-20C4D37E15FB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1: बारूद का ढेर — 1857 से पहले का सुलगता भारत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Pre-1857 Background)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595AC8C-9480-6BE6-C0BF-7EE45C5C81F1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EB97A4-A4F5-FFEB-605C-FF0292992D48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गुलामी की जंजीरें जब हद से ज्यादा कसने लगीं, अंग्रेजों की करतूतों पर मौत भी हंसने लगी!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67E1BF-8C83-C5DF-742D-1552301D895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1285466-F896-9735-E65B-5F0D37124711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F4C0A3-5DB8-58D6-1FAE-49F037BA9A3C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लॉर्ड डलहौजी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Lord Dalhousie)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की कुख्यात 'हड़प नीति'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Doctrine of Lapse)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द्वारा सतारा, झांसी, नागपुर का विलय
• 1856 में 'कुशासन'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Misgovernance)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का झूठा आरोप लगाकर अवध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Awadh)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का ब्रिटिश साम्राज्य में विलय
• भारतीय सिपाहियों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Indian Sepoys)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को केवल 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₹7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मासिक वेतन, जबकि अंग्रेज सैनिकों को उच्च पद व भत्ते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811957E-CFC6-116C-1C10-EBFDB01F3090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DCD310-2190-BA79-01B2-5B8A048293DE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हड़प नीति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Doctrine of Lapse)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के तहत अंग्रेजों द्वारा हड़पा गया पहला राज्य 'सतारा'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Satara - 1848)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था!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2102E2-69E9-0AA8-65C5-AC0A9BB4FC77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2317291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001A999-4546-9CA1-6D18-1273F95037CC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CB1B8E-0A60-A1B9-D8C2-B587A9031944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2: आग में घी — चर्बी वाले कारतूस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Greased Cartridges)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का पर्दाफाश</a:t>
            </a:r>
            <a:endParaRPr lang="en-IN" sz="16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F54B24-E9FA-F18A-AFC5-94A3F1250DF1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B43E5F-8B08-78C3-E14F-8FC9676BFD3C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गाय और सुअर की चर्बी से जब बारूद को सनाया था, अंग्रेजों ने खुद अपनी मौत का फरमान बनाया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B60B80-3E81-7C94-37D7-12727FEB615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39086F1-41D1-C3BD-8A41-74CBD98AD47B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D6E36C-5CFA-71C4-E39A-3B044611A309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दिसंबर 1856: पुरानी 'ब्राउन बैस'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Brown Bess)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की जगह नई 'एनफील्ड राइफल'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Enfield P-53)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लागू की गई
• कारतूस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Cartridge)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की चिकनी ग्रीस को बंदूक में भरने से पहले दाँतों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Teeth)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से काटना अनिवार्य था
• चर्बी में गाय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Cow -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हिंदू आस्था) व सुअर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Pig -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मुस्लिम आस्था) की वसा से दोनों धर्मों में भीषण रोष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34AD4E2-ADA7-2F6A-1EC9-F59B3545622B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8B397B-47D7-65D6-2FA6-184E6F5C0D3B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के महा-विद्रोह का तात्कालिक कारण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Immediate Cause) '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चर्बी वाले कारतूस'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Greased Cartridges)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ही थे!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EA9851-3CAC-29CE-CB31-2FD313B6A486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573207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55B15C-E9EE-1425-40E9-3B691E115C72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7EF4A1-3DCD-CBEC-2902-6839841857C4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3: पहला महा-विस्फोट — अमर बलिदानी मंगल पांडे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Mangal Pandey)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B4BE4B-4002-F32A-BC3D-329E05754D21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65943C-1D25-C2AC-D53C-F20193987EEA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हुकूमत का गुरूर था, बारूद का वो दौर था, अंग्रेजों की छाती पर मंगल पांडे का ज़ोर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mangal_pandey">
            <a:hlinkClick r:id="" action="ppaction://media"/>
            <a:extLst>
              <a:ext uri="{FF2B5EF4-FFF2-40B4-BE49-F238E27FC236}">
                <a16:creationId xmlns:a16="http://schemas.microsoft.com/office/drawing/2014/main" id="{D48D0181-0193-D335-25E9-469DF6FD899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0E5A518-0C16-3295-C46E-213A9B928B97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009AA7-E500-BDC5-A771-5DBB97AC49C9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29 मार्च 1857: बैरकपुर छावनी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Barrackpore Cantonment, Bengal)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में खुला ऐतिहासिक विद्रोह
• 34वीं बंगाल नेटिव इन्फैंट्री (34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th Bengal Native Infantry)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के सिपाही मंगल पांडे द्वारा कारतूस का बहिष्कार
• सार्जेंट मेजर ह्यूसन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Hughson)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पर गोली चलाई; 8 अप्रैल 1857 को मंगल पांडे को फांसी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Hanged)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दी गई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E643365-2675-F0D2-D022-BB5319D143B7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1C0DE6-29A2-3E74-B134-492D7C4EC145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मंगल पांडे उत्तर प्रदेश के बलिया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Ballia, UP)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जिले के नगवा गांव के वीर सपूत थे!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1163E5-22F9-D2CD-DE42-53658000614E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789159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282306-CEEC-A29D-B747-A9F09AAD5C36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FA51A6-07E3-62D8-3D41-D22620350DED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4: क्रांति का गुप्त संदेश — कमल का फूल और रोटी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Lotus and Bread)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5D33E69-E4FB-B4A0-97C7-E904C4DFA67F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8B3555-5B67-FCD7-D930-E966F84B9E6F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चुपके से रोटी बंटी, कमल का फूल मुस्काया था, अंग्रेजों को भनक न लगी, क्या तूफ़ान आने वाला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460EEE-E85C-2079-D61D-A502628AE4C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5A2AAAD-3EC7-8A64-7F6E-DA717F254431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E74D5C-AD07-C085-C66B-CFF23F9611AC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क्रांति का गुप्त प्रतीक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Secret Symbols): '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लाल कमल का फूल'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Lotus -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सैनिकों हेतु) व 'चपाती/रोटी'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Bread -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जनता हेतु)
• क्रांति की पूर्व-निर्धारित योजना की तिथि 31 मई 1857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Planned Date: 31 May 1857)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तय की गई थी
• गांव-गांव के चौकीदारों व गुप्त संदेशवाहकों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Secret Messengers)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द्वारा संगठन का देशव्यापी जाल फैलाया गया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A93B484-AC71-4A2C-F7B3-AC3912753F41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F80DC1-EA97-9731-78CD-FD32598A5782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के प्रथम स्वतंत्रता संग्राम का आधिकारिक प्रतीक चिह्न 'कमल और रोटी'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Lotus and Bread)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था!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38FE41-141F-532D-BEB1-1A1378E074B4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511622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0239CA-AD02-E1F8-DBB7-EEA24CB6F85E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DAEFF1-3E66-5B4B-5E67-081692571BE9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5: 10 मई 1857 — मेरठ का महा-विद्रोह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Meerut Mutiny)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और दिल्ली कूच</a:t>
            </a:r>
            <a:endParaRPr lang="en-IN" sz="16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1AD4328-5468-4E8C-BBC5-C9F48DA13800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BC5F86-9C07-5A55-62D6-643CD9DA71C2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मेरठ की चिंगारी ने ऐसा शोला भड़काया, रातों-रात दिल्ली जाकर अंग्रेजों का तख्त हिलाया!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delhi_red_fort_march">
            <a:hlinkClick r:id="" action="ppaction://media"/>
            <a:extLst>
              <a:ext uri="{FF2B5EF4-FFF2-40B4-BE49-F238E27FC236}">
                <a16:creationId xmlns:a16="http://schemas.microsoft.com/office/drawing/2014/main" id="{425A6328-EB04-61A2-C11D-1E587E2296A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9AB1CF-782D-EE5E-A023-DF5D60C1E6BA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E4C7AB-C4C3-B3EE-7C7E-0C2DE6EC8A80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9 मई 1857: 85 भारतीय घुड़सवार सैनिकों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Cavalry Soldiers)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को 10-10 वर्ष का कठोर कारावास दिया गया
• 10 मई 1857 (रविवार शाम): मेरठ छावनी में खुला विद्रोह, जेल तोड़ी गई, 'मारो फिरंगी को' का उद्घोष
• 11 मई 1857 की सुबह यमुना पुल पार कर दिल्ली के लाल किले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Red Fort, Delhi)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पर ऐतिहासिक अधिकार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5CD23B9-CDA0-402E-6D12-0B3982CA8E0F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A5ABCA-5FB2-DAD1-D037-43C4FE5FAC51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के स्वतंत्रता संग्राम की औपचारिक शुरुआत 10 मई 1857 (10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th May 1857)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को मेरठ से हुई थी!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9107E0-D208-DF76-291E-AF7E4E6BFCC7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408616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4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AD7F0E-F701-C3F0-EC63-4D40AFD61B92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1BD59E-57B0-EB31-4230-93C630FF2DFC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6: लाल किला और 82 वर्षीय शहंशाह — बहादुर शाह जफर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Bahadur Shah Zafar)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7DBAA1-E31C-61DE-6827-6CC7D050AE82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43FBC7-DC0C-5DF9-65EE-EAD7EB7E2DDE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उम्र 82 की थी मगर, सीने में हिंदुस्तान था, लाल किले की दीवारों पर फिर से आजादी का ऐलान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bahadur_shah_red_fort">
            <a:hlinkClick r:id="" action="ppaction://media"/>
            <a:extLst>
              <a:ext uri="{FF2B5EF4-FFF2-40B4-BE49-F238E27FC236}">
                <a16:creationId xmlns:a16="http://schemas.microsoft.com/office/drawing/2014/main" id="{037ADE3B-774E-880B-AA66-7A27500629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A76059F-1D77-C205-D21F-9BE9F7A52F0A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509D94-819A-9D80-5FF5-287959D293B2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82 वर्षीय अंतिम मुग़ल बादशाह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Last Mughal Emperor)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बहादुर शाह जफर को क्रांति का सर्वोच्च नेता घोषित किया गया
• क्रांतिकारियों ने उन्हें 'शहंशाह-ए-हिंदुस्तान'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Emperor of India)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की पदवी से नवाजा
• वास्तविक सैन्य कमान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Military Command)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बरेली से आए अनुभवी सैनिक 'जनरल बख्त खान'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General Bakht Khan)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को सौंपी गई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55691CD-E15C-47AC-026C-382B5747C004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FB1270-F167-9B27-46E7-626FDFDE7EC0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विद्रोह के बाद अंतिम मुग़ल बादशाह बहादुर शाह जफर को हुमायूं के मकबरे से पकड़कर 'रंगून'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Rangoon, Myanmar)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निर्वासित किया गया!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5DBF3A-6A5E-FA4A-2E06-B091E6390DE3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991926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2D3DA4-A17F-3C77-1D79-44D465EA0D3D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D03B3F-3D23-B6E4-7CBA-9D2FC09F3B9A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7: खूब लड़ी मर्दानी — झांसी की शेरनी रानी लक्ष्मीबाई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Rani Lakshmibai)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98A5973-5391-B7B1-2F3A-7D864E769F21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C2792E-2A49-A387-CF50-1A4F7D3AA5D4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सिंहासन हिल उठे राजवंशों ने भृकुटी तानी थी... खूब लड़ी मर्दानी वह तो झांसी वाली रानी थी!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rani_lakshmibai">
            <a:hlinkClick r:id="" action="ppaction://media"/>
            <a:extLst>
              <a:ext uri="{FF2B5EF4-FFF2-40B4-BE49-F238E27FC236}">
                <a16:creationId xmlns:a16="http://schemas.microsoft.com/office/drawing/2014/main" id="{E2E9EC71-8DF8-607B-28C3-9D801A96532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8EF8D17-2DBD-D895-189E-566C684AF595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BACD0F-AFF3-3883-633E-C392ADDEEDB9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लॉर्ड डलहौजी द्वारा झांसी के अवैध विलय के विरोध में सिंहगर्जना: 'मैं अपनी झांसी कदापि नहीं दूंगी!'
• दत्तक पुत्र दामोदर राव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Adopted Son: Damodar Rao)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को पीठ पर बांधकर रणचंडी बन अंग्रेजों के छक्के छुड़ाए
• 18 जून 1858 को कोटा-की-सराय, ग्वालियर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Gwalior)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में लड़ते हुए वीरांगना ने अमर बलिदान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Martyrdom)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दिया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6C212D0-FC6D-7BA5-9CEE-47A2EE99FAA4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3617D6-CFC9-2289-AAAE-7FDEDE27A823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ब्रिटिश सेनापति सर ह्यूरोज़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Sir Hugh Rose)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ने रानी को 'क्रांतिकारियों में एकमात्र मर्द'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Only Male Leader)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कहा था!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E6BC18-EB20-E33C-C365-0EF53E51E278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748079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A18D16-2DEA-76E9-506B-02D30DDF5DF1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3D97F0-4C0D-CCFE-AF55-235A55FB3F03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8: बिहार के 80 वर्षीय बब्बर शेर — बाबू कुंवर सिंह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Babu Kunwar Singh)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B7E405E-E234-BC70-8204-33B7995043C2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0641A1-37F6-53A1-ABE5-4104FC28D3E1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अस्सी बरस की उम्र में जागा जोश पुराना था, सब कहते हैं कुंवर सिंह भी बड़ा वीर मर्दाना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kunwar_singh_ganga">
            <a:hlinkClick r:id="" action="ppaction://media"/>
            <a:extLst>
              <a:ext uri="{FF2B5EF4-FFF2-40B4-BE49-F238E27FC236}">
                <a16:creationId xmlns:a16="http://schemas.microsoft.com/office/drawing/2014/main" id="{8FB6A586-DD3D-7F7B-57ED-8000CC25B1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A63F589-013B-F016-E67A-559A2148C82A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0E018C-9A0B-E85A-E5DD-2EECEC8D0D7C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बिहार के जगदीशपुर/आरा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Jagdishpur, Bihar)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में 80 वर्षीय बाबू कुंवर सिंह का अदम्य शौर्य व छापामार युद्ध
• गंगा पार करते समय गोली लगने पर अपनी कटी कलाई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Hand)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मां गंगा को समर्पित कर दी
• कानपुर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Kanpur)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में नाना साहेब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Nana Saheb)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और गुरिल्ला युद्ध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Guerrilla Warfare)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के उस्ताद तात्या टोपे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Tatya Tope)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का पराक्रम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0DA8C00-84C6-6111-4206-3A0E4B3D3F79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7DB887-7280-7322-E0AA-37ABD335B5B3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तात्या टोपे का वास्तविक नाम 'रामचंद्र पांडुरंग'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Ramchandra Pandurang)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था!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D25A2-0519-E2FF-5382-A2517F229504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599147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4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BBD3574-0795-8E18-8C6D-00D9159B882F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6211FD-731F-0A9C-FD50-08F31B63C4E0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9: परिणाम और सीख — ईस्ट इंडिया कंपनी का अंत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End of Company Rule - 1858)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CC7715F-E1C0-5EC6-BDAF-506BF01B57BF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DDDFC8-9A29-40BD-845D-E94D11081FAC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हार कर भी वो जीत गए, आज़ादी की नींव सजाई थी, 1857 की चिंगारी ने 1947 की अलख जगाई थी!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mangal_pandey">
            <a:hlinkClick r:id="" action="ppaction://media"/>
            <a:extLst>
              <a:ext uri="{FF2B5EF4-FFF2-40B4-BE49-F238E27FC236}">
                <a16:creationId xmlns:a16="http://schemas.microsoft.com/office/drawing/2014/main" id="{8B2E00F3-A210-0056-25D2-0E854B9FFF3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852BC72-F7CF-B516-2337-8C8D95F2C875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02C72D-4FA1-4AD7-574A-E06B3C7416E4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1858 का भारत शासन अधिनियम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Government of India Act 1858)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ब्रिटिश संसद में पारित हुआ
• 100 वर्ष पुरानी ईस्ट इंडिया कंपनी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East India Company)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का शासन समाप्त; सीधा नियंत्रण ब्रिटिश क्राउन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British Crown)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के अधीन
• गवर्नर जनरल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Governor-General)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का पदनाम बदलकर 'वायसराय'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Viceroy)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किया गया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A6DB4C7-1B7A-2007-8F37-CD1BBD741C9C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75255B-C95A-81E2-7B31-A1138E3433D4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भारत के अंतिम गवर्नर जनरल तथा प्रथम वायसराय 'लॉर्ड कैनिंग'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Lord Canning)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बने!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E3FBA8-C456-9ECF-43DD-0354B37DD9CC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236921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CAC0F7B-B817-BA1A-A3E7-2E50A77F5267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E0CAF6-8563-1AE6-1B2A-A5D9406655AF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#1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All India NMMS 2023]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9CB908A-CC61-EAC9-BEF9-6838CFB5F91A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7A16B9-9A53-CA9A-EF1F-0691AB015E98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1. 1857 की महान क्रांति का प्रथम बिगुल 10 मई 1857 को किस छावनी से बजा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CAFF8ED-5756-CF1C-76BB-D993A34C6B3C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5F34F9-4B19-F50E-D21B-8899E540DB7D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बैरकपुर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3C0D0ED-22F0-13A5-EED3-FFD2AB2BC0A5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1802B0-216C-52CF-58FD-90C250322FC5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मेरठ छावनी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88D938F-0AB3-14D5-F90F-81CBB98A41CD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AC5ED3-CA28-05F4-26D8-1F2A851B6DA7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दिल्ली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10BBFCA-5CD9-7E3A-B340-CD258FF9D62B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1D72D6-C718-56A6-E130-F5A6F3D2E578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कानपुर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2F7927C-E2FE-ACFF-7AAD-31EDBE3AB4C3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950B93-798F-49FF-5372-47E373855DE6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17860F-612C-47A4-3648-FDA09ED07596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113778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586186-CFF1-9632-2CB9-053043F58240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79A858-07E2-D0F3-9896-4909BC630CBA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10B981"/>
                </a:solidFill>
                <a:latin typeface="Segoe UI" panose="020B0502040204020203" pitchFamily="34" charset="0"/>
              </a:rPr>
              <a:t>PYQ अभ्यास प्रश्न #1  [All India NMMS 2023] - Answer &amp; Explanation</a:t>
            </a:r>
            <a:endParaRPr lang="en-IN" sz="1600" b="1">
              <a:solidFill>
                <a:srgbClr val="10B981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DB3A293-F7A9-9D5E-D0DF-1167B8702367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0A1D9C-2A5A-9A9C-A6F3-A3B98A5ABB26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1. 1857 की महान क्रांति का प्रथम बिगुल 10 मई 1857 को किस छावनी से बजा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B58C906-545A-71DE-B0E3-8FB2DC57F770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388F6F-015D-32D1-D3A5-E3CC6820BC81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बैरकपुर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B76E2D-75C9-2C22-1247-ED9F7ACF3238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E79D2-5A4E-2F98-34D2-D7E88AB288E0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मेरठ छावनी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6048D1E-4D61-D528-BFBA-067E34EE14F4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7A3FAE-57FB-1E59-2865-7C1ECF89A99E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दिल्ली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B6CB09F-3770-700D-9CD2-54DE4FC80786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4EE75C-D922-616B-CAFB-D390651439E3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कानपुर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3062ECF-C387-A9D7-EC96-8C1F8998DA68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B0F767-58A8-2B08-0A58-A5BA1D25ED77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0C68BD-5265-AAB0-A4F0-49AD228C8EC5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10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मई 1857 को मेरठ छावनी के सैनिकों ने खुला विद्रोह कर 'दिल्ली चलो' का नारा दिया।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71972B-4BD6-4DC7-ADF2-0B26CE9C3CB2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4657259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211DA3-D5E9-C2E9-6548-8E9ED5E0CD02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F76DDB-EDD4-C3EC-ABE6-3D018EA9BAAF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#2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Bihar NMMS 2022]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C56B99-9B5B-F497-FF72-62180846DADB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62AF68-95A0-2085-C2D0-FACA98DBEA59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2. 1857 की क्रांति के प्रथम बलिदानी सैनिक निम्नलिखित में से कौन थे?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5F1DC75-AE0D-0E58-DFBD-B845994227E6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8354DB-7E12-C962-E064-5B5ABBB33271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तात्या टोपे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20B74C2-1A19-36A9-3431-8B2ACA122966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666CCA-3E45-AE67-E5BF-3230548F7C54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मंगल पांडे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8E914B5-DB80-55C9-7E71-5FF3BA103AA9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49C542-7E71-E7FB-F6C7-FB291D5B05D2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भगत सिंह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0860A08-36F2-84D0-9C73-5ED9E3FB1311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4545A9-F9F0-4245-B4E8-36970F745757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वीर कुंवर सिंह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03D2B53-6E21-6D2B-449A-796ED4994FCE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A054F9-0887-322B-C21A-D0C886501CB8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A343BE-A76F-E5AC-677B-F78D758F03D4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0004133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ED98017-5D54-3FB0-3386-563FE6B3F6D6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8E4F37-41BC-3857-0CC3-5BBAE0CEB2CB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#2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Bihar NMMS 2022]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D53F427-9D7B-1DA3-7DF6-7BFEFF786F1B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433C97-BF48-5A12-2C22-84ACFAAAC463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2. 1857 की क्रांति के प्रथम बलिदानी सैनिक निम्नलिखित में से कौन थे?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E68682F-BEA1-E4D5-0633-62FD816900E1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951886-1377-C0B4-A463-C4981FCC5D27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तात्या टोपे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A3AB7D2-DD8E-95E9-8A95-545E299907D8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CDF026-F104-A345-AB64-EEBEB5E363C3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मंगल पांडे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EAAD1CB-086C-23D8-B0CB-D2FE2B765FAD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83C6F9-4855-905C-2DE6-037A278BCA87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भगत सिंह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AFD6A4F-477C-E924-73A8-B708CCF8345C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74EEDE-2E59-060E-335A-33DDC3205B62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वीर कुंवर सिंह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2559A2F-103D-6570-B48E-81BACF14D7A3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1EFFD6-9F7A-8D55-3ECC-BD832FB6F26A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A63DED-8011-703D-92C1-A12E0E5257C1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बैरकपुर छावनी के 34वीं इन्फैंट्री के सैनिक मंगल पांडे को 8 अप्रैल 1857 को फांसी दी गई।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FBB2B7-AE71-6504-88BE-3728E99C53A4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7653892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2B4424-D756-D5A9-DB6A-7705E8A6AF32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5EB311-E2FC-2C95-3E35-527AB4649FF7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#3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UP NMMS 2024]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5CA1A89-E09C-529E-53E6-09C70C4F2FF6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2352F0-E4EA-AD72-1923-A4B4B09C342D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3. 1857 की क्रांति का सबसे प्रमुख तात्कालिक कारण (</a:t>
            </a:r>
            <a:r>
              <a:rPr lang="en-IN" sz="1650" b="1">
                <a:solidFill>
                  <a:srgbClr val="FFFFFF"/>
                </a:solidFill>
                <a:latin typeface="Segoe UI" panose="020B0502040204020203" pitchFamily="34" charset="0"/>
              </a:rPr>
              <a:t>Immediate Cause) </a:t>
            </a:r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क्या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FEE8C7-B2ED-F0B3-ABF7-1F2A283BC700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6D67AB-51C6-09B9-F9E1-E699210E4694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चर्बी वाले नए कारतूस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AF0F888-70A8-57A2-F806-B5307BF17426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9D4647-A53A-9786-37FE-FDEC6E7A47CA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भारी लगान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D461C32-6BAC-6286-C68F-5453EA1AF8BE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3AB67C-76B4-27EE-2C3B-4912B97F0342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सती प्रथा का अंत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ED72B11-C584-4B58-EF41-4C580ABC91C6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932D2A-A143-01E6-C943-8E923673A39E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रेलवे का निर्माण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02748EC-D361-90A4-ACB5-FE0A04E69A57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8072D9-7F33-DE8A-5C64-D7F73EF9E603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D7EB6F-6484-EE71-1A7F-56833C9E287D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4314699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D70AFD-10E8-706D-CF1E-90B1CD16A023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A5A32E-F235-C782-4F6C-E8D7C5679E7B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10B981"/>
                </a:solidFill>
                <a:latin typeface="Segoe UI" panose="020B0502040204020203" pitchFamily="34" charset="0"/>
              </a:rPr>
              <a:t>PYQ अभ्यास प्रश्न #3  [UP NMMS 2024] - Answer &amp; Explanation</a:t>
            </a:r>
            <a:endParaRPr lang="en-IN" sz="1600" b="1">
              <a:solidFill>
                <a:srgbClr val="10B981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1125029-E258-E370-CB52-57444370B145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216C93-433A-8C61-550F-B21966029F8A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3. 1857 की क्रांति का सबसे प्रमुख तात्कालिक कारण (</a:t>
            </a:r>
            <a:r>
              <a:rPr lang="en-IN" sz="1650" b="1">
                <a:solidFill>
                  <a:srgbClr val="FFFFFF"/>
                </a:solidFill>
                <a:latin typeface="Segoe UI" panose="020B0502040204020203" pitchFamily="34" charset="0"/>
              </a:rPr>
              <a:t>Immediate Cause) </a:t>
            </a:r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क्या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3048F4D-AE68-4046-3DE9-92AD8862F40A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74716-C507-A4A4-F379-13E9353E2DF5}"/>
              </a:ext>
            </a:extLst>
          </p:cNvPr>
          <p:cNvSpPr txBox="1"/>
          <p:nvPr/>
        </p:nvSpPr>
        <p:spPr>
          <a:xfrm>
            <a:off x="6477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(A)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चर्बी वाले नए कारतूस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AE0CDF0-6B00-E757-E9B8-92E05B18ED36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BA1CF-124B-DFF5-C599-7E953DF6B3BB}"/>
              </a:ext>
            </a:extLst>
          </p:cNvPr>
          <p:cNvSpPr txBox="1"/>
          <p:nvPr/>
        </p:nvSpPr>
        <p:spPr>
          <a:xfrm>
            <a:off x="64643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(B)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भारी लगान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D4D62E4-0E05-7F6A-1C5B-E4132DE0F37F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AFB902-BD00-C7BD-09B0-B726F8848A06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सती प्रथा का अंत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A001624-6EEC-742B-ACD6-A39B6F43E05A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67A0F9-A323-A7AC-E665-54F870F91921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रेलवे का निर्माण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FE53521-9E31-F2AB-2CA7-36FCFC8F6E0C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BA6A7A-CC68-5D09-6C00-DBE5951DD5E8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F89D8F-1087-0FBB-8BD3-999C31606E77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एनफील्ड राइफल के कारतूसों में गाय और सूअर की चर्बी की बात तात्कालिक चिंगारी बनी।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DE6072-3CF0-AD5A-7AC2-5AC81475BFF2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8138557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12BDB-303A-9F9A-4C86-12EBB0E19309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DAF004-A5A0-8FCD-9435-87493DB61003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#4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MP NMMS 2021]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1B7CE92-DDA7-BC01-1C8D-E7E1C05377F4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7932DF-7CD9-C1F6-8A7E-C002A90F0DB1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4. 1857 की क्रांति के समय अंतिम मुग़ल सम्राट कौन थे, जिन्हें क्रांति का नेता चुना गया?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8F68DF9-6E05-2BB3-86ED-F62E4CB1A5FE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B08FD7-8572-8507-416E-24B9D01377B6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शाह आलम द्वितीय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F8C71DB-ECF2-8CBA-C418-80D81E84E6D9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7779C5-2E8E-E24F-78C0-68F6F94D4D8F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बहादुर शाह जफर (द्वितीय)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2AB9279-7C23-A699-1091-1AA18DCE4CFA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5C5A79-1274-1D53-DA2D-97D4434D12B4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अकबर द्वितीय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2104219-4DF8-ABA0-8989-54A58E2341DD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26613E-A597-4D94-1DF8-F37707B34EF8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आलमगीर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C0D86A2-2A43-2EE4-9B7D-0A829FD9371E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AE5B08-0C66-38F6-B3BA-E2E95F122406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812C80-EF9E-70A8-EFF3-6EB63F102320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0922147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D01B43-D1D0-0EB4-69C1-311F6E1BD014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7B094E-82D5-5E09-6CB3-6C29D0F18800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#4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MP NMMS 2021]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879BBAA-0E7B-EEB4-1E86-83ACB4DB5637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D067F0-8519-1BE3-055E-7F441567B5DF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4. 1857 की क्रांति के समय अंतिम मुग़ल सम्राट कौन थे, जिन्हें क्रांति का नेता चुना गया?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50CD165-AD0D-9095-937F-D7503D1C75D7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AC73C8-310D-ACEA-CC22-5326CBE0F602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शाह आलम द्वितीय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ECE7CC6-DB95-9828-BB53-7181A8401DE9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1009C2-BED9-03B4-949E-336A65E50D40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बहादुर शाह जफर (द्वितीय)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3BA81D-5BE4-CA53-B6CB-ECF9CB26C7B1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5364FF-F06A-F25E-A1C8-CAC79E112FD9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अकबर द्वितीय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C9D0D81-8C22-F75C-C396-1C71A959BE8F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20E0ED-46CC-22B9-610A-8E8C577DB120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आलमगीर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D0F68AE-D2D7-585F-67AF-B702987AD279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DA5C9A-479E-59D0-DD95-340D39258319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3F1639-DC24-D8AA-AA14-46B3462DE22C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विद्रोहियों ने 82 वर्षीय अंतिम मुग़ल बादशाह बहादुर शाह जफर को भारत का सम्राट घोषित किया था।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C5E6B7-365F-C3E0-B8A9-D6D051740B43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5098707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37C471-3212-B753-03C5-A8F714803FE6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382599-FA01-7B74-07CE-30CCF8D3C1C1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#5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Bihar NMMS 2024]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91A136-FDF0-5E21-6159-0A54D3938A07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C9C8D8-2C14-7E88-310E-248DDBBAD7C5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5. 1857 की क्रांति में बिहार के जगदीशपुर (आरा) से नेतृत्व किस वीर योद्धा 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D6C1B81-1982-710F-7A7F-A4E39AC044FA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D98314-F6E9-F879-6A5A-0089AF358AFE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नाना साहेब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01E1C64-BE8B-C427-C835-9A75093173C1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545E95-C8F9-21B4-6D76-729E63CB4C47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बाबू वीर कुंवर सिंह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0214FC1-4D57-9395-2126-409BA83C9BDA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50C232-64E9-6F40-394B-2ED47981BB29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खान बहादुर खां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9B56222-5602-CAD8-621C-CC5DFA522611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C3CF0C-9D97-6DC0-0C97-DE753E7C6031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लियाकत अली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E591418-F5B7-655D-6A4C-2B34610F3479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889651-3D8A-638B-63F2-76948C21DD2D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42FDD8-8443-822A-0BD0-E239E53A88D2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8767415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4981C65-21FA-6D59-70F5-51210885DA2D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0E6277-C5FC-A085-0A48-C37F5F355255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#5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Bihar NMMS 2024]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ADA0FB9-ECBA-C870-1456-48F0E7D59402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A07B50-FC7C-704E-A298-0276DDB047FE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5. 1857 की क्रांति में बिहार के जगदीशपुर (आरा) से नेतृत्व किस वीर योद्धा 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8958B9E-BCF5-62D8-0D6F-9671D15A15DC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0B78A8-6B74-FE37-9507-8CFC9F05426C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नाना साहेब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20C4EF5-C836-3710-58B5-8EEDD087244F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8344CB-EFFD-B2AD-6861-784BCABEDA39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बाबू वीर कुंवर सिंह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DE8D675-1523-FE3E-27BF-28C77584862C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D4568E-F418-CC5F-065A-A8190D06E614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खान बहादुर खां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C6E5BE3-8912-F352-3CE4-D8D7BB2E4F6F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424B61-42AE-932E-8BB7-F742C1D62998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लियाकत अली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A5C66BD-7E82-4192-6124-506658CD2499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A2B610-A723-1A9F-4A80-2B5D226F0750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9DBA1B-9AFD-A7F0-ACAE-B57C352A6DE8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80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वर्ष के वृद्ध बाबू वीर कुंवर सिंह ने अदम्य वीरता से अंग्रेजों को हराया था।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FBF116-4208-CB21-79A3-FB4C0E132C53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5438836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705541-F898-A554-623B-0898B2050E7E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57F4A1-DC99-E9A0-0994-21B6825B6361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#6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Rajasthan NMMS 2021]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D6745A-D3B7-DF8F-0034-C49370C70DD7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D2D73A-DE82-8AD6-1F4A-9C3D6649E45A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6. झांसी में 1857 की क्रांति का नेतृत्व करने वाली वीरांगना लक्ष्मीबाई के बचपन का नाम क्या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24325D8-CE26-FA4E-3566-4D1206B82993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A611A9-C2F2-36D2-5C7C-863D84D8E725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मनु (मणिकर्णिका)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4668D07-D87D-486F-4B67-67547D956D9E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752851-D764-336C-2261-FB2267B5D65F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पद्मावती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047671-C9C9-F6F2-C708-5B7273AB9BDF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780FFD-4054-32BA-4015-E5426A511260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जीजाबाई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4C1A4AF-67BC-D609-5BB1-E1D4C7118123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2FFD90-894C-6B8B-D88D-1543084EF6CB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अहिल्याबाई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24D831B-4441-F4F2-BDFF-AB2B58795A24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BC9DF6-2E8F-C561-7029-BEDBE44FE4A8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EE84C2-A241-8238-FFD6-3AF415319100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8654669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823B35-EF35-9357-B78A-2747BCD9799F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70660E-9A25-1BBD-7AA2-2B2B42265585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#6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Rajasthan NMMS 2021]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BC3C8AE-4D8C-6BAD-203C-2D82484A3894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6839CC-EE9B-A48C-C39F-86BE695ADE6A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6. झांसी में 1857 की क्रांति का नेतृत्व करने वाली वीरांगना लक्ष्मीबाई के बचपन का नाम क्या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A6063C9-EB53-3940-CAE3-5BEC166D96DD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BFA06D-23FD-2EFD-1D73-E7592357E2A1}"/>
              </a:ext>
            </a:extLst>
          </p:cNvPr>
          <p:cNvSpPr txBox="1"/>
          <p:nvPr/>
        </p:nvSpPr>
        <p:spPr>
          <a:xfrm>
            <a:off x="6477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(A)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मनु (मणिकर्णिका)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D09E38-ECB8-7F51-E685-98A427FD8BD0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E7E263-ABA8-F8C5-E153-3C238E46A34A}"/>
              </a:ext>
            </a:extLst>
          </p:cNvPr>
          <p:cNvSpPr txBox="1"/>
          <p:nvPr/>
        </p:nvSpPr>
        <p:spPr>
          <a:xfrm>
            <a:off x="64643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(B)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पद्मावती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1131D4D-F3B9-49BA-97C3-765CA78153A4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7B3ACF-20FE-9CD5-74C3-185A14D279AD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जीजाबाई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C5A95B8-BB96-47E8-735A-82F9485294DB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BA7E6F-E8B7-AC0C-73CC-EEF3E1C6CC3E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अहिल्याबाई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476CD1-E18C-767E-BC5D-0141EECD8E0C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A50936-DF47-4DD5-8F56-1B81E57E0CEF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DDE70F-D219-0836-EEF2-AF8E2D3488E9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रानी लक्ष्मीबाई के बचपन का नाम मणिकर्णिका (मनु) था।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245369-ACA8-5827-79FB-98C5D3A974A4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5313429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49D4727-1CF0-6A9B-88CB-FEF26B2816CB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991A6B-7C2F-8291-9CB1-39B2EEB60793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#7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Haryana NMMS 2022]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E0127A1-6903-0B50-6B32-9849A8F8B220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3CB3C6-679C-C01F-1E33-4958BD938D67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7. 1857 की क्रांति का प्रचार करने हेतु गुप्त प्रतीक चिन्ह क्या तय किया गया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D2B3D9E-186E-99BC-31E1-4E160BAA680B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6EE047-6BAA-CC9D-B1B0-35CC3E0C0CA4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तीर और कमान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A0F0B7-8347-F324-5B7C-BE78E1507A7C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83FC5F-087E-B46B-4203-3DA406DC9FE2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कमल का फूल और रोटी (चपाती)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BB395D7-17D3-EE3A-383B-D321C2769797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786E17-4E25-D658-2A3D-CBAC7580D48C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तलवार और ढाल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1E53035-3809-2111-15FD-5CFC306FECD4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070EEF-2510-DEC5-E5F2-C7B68D04FCD0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तिरंगा झंडा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B6395AD-E3F0-3369-E8E7-5DB343986CFB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193DD7-8D4B-18B9-6614-7A8825E32251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7696B7-16C7-9DD9-9894-313E546BC060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8490126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B1B504-614C-35DF-5A00-70CBABCB5E4B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4A8B0D-1861-B8C7-EAC9-537BACECE55B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#7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Haryana NMMS 2022]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FF3186-8EA6-7C75-DBA2-34871C9407EE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D6A0CE-964E-812D-EA8C-40A5BBB8CFC6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7. 1857 की क्रांति का प्रचार करने हेतु गुप्त प्रतीक चिन्ह क्या तय किया गया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C28CA-9524-0B82-180C-511D6F3712B6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04E0D4-0B3B-28F6-0DDE-D3899018511E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तीर और कमान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2AC3702-7732-6E45-8DCC-164C88630C9F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611931-985B-00C0-3E3B-E1CBF2441C53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कमल का फूल और रोटी (चपाती)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8B5168F-5B76-A37C-CB02-7BE183AA3EE6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BE7046-653E-79D4-264A-302143495210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तलवार और ढाल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80AED2-2FAE-11FD-1131-08F89E968E1D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52194F-EFFE-51FE-D6A4-DE3B2108F35C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तिरंगा झंडा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D7559D3-3755-4174-5C9F-5DA8E78CC922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13191D-AF17-84E6-56BD-11E88BDF4AE1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BB5AD8-0D1E-B9C8-6FC9-B43FA3F1538E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कमल और रोटी गांव-गांव क्रांति का संदेश पहुंचाने का गुप्त माध्यम थे।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4B226D-D5BE-C0A3-2417-38FB5769B936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6913804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957D479-368B-6EC8-1086-BF818B50345C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DE79C0-8FB7-6CB0-41F7-A94F4B33EA7F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#8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UP NMMS 2023]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729289A-67DA-E777-AD63-9AFFBB4FE0A6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C6E495-DC09-8173-CF0D-095817615F18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8. कानपुर में 1857 की क्रांति का नेतृत्व किसने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DFAB42C-4882-0C3C-7B9D-EFDED04447A7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C4F6CF-36AF-C693-6693-79F123A6ACA4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नाना साहेब (धोंधू पंत)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AB443E-9808-364B-3907-72AFDC9DAFB0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A92BAB-2517-67BF-2F57-8B6B91F5BB84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बहादुर शाह जफर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3E88C40-9960-AAA1-46A9-87DFD2971A51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C45111-3DE4-7F24-193C-74DFBD50DB29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रानी लक्ष्मीबाई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DFAD786-F52D-E8E8-7EB6-2A2EC0CCC6C6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C90EDC-D416-FAE2-43D2-2DCD9551C052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कुंवर सिंह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BC3547C-64EC-2960-AF4B-025790149EB3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5279C-1B97-6A1B-0392-D9F2BCA97C6C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B9B9C9-0100-368E-4908-B637CEEE987E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5447231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99D701-6F16-8BD9-0AA1-53B7D6FAA24F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B2D925-34EC-3585-B934-93EC6567C243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10B981"/>
                </a:solidFill>
                <a:latin typeface="Segoe UI" panose="020B0502040204020203" pitchFamily="34" charset="0"/>
              </a:rPr>
              <a:t>PYQ अभ्यास प्रश्न #8  [UP NMMS 2023] - Answer &amp; Explanation</a:t>
            </a:r>
            <a:endParaRPr lang="en-IN" sz="1600" b="1">
              <a:solidFill>
                <a:srgbClr val="10B981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BBCBD7-5482-D9CE-EA06-67C2136F6D6F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CC2C71-8268-ED4D-C627-F5F43FF81942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8. कानपुर में 1857 की क्रांति का नेतृत्व किसने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046D15-869E-79AD-A0C9-F1DEDC34ED8E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D05D60-0B49-4BC0-8EB0-2C8654B817C0}"/>
              </a:ext>
            </a:extLst>
          </p:cNvPr>
          <p:cNvSpPr txBox="1"/>
          <p:nvPr/>
        </p:nvSpPr>
        <p:spPr>
          <a:xfrm>
            <a:off x="6477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(A)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नाना साहेब (धोंधू पंत)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22B424-B098-B48C-61E6-CF5F4004C7E1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6DB27A-FB6A-1388-8115-D01E08D47BF7}"/>
              </a:ext>
            </a:extLst>
          </p:cNvPr>
          <p:cNvSpPr txBox="1"/>
          <p:nvPr/>
        </p:nvSpPr>
        <p:spPr>
          <a:xfrm>
            <a:off x="64643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(B)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बहादुर शाह जफर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A297972-34D7-9239-FFF6-F91D0262EFD2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B9C57E-766A-6F8C-D4DB-5EC20C5D5B5A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रानी लक्ष्मीबाई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53F942E-DC04-329E-C7F1-0D214A827C32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4A596F-ABAB-11BB-7076-AFBB1C2DE018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कुंवर सिंह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BD8B295-A97F-3F9C-61B5-235B2FC65D88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924829-2287-398F-B81C-B5BE9922CC22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A07B56-8FB3-C2F9-E03C-C19E715F60BE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पेशवा बाजीराव द्वितीय के दत्तक पुत्र नाना साहेब ने कानपुर से नेतृत्व किया।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03B8E9-D64A-56DD-7F7F-B8C6F9CEB7E0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5323290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5394AD-DC33-46A6-7938-7F0E292CECB5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BA6551-ACAA-A5F2-E959-9CE69CEF894F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#9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Rajasthan NMMS 2023]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4011946-D51B-3B40-D9F3-9CF9549A4FF8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4FDB76-2603-FC17-4404-94A5FD9C2C5B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9. नाना साहेब के प्रसिद्ध और वीर सेनापति का क्या नाम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018DB04-12F4-BDA9-FAC3-1528C5D0395B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EDE735-0AB6-5492-7968-2AA47B1DF53E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तात्या टोपे (रामचंद्र पांडुरंग)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2B827B7-8BF0-A60E-E892-D7BECFEB8AE4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4C53E5-4779-AC91-5D19-656B980BB155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मंगल पांडे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5819A28-C9B7-1E2E-9A00-188461A76BCC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31F3EF-2FB8-5E1B-A68F-71638A0BECBA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बख्त खां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8250DC3-8F1B-6558-4155-4EC03CC61E52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C7C345-6D59-3811-BC79-BB646C206524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हकीम खां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55199A-3E28-002F-7DD8-C96DD0BC5164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26BC0B-3B25-1DBA-C02D-2E38C5089FC2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77D4DE0-E881-2985-B32C-7C4579AF90F1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4114915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21608B-3A58-45ED-E27E-108FF78410FB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BE8867-6808-2AF2-A2AF-FB5CF987C09E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#9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Rajasthan NMMS 2023]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DEC7F77-264E-2689-13CE-52D94A3756AF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16C082-E7C4-6739-A48C-E414E6232930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9. नाना साहेब के प्रसिद्ध और वीर सेनापति का क्या नाम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BE13586-85E9-F1F7-F544-E352EF53E77E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99AA56-188B-78D1-D13B-86682F4C436F}"/>
              </a:ext>
            </a:extLst>
          </p:cNvPr>
          <p:cNvSpPr txBox="1"/>
          <p:nvPr/>
        </p:nvSpPr>
        <p:spPr>
          <a:xfrm>
            <a:off x="6477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(A)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तात्या टोपे (रामचंद्र पांडुरंग)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AAAFF74-90A8-5B60-0AB6-B6BF9A50B8D2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AEF6F4-678A-948C-57B6-55209E3E98D6}"/>
              </a:ext>
            </a:extLst>
          </p:cNvPr>
          <p:cNvSpPr txBox="1"/>
          <p:nvPr/>
        </p:nvSpPr>
        <p:spPr>
          <a:xfrm>
            <a:off x="64643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(B)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मंगल पांडे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5B6A29-1253-6FC8-D0B6-C48AD72BEE1A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3CBF13-8998-0E9A-493B-CD23F019CA21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बख्त खां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D82C82-143C-8D4E-DCD4-C57DA1D93E1F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689CAE-DF5C-6583-9B3C-2FA18F391875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हकीम खां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D5B281-633C-5A50-8416-A0E31008D317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3AE2B6-CE67-7B89-3422-D8CB91736738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274195-4790-FC5D-A929-5436D94CB5CA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तात्या टोपे नाना साहेब के मुख्य सेनापति थे और छापामार युद्ध में निपुण थे।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5F4B2F-566D-24DC-C3BD-8E34C9A55FDA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0217578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B46E998-A083-58C8-6D26-1812AFEE2C49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781C4A-170E-E500-C910-FF75E86AC893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#10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Bihar NMMS 2023]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9976A6-4830-4F32-7EA0-73B89FAFF2B4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661743-50D4-163F-5D0E-884C3F17BC75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10. लखनऊ (अवध) में 1857 की क्रांति का नेतृत्व किस साहसी महिला 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F84F00E-CCF3-A83B-639F-A26C4CA958CC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C6B716-D7CD-FF16-D807-FAFFBFD61299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रानी लक्ष्मीबाई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BAA31AB-545A-CDE2-DDEC-1992D2F67BB7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5051F3-7F9E-4860-AAEB-EF9FF6377742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बेगम हजरत महल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9C95476-01E5-1FFF-BB86-9E97974FCB67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D0D793-618F-62B1-AAA0-2CF534E592CB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सरोजिनी नायडू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C45B3F8-CD7B-B3A5-6F5F-E9C3EFA39060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0A96F9-D22C-B8F6-0B80-D1C69CEF256E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एनी बेसेंट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2B8E1E6-2E28-34AE-789D-5F80ED691F83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3FEC29-4EDD-6454-C6F1-3FABAC12AE73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31A36C-81B8-8343-0701-8D05F7B6962C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4335692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261234-327F-191D-70CA-C2FFBFAF9F86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A6688E-B506-7493-ECEF-0D2E307F3DFF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#10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Bihar NMMS 2023]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40BEEB-D406-F0C8-22D9-9DB79484B401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0F3124-0277-B90D-BA5B-D9A82CD1C5AF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10. लखनऊ (अवध) में 1857 की क्रांति का नेतृत्व किस साहसी महिला 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4A2F3B2-F274-1B03-5B7C-E5A18F2BBD74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58DF1B-D4B8-0BED-10C4-1DE9AAE67A7D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रानी लक्ष्मीबाई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B2A15C-5E60-1FE0-1837-D28BFE43F1A9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86C342-FAE4-1C69-CEC2-ABBBBD753A1F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बेगम हजरत महल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C5B1EB8-6A65-81B2-2A71-D825DE919596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CA0ED0-07DB-678B-60E1-9E6810D72FDC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सरोजिनी नायडू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D2B45A8-AFD8-7B48-D033-B89F6AB5A85F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83E5B7-78E5-145D-EB30-23B991E21751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एनी बेसेंट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180208F-C907-8994-FDB0-3C4396BB5DB2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C7F9CA-A8CD-27DC-AE46-9866D2467E31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61E4BD-5037-50B8-FDA6-27DDBBF91428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बेगम हजरत महल ने अपने अल्पवयस्क पुत्र बिरजिस कादिर को नवाब घोषित कर लड़ाई लड़ी।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E311CE-30D5-F090-BDDE-EE3DE784E5AF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849583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3298</Words>
  <Application>Microsoft Office PowerPoint</Application>
  <PresentationFormat>Custom</PresentationFormat>
  <Paragraphs>220</Paragraphs>
  <Slides>30</Slides>
  <Notes>0</Notes>
  <HiddenSlides>0</HiddenSlides>
  <MMClips>6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Sudhir Kumar</dc:creator>
  <cp:lastModifiedBy>Sudhir Kumar</cp:lastModifiedBy>
  <cp:revision>1</cp:revision>
  <dcterms:created xsi:type="dcterms:W3CDTF">2026-10-25T02:58:39Z</dcterms:created>
  <dcterms:modified xsi:type="dcterms:W3CDTF">2026-10-25T02:58:39Z</dcterms:modified>
</cp:coreProperties>
</file>