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4679B-BCD2-5AC0-FADC-8983285E19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F4F808-6B67-2706-80A6-1AC277C498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2D412-1F6F-AD6A-285F-00B634D78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EBCB8-0614-4D5B-AA40-82F0DAEEE20F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FB3EC4-25E2-6046-81D0-1BC39BD42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FE12BD-C49E-B7A7-01CC-7956FD37F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8E12B-62CB-4725-865A-5D1588A4885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2231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EBCE5-C738-4045-6BD1-24E738CB5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9EE726-7D0A-F622-A043-7430AD362B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5949EF-5F42-F287-78FA-C50643D6B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EBCB8-0614-4D5B-AA40-82F0DAEEE20F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020EEE-93FD-A740-E5C6-ACCEF89BC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50B610-A647-9DDA-A6E5-BA8180DDC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8E12B-62CB-4725-865A-5D1588A4885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9267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EF800-540A-7B66-F838-56F369B350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8FC8ED-25B6-6D0B-E3D9-165029F8CF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5C8927-A8DA-CD4C-41A3-D7C32C79D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EBCB8-0614-4D5B-AA40-82F0DAEEE20F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6AFEF-69B7-F171-307A-41726B6AA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B0E052-4082-C637-CB63-1806660C0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8E12B-62CB-4725-865A-5D1588A4885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2383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5D3A9-7474-0B3C-A253-065ED5C37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DB118E-CD6E-E156-9723-681B94ADAF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4276FF-3EC9-6C0E-273D-3F3607ADC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13FCC7-9F02-30D5-0887-9AAC76617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EBCB8-0614-4D5B-AA40-82F0DAEEE20F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F2E884-268C-C07F-9C98-5471ADCF6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9D96E2-5577-F6FE-1F43-6C758CD67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8E12B-62CB-4725-865A-5D1588A4885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6832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2F47A-B614-3C4E-CB05-D24AC40E9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FB77C8-0375-3DC5-AC81-3D8F1F20AF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472B3C-0718-03ED-B07F-CB81B198C8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69E813-D9E2-B4F5-4377-99B7ADEFD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7A3A05-3F87-E058-0860-02CE6C4D1E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E140E1F-FE75-35C9-1724-8493E422F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EBCB8-0614-4D5B-AA40-82F0DAEEE20F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D450AB5-74B2-72E2-F7A5-A5F1CA95F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018702-F22D-BDE0-B528-EC339E300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8E12B-62CB-4725-865A-5D1588A4885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54079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3BDF5-2FBD-46DE-9EBA-BAB2FF005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9005AB-C64E-B3FC-15CC-177EE296D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EBCB8-0614-4D5B-AA40-82F0DAEEE20F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C7317F-2F3D-A9E8-3C32-574439741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198304-BEE0-82E5-D293-F3AC2399D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8E12B-62CB-4725-865A-5D1588A4885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821696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2CA4B5-8B52-B360-C094-ADB4B7219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EBCB8-0614-4D5B-AA40-82F0DAEEE20F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B0A2B7-D50A-3965-EB92-92724C597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D67A8D-B6B8-3BD1-B948-2546AD9E6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8E12B-62CB-4725-865A-5D1588A4885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9424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2A471-32C2-0FBC-5ADC-A746F6A4D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ACD814-98A7-3577-7F5B-0DE6AF0D75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2FB3C8-EC34-4A5A-0626-DA1CA45A79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0957EC-4D55-8EC9-27F4-7756A6707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EBCB8-0614-4D5B-AA40-82F0DAEEE20F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6A8A33-F27E-3062-CABD-5B7510149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ECF8A6-41C3-0945-988A-2D04377E1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8E12B-62CB-4725-865A-5D1588A4885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89702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9C49B-E42E-E9F7-C5FB-0126ECB9DF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ABFCE06-D53A-B84A-06E6-471E75D80FE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DD2296-293B-2A6F-1613-60ADB76A63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A5D679-1674-67E5-336D-41C4E5E86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EBCB8-0614-4D5B-AA40-82F0DAEEE20F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9E9B7E-1452-B375-AF35-E1404AB40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7D6C7F-BF29-6769-4559-C7D8C69BD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8E12B-62CB-4725-865A-5D1588A4885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82564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5151C-6805-8EBB-718B-6A778C045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55EC49-AECE-62EB-DAF9-DBE76E894D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973B7-312D-13D4-6DBE-C3EA735DA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EBCB8-0614-4D5B-AA40-82F0DAEEE20F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5A984B-0E4E-13DB-5CED-F760EAAFE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001E71-5C3D-891F-DC6C-C1A9D4142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8E12B-62CB-4725-865A-5D1588A4885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2591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D8072C-BF13-0FF9-09BE-6889B77863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239147-6E8D-0870-A464-5D08FCEAA1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8D9EF-A86F-8C12-1F3A-4D094937B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EBCB8-0614-4D5B-AA40-82F0DAEEE20F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4A2880-3E3A-C461-551A-52F2CDDC0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2CD432-742D-2328-D726-9724F8D51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8E12B-62CB-4725-865A-5D1588A4885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1159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3CC5CF-FA88-5BCD-F8AB-BD0C5955F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632340-00A4-925B-B89C-CC935A2072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AB9394-5906-B5E7-A667-B3ED28A9DC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3EBCB8-0614-4D5B-AA40-82F0DAEEE20F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91A855-2A44-B8B5-C0CC-76CA057B97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E147F8-73BA-4E29-E18C-E6E062F23D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58E12B-62CB-4725-865A-5D1588A4885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58183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355AF53-2F01-B160-C7F3-4B44AEAD9985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FC700F-D375-D7CB-C349-FB2213078B7E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1857 की महान क्रांति: भारत का प्रथम स्वतंत्रता संग्राम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2789AC-4490-DB34-0832-60492C427955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115843-8FB6-4E84-D07D-6D9808E1D6D0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कहानी ऐसी जो दिमाग में छप जाए | </a:t>
            </a:r>
            <a:r>
              <a:rPr lang="en-IN" sz="1200" b="1">
                <a:solidFill>
                  <a:srgbClr val="F59E0B"/>
                </a:solidFill>
                <a:latin typeface="Segoe UI" panose="020B0502040204020203" pitchFamily="34" charset="0"/>
              </a:rPr>
              <a:t>NMMS </a:t>
            </a:r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परीक्षा में 5 नंबर पक्के!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135E031-F594-E520-BBB5-3EBDFC5E4097}"/>
              </a:ext>
            </a:extLst>
          </p:cNvPr>
          <p:cNvSpPr/>
          <p:nvPr/>
        </p:nvSpPr>
        <p:spPr>
          <a:xfrm>
            <a:off x="381000" y="1244600"/>
            <a:ext cx="5842000" cy="50165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8F9250-D16F-2989-8E30-6F9DD1E7F67A}"/>
              </a:ext>
            </a:extLst>
          </p:cNvPr>
          <p:cNvSpPr txBox="1"/>
          <p:nvPr/>
        </p:nvSpPr>
        <p:spPr>
          <a:xfrm>
            <a:off x="571500" y="1397000"/>
            <a:ext cx="5461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8FAFC"/>
                </a:solidFill>
                <a:latin typeface="Segoe UI" panose="020B0502040204020203" pitchFamily="34" charset="0"/>
              </a:rPr>
              <a:t>NMMS All India Scholarship Exam Special • </a:t>
            </a:r>
            <a:r>
              <a:rPr lang="hi-IN" sz="1600" b="1">
                <a:solidFill>
                  <a:srgbClr val="F8FAFC"/>
                </a:solidFill>
                <a:latin typeface="Segoe UI" panose="020B0502040204020203" pitchFamily="34" charset="0"/>
              </a:rPr>
              <a:t>कहानी, ट्रिक्स व सिनेमैटिक स्मार्ट क्लास</a:t>
            </a:r>
            <a:endParaRPr lang="en-IN" sz="160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BA36E8-2FF2-356C-C9EE-75E253CCF882}"/>
              </a:ext>
            </a:extLst>
          </p:cNvPr>
          <p:cNvSpPr txBox="1"/>
          <p:nvPr/>
        </p:nvSpPr>
        <p:spPr>
          <a:xfrm>
            <a:off x="571500" y="2667000"/>
            <a:ext cx="5461000" cy="109260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CBD5E1"/>
                </a:solidFill>
                <a:latin typeface="Segoe UI" panose="020B0502040204020203" pitchFamily="34" charset="0"/>
              </a:rPr>
              <a:t>• 100 साल का ब्रिटिश ईस्ट इंडिया कंपनी का भीषण शोषण और अत्याचार
• किसानों, देशी राजाओं और भारतीय सैनिकों में सुलगता गहरा जन-आक्रोश
• चर्बी वाले कारतूस की चिंगारी और देशव्यापी महा-विद्रोह का शंखनाद</a:t>
            </a:r>
            <a:endParaRPr lang="en-IN" sz="1300">
              <a:solidFill>
                <a:srgbClr val="CBD5E1"/>
              </a:solidFill>
              <a:latin typeface="Segoe UI" panose="020B0502040204020203" pitchFamily="34" charset="0"/>
            </a:endParaRPr>
          </a:p>
        </p:txBody>
      </p:sp>
      <p:pic>
        <p:nvPicPr>
          <p:cNvPr id="9" name="mangal_pandey">
            <a:hlinkClick r:id="" action="ppaction://media"/>
            <a:extLst>
              <a:ext uri="{FF2B5EF4-FFF2-40B4-BE49-F238E27FC236}">
                <a16:creationId xmlns:a16="http://schemas.microsoft.com/office/drawing/2014/main" id="{70A0F155-6EA1-5122-B9ED-3C9BAC3EE6C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413500" y="1244600"/>
            <a:ext cx="8918221" cy="5016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4E5C7BA-BB1C-390C-CEF3-32B6B2386D12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4980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55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73C1049-B6AB-4DFA-89B5-B98DC4BFD80F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998DBB-BC0A-2D38-94AA-4AFD1F2F28F8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1: बारूद का ढेर — 1857 से पहले का सुलगता भारत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A1072A-D762-E489-F236-37B08954D2FD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262FDC-366D-465E-8FBB-434C023A52DB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गुलामी की जंजीरें जब हद से ज्यादा कसने लगीं, अंग्रेजों की करतूतों पर मौत भी हंसने लगी!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6F4FA16-1E4A-B39E-BBBF-F43004F78CE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44600"/>
            <a:ext cx="5207000" cy="5016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97B1162-3695-5C3C-AB75-A4B9565C92DE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E2BABE-E17C-95FA-7E8A-CD46F3C4DACF}"/>
              </a:ext>
            </a:extLst>
          </p:cNvPr>
          <p:cNvSpPr txBox="1"/>
          <p:nvPr/>
        </p:nvSpPr>
        <p:spPr>
          <a:xfrm>
            <a:off x="5969000" y="1397000"/>
            <a:ext cx="5651500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• लॉर्ड डलहौजी की कुख्यात 'हड़प नीति' (सतारा, झांसी, नागपुर, संबलपुर का विलय)
• 1856 में कुशासन का झूठा आरोप लगाकर अवध का नवाब वाजिद अली शाह से छीना जाना
• भारतीय सैनिकों का मासिक वेतन केवल 7 रुपये, जबकि अंग्रेज सैनिकों को भारी सुविधाएं</a:t>
            </a:r>
            <a:endParaRPr lang="en-IN" sz="135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7B96225-5CD6-3430-3ED9-C4B1A017B327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4525BE-690E-829E-5743-1112AE0D6FC4}"/>
              </a:ext>
            </a:extLst>
          </p:cNvPr>
          <p:cNvSpPr txBox="1"/>
          <p:nvPr/>
        </p:nvSpPr>
        <p:spPr>
          <a:xfrm>
            <a:off x="5905500" y="5029200"/>
            <a:ext cx="57785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हड़प नीति (</a:t>
            </a:r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Doctrine of Lapse)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के तहत सबसे पहले 'सतारा' (1848) को हड़पा गया था!</a:t>
            </a:r>
            <a:endParaRPr lang="en-IN" sz="130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3286DC-90B4-926A-E9CC-FAEAA61F19E4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7480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7CA636-DF58-3B77-F7FE-5CC200668483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1EA535-18E8-334A-6FBC-3EA336C92E1D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2: आग में घी — चर्बी वाले कारतूस का पर्दाफाश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A3E961C-FD60-785B-DA67-6FFEB612C911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72F587-76F1-9DBF-143B-A5AEEAE112E2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गाय और सुअर की चर्बी से जब बारूद को सनाया था, अंग्रेजों ने खुद अपनी मौत का फरमान बनाया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7E0C0F-7866-AA60-4631-291D43A516E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44600"/>
            <a:ext cx="5207000" cy="5016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A0D81C6-6CE3-6F39-8913-19BC8D4379B8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ACBB31-C160-2991-456F-6501A605C158}"/>
              </a:ext>
            </a:extLst>
          </p:cNvPr>
          <p:cNvSpPr txBox="1"/>
          <p:nvPr/>
        </p:nvSpPr>
        <p:spPr>
          <a:xfrm>
            <a:off x="5969000" y="1397000"/>
            <a:ext cx="5651500" cy="15465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• दिसंबर 1856: पुरानी 'ब्राउन बैस' की जगह नई 'एनफील्ड </a:t>
            </a:r>
            <a:r>
              <a:rPr lang="en-IN" sz="1350">
                <a:solidFill>
                  <a:srgbClr val="F8FAFC"/>
                </a:solidFill>
                <a:latin typeface="Segoe UI" panose="020B0502040204020203" pitchFamily="34" charset="0"/>
              </a:rPr>
              <a:t>P-53' </a:t>
            </a:r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राइफल लागू की गई
• कारतूस की ग्रीस को बंदूक में भरने से पहले दाँतों से काटना अनिवार्य था
• चर्बी में गाय और सुअर की वसा होने की पुष्टि ने हिंदू-मुस्लिम एकता को जन्म दिया</a:t>
            </a:r>
            <a:endParaRPr lang="en-IN" sz="135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A77549B-9865-5DE6-DFD3-13EA7251F321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0F3C41-DA33-6916-B361-821F169467E5}"/>
              </a:ext>
            </a:extLst>
          </p:cNvPr>
          <p:cNvSpPr txBox="1"/>
          <p:nvPr/>
        </p:nvSpPr>
        <p:spPr>
          <a:xfrm>
            <a:off x="5905500" y="5029200"/>
            <a:ext cx="57785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1857 विद्रोह का तात्कालिक कारण (</a:t>
            </a:r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Immediate Cause) '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चर्बी वाले कारतूस' ही थे!</a:t>
            </a:r>
            <a:endParaRPr lang="en-IN" sz="130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7BD510-8F33-28EF-7680-F863E20E720D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87157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BA20986-A79D-6D35-3138-0A395955E249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CA83EB-C5D8-E30C-3EC6-53DAD04CFEF1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3: पहला महा-विस्फोट — अमर बलिदानी मंगल पांडे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61B98D8-9987-1EDB-09DF-607AD1C084CD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1A77B3-A772-8827-8505-A8D2109EF3E0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हुकूमत का गुरूर था, बारूद का वो दौर था, अंग्रेजों की छाती पर मंगल पांडे का ज़ोर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6" name="mangal_pandey">
            <a:hlinkClick r:id="" action="ppaction://media"/>
            <a:extLst>
              <a:ext uri="{FF2B5EF4-FFF2-40B4-BE49-F238E27FC236}">
                <a16:creationId xmlns:a16="http://schemas.microsoft.com/office/drawing/2014/main" id="{D0B4FF14-B0CA-B379-C9C7-1432F6A881F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81000" y="1244600"/>
            <a:ext cx="8918221" cy="50165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71640BD-6047-1FD3-A1AA-B35FD2D6B907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F28507-20C8-CD60-58DF-F1AEF9CA3E5A}"/>
              </a:ext>
            </a:extLst>
          </p:cNvPr>
          <p:cNvSpPr txBox="1"/>
          <p:nvPr/>
        </p:nvSpPr>
        <p:spPr>
          <a:xfrm>
            <a:off x="5969000" y="1397000"/>
            <a:ext cx="5651500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• 29 मार्च 1857: बैरकपुर (बंगाल) में चर्बी वाले कारतूस के विरुद्ध पहला खुला विद्रोह
• 34वीं बंगाल नेटिव इन्फैंट्री के सिपाही मंगल पांडे ने अंग्रेज अफसरों पर गोली चलाई
• 8 अप्रैल 1857: तय तारीख से 10 दिन पहले ही बैरकपुर में मंगल पांडे को फांसी दी गई</a:t>
            </a:r>
            <a:endParaRPr lang="en-IN" sz="135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4EFA829-8820-A98A-725B-03BEBA7877FF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F78197-5C8C-44E2-C04B-442752D1D221}"/>
              </a:ext>
            </a:extLst>
          </p:cNvPr>
          <p:cNvSpPr txBox="1"/>
          <p:nvPr/>
        </p:nvSpPr>
        <p:spPr>
          <a:xfrm>
            <a:off x="5905500" y="5029200"/>
            <a:ext cx="5778500" cy="29238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मंगल पांडे उत्तर प्रदेश के बलिया जिले के नगवा गांव के निवासी थे!</a:t>
            </a:r>
            <a:endParaRPr lang="en-IN" sz="130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EC3EE7-A15E-EAB4-0BF3-7C85AB633517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2076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7F645F-33BB-6398-6B54-69D8CB056E44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68C5BA-AE91-B11A-BEDC-71F0142E56C0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4: क्रांति का गुप्त संदेश — कमल का फूल और रोटी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34C45EC-27E4-B578-0402-44D68E0B81BE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A40183-66D0-F0DD-4AE2-0C32FC5F8B4B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चुपके से रोटी बंटी, कमल का फूल मुस्काया था, अंग्रेजों को भनक न लगी, क्या तूफ़ान आने वाला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DC3A8A-32B7-DBAA-1DBB-E3AF44D292A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44600"/>
            <a:ext cx="5207000" cy="5016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7FB611-E7EE-4BC5-854B-9F4A3371BCF0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7EC741-CF2C-9EA9-531F-5D0F0D464065}"/>
              </a:ext>
            </a:extLst>
          </p:cNvPr>
          <p:cNvSpPr txBox="1"/>
          <p:nvPr/>
        </p:nvSpPr>
        <p:spPr>
          <a:xfrm>
            <a:off x="5969000" y="1397000"/>
            <a:ext cx="5651500" cy="15465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• क्रांति का गुप्त प्रतीक: 'कमल का फूल' (सैनिकों हेतु) व 'चपाती/रोटी' (नागरिकों हेतु)
• क्रांति की पूर्व-निर्धारित योजना की तिथि '31 मई 1857' रखी गई थी
• गांव-गांव और छावनियों में गुप्त संदेशवाहकों द्वारा संगठन का जाल फैलाया गया</a:t>
            </a:r>
            <a:endParaRPr lang="en-IN" sz="135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FE9F125-B71F-7ADF-9788-55F112011CB7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8E37FB-E58B-9129-3F72-14A1F7214F9B}"/>
              </a:ext>
            </a:extLst>
          </p:cNvPr>
          <p:cNvSpPr txBox="1"/>
          <p:nvPr/>
        </p:nvSpPr>
        <p:spPr>
          <a:xfrm>
            <a:off x="5905500" y="5029200"/>
            <a:ext cx="57785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1857 की क्रांति का औपचारिक प्रतीक चिह्न 'कमल और रोटी' (</a:t>
            </a:r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Lotus and Bread)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था!</a:t>
            </a:r>
            <a:endParaRPr lang="en-IN" sz="130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81A0EE-36EC-A5B4-00C1-60989EA9504C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5855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A0607B9-2EA3-99FB-E6AF-085D81CD59EE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B87D35-E9EB-196B-40FB-DF4908176C1A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5: 10 मई 1857 — मेरठ का महा-विद्रोह और दिल्ली कूच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7A846E3-17CF-A2FA-4854-51DFF9C153E0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8BA4BC-4934-048C-7935-53AC58902896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मेरठ की चिंगारी ने ऐसा शोला भड़काया, रातों-रात दिल्ली जाकर अंग्रेजों का तख्त हिलाया!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E3A384-5360-7D95-5E4D-CFDBFD21745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44600"/>
            <a:ext cx="5207000" cy="5016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9CC0DCA-8917-B6F6-24BD-26560B596B0E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944916-4274-EED7-CB1F-221A53DB0D82}"/>
              </a:ext>
            </a:extLst>
          </p:cNvPr>
          <p:cNvSpPr txBox="1"/>
          <p:nvPr/>
        </p:nvSpPr>
        <p:spPr>
          <a:xfrm>
            <a:off x="5969000" y="1397000"/>
            <a:ext cx="5651500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• 10 मई 1857: मेरठ छावनी से क्रांति का वास्तविक और ऐतिहासिक शंखनाद हुआ
• सैनिकों ने जेल तोड़कर 85 क्रांतिकारी भाइयों को मुक्त कराया और दिल्ली कूच किया
• 11 मई 1857 की सुबह दिल्ली पहुंचकर यमुना पुल पार किया और लाल किले पर अधिकार किया</a:t>
            </a:r>
            <a:endParaRPr lang="en-IN" sz="135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0E92C16-41C6-30C7-B115-411F2353103C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A93080-B307-E9B7-AE9A-16E8CCF8DD85}"/>
              </a:ext>
            </a:extLst>
          </p:cNvPr>
          <p:cNvSpPr txBox="1"/>
          <p:nvPr/>
        </p:nvSpPr>
        <p:spPr>
          <a:xfrm>
            <a:off x="5905500" y="5029200"/>
            <a:ext cx="57785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1857 के स्वतंत्रता संग्राम की आधिकारिक शुरुआत 10 मई 1857 को मेरठ से हुई!</a:t>
            </a:r>
            <a:endParaRPr lang="en-IN" sz="130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107F72-FF97-CEBB-EF34-2862683253D4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01995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62A9047-5FD6-7B30-770F-647425C532EA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4B4F7C-C7F1-42CB-0B17-688666441644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6: लाल किला और 82 वर्षीय शहंशाह — बहादुर शाह ज़फ़र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D70EEE9-D6D5-7030-EC9D-EF797A6258C7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0305D7-86C3-E1C7-B62C-5F10B52AB5FD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उम्र 82 की थी मगर, सीने में हिंदुस्तान था, लाल किले की दीवारों पर फिर से आजादी का ऐलान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E0D5A2-E55A-8549-1D2F-E07F08D7A25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44600"/>
            <a:ext cx="5207000" cy="5016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6F53C11-082F-966F-89DE-97271A2DAB39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C60D-F309-7704-1D6C-073D401A602B}"/>
              </a:ext>
            </a:extLst>
          </p:cNvPr>
          <p:cNvSpPr txBox="1"/>
          <p:nvPr/>
        </p:nvSpPr>
        <p:spPr>
          <a:xfrm>
            <a:off x="5969000" y="1397000"/>
            <a:ext cx="5651500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• 82 वर्षीय अंतिम मुगल सम्राट बहादुर शाह द्वितीय (ज़फ़र) को क्रांति का नेता चुना गया
• सैन्य संचालन के लिए बरेली से आए 'जनरल बख्त खान' को मुख्य सेनापति बनाया गया
• हिंदू-मुस्लिम एकता की मिसाल: दिल्ली में गो-हत्या पर पूर्ण प्रतिबंध लगाया गया</a:t>
            </a:r>
            <a:endParaRPr lang="en-IN" sz="135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BEF30AB-43ED-5A84-2DDC-66F2BDC85E29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480E4D-C79A-7E0B-AEE2-74B81BE9EAA3}"/>
              </a:ext>
            </a:extLst>
          </p:cNvPr>
          <p:cNvSpPr txBox="1"/>
          <p:nvPr/>
        </p:nvSpPr>
        <p:spPr>
          <a:xfrm>
            <a:off x="5905500" y="5029200"/>
            <a:ext cx="57785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विद्रोह के दमन के बाद बहादुर शाह को हुमायूं के मकबरे से पकड़कर 'रंगून' भेजा गया!</a:t>
            </a:r>
            <a:endParaRPr lang="en-IN" sz="130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A0AEF2-ED73-1A5D-B349-AD30B6E06834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99556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C8E742E-3FAE-64A6-6F2B-45ED5A9FF754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0CE0B6-FF69-CB8B-667A-78CCF36EE9F9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7: खूब लड़ी मर्दानी — झांसी की शेरनी रानी लक्ष्मीबाई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7493C78-E609-C68B-BAF9-D2274E1814A1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BB9195-F820-4E15-5E77-71603E371067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सिंहासन हिल उठे राजवंशों ने भृकुटी तानी थी... खूब लड़ी मर्दानी वह तो झांसी वाली रानी थी!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1F755B-890B-2609-A1AD-660C229396B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44600"/>
            <a:ext cx="5207000" cy="5016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31435E1-FFC0-0C20-F829-F3F2B6EFDDAB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40D6DC-0BF9-644B-0EC0-945CE0E018BA}"/>
              </a:ext>
            </a:extLst>
          </p:cNvPr>
          <p:cNvSpPr txBox="1"/>
          <p:nvPr/>
        </p:nvSpPr>
        <p:spPr>
          <a:xfrm>
            <a:off x="5969000" y="1397000"/>
            <a:ext cx="5651500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• 'हड़प नीति' के तहत झांसी के विलय के विरोध में वीरांगना लक्ष्मीबाई का महा-विद्रोह
• दत्तक पुत्र दामोदर राव को पीठ पर बांधकर दोनों हाथों में तलवार लिए रणभूमि में कूदना
• 18 जून 1858 को कोटा-की-सराय (ग्वालियर) में लड़ते हुए वीरगति प्राप्त की</a:t>
            </a:r>
            <a:endParaRPr lang="en-IN" sz="135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1315CF1-280C-BB3A-A84F-0BCE7B37F694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8B3B4F-F439-2E8B-7E9B-B3C761175F69}"/>
              </a:ext>
            </a:extLst>
          </p:cNvPr>
          <p:cNvSpPr txBox="1"/>
          <p:nvPr/>
        </p:nvSpPr>
        <p:spPr>
          <a:xfrm>
            <a:off x="5905500" y="5029200"/>
            <a:ext cx="57785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ब्रिटिश सेनापति सर ह्यूरोज़ ने रानी को 'क्रांतिकारियों में एकमात्र पुरुष/मर्द' कहा था!</a:t>
            </a:r>
            <a:endParaRPr lang="en-IN" sz="130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B9BB0F-F912-6FE5-9104-8B2C470217C5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08358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20199AF-0673-B73A-C194-7315F28860F7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7D7606-4B6B-1FAF-ABCA-22D029C0E541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8: बिहार के 80 वर्षीय बब्बर शेर — बाबू कुंवर सिंह व तात्या टोपे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10454DC-1C94-7D96-C99F-B5BC72C8ECEB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57B857-2C37-8098-303D-98D36533754F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अस्सी बरस की उम्र में जागा जोश पुराना था, सब कहते हैं कुंवर सिंह भी बड़ा वीर मर्दाना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2E1C957-9C4D-8728-088A-8807F1568E0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44600"/>
            <a:ext cx="5207000" cy="5016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BED544E-4C08-A22D-8DA8-62521A7A4507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BDC9BF-54F2-553E-02DD-044F1FFD3276}"/>
              </a:ext>
            </a:extLst>
          </p:cNvPr>
          <p:cNvSpPr txBox="1"/>
          <p:nvPr/>
        </p:nvSpPr>
        <p:spPr>
          <a:xfrm>
            <a:off x="5969000" y="1397000"/>
            <a:ext cx="5651500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• बिहार (जगदीशपुर/आरा): 80 वर्षीय बाबू कुंवर सिंह व अमर सिंह का अदम्य नेतृत्व
• कानपुर: पेशवा बाजीराव के दत्तक पुत्र नाना साहेब (धोंधूपंत) व तात्या टोपे का मोर्चा
• लखनऊ (अवध): बेगम हज़रत महल ने अपने अल्पवयस्क पुत्र बिरजिस क़द्र के साथ विद्रोह किया</a:t>
            </a:r>
            <a:endParaRPr lang="en-IN" sz="135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30A4FEF-A692-21D6-4B7F-CDE19CABDE3A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BB97D1-1034-DD37-DD04-142C1B511FFF}"/>
              </a:ext>
            </a:extLst>
          </p:cNvPr>
          <p:cNvSpPr txBox="1"/>
          <p:nvPr/>
        </p:nvSpPr>
        <p:spPr>
          <a:xfrm>
            <a:off x="5905500" y="5029200"/>
            <a:ext cx="5778500" cy="29238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तात्या टोपे का वास्तविक नाम 'रामचंद्र पांडुरंग' था!</a:t>
            </a:r>
            <a:endParaRPr lang="en-IN" sz="130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A0631C-122B-457D-6636-B5792F35563F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23692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0E91CC-5680-1D1C-39E4-0C19AAC3280B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861228-984E-A829-4D8F-0751B0C1A5EF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9: परिणाम और सीख — ईस्ट इंडिया कंपनी का अंत (1858)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80308AE-D691-08B2-0280-A36A5E12650E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698F96-FC24-E31A-3908-A6D920FEC31A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हार कर भी वो जीत गए, आज़ादी की नींव सजाई थी, 1857 की चिंगारी ने 1947 की अलख जगाई थी!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6" name="mangal_pandey">
            <a:hlinkClick r:id="" action="ppaction://media"/>
            <a:extLst>
              <a:ext uri="{FF2B5EF4-FFF2-40B4-BE49-F238E27FC236}">
                <a16:creationId xmlns:a16="http://schemas.microsoft.com/office/drawing/2014/main" id="{B47B4E8B-0488-AE35-1AEF-46A7B5F56A2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81000" y="1244600"/>
            <a:ext cx="8918221" cy="50165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998E321-8A1D-4A44-CAB5-75181CF25B92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7FC3DC-F23E-EACF-6AD9-9CF34AC35D97}"/>
              </a:ext>
            </a:extLst>
          </p:cNvPr>
          <p:cNvSpPr txBox="1"/>
          <p:nvPr/>
        </p:nvSpPr>
        <p:spPr>
          <a:xfrm>
            <a:off x="5969000" y="1397000"/>
            <a:ext cx="5651500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• 1858 का भारत शासन अधिनियम (</a:t>
            </a:r>
            <a:r>
              <a:rPr lang="en-IN" sz="1350">
                <a:solidFill>
                  <a:srgbClr val="F8FAFC"/>
                </a:solidFill>
                <a:latin typeface="Segoe UI" panose="020B0502040204020203" pitchFamily="34" charset="0"/>
              </a:rPr>
              <a:t>Government of India Act 1858) </a:t>
            </a:r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पारित हुआ
• ईस्ट इंडिया कंपनी का शासन समाप्त; ब्रिटिश क्राउन का सीधा नियंत्रण स्थापित
• गवर्नर जनरल का पदनाम बदलकर 'वायसराय' किया गया (प्रथम वायसराय: लॉर्ड कैनिंग)</a:t>
            </a:r>
            <a:endParaRPr lang="en-IN" sz="135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9F37E86-50CF-3BAF-249C-5D29BA94B589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6D43F8-7800-73E2-D986-E634242CD269}"/>
              </a:ext>
            </a:extLst>
          </p:cNvPr>
          <p:cNvSpPr txBox="1"/>
          <p:nvPr/>
        </p:nvSpPr>
        <p:spPr>
          <a:xfrm>
            <a:off x="5905500" y="5029200"/>
            <a:ext cx="57785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महारानी विक्टोरिया का घोषणापत्र 1 नवंबर 1858 को इलाहाबाद दरबार में पढ़ा गया!</a:t>
            </a:r>
            <a:endParaRPr lang="en-IN" sz="130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1EE350-AE31-DC6A-158E-2F64EDB593B6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0016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19627FC-466F-BB81-27E7-FF8F1080B785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E2FAD0-DD5C-0E2E-A49B-5A00CE316A31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700" b="1">
                <a:solidFill>
                  <a:srgbClr val="F59E0B"/>
                </a:solidFill>
                <a:latin typeface="Segoe UI" panose="020B0502040204020203" pitchFamily="34" charset="0"/>
              </a:rPr>
              <a:t>NMMS </a:t>
            </a:r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परीक्षा महा-अभ्यास (प्रश्न 1 से 5)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BED4909-25A8-FD01-16D9-18564175ECF5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C2FF35-177F-6802-FB4E-A780AEF722D9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पढ़ी हुई कहानी को अब सवालों में उतारो, 10 में से 10 लाकर परीक्षा में परचम लहराओ!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62F5903-A7CE-4E5B-1FAF-705CC74FFEC3}"/>
              </a:ext>
            </a:extLst>
          </p:cNvPr>
          <p:cNvSpPr/>
          <p:nvPr/>
        </p:nvSpPr>
        <p:spPr>
          <a:xfrm>
            <a:off x="381000" y="12446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02C7B4-355F-0118-0170-8775AF8741E8}"/>
              </a:ext>
            </a:extLst>
          </p:cNvPr>
          <p:cNvSpPr txBox="1"/>
          <p:nvPr/>
        </p:nvSpPr>
        <p:spPr>
          <a:xfrm>
            <a:off x="571500" y="13970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1: 1857 के विद्रोह की पहली गोली किस तिथि को चलाई गई थी? ➡️ 29 मार्च 1857 (बैरकपुर, मंगल पांडे)</a:t>
            </a:r>
            <a:endParaRPr lang="en-IN" sz="13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7E772AE-6FB1-A8BA-6C27-BE0E5A106753}"/>
              </a:ext>
            </a:extLst>
          </p:cNvPr>
          <p:cNvSpPr/>
          <p:nvPr/>
        </p:nvSpPr>
        <p:spPr>
          <a:xfrm>
            <a:off x="381000" y="22352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D521A7-E166-30D4-AB80-388FD29AD53D}"/>
              </a:ext>
            </a:extLst>
          </p:cNvPr>
          <p:cNvSpPr txBox="1"/>
          <p:nvPr/>
        </p:nvSpPr>
        <p:spPr>
          <a:xfrm>
            <a:off x="571500" y="23876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2: मंगल पांडे किस इन्फैंट्री रेजिमेंट के सिपाही थे? ➡️ 34वीं बंगाल नेटिव इन्फैंट्री</a:t>
            </a:r>
            <a:endParaRPr lang="en-IN" sz="13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66BA82E-A820-29E8-CD65-63E5C388AE1A}"/>
              </a:ext>
            </a:extLst>
          </p:cNvPr>
          <p:cNvSpPr/>
          <p:nvPr/>
        </p:nvSpPr>
        <p:spPr>
          <a:xfrm>
            <a:off x="381000" y="32258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9A3C9E-000A-829D-DDC4-FE8B43A7639F}"/>
              </a:ext>
            </a:extLst>
          </p:cNvPr>
          <p:cNvSpPr txBox="1"/>
          <p:nvPr/>
        </p:nvSpPr>
        <p:spPr>
          <a:xfrm>
            <a:off x="571500" y="33782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3: 1857 की क्रांति का औपचारिक प्रतीक चिह्न क्या था? ➡️ कमल और रोटी (</a:t>
            </a:r>
            <a:r>
              <a:rPr lang="en-IN" sz="1350" b="1">
                <a:solidFill>
                  <a:srgbClr val="F8FAFC"/>
                </a:solidFill>
                <a:latin typeface="Segoe UI" panose="020B0502040204020203" pitchFamily="34" charset="0"/>
              </a:rPr>
              <a:t>Lotus and Bread)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35CCDB5-F754-A4BA-633D-F1329D4BDE04}"/>
              </a:ext>
            </a:extLst>
          </p:cNvPr>
          <p:cNvSpPr/>
          <p:nvPr/>
        </p:nvSpPr>
        <p:spPr>
          <a:xfrm>
            <a:off x="381000" y="42164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64DE9C-714E-4040-640D-B3AB04CB4F48}"/>
              </a:ext>
            </a:extLst>
          </p:cNvPr>
          <p:cNvSpPr txBox="1"/>
          <p:nvPr/>
        </p:nvSpPr>
        <p:spPr>
          <a:xfrm>
            <a:off x="571500" y="43688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4: 1857 के समय भारत का गवर्नर जनरल कौन था? ➡️ लॉर्ड कैनिंग</a:t>
            </a:r>
            <a:endParaRPr lang="en-IN" sz="13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F6E73A5-946D-78EB-6408-A8A9C38EC581}"/>
              </a:ext>
            </a:extLst>
          </p:cNvPr>
          <p:cNvSpPr/>
          <p:nvPr/>
        </p:nvSpPr>
        <p:spPr>
          <a:xfrm>
            <a:off x="381000" y="52070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574BD2-5E27-A20A-FF47-BD3F77A65A3D}"/>
              </a:ext>
            </a:extLst>
          </p:cNvPr>
          <p:cNvSpPr txBox="1"/>
          <p:nvPr/>
        </p:nvSpPr>
        <p:spPr>
          <a:xfrm>
            <a:off x="571500" y="53594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5: मेरठ से सैनिकों ने दिल्ली के लिए किस तारीख को कूच किया? ➡️ 10 मई 1857</a:t>
            </a:r>
            <a:endParaRPr lang="en-IN" sz="13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DB36B8-9CC4-C204-86C5-666E2095398D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71975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4BDFFF-FCCB-54B3-EAA6-D672D6D5C1F3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168CFC-CF3B-C255-2D1A-C89EE45F24E9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700" b="1">
                <a:solidFill>
                  <a:srgbClr val="F59E0B"/>
                </a:solidFill>
                <a:latin typeface="Segoe UI" panose="020B0502040204020203" pitchFamily="34" charset="0"/>
              </a:rPr>
              <a:t>NMMS </a:t>
            </a:r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परीक्षा महा-अभ्यास (प्रश्न 6 से 10)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116A9B3-BF14-3508-031F-8171C4F1B296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5BFB0B-EA42-ABB1-DCB2-9FCFD19B05A6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सवालों की इस जंग में जो जीता वही सिकंदर, मेहनत से चमकेगा तुम्हारा मुकद्दर!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9D14B46-576F-397C-6A5B-1861053F05BF}"/>
              </a:ext>
            </a:extLst>
          </p:cNvPr>
          <p:cNvSpPr/>
          <p:nvPr/>
        </p:nvSpPr>
        <p:spPr>
          <a:xfrm>
            <a:off x="381000" y="12446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4C107A-E61C-DBAD-2202-6BF523EDA299}"/>
              </a:ext>
            </a:extLst>
          </p:cNvPr>
          <p:cNvSpPr txBox="1"/>
          <p:nvPr/>
        </p:nvSpPr>
        <p:spPr>
          <a:xfrm>
            <a:off x="571500" y="13970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6: बिहार के जगदीशपुर में 1857 क्रांति के प्रणेता कौन थे? ➡️ बाबू कुंवर सिंह (80 वर्षीय वीर)</a:t>
            </a:r>
            <a:endParaRPr lang="en-IN" sz="13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C992380-4BEC-FBC3-F4BA-7B6510C4B296}"/>
              </a:ext>
            </a:extLst>
          </p:cNvPr>
          <p:cNvSpPr/>
          <p:nvPr/>
        </p:nvSpPr>
        <p:spPr>
          <a:xfrm>
            <a:off x="381000" y="22352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2C33FD-1541-7AF6-2381-C964130106C6}"/>
              </a:ext>
            </a:extLst>
          </p:cNvPr>
          <p:cNvSpPr txBox="1"/>
          <p:nvPr/>
        </p:nvSpPr>
        <p:spPr>
          <a:xfrm>
            <a:off x="571500" y="23876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7: तात्या टोपे का वास्तविक नाम क्या था? ➡️ रामचंद्र पांडुरंग</a:t>
            </a:r>
            <a:endParaRPr lang="en-IN" sz="13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596011B-7F66-5CD6-C794-F1CB4BCE4814}"/>
              </a:ext>
            </a:extLst>
          </p:cNvPr>
          <p:cNvSpPr/>
          <p:nvPr/>
        </p:nvSpPr>
        <p:spPr>
          <a:xfrm>
            <a:off x="381000" y="32258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163D62-DFAC-2758-B48C-F5621D28A7EF}"/>
              </a:ext>
            </a:extLst>
          </p:cNvPr>
          <p:cNvSpPr txBox="1"/>
          <p:nvPr/>
        </p:nvSpPr>
        <p:spPr>
          <a:xfrm>
            <a:off x="571500" y="33782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8: ब्रिटिश सेनापति सर ह्यूरोज़ ने किसे 'एकमात्र मर्द' कहा था? ➡️ रानी लक्ष्मीबाई</a:t>
            </a:r>
            <a:endParaRPr lang="en-IN" sz="13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17310A6-BAF6-3D42-2D37-53D74F726647}"/>
              </a:ext>
            </a:extLst>
          </p:cNvPr>
          <p:cNvSpPr/>
          <p:nvPr/>
        </p:nvSpPr>
        <p:spPr>
          <a:xfrm>
            <a:off x="381000" y="42164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D2511E-5135-2FE1-0E47-FE09EB1E2D04}"/>
              </a:ext>
            </a:extLst>
          </p:cNvPr>
          <p:cNvSpPr txBox="1"/>
          <p:nvPr/>
        </p:nvSpPr>
        <p:spPr>
          <a:xfrm>
            <a:off x="571500" y="43688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9: 1857 के समय ब्रिटेन का प्रधानमंत्री कौन था? ➡️ लॉर्ड पामर्स्टन (</a:t>
            </a:r>
            <a:r>
              <a:rPr lang="en-IN" sz="1350" b="1">
                <a:solidFill>
                  <a:srgbClr val="F8FAFC"/>
                </a:solidFill>
                <a:latin typeface="Segoe UI" panose="020B0502040204020203" pitchFamily="34" charset="0"/>
              </a:rPr>
              <a:t>Palmerston)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66C3887-C718-13BB-6C09-73715B80BB47}"/>
              </a:ext>
            </a:extLst>
          </p:cNvPr>
          <p:cNvSpPr/>
          <p:nvPr/>
        </p:nvSpPr>
        <p:spPr>
          <a:xfrm>
            <a:off x="381000" y="52070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4DE83E-B3CF-9DDB-E8DF-0A89F5668104}"/>
              </a:ext>
            </a:extLst>
          </p:cNvPr>
          <p:cNvSpPr txBox="1"/>
          <p:nvPr/>
        </p:nvSpPr>
        <p:spPr>
          <a:xfrm>
            <a:off x="571500" y="53594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10: 1858 में ईस्ट इंडिया कंपनी का शासन समाप्त कर भारत किसके अधीन हुआ? ➡️ ब्रिटिश क्राउन</a:t>
            </a:r>
            <a:endParaRPr lang="en-IN" sz="13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5A04B3-7DC1-ED8B-1740-91860D75A9DE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51076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2137</Words>
  <Application>Microsoft Office PowerPoint</Application>
  <PresentationFormat>Custom</PresentationFormat>
  <Paragraphs>66</Paragraphs>
  <Slides>12</Slides>
  <Notes>0</Notes>
  <HiddenSlides>0</HiddenSlides>
  <MMClips>3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Sudhir Kumar</dc:creator>
  <cp:lastModifiedBy>Sudhir Kumar</cp:lastModifiedBy>
  <cp:revision>1</cp:revision>
  <dcterms:created xsi:type="dcterms:W3CDTF">2026-10-24T11:51:40Z</dcterms:created>
  <dcterms:modified xsi:type="dcterms:W3CDTF">2026-10-24T11:51:40Z</dcterms:modified>
</cp:coreProperties>
</file>