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6126480"/>
          </a:xfrm>
          <a:prstGeom prst="rect">
            <a:avLst/>
          </a:prstGeom>
          <a:solidFill>
            <a:srgbClr val="1E3A8A"/>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394960" y="640080"/>
            <a:ext cx="1371600" cy="1371600"/>
          </a:xfrm>
          <a:prstGeom prst="rect">
            <a:avLst/>
          </a:prstGeom>
        </p:spPr>
      </p:pic>
      <p:sp>
        <p:nvSpPr>
          <p:cNvPr id="4" name="TextBox 3"/>
          <p:cNvSpPr txBox="1"/>
          <p:nvPr/>
        </p:nvSpPr>
        <p:spPr>
          <a:xfrm>
            <a:off x="914400" y="2103120"/>
            <a:ext cx="10362895" cy="2011680"/>
          </a:xfrm>
          <a:prstGeom prst="rect">
            <a:avLst/>
          </a:prstGeom>
          <a:noFill/>
        </p:spPr>
        <p:txBody>
          <a:bodyPr wrap="square">
            <a:spAutoFit/>
          </a:bodyPr>
          <a:lstStyle/>
          <a:p>
            <a:pPr algn="ctr">
              <a:defRPr sz="1800" b="1">
                <a:solidFill>
                  <a:srgbClr val="FDE68A"/>
                </a:solidFill>
                <a:latin typeface="Segoe UI"/>
              </a:defRPr>
            </a:pPr>
            <a:r>
              <a:t>SAGAR COACHING CENTRE BHAGWANPUR</a:t>
            </a:r>
          </a:p>
          <a:p>
            <a:pPr algn="ctr">
              <a:defRPr sz="1600" b="1">
                <a:solidFill>
                  <a:srgbClr val="93C5FD"/>
                </a:solidFill>
                <a:latin typeface="Segoe UI"/>
              </a:defRPr>
            </a:pPr>
            <a:r>
              <a:t>NMMS All India (राष्ट्रीय आय-सह-मेधा छात्रवृत्ति)  •  Class 10 • इतिहास (50 Min Full Lecture)</a:t>
            </a:r>
          </a:p>
          <a:p>
            <a:pPr algn="ctr">
              <a:defRPr sz="3200" b="1">
                <a:solidFill>
                  <a:srgbClr val="FFFFFF"/>
                </a:solidFill>
                <a:latin typeface="Segoe UI"/>
              </a:defRPr>
            </a:pPr>
            <a:r>
              <a:t>भारतीय राष्ट्रीय आंदोलन एवं स्वतंत्रता संग्राम (1885-1947)</a:t>
            </a:r>
          </a:p>
          <a:p>
            <a:pPr algn="ctr">
              <a:defRPr sz="1600">
                <a:solidFill>
                  <a:srgbClr val="F1F5F9"/>
                </a:solidFill>
                <a:latin typeface="Segoe UI"/>
              </a:defRPr>
            </a:pPr>
            <a:r>
              <a:t>Indian National Movement: Congress, Gandhi Era, Revolutionary Freedom Struggle &amp; Independence</a:t>
            </a:r>
          </a:p>
        </p:txBody>
      </p:sp>
      <p:sp>
        <p:nvSpPr>
          <p:cNvPr id="5" name="Rounded Rectangle 4"/>
          <p:cNvSpPr/>
          <p:nvPr/>
        </p:nvSpPr>
        <p:spPr>
          <a:xfrm>
            <a:off x="1371600" y="4206240"/>
            <a:ext cx="9448495" cy="1188720"/>
          </a:xfrm>
          <a:prstGeom prst="roundRect">
            <a:avLst/>
          </a:prstGeom>
          <a:solidFill>
            <a:srgbClr val="284BA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DE68A"/>
                </a:solidFill>
                <a:latin typeface="Segoe UI"/>
              </a:defRPr>
            </a:pPr>
            <a:r>
              <a:t>🎯 आज की क्लास में क्या सीखेंगे (Key Topics):</a:t>
            </a:r>
          </a:p>
          <a:p>
            <a:pPr algn="ctr">
              <a:defRPr sz="1300">
                <a:solidFill>
                  <a:srgbClr val="FFFFFF"/>
                </a:solidFill>
                <a:latin typeface="Segoe UI"/>
              </a:defRPr>
            </a:pPr>
            <a:r>
              <a:t>कांग्रेस स्थापना (1885), ए.ओ. ह्यूम व व्योमेश चंद्र बनर्जी  ★  बंगाल विभाजन (1905), स्वदेशी आंदोलन व तिलक  ★  गांधीजी का पदार्पण: चंपारण (1917) व जलियांवाला बाग (1919)  ★  असहयोग, दांडी मार्च (1930) व भारत छोड़ो आंदोलन (1942)  ★  15 मोस्ट रिपीटेड All India NMMS PYQs</a:t>
            </a:r>
          </a:p>
        </p:txBody>
      </p:sp>
      <p:sp>
        <p:nvSpPr>
          <p:cNvPr id="6" name="TextBox 5"/>
          <p:cNvSpPr txBox="1"/>
          <p:nvPr/>
        </p:nvSpPr>
        <p:spPr>
          <a:xfrm>
            <a:off x="1371600" y="5532120"/>
            <a:ext cx="9448495" cy="731520"/>
          </a:xfrm>
          <a:prstGeom prst="rect">
            <a:avLst/>
          </a:prstGeom>
          <a:noFill/>
        </p:spPr>
        <p:txBody>
          <a:bodyPr wrap="none">
            <a:spAutoFit/>
          </a:bodyPr>
          <a:lstStyle/>
          <a:p>
            <a:pPr algn="ctr">
              <a:defRPr sz="1300" b="1">
                <a:solidFill>
                  <a:srgbClr val="E2E8F0"/>
                </a:solidFill>
                <a:latin typeface="Segoe UI"/>
              </a:defRPr>
            </a:pPr>
            <a:r>
              <a:t>मार्गदर्शक: श्रवण कुमार 'सागर' (Sagar Sir)  |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10: भारतीय राष्ट्रीय कांग्रेस की स्थापना (1885) एवं आरंभिक चरण</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कांग्रेस की स्थापना: 28 दिसंबर 1885 को बंबई के गोकुलदास तेजपाल संस्कृत कॉलेज में हुई।</a:t>
            </a:r>
          </a:p>
          <a:p>
            <a:pPr>
              <a:spcBef>
                <a:spcPts val="1000"/>
              </a:spcBef>
              <a:spcAft>
                <a:spcPts val="200"/>
              </a:spcAft>
              <a:defRPr sz="1550">
                <a:solidFill>
                  <a:srgbClr val="1E293B"/>
                </a:solidFill>
                <a:latin typeface="Segoe UI"/>
              </a:defRPr>
            </a:pPr>
            <a:r>
              <a:t>•  संस्थापक: एलन ऑक्टेवियन ह्यूम (A.O. Hume) — एक अवकाशप्राप्त ब्रिटिश आईसीएस अधिकारी।</a:t>
            </a:r>
          </a:p>
          <a:p>
            <a:pPr>
              <a:spcBef>
                <a:spcPts val="1000"/>
              </a:spcBef>
              <a:spcAft>
                <a:spcPts val="200"/>
              </a:spcAft>
              <a:defRPr sz="1550">
                <a:solidFill>
                  <a:srgbClr val="1E293B"/>
                </a:solidFill>
                <a:latin typeface="Segoe UI"/>
              </a:defRPr>
            </a:pPr>
            <a:r>
              <a:t>•  प्रथम अध्यक्ष: व्योमेश चंद्र बनर्जी (W.C. Bonnerjee); पहले अधिवेशन में कुल 72 प्रतिनिधियों ने भाग लिया।</a:t>
            </a:r>
          </a:p>
          <a:p>
            <a:pPr>
              <a:spcBef>
                <a:spcPts val="1000"/>
              </a:spcBef>
              <a:spcAft>
                <a:spcPts val="200"/>
              </a:spcAft>
              <a:defRPr sz="1550">
                <a:solidFill>
                  <a:srgbClr val="1E293B"/>
                </a:solidFill>
                <a:latin typeface="Segoe UI"/>
              </a:defRPr>
            </a:pPr>
            <a:r>
              <a:t>•  दादाभाई नौरोजी: 'ग्रैंड ओल्ड मैन ऑफ इंडिया' (भारत के वयोवृद्ध पुरुष); इन्होंने 'धन के निष्कासन का सिद्धांत' (Drain of Wealth Theory) दिया और पुस्तक 'Poverty and Un-British Rule in India' लिखी।</a:t>
            </a:r>
          </a:p>
          <a:p>
            <a:pPr>
              <a:spcBef>
                <a:spcPts val="1000"/>
              </a:spcBef>
              <a:spcAft>
                <a:spcPts val="200"/>
              </a:spcAft>
              <a:defRPr sz="1550">
                <a:solidFill>
                  <a:srgbClr val="1E293B"/>
                </a:solidFill>
                <a:latin typeface="Segoe UI"/>
              </a:defRPr>
            </a:pPr>
            <a:r>
              <a:t>•  गरम दल vs नरम दल: लाल-बाल-पाल (लाला लाजपत राय, बाल गंगाधर तिलक, विपिन चंद्र पाल) गरम दल के नेता थे। तिलक का अमर उद्घोष: 'स्वराज मेरा जन्मसिद्ध अधिकार है और मैं इसे लेकर रहूंगा।'</a:t>
            </a:r>
          </a:p>
          <a:p>
            <a:pPr>
              <a:spcBef>
                <a:spcPts val="1000"/>
              </a:spcBef>
              <a:spcAft>
                <a:spcPts val="200"/>
              </a:spcAft>
              <a:defRPr sz="1550">
                <a:solidFill>
                  <a:srgbClr val="1E293B"/>
                </a:solidFill>
                <a:latin typeface="Segoe UI"/>
              </a:defRPr>
            </a:pPr>
            <a:r>
              <a:t>•  बंगाल विभाजन (1905): वायसराय लॉर्ड कर्जन ने फूट डालो और राज करो की नीति के तहत बंगाल का विभाजन किया; इसके विरोध में देशभर में 'स्वदेशी एवं बहिष्कार आंदोलन' चला।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10: गांधी युग का आरंभ — चंपारण, जलियांवाला बाग व असहयोग आंदोलन</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गांधीजी का भारत आगमन: 9 जनवरी 1915 को दक्षिण अफ्रीका से भारत लौटे (इसी उपलक्ष्य में 'प्रवासी भारतीय दिवस' मनाते हैं)।</a:t>
            </a:r>
          </a:p>
          <a:p>
            <a:pPr>
              <a:spcBef>
                <a:spcPts val="1000"/>
              </a:spcBef>
              <a:spcAft>
                <a:spcPts val="200"/>
              </a:spcAft>
              <a:defRPr sz="1550">
                <a:solidFill>
                  <a:srgbClr val="1E293B"/>
                </a:solidFill>
                <a:latin typeface="Segoe UI"/>
              </a:defRPr>
            </a:pPr>
            <a:r>
              <a:t>•  चंपारण सत्याग्रह (1917 ई., बिहार): भारत में गांधीजी का पहला सफल सत्याग्रह; नील की खेती की 'तिनकठिया प्रणाली' (3/20 भाग पर नील की अनिवार्य खेती) के विरोध में किसान नेता राजकुमार शुक्ल के आग्रह पर चंपारण आए।</a:t>
            </a:r>
          </a:p>
          <a:p>
            <a:pPr>
              <a:spcBef>
                <a:spcPts val="1000"/>
              </a:spcBef>
              <a:spcAft>
                <a:spcPts val="200"/>
              </a:spcAft>
              <a:defRPr sz="1550">
                <a:solidFill>
                  <a:srgbClr val="1E293B"/>
                </a:solidFill>
                <a:latin typeface="Segoe UI"/>
              </a:defRPr>
            </a:pPr>
            <a:r>
              <a:t>•  जलियांवाला बाग हत्याकांड (13 अप्रैल 1919): अमृतसर में बैसाखी के दिन डॉ. सैफुद्दीन किचलू और डॉ. सत्यपाल की गिरफ्तारी के विरोध में शांतिपूर्ण सभा पर जनरल डायर ने अंधाधुंध गोलियां चलवाईं। रवींद्रनाथ टैगोर ने 'नाइटहुड' (सर) की उपाधि त्याग दी।</a:t>
            </a:r>
          </a:p>
          <a:p>
            <a:pPr>
              <a:spcBef>
                <a:spcPts val="1000"/>
              </a:spcBef>
              <a:spcAft>
                <a:spcPts val="200"/>
              </a:spcAft>
              <a:defRPr sz="1550">
                <a:solidFill>
                  <a:srgbClr val="1E293B"/>
                </a:solidFill>
                <a:latin typeface="Segoe UI"/>
              </a:defRPr>
            </a:pPr>
            <a:r>
              <a:t>•  असहयोग आंदोलन (1920-1922): सरकारी स्कूलों, अदालतों व विदेशी कपड़ों का पूर्ण बहिष्कार।</a:t>
            </a:r>
          </a:p>
          <a:p>
            <a:pPr>
              <a:spcBef>
                <a:spcPts val="1000"/>
              </a:spcBef>
              <a:spcAft>
                <a:spcPts val="200"/>
              </a:spcAft>
              <a:defRPr sz="1550">
                <a:solidFill>
                  <a:srgbClr val="1E293B"/>
                </a:solidFill>
                <a:latin typeface="Segoe UI"/>
              </a:defRPr>
            </a:pPr>
            <a:r>
              <a:t>•  चौरी-चौरा कांड (4 फरवरी 1922): उत्तर प्रदेश के गोरखपुर में उग्र भीड़ द्वारा थाने में आग लगाने पर 22 पुलिसकर्मी मारे गए, जिससे आहत होकर गांधीजी ने असहयोग आंदोलन स्थगित कर दिया।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10: सविनय अवज्ञा, क्रांतिकारी आंदोलन, भारत छोड़ो व स्वतंत्रता (1947)</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4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दांडी मार्च व सविनय अवज्ञा आंदोलन (1930 ई.): 12 मार्च 1930 को साबरमती आश्रम से 78 अनुयायियों के साथ 241 मील की पैदल यात्रा कर 6 अप्रैल 1930 को दांडी समुद्र तट पर नमक बनाकर नमक कानून तोड़ा।</a:t>
            </a:r>
          </a:p>
          <a:p>
            <a:pPr>
              <a:spcBef>
                <a:spcPts val="1000"/>
              </a:spcBef>
              <a:spcAft>
                <a:spcPts val="200"/>
              </a:spcAft>
              <a:defRPr sz="1550">
                <a:solidFill>
                  <a:srgbClr val="1E293B"/>
                </a:solidFill>
                <a:latin typeface="Segoe UI"/>
              </a:defRPr>
            </a:pPr>
            <a:r>
              <a:t>•  भगत सिंह, सुखदेव व राजगुरु: 23 मार्च 1931 को लाहौर षड्यंत्र केस में इन्हें फांसी दी गई (शहीद दिवस)। नारा: 'इंकलाब जिंदाबाद'।</a:t>
            </a:r>
          </a:p>
          <a:p>
            <a:pPr>
              <a:spcBef>
                <a:spcPts val="1000"/>
              </a:spcBef>
              <a:spcAft>
                <a:spcPts val="200"/>
              </a:spcAft>
              <a:defRPr sz="1550">
                <a:solidFill>
                  <a:srgbClr val="1E293B"/>
                </a:solidFill>
                <a:latin typeface="Segoe UI"/>
              </a:defRPr>
            </a:pPr>
            <a:r>
              <a:t>•  भारत छोड़ो आंदोलन (Quit India Movement 1942): 8 अगस्त 1942 को बंबई के ग्वालिया टैंक मैदान से प्रस्ताव पास; 9 अगस्त 1942 को आंदोलन शुरू होते ही शीर्ष नेता 'ऑपरेशन जीरो आवर' के तहत गिरफ्तार।</a:t>
            </a:r>
          </a:p>
          <a:p>
            <a:pPr>
              <a:spcBef>
                <a:spcPts val="1000"/>
              </a:spcBef>
              <a:spcAft>
                <a:spcPts val="200"/>
              </a:spcAft>
              <a:defRPr sz="1550">
                <a:solidFill>
                  <a:srgbClr val="1E293B"/>
                </a:solidFill>
                <a:latin typeface="Segoe UI"/>
              </a:defRPr>
            </a:pPr>
            <a:r>
              <a:t>•  गांधीजी का ऐतिहासिक नारा: 'करो या मरो' (Do or Die)।</a:t>
            </a:r>
          </a:p>
          <a:p>
            <a:pPr>
              <a:spcBef>
                <a:spcPts val="1000"/>
              </a:spcBef>
              <a:spcAft>
                <a:spcPts val="200"/>
              </a:spcAft>
              <a:defRPr sz="1550">
                <a:solidFill>
                  <a:srgbClr val="1E293B"/>
                </a:solidFill>
                <a:latin typeface="Segoe UI"/>
              </a:defRPr>
            </a:pPr>
            <a:r>
              <a:t>•  नेताजी सुभाष चंद्र बोस: 1939 में 'फॉरवर्ड ब्लॉक' बनाया और सिंगापुर में 'आजाद हिंद फौज' (INA) का नेतृत्व संभाला। नारे: 'तुम मुझे खून दो, मैं तुम्हें आजादी दूंगा' और 'दिल्ली चलो'।</a:t>
            </a:r>
          </a:p>
          <a:p>
            <a:pPr>
              <a:spcBef>
                <a:spcPts val="1000"/>
              </a:spcBef>
              <a:spcAft>
                <a:spcPts val="200"/>
              </a:spcAft>
              <a:defRPr sz="1550">
                <a:solidFill>
                  <a:srgbClr val="1E293B"/>
                </a:solidFill>
                <a:latin typeface="Segoe UI"/>
              </a:defRPr>
            </a:pPr>
            <a:r>
              <a:t>•  15 अगस्त 1947: लॉर्ड माउंटबेटन योजना के आधार पर भारत को स्वतंत्रता प्राप्त हुई।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  [All India NMMS 2025]</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 भारतीय राष्ट्रीय कांग्रेस (INC) की स्थापना किस वर्ष और कहाँ हुई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1885 ई. (बंबई)</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1880 ई. (कोलकाता)</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1905 ई. (दिल्ली)</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1917 ई. (मद्रास)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  [All India NMMS 2025]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 भारतीय राष्ट्रीय कांग्रेस (INC) की स्थापना किस वर्ष और कहाँ हुई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1885 ई. (बंबई)</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1880 ई. (कोलकाता)</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1905 ई. (दिल्ली)</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1917 ई. (मद्रास)</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28 दिसंबर 1885 को बंबई में ए.ओ. ह्यूम द्वारा कांग्रेस की स्थापना हुई।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#2  [UP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2. भारतीय राष्ट्रीय कांग्रेस के प्रथम अधिवेशन के अध्यक्ष कौन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ए.ओ. ह्यूम</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व्योमेश चंद्र बनर्जी (W.C. Bonnerjee)</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दादाभाई नौरोजी</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गोपाल कृष्ण गोखले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#2  [UP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2. भारतीय राष्ट्रीय कांग्रेस के प्रथम अधिवेशन के अध्यक्ष कौन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ए.ओ. ह्यूम</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व्योमेश चंद्र बनर्जी (W.C. Bonnerjee)</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दादाभाई नौरोजी</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गोपाल कृष्ण गोखले</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व्योमेश चंद्र बनर्जी कांग्रेस के पहले अध्यक्ष 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#3  [Bihar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3. 'स्वराज मेरा जन्मसिद्ध अधिकार है और मैं इसे लेकर रहूंगा' का ऐतिहासिक नारा किसने दिया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लाला लाजपत राय</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बाल गंगाधर तिलक</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विपिन चंद्र पाल</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सुभाष चंद्र बोस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#3  [Bihar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3. 'स्वराज मेरा जन्मसिद्ध अधिकार है और मैं इसे लेकर रहूंगा' का ऐतिहासिक नारा किसने दिया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लाला लाजपत राय</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बाल गंगाधर तिलक</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विपिन चंद्र पाल</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सुभाष चंद्र बोस</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लोकमान्य बाल गंगाधर तिलक ने यह प्रसिद्ध नारा दिया 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#4  [Bihar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4. महात्मा गांधी ने भारत में अपना पहला सफल सत्याग्रह 1917 में कहाँ किया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खेड़ा (गुजरात)</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अहमदाबाद</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चंपारण (बिहार)</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दांडी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#4  [Bihar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4. महात्मा गांधी ने भारत में अपना पहला सफल सत्याग्रह 1917 में कहाँ किया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खेड़ा (गुजरात)</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अहमदाबाद</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चंपारण (बिहार)</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दांडी</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चंपारण में नील की खेती की 'तिनकठिया प्रणाली' के विरोध में गांधीजी ने पहला सत्याग्रह किया।</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#5  [Rajasthan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5. पंजाब के अमृतसर में कुख्यात 'जलियांवाला बाग हत्याकांड' किस तिथि को हुआ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13 अप्रैल 1919</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10 मई 1857</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15 अगस्त 1947</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26 जनवरी 1930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#5  [Rajasthan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5. पंजाब के अमृतसर में कुख्यात 'जलियांवाला बाग हत्याकांड' किस तिथि को हुआ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13 अप्रैल 1919</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10 मई 1857</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15 अगस्त 1947</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26 जनवरी 1930</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13 अप्रैल 1919 को बैसाखी के दिन जनरल डायर ने निहत्थी सभा पर गोलियां चलवाई 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#6  [MP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6. जलियांवाला बाग हत्याकांड के विरोध में किसने अंग्रेजों द्वारा दी गई 'नाइटहुड' उपाधि लौटा दी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महात्मा गांधी</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रवींद्रनाथ टैगोर</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पं. नेहरू</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सुभाष चंद्र बोस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#6  [MP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6. जलियांवाला बाग हत्याकांड के विरोध में किसने अंग्रेजों द्वारा दी गई 'नाइटहुड' उपाधि लौटा दी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महात्मा गांधी</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रवींद्रनाथ टैगोर</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पं. नेहरू</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सुभाष चंद्र बोस</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गुरुदेव रवींद्रनाथ टैगोर ने जलियांवाला बाग नरसंहार से आहत होकर नाइटहुड त्याग 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#7  [Haryana NMMS 2021]</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7. महात्मा गांधी ने 1930 में ऐतिहासिक 'दांडी मार्च' किस स्थान से शुरू किया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साबरमती आश्रम (अहमदाबाद)</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वर्धा</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चंपारण</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दांडी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#7  [Haryana NMMS 2021]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7. महात्मा गांधी ने 1930 में ऐतिहासिक 'दांडी मार्च' किस स्थान से शुरू किया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साबरमती आश्रम (अहमदाबाद)</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वर्धा</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चंपारण</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दांडी</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12 मार्च 1930 को साबरमती आश्रम से 78 सत्याग्रहियों के साथ दांडी मार्च शुरू हुआ।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#8  [UP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8. महात्मा गांधी ने प्रसिद्ध 'करो या मरो' (Do or Die) का नारा किस आंदोलन में दिया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असहयोग आंदोलन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सविनय अवज्ञा</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भारत छोड़ो आंदोलन (1942)</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चंपारण सत्याग्रह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#8  [UP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8. महात्मा गांधी ने प्रसिद्ध 'करो या मरो' (Do or Die) का नारा किस आंदोलन में दिया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असहयोग आंदोलन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सविनय अवज्ञा</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भारत छोड़ो आंदोलन (1942)</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चंपारण सत्याग्रह</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8 अगस्त 1942 को भारत छोड़ो आंदोलन की घोषणा करते हुए यह नारा दिया गया।</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#9  [Bihar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9. चौरी-चौरा की हिंसक घटना के बाद गांधीजी ने किस आंदोलन को तत्काल स्थगित कर दिया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असहयोग आंदोलन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सविनय अवज्ञा</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भारत छोड़ो</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रॉलेट सत्याग्रह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#9  [Bihar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9. चौरी-चौरा की हिंसक घटना के बाद गांधीजी ने किस आंदोलन को तत्काल स्थगित कर दिया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असहयोग आंदोलन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सविनय अवज्ञा</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भारत छोड़ो</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रॉलेट सत्याग्रह</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4 फरवरी 1922 के चौरी-चौरा कांड के बाद गांधीजी ने असहयोग आंदोलन वापस लिया।</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#10  [Rajasthan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10. 'तुम मुझे खून दो, मैं तुम्हें आजादी दूंगा' और 'दिल्ली चलो' का नारा किसने दिया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भगत सिंह</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चंद्रशेखर आजाद</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सुभाष चंद्र बोस</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सरदार पटेल</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#10  [Rajasthan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10. 'तुम मुझे खून दो, मैं तुम्हें आजादी दूंगा' और 'दिल्ली चलो' का नारा किसने दिया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भगत सिंह</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चंद्रशेखर आजाद</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सुभाष चंद्र बोस</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सरदार पटेल</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नेताजी सुभाष चंद्र बोस ने आजाद हिंद फौज के सैनिकों को यह नारा दिया।</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#11  [MP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11. लॉर्ड कर्जन ने किस वर्ष 'बंगाल का विभाजन' (Partition of Bengal) किया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1900 ई.</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1905 ईस्वी</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1907 ई.</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1911 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#11  [MP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11. लॉर्ड कर्जन ने किस वर्ष 'बंगाल का विभाजन' (Partition of Bengal) किया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1900 ई.</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1905 ईस्वी</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1907 ई.</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1911 ई.</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1905 में कर्जन ने फूट डालने हेतु बंगाल का विभाजन किया, जिसके विरोध में स्वदेशी आंदोलन हुआ।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#12  [UP NMMS 2025]</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12. भारत के 'ग्रैंड ओल्ड मैन' (वयोवृद्ध पुरुष) के नाम से किन्हें जाना जाता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दादाभाई नौरोजी</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सुरेंद्रनाथ बनर्जी</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गोपाल कृष्ण गोखले</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फिरोजशाह मेहता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#12  [UP NMMS 2025]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12. भारत के 'ग्रैंड ओल्ड मैन' (वयोवृद्ध पुरुष) के नाम से किन्हें जाना जाता है?</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दादाभाई नौरोजी</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सुरेंद्रनाथ बनर्जी</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गोपाल कृष्ण गोखले</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फिरोजशाह मेहता</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दादाभाई नौरोजी ने धन निष्कासन का सिद्धांत दिया और ब्रिटिश संसद के पहले भारतीय सदस्य बने।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#13  [Haryana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13. भगत सिंह, सुखदेव और राजगुरु को किस तिथि को फांसी दी गई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23 मार्च 1931</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26 जनवरी 1930</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15 अगस्त 1932</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2 अक्टूबर 1931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#13  [Haryana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13. भगत सिंह, सुखदेव और राजगुरु को किस तिथि को फांसी दी गई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23 मार्च 1931</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26 जनवरी 1930</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15 अगस्त 1932</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2 अक्टूबर 1931</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23 मार्च 1931 को लाहौर जेल में तीनों क्रांतिकारियों को फांसी दी गई (शहीद दिवस)।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#14  [Bihar NMMS 2021]</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14. बिहार में गांधीजी को चंपारण आने का न्योता किस किसान नेता ने दिया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राजकुमार शुक्ल</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स्वामी सहजानंद</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डॉ. श्रीकृष्ण सिंह</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डॉ. राजेंद्र प्रसाद</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#14  [Bihar NMMS 2021]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14. बिहार में गांधीजी को चंपारण आने का न्योता किस किसान नेता ने दिया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राजकुमार शुक्ल</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स्वामी सहजानंद</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डॉ. श्रीकृष्ण सिंह</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डॉ. राजेंद्र प्रसाद</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राजकुमार शुक्ल ने लखनऊ कांग्रेस (1916) में गांधीजी से मिलकर चंपारण आने का आग्रह किया 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#15  [All India NMMS 2025]</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15. स्वतंत्र भारत के प्रथम गवर्नर-जनरल निम्नलिखित में से कौन बने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लॉर्ड माउंटबेटन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 राजगोपालाचारी</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डॉ. राजेंद्र प्रसाद</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पं. नेहरू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#15  [All India NMMS 2025]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15. स्वतंत्र भारत के प्रथम गवर्नर-जनरल निम्नलिखित में से कौन बने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लॉर्ड माउंटबेटन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 राजगोपालाचारी</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डॉ. राजेंद्र प्रसाद</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पं. नेहरू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लॉर्ड माउंटबेटन स्वतंत्र भारत के पहले गवर्नर-जनरल बने (प्रथम भारतीय गवर्नर-जनरल सी. राजगोपालाचारी 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10: 1-मिनट क्विक मेमोरी सूत्र (राष्ट्रीय आंदोलन 1885-1947)</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35 of 37</a:t>
            </a:r>
          </a:p>
        </p:txBody>
      </p:sp>
      <p:sp>
        <p:nvSpPr>
          <p:cNvPr id="6" name="Rounded Rectangle 5"/>
          <p:cNvSpPr/>
          <p:nvPr/>
        </p:nvSpPr>
        <p:spPr>
          <a:xfrm>
            <a:off x="457200" y="1097280"/>
            <a:ext cx="11277295" cy="5029200"/>
          </a:xfrm>
          <a:prstGeom prst="roundRect">
            <a:avLst/>
          </a:prstGeom>
          <a:solidFill>
            <a:srgbClr val="FFFFFF"/>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2000" b="1">
                <a:solidFill>
                  <a:srgbClr val="D97706"/>
                </a:solidFill>
                <a:latin typeface="Segoe UI"/>
              </a:defRPr>
            </a:pPr>
            <a:r>
              <a:t>🔑 1-मिनट क्विक मेमोरी सूत्र (Revision Formulae):</a:t>
            </a:r>
          </a:p>
          <a:p>
            <a:pPr>
              <a:spcBef>
                <a:spcPts val="1000"/>
              </a:spcBef>
              <a:defRPr sz="1500" b="1">
                <a:solidFill>
                  <a:srgbClr val="1E3A8A"/>
                </a:solidFill>
                <a:latin typeface="Segoe UI"/>
              </a:defRPr>
            </a:pPr>
            <a:r>
              <a:t>👉  1885 (कांग्रेस स्थापना - ह्यूम, बंबई, अध्यक्ष बनर्जी) → 1905 (बंगाल विभाजन - कर्जन, स्वदेशी आंदोलन)</a:t>
            </a:r>
          </a:p>
          <a:p>
            <a:pPr>
              <a:spcBef>
                <a:spcPts val="1000"/>
              </a:spcBef>
              <a:defRPr sz="1500" b="1">
                <a:solidFill>
                  <a:srgbClr val="1E3A8A"/>
                </a:solidFill>
                <a:latin typeface="Segoe UI"/>
              </a:defRPr>
            </a:pPr>
            <a:r>
              <a:t>👉  1915 (गांधीजी भारत लौटे) → 1917 (चंपारण सत्याग्रह, बिहार - तिनकठिया प्रथा अंत)</a:t>
            </a:r>
          </a:p>
          <a:p>
            <a:pPr>
              <a:spcBef>
                <a:spcPts val="1000"/>
              </a:spcBef>
              <a:defRPr sz="1500" b="1">
                <a:solidFill>
                  <a:srgbClr val="1E3A8A"/>
                </a:solidFill>
                <a:latin typeface="Segoe UI"/>
              </a:defRPr>
            </a:pPr>
            <a:r>
              <a:t>👉  1919 (जलियांवाला बाग - डायर) → 1920 (असहयोग) → 1922 (चौरी-चौरा कांड के बाद आंदोलन बंद)</a:t>
            </a:r>
          </a:p>
          <a:p>
            <a:pPr>
              <a:spcBef>
                <a:spcPts val="1000"/>
              </a:spcBef>
              <a:defRPr sz="1500" b="1">
                <a:solidFill>
                  <a:srgbClr val="1E3A8A"/>
                </a:solidFill>
                <a:latin typeface="Segoe UI"/>
              </a:defRPr>
            </a:pPr>
            <a:r>
              <a:t>👉  1930 (दांडी मार्च, सविनय अवज्ञा, नमक कानून) → 1931 (23 मार्च - भगत सिंह, सुखदेव, राजगुरु बलिदान)</a:t>
            </a:r>
          </a:p>
          <a:p>
            <a:pPr>
              <a:spcBef>
                <a:spcPts val="1000"/>
              </a:spcBef>
              <a:defRPr sz="1500" b="1">
                <a:solidFill>
                  <a:srgbClr val="1E3A8A"/>
                </a:solidFill>
                <a:latin typeface="Segoe UI"/>
              </a:defRPr>
            </a:pPr>
            <a:r>
              <a:t>👉  1942 (भारत छोड़ो आंदोलन - 'करो या मरो') → आजाद हिंद फौज (सुभाष बोस) → 15 अगस्त 1947 (स्वतंत्रता)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आज का अभ्यास कार्य (Homework Questions)</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36 of 37</a:t>
            </a:r>
          </a:p>
        </p:txBody>
      </p:sp>
      <p:sp>
        <p:nvSpPr>
          <p:cNvPr id="6" name="Rounded Rectangle 5"/>
          <p:cNvSpPr/>
          <p:nvPr/>
        </p:nvSpPr>
        <p:spPr>
          <a:xfrm>
            <a:off x="731520" y="1188720"/>
            <a:ext cx="10728655" cy="4846320"/>
          </a:xfrm>
          <a:prstGeom prst="roundRect">
            <a:avLst/>
          </a:prstGeom>
          <a:solidFill>
            <a:srgbClr val="1E3A8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2200" b="1">
                <a:solidFill>
                  <a:srgbClr val="FDE68A"/>
                </a:solidFill>
                <a:latin typeface="Segoe UI"/>
              </a:defRPr>
            </a:pPr>
            <a:r>
              <a:t>📝 आज का अभ्यास कार्य (Homework):</a:t>
            </a:r>
          </a:p>
          <a:p>
            <a:pPr>
              <a:spcBef>
                <a:spcPts val="1400"/>
              </a:spcBef>
              <a:defRPr sz="1600" b="1">
                <a:solidFill>
                  <a:srgbClr val="FFFFFF"/>
                </a:solidFill>
                <a:latin typeface="Segoe UI"/>
              </a:defRPr>
            </a:pPr>
            <a:r>
              <a:t>प्रश्न 1: कांग्रेस की स्थापना कब, कहाँ और किसके द्वारा हुई थी? पहले अध्यक्ष कौन थे?</a:t>
            </a:r>
          </a:p>
          <a:p>
            <a:pPr>
              <a:spcBef>
                <a:spcPts val="1400"/>
              </a:spcBef>
              <a:defRPr sz="1600" b="1">
                <a:solidFill>
                  <a:srgbClr val="FFFFFF"/>
                </a:solidFill>
                <a:latin typeface="Segoe UI"/>
              </a:defRPr>
            </a:pPr>
            <a:r>
              <a:t>प्रश्न 2: चंपारण सत्याग्रह (1917) का कारण क्या था और गांधीजी को किसने आमंत्रित किया था?</a:t>
            </a:r>
          </a:p>
          <a:p>
            <a:pPr>
              <a:spcBef>
                <a:spcPts val="1400"/>
              </a:spcBef>
              <a:defRPr sz="1600" b="1">
                <a:solidFill>
                  <a:srgbClr val="FFFFFF"/>
                </a:solidFill>
                <a:latin typeface="Segoe UI"/>
              </a:defRPr>
            </a:pPr>
            <a:r>
              <a:t>प्रश्न 3: जलियांवाला बाग हत्याकांड की तिथि और इसके विरोध में टैगोर द्वारा उठाए गए कदम को लिखें।</a:t>
            </a:r>
          </a:p>
          <a:p>
            <a:pPr>
              <a:spcBef>
                <a:spcPts val="1400"/>
              </a:spcBef>
              <a:defRPr sz="1600" b="1">
                <a:solidFill>
                  <a:srgbClr val="FFFFFF"/>
                </a:solidFill>
                <a:latin typeface="Segoe UI"/>
              </a:defRPr>
            </a:pPr>
            <a:r>
              <a:t>प्रश्न 4: दांडी मार्च कब और कहाँ से शुरू हुआ था और इसका उद्देश्य क्या था?</a:t>
            </a:r>
          </a:p>
          <a:p>
            <a:pPr>
              <a:spcBef>
                <a:spcPts val="1400"/>
              </a:spcBef>
              <a:defRPr sz="1600" b="1">
                <a:solidFill>
                  <a:srgbClr val="FFFFFF"/>
                </a:solidFill>
                <a:latin typeface="Segoe UI"/>
              </a:defRPr>
            </a:pPr>
            <a:r>
              <a:t>प्रश्न 5: भारत छोड़ो आंदोलन में गांधीजी ने कौन सा प्रसिद्ध नारा दिया 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6126480"/>
          </a:xfrm>
          <a:prstGeom prst="rect">
            <a:avLst/>
          </a:prstGeom>
          <a:solidFill>
            <a:srgbClr val="1E3A8A"/>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394960" y="640080"/>
            <a:ext cx="1371600" cy="1371600"/>
          </a:xfrm>
          <a:prstGeom prst="rect">
            <a:avLst/>
          </a:prstGeom>
        </p:spPr>
      </p:pic>
      <p:sp>
        <p:nvSpPr>
          <p:cNvPr id="4" name="TextBox 3"/>
          <p:cNvSpPr txBox="1"/>
          <p:nvPr/>
        </p:nvSpPr>
        <p:spPr>
          <a:xfrm>
            <a:off x="914400" y="2103120"/>
            <a:ext cx="10362895" cy="2011680"/>
          </a:xfrm>
          <a:prstGeom prst="rect">
            <a:avLst/>
          </a:prstGeom>
          <a:noFill/>
        </p:spPr>
        <p:txBody>
          <a:bodyPr wrap="square">
            <a:spAutoFit/>
          </a:bodyPr>
          <a:lstStyle/>
          <a:p>
            <a:pPr algn="ctr">
              <a:defRPr sz="1800" b="1">
                <a:solidFill>
                  <a:srgbClr val="FDE68A"/>
                </a:solidFill>
                <a:latin typeface="Segoe UI"/>
              </a:defRPr>
            </a:pPr>
            <a:r>
              <a:t>SAGAR COACHING CENTRE BHAGWANPUR</a:t>
            </a:r>
          </a:p>
          <a:p>
            <a:pPr algn="ctr">
              <a:defRPr sz="1600" b="1">
                <a:solidFill>
                  <a:srgbClr val="93C5FD"/>
                </a:solidFill>
                <a:latin typeface="Segoe UI"/>
              </a:defRPr>
            </a:pPr>
            <a:r>
              <a:t>NMMS All India (राष्ट्रीय आय-सह-मेधा छात्रवृत्ति)  •  Class 10 Complete! कल मिलेंगे Class 11 में</a:t>
            </a:r>
          </a:p>
          <a:p>
            <a:pPr algn="ctr">
              <a:defRPr sz="3200" b="1">
                <a:solidFill>
                  <a:srgbClr val="FFFFFF"/>
                </a:solidFill>
                <a:latin typeface="Segoe UI"/>
              </a:defRPr>
            </a:pPr>
            <a:r>
              <a:t>कल का विषय: संपूर्ण इतिहास 30 PYQ महा-मैराथन</a:t>
            </a:r>
          </a:p>
          <a:p>
            <a:pPr algn="ctr">
              <a:defRPr sz="1600">
                <a:solidFill>
                  <a:srgbClr val="F1F5F9"/>
                </a:solidFill>
                <a:latin typeface="Segoe UI"/>
              </a:defRPr>
            </a:pPr>
            <a:r>
              <a:t>इस क्लास की PDF डाउनलोड करें: sagarcoaching.tech</a:t>
            </a:r>
          </a:p>
        </p:txBody>
      </p:sp>
      <p:sp>
        <p:nvSpPr>
          <p:cNvPr id="5" name="Rounded Rectangle 4"/>
          <p:cNvSpPr/>
          <p:nvPr/>
        </p:nvSpPr>
        <p:spPr>
          <a:xfrm>
            <a:off x="1371600" y="4206240"/>
            <a:ext cx="9448495" cy="1188720"/>
          </a:xfrm>
          <a:prstGeom prst="roundRect">
            <a:avLst/>
          </a:prstGeom>
          <a:solidFill>
            <a:srgbClr val="284BA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DE68A"/>
                </a:solidFill>
                <a:latin typeface="Segoe UI"/>
              </a:defRPr>
            </a:pPr>
            <a:r>
              <a:t>🎯 आज की क्लास में क्या सीखेंगे (Key Topics):</a:t>
            </a:r>
          </a:p>
          <a:p>
            <a:pPr algn="ctr">
              <a:defRPr sz="1300">
                <a:solidFill>
                  <a:srgbClr val="FFFFFF"/>
                </a:solidFill>
                <a:latin typeface="Segoe UI"/>
              </a:defRPr>
            </a:pPr>
            <a:r>
              <a:t>प्राचीन, मध्यकालीन व आधुनिक भारत का संपूर्ण मंथन  ★  30 ऑल इंडिया मोस्ट रिपीटेड गोल्डन PYQs  ★  लाइव टाइमर अभ्यास व रैपिड फायर रिवीजन  ★  इतिहास के 15 में से 15 अंक 100% पक्के</a:t>
            </a:r>
          </a:p>
        </p:txBody>
      </p:sp>
      <p:sp>
        <p:nvSpPr>
          <p:cNvPr id="6" name="TextBox 5"/>
          <p:cNvSpPr txBox="1"/>
          <p:nvPr/>
        </p:nvSpPr>
        <p:spPr>
          <a:xfrm>
            <a:off x="1371600" y="5532120"/>
            <a:ext cx="9448495" cy="731520"/>
          </a:xfrm>
          <a:prstGeom prst="rect">
            <a:avLst/>
          </a:prstGeom>
          <a:noFill/>
        </p:spPr>
        <p:txBody>
          <a:bodyPr wrap="none">
            <a:spAutoFit/>
          </a:bodyPr>
          <a:lstStyle/>
          <a:p>
            <a:pPr algn="ctr">
              <a:defRPr sz="1300" b="1">
                <a:solidFill>
                  <a:srgbClr val="E2E8F0"/>
                </a:solidFill>
                <a:latin typeface="Segoe UI"/>
              </a:defRPr>
            </a:pPr>
            <a:r>
              <a:t>मार्गदर्शक: श्रवण कुमार 'सागर' (Sagar Sir)  |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