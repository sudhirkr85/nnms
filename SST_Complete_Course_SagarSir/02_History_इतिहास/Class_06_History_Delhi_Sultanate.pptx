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06 • इतिहास (50 Min Full Lecture)</a:t>
            </a:r>
          </a:p>
          <a:p>
            <a:pPr algn="ctr">
              <a:defRPr sz="3200" b="1">
                <a:solidFill>
                  <a:srgbClr val="FFFFFF"/>
                </a:solidFill>
                <a:latin typeface="Segoe UI"/>
              </a:defRPr>
            </a:pPr>
            <a:r>
              <a:t>दिल्ली सल्तनत काल (1206 - 1526 ई.)</a:t>
            </a:r>
          </a:p>
          <a:p>
            <a:pPr algn="ctr">
              <a:defRPr sz="1600">
                <a:solidFill>
                  <a:srgbClr val="F1F5F9"/>
                </a:solidFill>
                <a:latin typeface="Segoe UI"/>
              </a:defRPr>
            </a:pPr>
            <a:r>
              <a:t>The Delhi Sultanate: Slave, Khalji, Tughlaq, Sayyid &amp; Lodi Dynasties</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गुलाम वंश (1206-1290): ऐबक, इल्तुतमिश, रजिया सुल्तान, बलबन  ★  खिलजी वंश (1290-1320): अलाउद्दीन खिलजी की बाजार नियंत्रण प्रणाली  ★  तुगलक वंश (1320-1414): मुहम्मद बिन तुगलक, सांकेतिक मुद्रा, इब्न बतूता  ★  लोदी वंश (1451-1526): सिकंदर लोदी व आगरा नगर स्थापना (1504)  ★  15 मोस्ट रिपीटेड All India NMMS PYQs</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06: गुलाम वंश (Slave Dynasty / ममलूक वंश — 1206 से 1290 ई.)</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कुतुबुद्दीन ऐबक (1206-1210): गुलाम वंश का संस्थापक; मुहम्मद गोरी का गुलाम था। इसे अपनी दानशीलता के कारण 'लाखबख्श' (लाखों का दान देने वाला) कहा जाता था। इसने दिल्ली में 'कुतुब मीनार' और 'कुव्वत-उल-इस्लाम मस्जिद' तथा अजमेर में 'अढ़ाई दिन का झोपड़ा' बनवाया। 1210 में चौगान (पोलो) खेलते समय घोड़े से गिरकर मृत्यु हुई।</a:t>
            </a:r>
          </a:p>
          <a:p>
            <a:pPr>
              <a:spcBef>
                <a:spcPts val="1000"/>
              </a:spcBef>
              <a:spcAft>
                <a:spcPts val="200"/>
              </a:spcAft>
              <a:defRPr sz="1550">
                <a:solidFill>
                  <a:srgbClr val="1E293B"/>
                </a:solidFill>
                <a:latin typeface="Segoe UI"/>
              </a:defRPr>
            </a:pPr>
            <a:r>
              <a:t>•  शम्सुद्दीन इल्तुतमिश (1211-1236): दिल्ली सल्तनत का वास्तविक संस्थापक; इसने राजधानी लाहौर से दिल्ली स्थानांतरित की। इसने 'तुर्कान-ए-चहलगानी' (चालीसा दल / 40 अमीरों का गुट) बनाया और 'इक्ता प्रणाली' शुरू की। इसने चांदी का 'टका' और तांबे का 'जीतल' सिक्का चलाया। कुतुब मीनार का निर्माण पूरा करवाया।</a:t>
            </a:r>
          </a:p>
          <a:p>
            <a:pPr>
              <a:spcBef>
                <a:spcPts val="1000"/>
              </a:spcBef>
              <a:spcAft>
                <a:spcPts val="200"/>
              </a:spcAft>
              <a:defRPr sz="1550">
                <a:solidFill>
                  <a:srgbClr val="1E293B"/>
                </a:solidFill>
                <a:latin typeface="Segoe UI"/>
              </a:defRPr>
            </a:pPr>
            <a:r>
              <a:t>•  रजिया सुल्तान (1236-1240): भारत की प्रथम और एकमात्र महिला मुस्लिम शासिका; इल्तुतमिश की योग्य पुत्री थी। इसने पर्दा प्रथा त्याग कर पुरुषों की भांति 'कुबा' (कोट) और 'कुलाह' (टोपी) पहनकर दरबार में बैठना शुरू किया।</a:t>
            </a:r>
          </a:p>
          <a:p>
            <a:pPr>
              <a:spcBef>
                <a:spcPts val="1000"/>
              </a:spcBef>
              <a:spcAft>
                <a:spcPts val="200"/>
              </a:spcAft>
              <a:defRPr sz="1550">
                <a:solidFill>
                  <a:srgbClr val="1E293B"/>
                </a:solidFill>
                <a:latin typeface="Segoe UI"/>
              </a:defRPr>
            </a:pPr>
            <a:r>
              <a:t>•  गियासुद्दीन बलबन (1266-1286): इसने चालीसा दल को समाप्त किया। विद्रोहियों व लुटेरों से निपटने हेतु कठोर 'लौह एवं रक्त की नीति' (Iron and Blood Policy) अपनाई। इसने दरबार में 'सिजदा' (घुटने टेककर झुकना) और 'पाबोस' (चरण चूमना) प्रथा तथा फारसी त्योहार 'नवरोज' शुरू किया।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06: खिलजी वंश एवं अलाउद्दीन खिलजी की बाजार नियंत्रण नीति</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जलालुद्दीन फिरोज खिलजी ने 1290 में खिलजी वंश की स्थापना की।</a:t>
            </a:r>
          </a:p>
          <a:p>
            <a:pPr>
              <a:spcBef>
                <a:spcPts val="1000"/>
              </a:spcBef>
              <a:spcAft>
                <a:spcPts val="200"/>
              </a:spcAft>
              <a:defRPr sz="1550">
                <a:solidFill>
                  <a:srgbClr val="1E293B"/>
                </a:solidFill>
                <a:latin typeface="Segoe UI"/>
              </a:defRPr>
            </a:pPr>
            <a:r>
              <a:t>•  अलाउद्दीन खिलजी (1296-1316): खिलजी वंश का सबसे शक्तिशाली सुल्तान; इसे 'सिकंदर-ए-सानी' (द्वितीय सिकंदर) की उपाधि प्राप्त थी।</a:t>
            </a:r>
          </a:p>
          <a:p>
            <a:pPr>
              <a:spcBef>
                <a:spcPts val="1000"/>
              </a:spcBef>
              <a:spcAft>
                <a:spcPts val="200"/>
              </a:spcAft>
              <a:defRPr sz="1550">
                <a:solidFill>
                  <a:srgbClr val="1E293B"/>
                </a:solidFill>
                <a:latin typeface="Segoe UI"/>
              </a:defRPr>
            </a:pPr>
            <a:r>
              <a:t>•  बाजार नियंत्रण प्रणाली (Market Control System): विशाल सेना के भरण-पोषण हेतु अलाउद्दीन ने दैनिक उपभोग की सभी वस्तुओं (अनाज, वस्त्र, पशु) के दाम निश्चित (Fixed Price) कर दिए।</a:t>
            </a:r>
          </a:p>
          <a:p>
            <a:pPr>
              <a:spcBef>
                <a:spcPts val="1000"/>
              </a:spcBef>
              <a:spcAft>
                <a:spcPts val="200"/>
              </a:spcAft>
              <a:defRPr sz="1550">
                <a:solidFill>
                  <a:srgbClr val="1E293B"/>
                </a:solidFill>
                <a:latin typeface="Segoe UI"/>
              </a:defRPr>
            </a:pPr>
            <a:r>
              <a:t>•  दीवान-ए-रियासत व शाहना-ए-मंडी: बाजार का निरीक्षण करने हेतु गुप्तचर (बरीद व मुनहियान) और बाजार अधीक्षक (शाहना) नियुक्त किए। कम तोलने वाले व्यापारी के शरीर से उतना ही मांस काटने का कठोर दंड था।</a:t>
            </a:r>
          </a:p>
          <a:p>
            <a:pPr>
              <a:spcBef>
                <a:spcPts val="1000"/>
              </a:spcBef>
              <a:spcAft>
                <a:spcPts val="200"/>
              </a:spcAft>
              <a:defRPr sz="1550">
                <a:solidFill>
                  <a:srgbClr val="1E293B"/>
                </a:solidFill>
                <a:latin typeface="Segoe UI"/>
              </a:defRPr>
            </a:pPr>
            <a:r>
              <a:t>•  दाग एवं हुलिया प्रथा: सेना में घोड़ों को दागने (घोड़ों पर सरकारी मुहर) और सैनिकों का हुलिया (शारीरिक पहचान पत्र) दर्ज करने की प्रथा शुरू की।</a:t>
            </a:r>
          </a:p>
          <a:p>
            <a:pPr>
              <a:spcBef>
                <a:spcPts val="1000"/>
              </a:spcBef>
              <a:spcAft>
                <a:spcPts val="200"/>
              </a:spcAft>
              <a:defRPr sz="1550">
                <a:solidFill>
                  <a:srgbClr val="1E293B"/>
                </a:solidFill>
                <a:latin typeface="Segoe UI"/>
              </a:defRPr>
            </a:pPr>
            <a:r>
              <a:t>•  दक्षिण भारत विजय: अलाउद्दीन के सेनापति मलिक काफूर (हजार दीनारी) ने देवगिरि, वारंगल, द्वारसमुद्र और मदुरै तक दक्षिण भारत को जीता।</a:t>
            </a:r>
          </a:p>
          <a:p>
            <a:pPr>
              <a:spcBef>
                <a:spcPts val="1000"/>
              </a:spcBef>
              <a:spcAft>
                <a:spcPts val="200"/>
              </a:spcAft>
              <a:defRPr sz="1550">
                <a:solidFill>
                  <a:srgbClr val="1E293B"/>
                </a:solidFill>
                <a:latin typeface="Segoe UI"/>
              </a:defRPr>
            </a:pPr>
            <a:r>
              <a:t>•  अलाई दरवाजा: अलाउद्दीन ने दिल्ली में कुतुब मीनार के पास भव्य 'अलाई दरवाजा' बनवाया, जिसे इस्लामी वास्तुकला का रत्न कहा जाता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06: तुगलक वंश, लोदी वंश एवं दिल्ली सल्तनत का पतन</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4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गियासुद्दीन तुगलक ने 1320 में तुगलक वंश की स्थापना की। इसने तुगलकाबाद नगर बसाया और नहरों का निर्माण कराने वाला पहला सुल्तान बना।</a:t>
            </a:r>
          </a:p>
          <a:p>
            <a:pPr>
              <a:spcBef>
                <a:spcPts val="1000"/>
              </a:spcBef>
              <a:spcAft>
                <a:spcPts val="200"/>
              </a:spcAft>
              <a:defRPr sz="1550">
                <a:solidFill>
                  <a:srgbClr val="1E293B"/>
                </a:solidFill>
                <a:latin typeface="Segoe UI"/>
              </a:defRPr>
            </a:pPr>
            <a:r>
              <a:t>•  मुहम्मद बिन तुगलक (1325-1351): अत्यधिक विद्वान लेकिन अपनी असफल योजनाओं के कारण 'विरोधाभासों का मिश्रण' या 'पागल सुल्तान' कहा गया।</a:t>
            </a:r>
          </a:p>
          <a:p>
            <a:pPr>
              <a:spcBef>
                <a:spcPts val="1000"/>
              </a:spcBef>
              <a:spcAft>
                <a:spcPts val="200"/>
              </a:spcAft>
              <a:defRPr sz="1550">
                <a:solidFill>
                  <a:srgbClr val="1E293B"/>
                </a:solidFill>
                <a:latin typeface="Segoe UI"/>
              </a:defRPr>
            </a:pPr>
            <a:r>
              <a:t>•  मुहम्मद तुगलक की 5 प्रमुख योजनाएं: 1. दोआब में कर वृद्धि (1326), 2. राजधानी परिवर्तन: दिल्ली से देवगिरि / दौलताबाद (1327), 3. सांकेतिक मुद्रा (तांबे/कांस्य के सिक्के - 1329), 4. खुरासान अभियान, 5. कराचिल अभियान।</a:t>
            </a:r>
          </a:p>
          <a:p>
            <a:pPr>
              <a:spcBef>
                <a:spcPts val="1000"/>
              </a:spcBef>
              <a:spcAft>
                <a:spcPts val="200"/>
              </a:spcAft>
              <a:defRPr sz="1550">
                <a:solidFill>
                  <a:srgbClr val="1E293B"/>
                </a:solidFill>
                <a:latin typeface="Segoe UI"/>
              </a:defRPr>
            </a:pPr>
            <a:r>
              <a:t>•  इब्न बतूता (Ibn Battuta): उत्तरी अफ्रीका के मोरक्को का प्रसिद्ध यात्री; 1333 ई. में तुगलक के काल में भारत आया। सुल्तान ने इसे दिल्ली का काजी (न्यायाधीश) नियुक्त किया। इसने अपना प्रसिद्ध यात्रा वृत्तांत 'किताब-उल-रेहला' लिखा।</a:t>
            </a:r>
          </a:p>
          <a:p>
            <a:pPr>
              <a:spcBef>
                <a:spcPts val="1000"/>
              </a:spcBef>
              <a:spcAft>
                <a:spcPts val="200"/>
              </a:spcAft>
              <a:defRPr sz="1550">
                <a:solidFill>
                  <a:srgbClr val="1E293B"/>
                </a:solidFill>
                <a:latin typeface="Segoe UI"/>
              </a:defRPr>
            </a:pPr>
            <a:r>
              <a:t>•  फिरोज शाह तुगलक (1351-1388): इसने जौनपुर, फिरोजाबाद, फतेहाबाद और हिसार नगर बसाए। दासों के लिए 'दीवान-ए-बंदगान' और दान के लिए 'दीवान-ए-खैरात' विभाग बनाया।</a:t>
            </a:r>
          </a:p>
          <a:p>
            <a:pPr>
              <a:spcBef>
                <a:spcPts val="1000"/>
              </a:spcBef>
              <a:spcAft>
                <a:spcPts val="200"/>
              </a:spcAft>
              <a:defRPr sz="1550">
                <a:solidFill>
                  <a:srgbClr val="1E293B"/>
                </a:solidFill>
                <a:latin typeface="Segoe UI"/>
              </a:defRPr>
            </a:pPr>
            <a:r>
              <a:t>•  लोदी वंश (1451-1526): भारत का पहला अफगान वंश; संस्थापक बहलोल लोदी।</a:t>
            </a:r>
          </a:p>
          <a:p>
            <a:pPr>
              <a:spcBef>
                <a:spcPts val="1000"/>
              </a:spcBef>
              <a:spcAft>
                <a:spcPts val="200"/>
              </a:spcAft>
              <a:defRPr sz="1550">
                <a:solidFill>
                  <a:srgbClr val="1E293B"/>
                </a:solidFill>
                <a:latin typeface="Segoe UI"/>
              </a:defRPr>
            </a:pPr>
            <a:r>
              <a:t>•  सिकंदर लोदी (1489-1517): इसने 1504 ईस्वी में यमुना तट पर 'आगरा' नगर की स्थापना की और 1506 में इसे राजधानी बनाया। इसने भूमि माप हेतु 'गज-ए-सिकंदरी' पैमाना चलाया।</a:t>
            </a:r>
          </a:p>
          <a:p>
            <a:pPr>
              <a:spcBef>
                <a:spcPts val="1000"/>
              </a:spcBef>
              <a:spcAft>
                <a:spcPts val="200"/>
              </a:spcAft>
              <a:defRPr sz="1550">
                <a:solidFill>
                  <a:srgbClr val="1E293B"/>
                </a:solidFill>
                <a:latin typeface="Segoe UI"/>
              </a:defRPr>
            </a:pPr>
            <a:r>
              <a:t>•  इब्राहिम लोदी (1517-1526): लोदी वंश का अंतिम शासक; 21 अप्रैल 1526 को 'पानीपत के प्रथम युद्ध' में बाबर से पराजित होकर मारा गया।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[Bihar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दिल्ली सल्तनत में 'गुलाम वंश' (ममलूक वंश) की स्थापना 1206 ई. में किसने की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कुतुबुद्दीन ऐबक</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बलबन</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अलाउद्दीन खिलजी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[Bihar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दिल्ली सल्तनत में 'गुलाम वंश' (ममलूक वंश) की स्थापना 1206 ई. में किसने की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कुतुबुद्दीन ऐबक</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बलबन</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अलाउद्दीन खिलजी</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कुतुबुद्दीन ऐबक मुहम्मद गोरी का गुलाम था और 1206 में गद्दी पर बैठा।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[UP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अपनी अत्यधिक दानशीलता के कारण 'लाखबख्श' (लाखों का दानी) किस सुल्तान को कहा जाता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कुतुबुद्दीन ऐबक</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फिरोज तुगलक</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सिकंदर लोदी</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[UP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अपनी अत्यधिक दानशीलता के कारण 'लाखबख्श' (लाखों का दानी) किस सुल्तान को कहा जाता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कुतुबुद्दीन ऐबक</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फिरोज तुगलक</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सिकंदर लोदी</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ऐबक गरीबों व विद्वानों को लाखों का दान देता था इसलिए लाखबख्श कहलाया।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[Rajasthan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दिल्ली में स्थित प्रसिद्ध 'कुतुब मीनार' के निर्माण की शुरुआत किसने करवाई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कुतुबुद्दीन ऐबक</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अलाउद्दीन खिलजी</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शाहजहां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[Rajasthan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दिल्ली में स्थित प्रसिद्ध 'कुतुब मीनार' के निर्माण की शुरुआत किसने करवाई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कुतुबुद्दीन ऐबक</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अलाउद्दीन खिलजी</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शाहजहां</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ऐबक ने कुतुब मीनार की नींव रखी, जबकि इसे पूरा इल्तुतमिश ने करवाया।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[Bihar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भारत की प्रथम और एकमात्र महिला मुस्लिम शासिका कौन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चांद बीबी</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रजिया सुल्तान</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नूरजहाँ</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मुमताज महल</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[Bihar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भारत की प्रथम और एकमात्र महिला मुस्लिम शासिका कौन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चांद बीबी</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रजिया सुल्तान</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नूरजहाँ</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मुमताज महल</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इल्तुतमिश की सुपुत्री रजिया सुल्तान 1236 ईस्वी में दिल्ली की सुल्तान बनी 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[MP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चालीसा दल (तुर्कान-ए-चहलगानी) का गठन किस सुल्तान ने किया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कुतुबुद्दीन ऐबक</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बलबन</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अलाउद्दीन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[MP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चालीसा दल (तुर्कान-ए-चहलगानी) का गठन किस सुल्तान ने किया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कुतुबुद्दीन ऐबक</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इल्तुतमिश</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बलबन</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अलाउद्दीन</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इल्तुतमिश ने 40 वफादार अमीर सरदारों का चालीसा गुट बनाया 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[Haryana NMMS 2021]</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विद्रोहियों और शत्रुओं के विरुद्ध कठोर 'लौह एवं रक्त की नीति' किसने अपनाई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बलबन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रजिया सुल्तान</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सिकंदर लोदी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[Haryana NMMS 2021]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विद्रोहियों और शत्रुओं के विरुद्ध कठोर 'लौह एवं रक्त की नीति' किसने अपनाई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बलबन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रजिया सुल्तान</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सिकंदर लोदी</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गियासुद्दीन बलबन ने कठोर लौह एवं रक्त की नीति लागू 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[UP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दिल्ली सल्तनत में कठोर 'बाजार नियंत्रण प्रणाली' (मूल्य नियंत्रण) किस सुल्तान ने लागू की?</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बलबन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अलाउद्दीन खिलजी</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मुहम्मद बिन तुगलक</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फिरोज तुगलक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[UP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दिल्ली सल्तनत में कठोर 'बाजार नियंत्रण प्रणाली' (मूल्य नियंत्रण) किस सुल्तान ने लागू की?</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बलबन</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अलाउद्दीन खिलजी</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मुहम्मद बिन तुगलक</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फिरोज तुगलक</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अलाउद्दीन खिलजी ने वस्तुओं के दाम स्थिर रखने हेतु कठोर बाजार नीति बनाई।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[Bihar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19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सैनिकों का हुलिया दर्ज करने और घोड़ों को दागने की प्रथा किसने शुरू की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अलाउद्दीन खिलजी</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शेरशाह सूरी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अकबर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[Bihar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सैनिकों का हुलिया दर्ज करने और घोड़ों को दागने की प्रथा किसने शुरू की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इल्तुतमिश</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अलाउद्दीन खिलजी</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शेरशाह सूरी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अकबर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अलाउद्दीन खिलजी ने सेना में भ्रष्टाचार रोकने हेतु यह प्रथा शुरू 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[Rajasthan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अपनी राजधानी दिल्ली से 'दौलताबाद' (देवगिरि) स्थानांतरित करने वाला सुल्तान कौन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अलाउद्दीन खिलजी</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मुहम्मद बिन तुगलक</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इब्राहिम लोदी</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बलबन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[Rajasthan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अपनी राजधानी दिल्ली से 'दौलताबाद' (देवगिरि) स्थानांतरित करने वाला सुल्तान कौन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अलाउद्दीन खिलजी</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मुहम्मद बिन तुगलक</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इब्राहिम लोदी</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बलबन</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मुहम्मद बिन तुगलक ने 1327 ई. में राजधानी दिल्ली से दौलताबाद बदली।</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[All India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मोरक्को (अफ्रीका) का प्रसिद्ध विदेशी यात्री 'इब्न बतूता' किसके शासनकाल में भारत आया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अलाउद्दीन खिलजी</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मुहम्मद बिन तुगलक</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फिरोज तुगलक</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अकबर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[All India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मोरक्को (अफ्रीका) का प्रसिद्ध विदेशी यात्री 'इब्न बतूता' किसके शासनकाल में भारत आया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अलाउद्दीन खिलजी</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मुहम्मद बिन तुगलक</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फिरोज तुगलक</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अकबर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इब्न बतूता 1333 ई. में तुगलक के काल में आया, जिसकी पुस्तक 'रेहला'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[UP NMMS 2025]</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इब्न बतूता द्वारा लिखित प्रसिद्ध यात्रा वृत्तांत पुस्तक का क्या नाम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किताब-उल-रेहला</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किताब-ए-हिंद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शाहनामा</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तारीख-ए-फिरोजशाही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[UP NMMS 2025]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इब्न बतूता द्वारा लिखित प्रसिद्ध यात्रा वृत्तांत पुस्तक का क्या नाम है?</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किताब-उल-रेहला</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किताब-ए-हिंद</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शाहनामा</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तारीख-ए-फिरोजशाही</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रेहला (Rihla) इब्न बतूता का यात्रा वृत्तांत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[Bihar NMMS 2021]</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यमुना नदी के तट पर ऐतिहासिक 'आगरा शहर' की स्थापना (1504 ई.) किस शासक ने की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बहलोल लोदी</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सिकंदर लोदी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इब्राहिम लोदी</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बाबर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[Bihar NMMS 2021]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यमुना नदी के तट पर ऐतिहासिक 'आगरा शहर' की स्थापना (1504 ई.) किस शासक ने की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बहलोल लोदी</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सिकंदर लोदी</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इब्राहिम लोदी</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बाबर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सिकंदर लोदी ने 1504 में आगरा नगर बसाया और 1506 में राजधानी बनाया।</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[MP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29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दिल्ली के कुतुब परिसर में प्रसिद्ध 'अलाई दरवाजा' का निर्माण किसने करवाया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कुतुबुद्दीन ऐबक</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अलाउद्दीन खिलजी</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शाहजहां</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[MP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दिल्ली के कुतुब परिसर में प्रसिद्ध 'अलाई दरवाजा' का निर्माण किसने करवाया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कुतुबुद्दीन ऐबक</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अलाउद्दीन खिलजी</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शाहजहां</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अलाउद्दीन खिलजी ने अलाई दरवाजा बनवाया 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[Haryana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दरबार में 'सिजदा' और 'पाबोस' प्रथा की शुरुआत किस शासक ने की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बलबन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ऐबक</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अलाउद्दीन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[Haryana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दरबार में 'सिजदा' और 'पाबोस' प्रथा की शुरुआत किस शासक ने की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बलबन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इल्तुतमिश</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ऐबक</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अलाउद्दीन</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बलबन ने ईरानी राजदरबार के शिष्टाचार सिजदा व पाबोस को लागू किया।</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2025]</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दिल्ली सल्तनत का अंतिम शासक कौन था, जो पानीपत के प्रथम युद्ध में मारा गया?</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बहलोल लोदी</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सिकंदर लोदी</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इब्राहिम लोदी</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दौलत खां लोदी</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2025]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दिल्ली सल्तनत का अंतिम शासक कौन था, जो पानीपत के प्रथम युद्ध में मारा गया?</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बहलोल लोदी</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सिकंदर लोदी</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इब्राहिम लोदी</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दौलत खां लोदी</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21 अप्रैल 1526 को इब्राहिम लोदी पानीपत के युद्ध में बाबर के हाथों मारा गया।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06: 1-मिनट क्विक मेमोरी सूत्र (दिल्ली सल्तनत 1206-1526)</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35 of 37</a:t>
            </a:r>
          </a:p>
        </p:txBody>
      </p:sp>
      <p:sp>
        <p:nvSpPr>
          <p:cNvPr id="6" name="Rounded Rectangle 5"/>
          <p:cNvSpPr/>
          <p:nvPr/>
        </p:nvSpPr>
        <p:spPr>
          <a:xfrm>
            <a:off x="457200" y="1097280"/>
            <a:ext cx="11277295" cy="5029200"/>
          </a:xfrm>
          <a:prstGeom prst="roundRect">
            <a:avLst/>
          </a:prstGeom>
          <a:solidFill>
            <a:srgbClr val="FFFFFF"/>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000" b="1">
                <a:solidFill>
                  <a:srgbClr val="D97706"/>
                </a:solidFill>
                <a:latin typeface="Segoe UI"/>
              </a:defRPr>
            </a:pPr>
            <a:r>
              <a:t>🔑 1-मिनट क्विक मेमोरी सूत्र (Revision Formulae):</a:t>
            </a:r>
          </a:p>
          <a:p>
            <a:pPr>
              <a:spcBef>
                <a:spcPts val="1000"/>
              </a:spcBef>
              <a:defRPr sz="1500" b="1">
                <a:solidFill>
                  <a:srgbClr val="1E3A8A"/>
                </a:solidFill>
                <a:latin typeface="Segoe UI"/>
              </a:defRPr>
            </a:pPr>
            <a:r>
              <a:t>👉  गुलाम वंश: कुतुबुद्दीन ऐबक (लाखबख्श, कुतुब मीनार नींव) → इल्तुतमिश (चालीसा, टका/जीतल) → रजिया (प्रथम महिला) → बलबन (लौह व रक्त, सिजदा)</a:t>
            </a:r>
          </a:p>
          <a:p>
            <a:pPr>
              <a:spcBef>
                <a:spcPts val="1000"/>
              </a:spcBef>
              <a:defRPr sz="1500" b="1">
                <a:solidFill>
                  <a:srgbClr val="1E3A8A"/>
                </a:solidFill>
                <a:latin typeface="Segoe UI"/>
              </a:defRPr>
            </a:pPr>
            <a:r>
              <a:t>👉  खिलजी वंश: अलाउद्दीन खिलजी (बाजार नियंत्रण नीति, दाग व हुलिया, अलाई दरवाजा, मलिक काफूर)</a:t>
            </a:r>
          </a:p>
          <a:p>
            <a:pPr>
              <a:spcBef>
                <a:spcPts val="1000"/>
              </a:spcBef>
              <a:defRPr sz="1500" b="1">
                <a:solidFill>
                  <a:srgbClr val="1E3A8A"/>
                </a:solidFill>
                <a:latin typeface="Segoe UI"/>
              </a:defRPr>
            </a:pPr>
            <a:r>
              <a:t>👉  तुगलक वंश: गियासुद्दीन (नहरें) → मुहम्मद तुगलक (दौलताबाद राजधानी, सांकेतिक मुद्रा) → इब्न बतूता (रेहला)</a:t>
            </a:r>
          </a:p>
          <a:p>
            <a:pPr>
              <a:spcBef>
                <a:spcPts val="1000"/>
              </a:spcBef>
              <a:defRPr sz="1500" b="1">
                <a:solidFill>
                  <a:srgbClr val="1E3A8A"/>
                </a:solidFill>
                <a:latin typeface="Segoe UI"/>
              </a:defRPr>
            </a:pPr>
            <a:r>
              <a:t>👉  लोदी वंश: सिकंदर लोदी (1504 आगरा स्थापना) → इब्राहिम लोदी (अंतिम शासक, पानीपत युद्ध 1526)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आज का अभ्यास कार्य (Homework Questions)</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Official Website: sagarcoaching.tech  |  Slide 36 of 37</a:t>
            </a:r>
          </a:p>
        </p:txBody>
      </p:sp>
      <p:sp>
        <p:nvSpPr>
          <p:cNvPr id="6" name="Rounded Rectangle 5"/>
          <p:cNvSpPr/>
          <p:nvPr/>
        </p:nvSpPr>
        <p:spPr>
          <a:xfrm>
            <a:off x="731520" y="1188720"/>
            <a:ext cx="10728655" cy="4846320"/>
          </a:xfrm>
          <a:prstGeom prst="roundRect">
            <a:avLst/>
          </a:prstGeom>
          <a:solidFill>
            <a:srgbClr val="1E3A8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200" b="1">
                <a:solidFill>
                  <a:srgbClr val="FDE68A"/>
                </a:solidFill>
                <a:latin typeface="Segoe UI"/>
              </a:defRPr>
            </a:pPr>
            <a:r>
              <a:t>📝 आज का अभ्यास कार्य (Homework):</a:t>
            </a:r>
          </a:p>
          <a:p>
            <a:pPr>
              <a:spcBef>
                <a:spcPts val="1400"/>
              </a:spcBef>
              <a:defRPr sz="1600" b="1">
                <a:solidFill>
                  <a:srgbClr val="FFFFFF"/>
                </a:solidFill>
                <a:latin typeface="Segoe UI"/>
              </a:defRPr>
            </a:pPr>
            <a:r>
              <a:t>प्रश्न 1: कुतुबुद्दीन ऐबक को लाखबख्श क्यों कहा जाता था और उसकी मृत्यु कैसे हुई?</a:t>
            </a:r>
          </a:p>
          <a:p>
            <a:pPr>
              <a:spcBef>
                <a:spcPts val="1400"/>
              </a:spcBef>
              <a:defRPr sz="1600" b="1">
                <a:solidFill>
                  <a:srgbClr val="FFFFFF"/>
                </a:solidFill>
                <a:latin typeface="Segoe UI"/>
              </a:defRPr>
            </a:pPr>
            <a:r>
              <a:t>प्रश्न 2: रजिया सुल्तान और बलबन की प्रमुख नीतियों के नाम अपनी फेयर कॉपी में लिखें।</a:t>
            </a:r>
          </a:p>
          <a:p>
            <a:pPr>
              <a:spcBef>
                <a:spcPts val="1400"/>
              </a:spcBef>
              <a:defRPr sz="1600" b="1">
                <a:solidFill>
                  <a:srgbClr val="FFFFFF"/>
                </a:solidFill>
                <a:latin typeface="Segoe UI"/>
              </a:defRPr>
            </a:pPr>
            <a:r>
              <a:t>प्रश्न 3: अलाउद्दीन खिलजी की बाजार नियंत्रण प्रणाली और दाग-हुलिया प्रथा क्या थी?</a:t>
            </a:r>
          </a:p>
          <a:p>
            <a:pPr>
              <a:spcBef>
                <a:spcPts val="1400"/>
              </a:spcBef>
              <a:defRPr sz="1600" b="1">
                <a:solidFill>
                  <a:srgbClr val="FFFFFF"/>
                </a:solidFill>
                <a:latin typeface="Segoe UI"/>
              </a:defRPr>
            </a:pPr>
            <a:r>
              <a:t>प्रश्न 4: इब्न बतूता किस देश से और किस सुल्तान के काल में भारत आया था?</a:t>
            </a:r>
          </a:p>
          <a:p>
            <a:pPr>
              <a:spcBef>
                <a:spcPts val="1400"/>
              </a:spcBef>
              <a:defRPr sz="1600" b="1">
                <a:solidFill>
                  <a:srgbClr val="FFFFFF"/>
                </a:solidFill>
                <a:latin typeface="Segoe UI"/>
              </a:defRPr>
            </a:pPr>
            <a:r>
              <a:t>प्रश्न 5: आगरा शहर की स्थापना कब और किसने की थी?</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06 Complete! कल मिलेंगे Class 07 में</a:t>
            </a:r>
          </a:p>
          <a:p>
            <a:pPr algn="ctr">
              <a:defRPr sz="3200" b="1">
                <a:solidFill>
                  <a:srgbClr val="FFFFFF"/>
                </a:solidFill>
                <a:latin typeface="Segoe UI"/>
              </a:defRPr>
            </a:pPr>
            <a:r>
              <a:t>कल का विषय: मुग़ल साम्राज्य एवं शेरशाह सूरी</a:t>
            </a:r>
          </a:p>
          <a:p>
            <a:pPr algn="ctr">
              <a:defRPr sz="1600">
                <a:solidFill>
                  <a:srgbClr val="F1F5F9"/>
                </a:solidFill>
                <a:latin typeface="Segoe UI"/>
              </a:defRPr>
            </a:pPr>
            <a:r>
              <a:t>इस क्लास की PDF डाउनलोड करें: sagarcoaching.tech</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बाबर व पानीपत का प्रथम युद्ध (1526 ई.)  ★  शेरशाह सूरी: GT Road, रुपया व सासाराम मकबरा  ★  अकबर महान: हल्दीघाटी (1576), दीन-ए-इलाही, नवरत्न  ★  शाहजहां का स्थापत्य: ताजमहल, लाल किला व मयूर सिंहासन  ★  15 मोस्ट रिपीटेड PYQs</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