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65760"/>
            <a:ext cx="11277295" cy="6126480"/>
          </a:xfrm>
          <a:prstGeom prst="rect">
            <a:avLst/>
          </a:prstGeom>
          <a:solidFill>
            <a:srgbClr val="1E3A8A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640080"/>
            <a:ext cx="1371600" cy="1371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103120"/>
            <a:ext cx="1036289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DE68A"/>
                </a:solidFill>
                <a:latin typeface="Segoe UI"/>
              </a:defRPr>
            </a:pPr>
            <a:r>
              <a:t>SAGAR COACHING CENTRE BHAGWANPUR</a:t>
            </a:r>
          </a:p>
          <a:p>
            <a:pPr algn="ctr">
              <a:defRPr sz="1600" b="1">
                <a:solidFill>
                  <a:srgbClr val="93C5FD"/>
                </a:solidFill>
                <a:latin typeface="Segoe UI"/>
              </a:defRPr>
            </a:pPr>
            <a:r>
              <a:t>NMMS All India (राष्ट्रीय आय-सह-मेधा छात्रवृत्ति)  •  Full Mock Test 02 • सम्पूर्ण सामाजिक विज्ञान (50 प्रश्न)</a:t>
            </a:r>
          </a:p>
          <a:p>
            <a:pPr algn="ctr">
              <a:defRPr sz="3200" b="1">
                <a:solidFill>
                  <a:srgbClr val="FFFFFF"/>
                </a:solidFill>
                <a:latin typeface="Segoe UI"/>
              </a:defRPr>
            </a:pPr>
            <a:r>
              <a:t>ऑल इंडिया NMMS संपूर्ण सामाजिक विज्ञान: फुल मॉक टेस्ट 02</a:t>
            </a:r>
          </a:p>
          <a:p>
            <a:pPr algn="ctr">
              <a:defRPr sz="1600">
                <a:solidFill>
                  <a:srgbClr val="F1F5F9"/>
                </a:solidFill>
                <a:latin typeface="Segoe UI"/>
              </a:defRPr>
            </a:pPr>
            <a:r>
              <a:t>इतिहास, नागरिक शास्त्र एवं भूगोल का 50-प्रश्नों का संपूर्ण अभ्यास (All India Pattern)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4206240"/>
            <a:ext cx="9448495" cy="1188720"/>
          </a:xfrm>
          <a:prstGeom prst="roundRect">
            <a:avLst/>
          </a:prstGeom>
          <a:solidFill>
            <a:srgbClr val="284BA0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DE68A"/>
                </a:solidFill>
                <a:latin typeface="Segoe UI"/>
              </a:defRPr>
            </a:pPr>
            <a:r>
              <a:t>🎯 आज की क्लास में क्या सीखेंगे (Key Topics):</a:t>
            </a:r>
          </a:p>
          <a:p>
            <a:pPr algn="ctr">
              <a:defRPr sz="1300">
                <a:solidFill>
                  <a:srgbClr val="FFFFFF"/>
                </a:solidFill>
                <a:latin typeface="Segoe UI"/>
              </a:defRPr>
            </a:pPr>
            <a:r>
              <a:t>इतिहास के 20 अति-महत्वपूर्ण प्रश्न  ★  नागरिक शास्त्र एवं संविधान के 15 प्रश्न  ★  भूगोल एवं पर्यावरण के 15 प्रश्न  ★  ऑल इंडिया NMMS 35 में 35 अंक की 100% तैयारी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5532120"/>
            <a:ext cx="94484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E2E8F0"/>
                </a:solidFill>
                <a:latin typeface="Segoe UI"/>
              </a:defRPr>
            </a:pPr>
            <a:r>
              <a:t>मार्गदर्शक: श्रवण कुमार 'सागर' (Sagar Sir)  |  sagarcoaching.tech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मॉक टेस्ट 02: परीक्षा में 35/35 अंक लाने के 4 अचूक नियम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029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65760" rIns="457200"/>
          <a:lstStyle/>
          <a:p>
            <a:pPr algn="ctr">
              <a:defRPr sz="1900" b="1">
                <a:solidFill>
                  <a:srgbClr val="1E3A8A"/>
                </a:solidFill>
                <a:latin typeface="Segoe UI"/>
              </a:defRPr>
            </a:pPr>
            <a:r>
              <a:t>📖 मुख्य तथ्य एवं सिद्धांत (Key Concepts &amp; Exam Notes):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नियम 1: प्रश्न को पूरा और ध्यान से पढ़ें — कई बार प्रश्न में 'नहीं है' या 'सत्य नहीं है' छिपा होता है।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नियम 2: ऑप्शन्स का एलिमिनेशन (Elimination Method) — जो विकल्प निश्चित गलत हैं, उन्हें पहले मन में काटें।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नियम 3: समय प्रबंधन (Time Management) — SST के 35 प्रश्नों को हल करने में 25-30 मिनट से अधिक समय न लगाएं।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नियम 4: OMR शीट सावधानी से भरें — NMMS परीक्षा में कोई निगेटिव मार्किंग (Negative Marking) नहीं है, इसलिए सभी 35 प्रश्न हल करें!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नियम 5: सागर सर का मंत्र — नियमित अभ्यास, पिछले वर्षों के प्रश्न (PYQs) और आत्मविश्वास ही सफलता की चाबी है।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  [All India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1. भारतीय संविधान की प्रारूप समिति (Drafting Committee) के अध्यक्ष कौन थे?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डॉ. राजेंद्र प्रसाद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डॉ. बी.आर. अंबेडकर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पं. नेहरू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सरदार पटेल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  [All India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1. भारतीय संविधान की प्रारूप समिति (Drafting Committee) के अध्यक्ष कौन थे?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डॉ. राजेंद्र प्रसाद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डॉ. बी.आर. अंबेडकर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पं. नेहरू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सरदार पटेल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डॉ. अंबेडकर को 'भारतीय संविधान का जनक' कहा जाता है।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  [Bihar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2. संविधान सभा के स्थायी अध्यक्ष के रूप में किन्हें चुना गया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डॉ. सच्चिदानंद सिन्हा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डॉ. राजेंद्र प्रसाद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बी.एन. राव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डॉ. राधाकृष्णन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  [Bihar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2. संविधान सभा के स्थायी अध्यक्ष के रूप में किन्हें चुना गया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डॉ. सच्चिदानंद सिन्हा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डॉ. राजेंद्र प्रसाद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बी.एन. राव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डॉ. राधाकृष्णन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11 दिसंबर 1946 को डॉ. राजेंद्र प्रसाद स्थायी अध्यक्ष चुने गए थे।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  [UP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3. भारतीय संविधान को तैयार होने में कुल कितना समय लगा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2 वर्ष 11 माह 18 दिन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3 वर्ष 1 माह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2 वर्ष 9 माह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1 वर्ष 11 माह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  [UP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3. भारतीय संविधान को तैयार होने में कुल कितना समय लगा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2 वर्ष 11 माह 18 दिन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3 वर्ष 1 माह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2 वर्ष 9 माह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1 वर्ष 11 माह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9 दिसंबर 1946 से 26 नवंबर 1949 तक 2 वर्ष 11 माह 18 दिन लगे।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  [Rajasthan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4. भारत में प्रत्येक वर्ष 'संविधान दिवस' किस तिथि को मनाया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15 अगस्त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26 जनवरी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26 नवंबर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2 अक्टूबर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  [Rajasthan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4. भारत में प्रत्येक वर्ष 'संविधान दिवस' किस तिथि को मनाया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15 अगस्त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26 जनवरी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26 नवंबर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2 अक्टूबर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26 नवंबर 1949 को संविधान अंगीकृत होने के कारण संविधान दिवस मनाते हैं।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#5  [MP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5. वर्तमान में भारतीय नागरिकों को कुल कितने मौलिक अधिकार प्राप्त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#5  [MP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5. वर्तमान में भारतीय नागरिकों को कुल कितने मौलिक अधिकार प्राप्त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8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मूल संविधान में 7 थे, 1978 में संपत्ति का अधिकार हटने से अब 6 हैं।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#6  [All India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6. डॉ. अंबेडकर ने किस अनुच्छेद को 'संविधान का हृदय और आत्मा' कहा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अनुच्छेद 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अनुच्छेद 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अनुच्छेद 21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अनुच्छेद 32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#6  [All India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6. डॉ. अंबेडकर ने किस अनुच्छेद को 'संविधान का हृदय और आत्मा' कहा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अनुच्छेद 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अनुच्छेद 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अनुच्छेद 21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(D)  अनुच्छेद 32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(D)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अनुच्छेद 32 'संवैधानिक उपचारों का अधिकार' है।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#7  [Haryana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7. 6 से 14 वर्ष के बच्चों को निशुल्क व अनिवार्य शिक्षा का अधिकार किस अनुच्छेद में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अनुच्छेद 19A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अनुच्छेद 21A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अनुच्छेद 45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अनुच्छेद 51A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#7  [Haryana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7. 6 से 14 वर्ष के बच्चों को निशुल्क व अनिवार्य शिक्षा का अधिकार किस अनुच्छेद में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अनुच्छेद 19A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अनुच्छेद 21A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अनुच्छेद 45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अनुच्छेद 51A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86वें संशोधन 2002 द्वारा अनुच्छेद 21A में RTE जोड़ा गया।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#8  [Bihar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8. संविधान के किस अनुच्छेद द्वारा छुआछूत (अस्पृश्यता) को समाप्त किया गया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अनुच्छेद 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अनुच्छेद 17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अनुच्छेद 19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अनुच्छेद 21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#8  [Bihar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8. संविधान के किस अनुच्छेद द्वारा छुआछूत (अस्पृश्यता) को समाप्त किया गया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अनुच्छेद 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अनुच्छेद 17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अनुच्छेद 19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अनुच्छेद 21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अनुच्छेद 17 अस्पृश्यता को दंडनीय अपराध घोषित करता है।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#9  [UP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9. संपत्ति के अधिकार को किस संविधान संशोधन द्वारा मौलिक अधिकारों से हटाया गया?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42वां संशोधन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44वां संशोधन (1978)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86वां संशोधन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73वां संशोधन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#9  [UP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20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9. संपत्ति के अधिकार को किस संविधान संशोधन द्वारा मौलिक अधिकारों से हटाया गया?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42वां संशोधन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44वां संशोधन (1978)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86वां संशोधन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73वां संशोधन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44वें संशोधन द्वारा संपत्ति का अधिकार कानूनी अधिकार बन गया।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#10  [Bihar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21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10. लोकसभा का सदस्य बनने के लिए उम्मीदवार की न्यूनतम आयु कितनी होनी चाहिए?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21 वर्ष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25 वर्ष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30 वर्ष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35 वर्ष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#10  [Bihar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22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10. लोकसभा का सदस्य बनने के लिए उम्मीदवार की न्यूनतम आयु कितनी होनी चाहिए?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21 वर्ष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25 वर्ष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30 वर्ष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35 वर्ष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लोकसभा और विधानसभा के लिए न्यूनतम आयु 25 वर्ष है।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#11  [UP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23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11. राज्यसभा के सदस्यों का कार्यकाल कितने वर्ष का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4 वर्ष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5 वर्ष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6 वर्ष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स्थायी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#11  [UP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24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11. राज्यसभा के सदस्यों का कार्यकाल कितने वर्ष का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4 वर्ष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5 वर्ष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6 वर्ष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स्थायी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राज्यसभा के सदस्यों का कार्यकाल 6 वर्ष होता है (सदन स्थायी है)।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#12  [All India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25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12. भारत का राष्ट्रपति बनने के लिए न्यूनतम आयु सीमा क्या निर्धारित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25 वर्ष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30 वर्ष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35 वर्ष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40 वर्ष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#12  [All India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26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12. भारत का राष्ट्रपति बनने के लिए न्यूनतम आयु सीमा क्या निर्धारित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25 वर्ष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30 वर्ष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35 वर्ष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40 वर्ष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अनुच्छेद 58 के अनुसार राष्ट्रपति बनने हेतु न्यूनतम आयु 35 वर्ष है।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#13  [Rajasthan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27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13. सर्वोच्च न्यायालय (Supreme Court) के न्यायाधीशों के अवकाश ग्रहण की उम्र क्या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60 वर्ष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62 वर्ष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65 वर्ष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70 वर्ष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#13  [Rajasthan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28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13. सर्वोच्च न्यायालय (Supreme Court) के न्यायाधीशों के अवकाश ग्रहण की उम्र क्या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60 वर्ष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62 वर्ष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65 वर्ष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70 वर्ष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सुप्रीम कोर्ट के जज 65 वर्ष में और हाई कोर्ट के जज 62 वर्ष में रिटायर होते हैं।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#14  [MP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29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14. FIR का पूरा नाम क्या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First Information Report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Final Investigation Record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Fast Indian Rule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Federal Inquiry Report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#14  [MP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30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14. FIR का पूरा नाम क्या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First Information Report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Final Investigation Record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Fast Indian Rule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Federal Inquiry Report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First Information Report (प्रथम सूचना रिपोर्ट) पुलिस में सबसे पहले दर्ज होती है।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#15  [Bihar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31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15. पंचायती राज व्यवस्था को किस संविधान संशोधन द्वारा संवैधानिक दर्जा दिया गया?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42वां संशोधन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44वां संशोधन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73वां संशोधन (1992)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86वां संशोधन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#15  [Bihar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32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15. पंचायती राज व्यवस्था को किस संविधान संशोधन द्वारा संवैधानिक दर्जा दिया गया?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42वां संशोधन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44वां संशोधन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73वां संशोधन (1992)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86वां संशोधन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73वें संशोधन द्वारा 11वीं अनुसूची जोड़कर पंचायती राज को दर्जा मिला।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#16  [UP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33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16. ग्राम पंचायत का चुनाव लड़ने के लिए उम्मीदवार की न्यूनतम आयु क्या होनी चाहिए?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18 वर्ष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21 वर्ष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25 वर्ष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30 वर्ष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#16  [UP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34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16. ग्राम पंचायत का चुनाव लड़ने के लिए उम्मीदवार की न्यूनतम आयु क्या होनी चाहिए?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18 वर्ष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21 वर्ष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25 वर्ष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30 वर्ष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वोट देने की उम्र 18 वर्ष है, लेकिन पंचायत चुनाव लड़ने की उम्र 21 वर्ष है।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#17  [Rajasthan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35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17. भारत में पहली बार पंचायती राज व्यवस्था किस राज्य और जिले में लागू हुई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UP (प्रयागराज)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बिहार (सुपौल)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राजस्थान (नागौर)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MP (भोपाल)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#17  [Rajasthan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36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17. भारत में पहली बार पंचायती राज व्यवस्था किस राज्य और जिले में लागू हुई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UP (प्रयागराज)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बिहार (सुपौल)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राजस्थान (नागौर)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MP (भोपाल)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2 अक्टूबर 1959 को राजस्थान के नागौर जिले में पं. नेहरू ने शुरुआत की।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#18  [Haryana NMMS 2021]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37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18. संविधान के अनुसार किसी गिरफ्तार व्यक्ति को कितने घंटे में मजिस्ट्रेट के समक्ष पेश करना अनिवार्य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12 घंटे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24 घंटे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48 घंटे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72 घंटे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#18  [Haryana NMMS 2021]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38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18. संविधान के अनुसार किसी गिरफ्तार व्यक्ति को कितने घंटे में मजिस्ट्रेट के समक्ष पेश करना अनिवार्य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12 घंटे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24 घंटे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48 घंटे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72 घंटे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अनुच्छेद 22 के तहत 24 घंटे के भीतर पेश करना मौलिक अधिकार है।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#19  [All India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39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19. भारतीय संविधान में वर्तमान में कुल कितने मौलिक कर्तव्य (अनु. 51A)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10 कर्तव्य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11 कर्तव्य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12 कर्तव्य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9 कर्तव्य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#19  [All India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40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19. भारतीय संविधान में वर्तमान में कुल कितने मौलिक कर्तव्य (अनु. 51A)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10 कर्तव्य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11 कर्तव्य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12 कर्तव्य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9 कर्तव्य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42वें संशोधन द्वारा 10 जोड़े गए, वर्तमान में कुल 11 कर्तव्य हैं।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#20  [Bihar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41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20. भारत में वयस्क मताधिकार (वोट देने) की न्यूनतम आयु क्या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16 वर्ष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18 वर्ष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21 वर्ष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25 वर्ष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#20  [Bihar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42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20. भारत में वयस्क मताधिकार (वोट देने) की न्यूनतम आयु क्या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16 वर्ष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18 वर्ष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21 वर्ष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25 वर्ष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61वें संशोधन द्वारा मतदान की उम्र 21 से घटाकर 18 वर्ष की गई।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#21  [All India NMMS 2025]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43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21. सौरमंडल के किस ग्रह को 'भोर का तारा' और 'पृथ्वी की जुड़वां बहन' कहते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बुध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शुक्र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मंगल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शनि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#21  [All India NMMS 2025]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44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21. सौरमंडल के किस ग्रह को 'भोर का तारा' और 'पृथ्वी की जुड़वां बहन' कहते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बुध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शुक्र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मंगल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शनि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शुक्र सबसे चमकीला और सबसे गर्म ग्रह है।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#22  [UP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45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22. पृथ्वी पर दिन और रात का बनना पृथ्वी की किस गति का परिणाम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परिक्रमण गति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घूर्णन गति (दैनिक गति)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वार्षिक गति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गुरुत्वाकर्षण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#22  [UP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46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22. पृथ्वी पर दिन और रात का बनना पृथ्वी की किस गति का परिणाम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परिक्रमण गति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घूर्णन गति (दैनिक गति)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वार्षिक गति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गुरुत्वाकर्षण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पृथ्वी 24 घंटे में अपनी धुरी पर घूमती है जिससे दिन और रात होते हैं।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#23  [Bihar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47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23. आयरन ऑक्साइड की अधिकता के कारण किस ग्रह को 'लाल ग्रह' (Red Planet) कहते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बुध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शुक्र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मंगल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शनि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#23  [Bihar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48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23. आयरन ऑक्साइड की अधिकता के कारण किस ग्रह को 'लाल ग्रह' (Red Planet) कहते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बुध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शुक्र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मंगल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शनि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मंगल ग्रह की मिट्टी में लौह ऑक्साइड होने से यह लाल दिखता है।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#24  [UP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49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24. भारतीय मानक समय रेखा (IST) किस देशांतर से होकर गुजरती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80° पूर्व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82½° पूर्वी देशांतर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85° पूर्व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90° पूर्व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#24  [UP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50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24. भारतीय मानक समय रेखा (IST) किस देशांतर से होकर गुजरती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80° पूर्व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82½° पूर्वी देशांतर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85° पूर्व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90° पूर्व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82°30' पूर्वी देशांतर ग्रीनविच समय से 5 घंटे 30 मिनट आगे है।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#25  [MP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51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25. सौरमंडल का सबसे बड़ा ग्रह कौन सा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पृथ्वी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शनि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बृहस्पति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वरुण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#25  [MP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52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25. सौरमंडल का सबसे बड़ा ग्रह कौन सा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पृथ्वी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शनि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बृहस्पति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वरुण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बृहस्पति (Jupiter) सौरमंडल का सबसे विशाल ग्रह है।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#26  [Rajasthan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53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26. पृथ्वी पर ऋतु परिवर्तन (मौसम बदलना) किस गति के कारण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घूर्णन गति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सूर्य के चारों ओर परिक्रमण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चंद्रमा का खिंचाव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ज्वालामुखी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#26  [Rajasthan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54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26. पृथ्वी पर ऋतु परिवर्तन (मौसम बदलना) किस गति के कारण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घूर्णन गति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सूर्य के चारों ओर परिक्रमण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चंद्रमा का खिंचाव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ज्वालामुखी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पृथ्वी 365¼ दिन में सूर्य की परिक्रमा करती है जिससे मौसम बदलते हैं।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#27  [Haryana NMMS 2021]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55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27. 23½° उत्तरी अक्षांश रेखा को किस नाम से जाना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भूमध्य रेखा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कर्क रेखा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मकर रेखा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आर्कटिक वृत्त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#27  [Haryana NMMS 2021]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56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27. 23½° उत्तरी अक्षांश रेखा को किस नाम से जाना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भूमध्य रेखा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कर्क रेखा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मकर रेखा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आर्कटिक वृत्त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23½° उत्तर को कर्क रेखा कहते हैं जो भारत के 8 राज्यों से गुजरती है।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#28  [All India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57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28. बादल, वर्षा, आंधी-तूफान जैसी मौसमी घटनाएं किस मंडल में होती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समतापमंडल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क्षोभमंडल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मध्यमंडल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आयनमंडल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#28  [All India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58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28. बादल, वर्षा, आंधी-तूफान जैसी मौसमी घटनाएं किस मंडल में होती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समतापमंडल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क्षोभमंडल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मध्यमंडल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आयनमंडल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क्षोभमंडल (Troposphere) वायुमंडल की सबसे निचली परत है।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#29  [Bihar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59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29. सूर्य की हानिकारक पराबैंगनी (UV) किरणों को रोकने वाली 'ओजोन परत' कहाँ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क्षोभमंडल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समतापमंडल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मध्यमंडल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बहिर्मंडल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#29  [Bihar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60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29. सूर्य की हानिकारक पराबैंगनी (UV) किरणों को रोकने वाली 'ओजोन परत' कहाँ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क्षोभमंडल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समतापमंडल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मध्यमंडल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बहिर्मंडल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समतापमंडल (Stratosphere) में ओजोन परत स्थित है।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#30  [UP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61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30. वायुमंडल में सर्वाधिक मात्रा में पाई जाने वाली गैस कौन सी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ऑक्सीजन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नाइट्रोजन (78%)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कार्बन डाइऑक्साइड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हाइड्रोजन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#30  [UP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62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30. वायुमंडल में सर्वाधिक मात्रा में पाई जाने वाली गैस कौन सी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ऑक्सीजन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नाइट्रोजन (78%)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कार्बन डाइऑक्साइड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हाइड्रोजन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नाइट्रोजन 78% और ऑक्सीजन लगभग 21% पाई जाती है।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#31  [Rajasthan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63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31. जेट वायुयान (हवाई जहाज) उड़ाने के लिए कौन सी परत सबसे आदर्श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क्षोभमंडल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समतापमंडल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आयनमंडल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मध्यमंडल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#31  [Rajasthan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64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31. जेट वायुयान (हवाई जहाज) उड़ाने के लिए कौन सी परत सबसे आदर्श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क्षोभमंडल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समतापमंडल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आयनमंडल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मध्यमंडल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समतापमंडल में मौसम शांत रहता है इसलिए यह विमान हेतु आदर्श है।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#32  [MP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65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32. विश्व का सबसे बड़ा और सबसे गहरा महासागर कौन सा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अटलांटिक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हिंद महासागर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प्रशांत महासागर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आर्कटिक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#32  [MP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66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32. विश्व का सबसे बड़ा और सबसे गहरा महासागर कौन सा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अटलांटिक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हिंद महासागर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प्रशांत महासागर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आर्कटिक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प्रशांत महासागर सबसे बड़ा है और इसमें मेरियाना गर्त स्थित है।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#33  [Bihar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67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33. रेडियो तरंगों को परावर्तित कर दूरसंचार संभव बनाने वाली परत कौन सी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क्षोभमंडल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आयनमंडल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मध्यमंडल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समतापमंडल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#33  [Bihar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68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33. रेडियो तरंगों को परावर्तित कर दूरसंचार संभव बनाने वाली परत कौन सी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क्षोभमंडल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आयनमंडल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मध्यमंडल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समतापमंडल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आयनमंडल (Ionosphere) रेडियो तरंगों को परावर्तित करता है।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#34  [All India NMMS 2025]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69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34. कपास की खेती के लिए सर्वाधिक उपयुक्त मिट्टी कौन सी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जलोढ़ मिट्टी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काली (रेगुर) मिट्टी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लाल मिट्टी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लेटराइट मिट्टी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#34  [All India NMMS 2025]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70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34. कपास की खेती के लिए सर्वाधिक उपयुक्त मिट्टी कौन सी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जलोढ़ मिट्टी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काली (रेगुर) मिट्टी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लाल मिट्टी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लेटराइट मिट्टी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काली मिट्टी में नमी धारण क्षमता सर्वाधिक होती है।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#35  [UP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71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35. भारत की सबसे लंबी नदी निम्नलिखित में से कौन सी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यमुना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गोदावरी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गंगा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नर्मदा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#35  [UP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72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35. भारत की सबसे लंबी नदी निम्नलिखित में से कौन सी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यमुना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गोदावरी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गंगा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नर्मदा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गंगा 2525 किलोमीटर के साथ भारत की सबसे लंबी नदी है।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#36  [Bihar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73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36. विश्व का सबसे बड़ा नदी डेल्टा कौन सा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मिसिसिपी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सुंदरवन डेल्टा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नील डेल्टा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सिंधु डेल्टा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#36  [Bihar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74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36. विश्व का सबसे बड़ा नदी डेल्टा कौन सा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मिसिसिपी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सुंदरवन डेल्टा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नील डेल्टा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सिंधु डेल्टा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गंगा और ब्रह्मपुत्र द्वारा बंगाल की खाड़ी में सुंदरवन डेल्टा बनता है।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#37  [Maharashtra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75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37. दक्षिण भारत की सबसे लंबी नदी जिसे 'दक्षिण गंगा' कहते हैं, कौन सी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कृष्णा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कावेरी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गोदावरी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महानदी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#37  [Maharashtra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76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37. दक्षिण भारत की सबसे लंबी नदी जिसे 'दक्षिण गंगा' कहते हैं, कौन सी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कृष्णा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कावेरी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गोदावरी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महानदी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गोदावरी नदी को दक्षिण गंगा या वृद्ध गंगा कहा जाता है।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#38  [Gujarat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77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38. निम्नलिखित में से कौन सी नदी पश्चिम की ओर बहकर अरब सागर में गिरती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गंगा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महानदी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नर्मदा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गोदावरी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#38  [Gujarat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78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38. निम्नलिखित में से कौन सी नदी पश्चिम की ओर बहकर अरब सागर में गिरती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गंगा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महानदी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नर्मदा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गोदावरी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नर्मदा और ताप्ती पश्चिम की ओर बहती हैं और डेल्टा नहीं बनातीं।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#39  [Bihar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79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39. नवीन जलोढ़ मिट्टी को क्या कहा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बांगर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खादर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रेगुर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भाबर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#39  [Bihar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80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39. नवीन जलोढ़ मिट्टी को क्या कहा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बांगर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खादर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रेगुर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भाबर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बाढ़ द्वारा लाई गई नई उपजाऊ मिट्टी को 'खादर' कहते हैं।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#40  [Kerala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81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40. चाय एवं कॉफी की खेती के लिए कौन सी मिट्टी सबसे उपयुक्त होती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काली मिट्टी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लेटराइट मिट्टी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मरुस्थलीय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जलोढ़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#40  [Kerala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82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40. चाय एवं कॉफी की खेती के लिए कौन सी मिट्टी सबसे उपयुक्त होती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काली मिट्टी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लेटराइट मिट्टी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मरुस्थलीय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जलोढ़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पहाड़ी ढलानों पर लेटराइट मिट्टी चाय-कॉफी हेतु सर्वोत्तम है।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#41  [All India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83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41. निम्नलिखित में से किसे 'काला सोना' (Black Gold) कहा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कोयला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पेट्रोलियम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ग्रेफाइट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लोहा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#41  [All India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84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41. निम्नलिखित में से किसे 'काला सोना' (Black Gold) कहा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कोयला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पेट्रोलियम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ग्रेफाइट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लोहा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पेट्रोलियम को इसके अत्यधिक महत्व के कारण काला सोना कहते हैं।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#42  [UP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85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42. निम्नलिखित में से कौन एक 'नवीकरणीय संसाधन' नहीं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सौर ऊर्जा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पवन ऊर्जा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कोयला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जल ऊर्जा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#42  [UP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86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42. निम्नलिखित में से कौन एक 'नवीकरणीय संसाधन' नहीं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सौर ऊर्जा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पवन ऊर्जा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कोयला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जल ऊर्जा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कोयला अनवीकरणीय जीवाश्म ईंधन है।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#43  [Bihar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87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43. निम्नलिखित में से कौन सी फसल 'रबी फसल' का उदाहरण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धान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मक्का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गेहूं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कपास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#43  [Bihar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88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43. निम्नलिखित में से कौन सी फसल 'रबी फसल' का उदाहरण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धान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मक्का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गेहूं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कपास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गेहूं, सरसों, चना सर्दियों में बोई जाने वाली रबी फसलें हैं।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#44  [Rajasthan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89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44. भारत में 'हरित क्रांति' (Green Revolution) के जनक कौन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डॉ. कुरियन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डॉ. एम.एस. स्वामीनाथन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सुंदरलाल बहुगुणा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डॉ. भाभा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#44  [Rajasthan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90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44. भारत में 'हरित क्रांति' (Green Revolution) के जनक कौन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डॉ. कुरियन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डॉ. एम.एस. स्वामीनाथन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सुंदरलाल बहुगुणा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डॉ. भाभा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डॉ. स्वामीनाथन ने गेहूं उत्पादन में अभूतपूर्व वृद्धि करवाई थी।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#45  [Assam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91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45. भारत में पहला खनिज तेल का कुआं कहाँ खोदा गया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बॉम्बे हाई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डिगबोई (असम)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अंकलेश्वर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जामनगर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#45  [Assam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92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45. भारत में पहला खनिज तेल का कुआं कहाँ खोदा गया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बॉम्बे हाई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डिगबोई (असम)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अंकलेश्वर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जामनगर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1889 में असम के डिगबोई में पहला तेल कुआं खोदा गया।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#46  [Jharkhand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93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46. झारखंड का 'झरिया' क्षेत्र किस खनिज के लिए प्रसिद्ध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तांबा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कोयला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लोहा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सोना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#46  [Jharkhand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94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46. झारखंड का 'झरिया' क्षेत्र किस खनिज के लिए प्रसिद्ध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तांबा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कोयला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लोहा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सोना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झरिया कोयले के भंडार के लिए पूरे देश में प्रसिद्ध है।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#47  [MP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95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47. सर्वोत्तम गुणवत्ता वाला कोयला कौन सा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पीट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लिग्नाइट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बिटुमिनस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एंथ्रेसाइट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#47  [MP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96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47. सर्वोत्तम गुणवत्ता वाला कोयला कौन सा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पीट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लिग्नाइट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बिटुमिनस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(D)  एंथ्रेसाइट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(D)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एंथ्रेसाइट में 80-90% कार्बन होता है और यह सबसे उच्च कोटि का है।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#48  [All India NMMS 2025]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97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48. प्रत्येक वर्ष 'विश्व पर्यावरण दिवस' किस तिथि को मनाया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22 अप्रैल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5 जून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16 सितंबर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11 जुलाई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#48  [All India NMMS 2025]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98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48. प्रत्येक वर्ष 'विश्व पर्यावरण दिवस' किस तिथि को मनाया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22 अप्रैल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5 जून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16 सितंबर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11 जुलाई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5 जून को विश्व पर्यावरण दिवस मनाया जाता है।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#49  [Assam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99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49. 'एक सींग वाले गैंडे' के लिए कौन सा राष्ट्रीय उद्यान प्रसिद्ध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जिम कॉर्बेट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काजीरंगा (असम)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गिर (गुजरात)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सुंदरवन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#49  [Assam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100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49. 'एक सींग वाले गैंडे' के लिए कौन सा राष्ट्रीय उद्यान प्रसिद्ध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जिम कॉर्बेट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काजीरंगा (असम)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गिर (गुजरात)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सुंदरवन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काजीरंगा राष्ट्रीय उद्यान एक सींग वाले गैंडे हेतु विश्व प्रसिद्ध है।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#50  [Uttarakhand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101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50. पेड़ों की कटाई रोकने के लिए 'चिपको आंदोलन' किसने चलाया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मेधा पाटकर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सुंदरलाल बहुगुणा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बाबा आमटे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डॉ. स्वामीनाथन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#50  [Uttarakhand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102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50. पेड़ों की कटाई रोकने के लिए 'चिपको आंदोलन' किसने चलाया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मेधा पाटकर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सुंदरलाल बहुगुणा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बाबा आमटे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डॉ. स्वामीनाथन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सुंदरलाल बहुगुणा ने 1973 में उत्तराखंड में चिपको आंदोलन चलाया था।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मॉक टेस्ट 02: सागर सर की 1-मिनट मेमोरी चाबी (क्विक फॉर्मूला)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103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0292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65760"/>
          <a:lstStyle/>
          <a:p>
            <a:pPr algn="ctr">
              <a:defRPr sz="2000" b="1">
                <a:solidFill>
                  <a:srgbClr val="D97706"/>
                </a:solidFill>
                <a:latin typeface="Segoe UI"/>
              </a:defRPr>
            </a:pPr>
            <a:r>
              <a:t>🔑 1-मिनट क्विक मेमोरी सूत्र (Revision Formulae):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इतिहास: गजनवी (1025), तराइन (1191/92), पानीपत (1526), 1857 (मेरठ), ब्रह्म समाज (1828), आर्य समाज (1875)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नागरिक शास्त्र: 2 वर्ष 11 माह 18 दिन, प्रारूप समिति (अंबेडकर), 6 मौलिक अधिकार, अनु. 32 (संविधान की आत्मा)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आर.टी.ई. (RTE) = अनु. 21A (86वां संशोधन 2002) | पंचायती राज = 73वां संशोधन 1992 (नागौर, 1959)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भूगोल: शुक्र (भोर का तारा/सबसे गर्म) | पृथ्वी घूर्णन = दिन-रात | परिक्रमण = ऋतुएं | 82½° पूर्व = IST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वायुमंडल: क्षोभमंडल = सभी मौसम घटनाएं | समतापमंडल = हवाई जहाज उड़ान + ओजोन परत | बैरोमीटर = वायुदाब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भारत का भूगोल: गंगा = 2525 किमी | सुंदरवन डेल्टा | काली (रेगुर) मिट्टी = कपास | काला सोना = पेट्रोलियम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आज का अभ्यास कार्य (Homework Questions)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104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188720"/>
            <a:ext cx="10728655" cy="4846320"/>
          </a:xfrm>
          <a:prstGeom prst="roundRect">
            <a:avLst/>
          </a:prstGeom>
          <a:solidFill>
            <a:srgbClr val="1E3A8A"/>
          </a:solidFill>
          <a:ln w="317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65760"/>
          <a:lstStyle/>
          <a:p>
            <a:pPr algn="ctr">
              <a:defRPr sz="2200" b="1">
                <a:solidFill>
                  <a:srgbClr val="FDE68A"/>
                </a:solidFill>
                <a:latin typeface="Segoe UI"/>
              </a:defRPr>
            </a:pPr>
            <a:r>
              <a:t>📝 आज का अभ्यास कार्य (Homework):</a:t>
            </a:r>
          </a:p>
          <a:p>
            <a:pPr>
              <a:spcBef>
                <a:spcPts val="1400"/>
              </a:spcBef>
              <a:defRPr sz="1600" b="1">
                <a:solidFill>
                  <a:srgbClr val="FFFFFF"/>
                </a:solidFill>
                <a:latin typeface="Segoe UI"/>
              </a:defRPr>
            </a:pPr>
            <a:r>
              <a:t>प्रश्न 1: मॉक टेस्ट 02 में आपने 50 में से कितने अंक प्राप्त किए, अपनी डायरी में नोट करें।</a:t>
            </a:r>
          </a:p>
          <a:p>
            <a:pPr>
              <a:spcBef>
                <a:spcPts val="1400"/>
              </a:spcBef>
              <a:defRPr sz="1600" b="1">
                <a:solidFill>
                  <a:srgbClr val="FFFFFF"/>
                </a:solidFill>
                <a:latin typeface="Segoe UI"/>
              </a:defRPr>
            </a:pPr>
            <a:r>
              <a:t>प्रश्न 2: जो प्रश्न गलत हुए, उनके सही उत्तर अपनी फेयर कॉपी में 2 बार लिखें।</a:t>
            </a:r>
          </a:p>
          <a:p>
            <a:pPr>
              <a:spcBef>
                <a:spcPts val="1400"/>
              </a:spcBef>
              <a:defRPr sz="1600" b="1">
                <a:solidFill>
                  <a:srgbClr val="FFFFFF"/>
                </a:solidFill>
                <a:latin typeface="Segoe UI"/>
              </a:defRPr>
            </a:pPr>
            <a:r>
              <a:t>प्रश्न 3: अगले मॉक टेस्ट के लिए इतिहास, भूगोल और नागरिक शास्त्र के शॉर्ट नोट्स दोहराएं।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65760"/>
            <a:ext cx="11277295" cy="6126480"/>
          </a:xfrm>
          <a:prstGeom prst="rect">
            <a:avLst/>
          </a:prstGeom>
          <a:solidFill>
            <a:srgbClr val="1E3A8A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640080"/>
            <a:ext cx="1371600" cy="1371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103120"/>
            <a:ext cx="1036289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DE68A"/>
                </a:solidFill>
                <a:latin typeface="Segoe UI"/>
              </a:defRPr>
            </a:pPr>
            <a:r>
              <a:t>SAGAR COACHING CENTRE BHAGWANPUR</a:t>
            </a:r>
          </a:p>
          <a:p>
            <a:pPr algn="ctr">
              <a:defRPr sz="1600" b="1">
                <a:solidFill>
                  <a:srgbClr val="93C5FD"/>
                </a:solidFill>
                <a:latin typeface="Segoe UI"/>
              </a:defRPr>
            </a:pPr>
            <a:r>
              <a:t>NMMS All India (राष्ट्रीय आय-सह-मेधा छात्रवृत्ति)  •  मॉक टेस्ट 02 सम्पन्न! बधाई!</a:t>
            </a:r>
          </a:p>
          <a:p>
            <a:pPr algn="ctr">
              <a:defRPr sz="3200" b="1">
                <a:solidFill>
                  <a:srgbClr val="FFFFFF"/>
                </a:solidFill>
                <a:latin typeface="Segoe UI"/>
              </a:defRPr>
            </a:pPr>
            <a:r>
              <a:t>सागर कोचिंग सेंटर — आपकी सफलता, हमारा संकल्प!</a:t>
            </a:r>
          </a:p>
          <a:p>
            <a:pPr algn="ctr">
              <a:defRPr sz="1600">
                <a:solidFill>
                  <a:srgbClr val="F1F5F9"/>
                </a:solidFill>
                <a:latin typeface="Segoe UI"/>
              </a:defRPr>
            </a:pPr>
            <a:r>
              <a:t>इस टेस्ट की PDF डाउनलोड करें: sagarcoaching.tech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4206240"/>
            <a:ext cx="9448495" cy="1188720"/>
          </a:xfrm>
          <a:prstGeom prst="roundRect">
            <a:avLst/>
          </a:prstGeom>
          <a:solidFill>
            <a:srgbClr val="284BA0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DE68A"/>
                </a:solidFill>
                <a:latin typeface="Segoe UI"/>
              </a:defRPr>
            </a:pPr>
            <a:r>
              <a:t>🎯 आज की क्लास में क्या सीखेंगे (Key Topics):</a:t>
            </a:r>
          </a:p>
          <a:p>
            <a:pPr algn="ctr">
              <a:defRPr sz="1300">
                <a:solidFill>
                  <a:srgbClr val="FFFFFF"/>
                </a:solidFill>
                <a:latin typeface="Segoe UI"/>
              </a:defRPr>
            </a:pPr>
            <a:r>
              <a:t>YouTube: NMMS King Sagar Sir  ★  App: Sagar Coaching Centre (Play Store)  ★  Website: https://sagarcoaching.tech  ★  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5532120"/>
            <a:ext cx="94484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E2E8F0"/>
                </a:solidFill>
                <a:latin typeface="Segoe UI"/>
              </a:defRPr>
            </a:pPr>
            <a:r>
              <a:t>मार्गदर्शक: श्रवण कुमार 'सागर' (Sagar Sir)  |  sagarcoaching.tech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