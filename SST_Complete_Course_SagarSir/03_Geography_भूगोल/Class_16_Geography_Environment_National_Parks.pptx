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11277295" cy="6126480"/>
          </a:xfrm>
          <a:prstGeom prst="rect">
            <a:avLst/>
          </a:prstGeom>
          <a:solidFill>
            <a:srgbClr val="1E3A8A"/>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394960" y="640080"/>
            <a:ext cx="1371600" cy="1371600"/>
          </a:xfrm>
          <a:prstGeom prst="rect">
            <a:avLst/>
          </a:prstGeom>
        </p:spPr>
      </p:pic>
      <p:sp>
        <p:nvSpPr>
          <p:cNvPr id="4" name="TextBox 3"/>
          <p:cNvSpPr txBox="1"/>
          <p:nvPr/>
        </p:nvSpPr>
        <p:spPr>
          <a:xfrm>
            <a:off x="914400" y="2103120"/>
            <a:ext cx="10362895" cy="2011680"/>
          </a:xfrm>
          <a:prstGeom prst="rect">
            <a:avLst/>
          </a:prstGeom>
          <a:noFill/>
        </p:spPr>
        <p:txBody>
          <a:bodyPr wrap="square">
            <a:spAutoFit/>
          </a:bodyPr>
          <a:lstStyle/>
          <a:p>
            <a:pPr algn="ctr">
              <a:defRPr sz="1800" b="1">
                <a:solidFill>
                  <a:srgbClr val="FDE68A"/>
                </a:solidFill>
                <a:latin typeface="Segoe UI"/>
              </a:defRPr>
            </a:pPr>
            <a:r>
              <a:t>SAGAR COACHING CENTRE BHAGWANPUR</a:t>
            </a:r>
          </a:p>
          <a:p>
            <a:pPr algn="ctr">
              <a:defRPr sz="1600" b="1">
                <a:solidFill>
                  <a:srgbClr val="93C5FD"/>
                </a:solidFill>
                <a:latin typeface="Segoe UI"/>
              </a:defRPr>
            </a:pPr>
            <a:r>
              <a:t>NMMS All India (राष्ट्रीय आय-सह-मेधा छात्रवृत्ति)  •  Class 16 • भूगोल (50 Min Full Lecture)</a:t>
            </a:r>
          </a:p>
          <a:p>
            <a:pPr algn="ctr">
              <a:defRPr sz="3200" b="1">
                <a:solidFill>
                  <a:srgbClr val="FFFFFF"/>
                </a:solidFill>
                <a:latin typeface="Segoe UI"/>
              </a:defRPr>
            </a:pPr>
            <a:r>
              <a:t>पर्यावरण संरक्षण, राष्ट्रीय उद्यान एवं आपदा प्रबंधन</a:t>
            </a:r>
          </a:p>
          <a:p>
            <a:pPr algn="ctr">
              <a:defRPr sz="1600">
                <a:solidFill>
                  <a:srgbClr val="F1F5F9"/>
                </a:solidFill>
                <a:latin typeface="Segoe UI"/>
              </a:defRPr>
            </a:pPr>
            <a:r>
              <a:t>Environmental Protection, Eco-Movements, National Parks, Wildlife &amp; Disaster Management</a:t>
            </a:r>
          </a:p>
        </p:txBody>
      </p:sp>
      <p:sp>
        <p:nvSpPr>
          <p:cNvPr id="5" name="Rounded Rectangle 4"/>
          <p:cNvSpPr/>
          <p:nvPr/>
        </p:nvSpPr>
        <p:spPr>
          <a:xfrm>
            <a:off x="1371600" y="4206240"/>
            <a:ext cx="9448495" cy="1188720"/>
          </a:xfrm>
          <a:prstGeom prst="roundRect">
            <a:avLst/>
          </a:prstGeom>
          <a:solidFill>
            <a:srgbClr val="284BA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DE68A"/>
                </a:solidFill>
                <a:latin typeface="Segoe UI"/>
              </a:defRPr>
            </a:pPr>
            <a:r>
              <a:t>🎯 आज की क्लास में क्या सीखेंगे (Key Topics):</a:t>
            </a:r>
          </a:p>
          <a:p>
            <a:pPr algn="ctr">
              <a:defRPr sz="1300">
                <a:solidFill>
                  <a:srgbClr val="FFFFFF"/>
                </a:solidFill>
                <a:latin typeface="Segoe UI"/>
              </a:defRPr>
            </a:pPr>
            <a:r>
              <a:t>विश्व पर्यावरण दिवस (5 जून) व चिपको आंदोलन (1973)  ★  प्रमुख राष्ट्रीय उद्यान: जिम कॉर्बेट, काजीरंगा, गिर, दुधवा व वाल्मीकि  ★  प्रोजेक्ट टाइगर (1973) व केबुल लामजाओ तैरता पार्क  ★  ग्लोबल वार्मिंग (CO2), अम्ल वर्षा (SO2) व रिएक्टर स्केल/सीस्मोग्राफ  ★  15 मोस्ट रिपीटेड All India NMMS PYQs</a:t>
            </a:r>
          </a:p>
        </p:txBody>
      </p:sp>
      <p:sp>
        <p:nvSpPr>
          <p:cNvPr id="6" name="TextBox 5"/>
          <p:cNvSpPr txBox="1"/>
          <p:nvPr/>
        </p:nvSpPr>
        <p:spPr>
          <a:xfrm>
            <a:off x="1371600" y="5532120"/>
            <a:ext cx="9448495" cy="731520"/>
          </a:xfrm>
          <a:prstGeom prst="rect">
            <a:avLst/>
          </a:prstGeom>
          <a:noFill/>
        </p:spPr>
        <p:txBody>
          <a:bodyPr wrap="none">
            <a:spAutoFit/>
          </a:bodyPr>
          <a:lstStyle/>
          <a:p>
            <a:pPr algn="ctr">
              <a:defRPr sz="1300" b="1">
                <a:solidFill>
                  <a:srgbClr val="E2E8F0"/>
                </a:solidFill>
                <a:latin typeface="Segoe UI"/>
              </a:defRPr>
            </a:pPr>
            <a:r>
              <a:t>मार्गदर्शक: श्रवण कुमार 'सागर' (Sagar Sir)  |  Helpline: +91 91101 13671  |  sagarcoaching.tech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16: पर्यावरण संरक्षण, प्रमुख दिवस एवं जन-आंदोलन</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 of 37</a:t>
            </a:r>
          </a:p>
        </p:txBody>
      </p:sp>
      <p:sp>
        <p:nvSpPr>
          <p:cNvPr id="6" name="Rounded Rectangle 5"/>
          <p:cNvSpPr/>
          <p:nvPr/>
        </p:nvSpPr>
        <p:spPr>
          <a:xfrm>
            <a:off x="457200" y="1097280"/>
            <a:ext cx="1127729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defRPr sz="1900" b="1">
                <a:solidFill>
                  <a:srgbClr val="1E3A8A"/>
                </a:solidFill>
                <a:latin typeface="Segoe UI"/>
              </a:defRPr>
            </a:pPr>
            <a:r>
              <a:t>📖 मुख्य तथ्य एवं सिद्धांत (Key Concepts &amp; Exam Notes):</a:t>
            </a:r>
          </a:p>
          <a:p>
            <a:pPr>
              <a:spcBef>
                <a:spcPts val="1000"/>
              </a:spcBef>
              <a:spcAft>
                <a:spcPts val="200"/>
              </a:spcAft>
              <a:defRPr sz="1550">
                <a:solidFill>
                  <a:srgbClr val="1E293B"/>
                </a:solidFill>
                <a:latin typeface="Segoe UI"/>
              </a:defRPr>
            </a:pPr>
            <a:r>
              <a:t>•  पर्यावरण (Environment): हमारे चारों ओर स्थित जैविक (पेड़-पौधे, जीव-जंतु) एवं अजैविक (हवा, जल, मिट्टी, सूर्य का प्रकाश) घटकों का आवरण।</a:t>
            </a:r>
          </a:p>
          <a:p>
            <a:pPr>
              <a:spcBef>
                <a:spcPts val="1000"/>
              </a:spcBef>
              <a:spcAft>
                <a:spcPts val="200"/>
              </a:spcAft>
              <a:defRPr sz="1550">
                <a:solidFill>
                  <a:srgbClr val="1E293B"/>
                </a:solidFill>
                <a:latin typeface="Segoe UI"/>
              </a:defRPr>
            </a:pPr>
            <a:r>
              <a:t>•  महत्वपूर्ण पर्यावरण दिवस:</a:t>
            </a:r>
          </a:p>
          <a:p>
            <a:pPr>
              <a:spcBef>
                <a:spcPts val="1000"/>
              </a:spcBef>
              <a:spcAft>
                <a:spcPts val="200"/>
              </a:spcAft>
              <a:defRPr sz="1550">
                <a:solidFill>
                  <a:srgbClr val="1E293B"/>
                </a:solidFill>
                <a:latin typeface="Segoe UI"/>
              </a:defRPr>
            </a:pPr>
            <a:r>
              <a:t>•    • 5 जून: 'विश्व पर्यावरण दिवस' (World Environment Day) — स्टॉकहोम सम्मेलन 1972 की स्मृति में।</a:t>
            </a:r>
          </a:p>
          <a:p>
            <a:pPr>
              <a:spcBef>
                <a:spcPts val="1000"/>
              </a:spcBef>
              <a:spcAft>
                <a:spcPts val="200"/>
              </a:spcAft>
              <a:defRPr sz="1550">
                <a:solidFill>
                  <a:srgbClr val="1E293B"/>
                </a:solidFill>
                <a:latin typeface="Segoe UI"/>
              </a:defRPr>
            </a:pPr>
            <a:r>
              <a:t>•    • 22 अप्रैल: 'विश्व पृथ्वी दिवस' (World Earth Day)</a:t>
            </a:r>
          </a:p>
          <a:p>
            <a:pPr>
              <a:spcBef>
                <a:spcPts val="1000"/>
              </a:spcBef>
              <a:spcAft>
                <a:spcPts val="200"/>
              </a:spcAft>
              <a:defRPr sz="1550">
                <a:solidFill>
                  <a:srgbClr val="1E293B"/>
                </a:solidFill>
                <a:latin typeface="Segoe UI"/>
              </a:defRPr>
            </a:pPr>
            <a:r>
              <a:t>•    • 22 मार्च: 'विश्व जल दिवस' (World Water Day)</a:t>
            </a:r>
          </a:p>
          <a:p>
            <a:pPr>
              <a:spcBef>
                <a:spcPts val="1000"/>
              </a:spcBef>
              <a:spcAft>
                <a:spcPts val="200"/>
              </a:spcAft>
              <a:defRPr sz="1550">
                <a:solidFill>
                  <a:srgbClr val="1E293B"/>
                </a:solidFill>
                <a:latin typeface="Segoe UI"/>
              </a:defRPr>
            </a:pPr>
            <a:r>
              <a:t>•    • 16 सितंबर: 'विश्व ओजोन दिवस' (World Ozone Day)</a:t>
            </a:r>
          </a:p>
          <a:p>
            <a:pPr>
              <a:spcBef>
                <a:spcPts val="1000"/>
              </a:spcBef>
              <a:spcAft>
                <a:spcPts val="200"/>
              </a:spcAft>
              <a:defRPr sz="1550">
                <a:solidFill>
                  <a:srgbClr val="1E293B"/>
                </a:solidFill>
                <a:latin typeface="Segoe UI"/>
              </a:defRPr>
            </a:pPr>
            <a:r>
              <a:t>•  चिपको आंदोलन (Chipko Movement - 1973): उत्तराखंड के चमोली जिले (रेणी गांव) में वनों की कटाई रोकने के लिए गौरा देवी, सुंदरलाल बहुगुणा और चंडी प्रसाद भट्ट के नेतृत्व में ग्रामीण पेड़ों से चिपक गए थे।</a:t>
            </a:r>
          </a:p>
          <a:p>
            <a:pPr>
              <a:spcBef>
                <a:spcPts val="1000"/>
              </a:spcBef>
              <a:spcAft>
                <a:spcPts val="200"/>
              </a:spcAft>
              <a:defRPr sz="1550">
                <a:solidFill>
                  <a:srgbClr val="1E293B"/>
                </a:solidFill>
                <a:latin typeface="Segoe UI"/>
              </a:defRPr>
            </a:pPr>
            <a:r>
              <a:t>•  एपिको आंदोलन (1983): कर्नाटक के उत्तर कन्नड़ में पांडुरंग हेगड़े के नेतृत्व में दक्षिण भारत का चिपको आंदोलन।</a:t>
            </a:r>
          </a:p>
          <a:p>
            <a:pPr>
              <a:spcBef>
                <a:spcPts val="1000"/>
              </a:spcBef>
              <a:spcAft>
                <a:spcPts val="200"/>
              </a:spcAft>
              <a:defRPr sz="1550">
                <a:solidFill>
                  <a:srgbClr val="1E293B"/>
                </a:solidFill>
                <a:latin typeface="Segoe UI"/>
              </a:defRPr>
            </a:pPr>
            <a:r>
              <a:t>•  नर्मदा बचाओ आंदोलन: मेधा पाटकर और बाबा आमटे द्वारा सरदार सरोवर बांध से विस्थापित आदिवासियों व पर्यावरण रक्षा हेतु।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16: भारत के प्रमुख राष्ट्रीय उद्यान एवं वन्यजीव अभयारण्य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3 of 37</a:t>
            </a:r>
          </a:p>
        </p:txBody>
      </p:sp>
      <p:sp>
        <p:nvSpPr>
          <p:cNvPr id="6" name="Rounded Rectangle 5"/>
          <p:cNvSpPr/>
          <p:nvPr/>
        </p:nvSpPr>
        <p:spPr>
          <a:xfrm>
            <a:off x="457200" y="1097280"/>
            <a:ext cx="1127729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defRPr sz="1900" b="1">
                <a:solidFill>
                  <a:srgbClr val="1E3A8A"/>
                </a:solidFill>
                <a:latin typeface="Segoe UI"/>
              </a:defRPr>
            </a:pPr>
            <a:r>
              <a:t>📖 मुख्य तथ्य एवं सिद्धांत (Key Concepts &amp; Exam Notes):</a:t>
            </a:r>
          </a:p>
          <a:p>
            <a:pPr>
              <a:spcBef>
                <a:spcPts val="1000"/>
              </a:spcBef>
              <a:spcAft>
                <a:spcPts val="200"/>
              </a:spcAft>
              <a:defRPr sz="1550">
                <a:solidFill>
                  <a:srgbClr val="1E293B"/>
                </a:solidFill>
                <a:latin typeface="Segoe UI"/>
              </a:defRPr>
            </a:pPr>
            <a:r>
              <a:t>•  जिम कॉर्बेट राष्ट्रीय उद्यान (Jim Corbett - उत्तराखंड): 1936 में स्थापित 'भारत का प्रथम राष्ट्रीय उद्यान' (मूल नाम: हैली नेशनल पार्क)।</a:t>
            </a:r>
          </a:p>
          <a:p>
            <a:pPr>
              <a:spcBef>
                <a:spcPts val="1000"/>
              </a:spcBef>
              <a:spcAft>
                <a:spcPts val="200"/>
              </a:spcAft>
              <a:defRPr sz="1550">
                <a:solidFill>
                  <a:srgbClr val="1E293B"/>
                </a:solidFill>
                <a:latin typeface="Segoe UI"/>
              </a:defRPr>
            </a:pPr>
            <a:r>
              <a:t>•  काजीरंगा राष्ट्रीय उद्यान (Kaziranga - असम): ब्रह्मपुत्र नदी के तट पर; विश्व प्रसिद्ध 'एक सींग वाले गैंडे' (One-horned Rhinoceros) का सबसे बड़ा आवास।</a:t>
            </a:r>
          </a:p>
          <a:p>
            <a:pPr>
              <a:spcBef>
                <a:spcPts val="1000"/>
              </a:spcBef>
              <a:spcAft>
                <a:spcPts val="200"/>
              </a:spcAft>
              <a:defRPr sz="1550">
                <a:solidFill>
                  <a:srgbClr val="1E293B"/>
                </a:solidFill>
                <a:latin typeface="Segoe UI"/>
              </a:defRPr>
            </a:pPr>
            <a:r>
              <a:t>•  गिर राष्ट्रीय उद्यान (Gir - गुजरात): 'एशियाई बब्बर शेर' (Asiatic Lion) का भारत एवं एशिया में एकमात्र प्राकृतिक घर।</a:t>
            </a:r>
          </a:p>
          <a:p>
            <a:pPr>
              <a:spcBef>
                <a:spcPts val="1000"/>
              </a:spcBef>
              <a:spcAft>
                <a:spcPts val="200"/>
              </a:spcAft>
              <a:defRPr sz="1550">
                <a:solidFill>
                  <a:srgbClr val="1E293B"/>
                </a:solidFill>
                <a:latin typeface="Segoe UI"/>
              </a:defRPr>
            </a:pPr>
            <a:r>
              <a:t>•  सुंदरवन राष्ट्रीय उद्यान (Sundarbans - पश्चिम बंगाल): मैंग्रोव वन एवं 'रॉयल बंगाल टाइगर' का विश्व प्रसिद्ध क्षेत्र।</a:t>
            </a:r>
          </a:p>
          <a:p>
            <a:pPr>
              <a:spcBef>
                <a:spcPts val="1000"/>
              </a:spcBef>
              <a:spcAft>
                <a:spcPts val="200"/>
              </a:spcAft>
              <a:defRPr sz="1550">
                <a:solidFill>
                  <a:srgbClr val="1E293B"/>
                </a:solidFill>
                <a:latin typeface="Segoe UI"/>
              </a:defRPr>
            </a:pPr>
            <a:r>
              <a:t>•  दुधवा राष्ट्रीय उद्यान (Dudhwa - उत्तर प्रदेश): यूपी के लखीमपुर खीरी जिले में स्थित प्रसिद्ध टाइगर रिजर्व व दलदली हिरण (बारहसिंगा) स्थल।</a:t>
            </a:r>
          </a:p>
          <a:p>
            <a:pPr>
              <a:spcBef>
                <a:spcPts val="1000"/>
              </a:spcBef>
              <a:spcAft>
                <a:spcPts val="200"/>
              </a:spcAft>
              <a:defRPr sz="1550">
                <a:solidFill>
                  <a:srgbClr val="1E293B"/>
                </a:solidFill>
                <a:latin typeface="Segoe UI"/>
              </a:defRPr>
            </a:pPr>
            <a:r>
              <a:t>•  वाल्मीकि राष्ट्रीय उद्यान (Valmiki - बिहार): बिहार के पश्चिमी चंपारण जिले में भारत-नेपाल सीमा पर स्थित बिहार का एकमात्र टाइगर रिजर्व।</a:t>
            </a:r>
          </a:p>
          <a:p>
            <a:pPr>
              <a:spcBef>
                <a:spcPts val="1000"/>
              </a:spcBef>
              <a:spcAft>
                <a:spcPts val="200"/>
              </a:spcAft>
              <a:defRPr sz="1550">
                <a:solidFill>
                  <a:srgbClr val="1E293B"/>
                </a:solidFill>
                <a:latin typeface="Segoe UI"/>
              </a:defRPr>
            </a:pPr>
            <a:r>
              <a:t>•  केबुल लामजाओ (Keibul Lamjao - मणिपुर): लोकटक झील पर स्थित विश्व का एकमात्र 'तैरता हुआ राष्ट्रीय उद्यान' (Dancing Deer - संगाई हिरण)।</a:t>
            </a:r>
          </a:p>
          <a:p>
            <a:pPr>
              <a:spcBef>
                <a:spcPts val="1000"/>
              </a:spcBef>
              <a:spcAft>
                <a:spcPts val="200"/>
              </a:spcAft>
              <a:defRPr sz="1550">
                <a:solidFill>
                  <a:srgbClr val="1E293B"/>
                </a:solidFill>
                <a:latin typeface="Segoe UI"/>
              </a:defRPr>
            </a:pPr>
            <a:r>
              <a:t>•  प्रोजेक्ट टाइगर (Project Tiger): बाघों की घटती संख्या को रोकने के लिए भारत सरकार ने 1 अप्रैल 1973 को जिम कॉर्बेट से शुरू किया 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16: ग्लोबल वार्मिंग, प्रदूषण एवं प्राकृतिक आपदा प्रबंधन</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4 of 37</a:t>
            </a:r>
          </a:p>
        </p:txBody>
      </p:sp>
      <p:sp>
        <p:nvSpPr>
          <p:cNvPr id="6" name="Rounded Rectangle 5"/>
          <p:cNvSpPr/>
          <p:nvPr/>
        </p:nvSpPr>
        <p:spPr>
          <a:xfrm>
            <a:off x="457200" y="1097280"/>
            <a:ext cx="11277295" cy="50292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rIns="457200"/>
          <a:lstStyle/>
          <a:p>
            <a:pPr algn="ctr">
              <a:defRPr sz="1900" b="1">
                <a:solidFill>
                  <a:srgbClr val="1E3A8A"/>
                </a:solidFill>
                <a:latin typeface="Segoe UI"/>
              </a:defRPr>
            </a:pPr>
            <a:r>
              <a:t>📖 मुख्य तथ्य एवं सिद्धांत (Key Concepts &amp; Exam Notes):</a:t>
            </a:r>
          </a:p>
          <a:p>
            <a:pPr>
              <a:spcBef>
                <a:spcPts val="1000"/>
              </a:spcBef>
              <a:spcAft>
                <a:spcPts val="200"/>
              </a:spcAft>
              <a:defRPr sz="1550">
                <a:solidFill>
                  <a:srgbClr val="1E293B"/>
                </a:solidFill>
                <a:latin typeface="Segoe UI"/>
              </a:defRPr>
            </a:pPr>
            <a:r>
              <a:t>•  ग्रीनहाउस प्रभाव (Greenhouse Effect) एवं ग्लोबल वार्मिंग: वायुमंडल में CO2, मीथेन (CH4) व CFC गैसों द्वारा ऊष्मा सोखने से पृथ्वी का तापमान बढ़ना; ग्लेशियर पिघलना व समुद्र जल स्तर बढ़ना।</a:t>
            </a:r>
          </a:p>
          <a:p>
            <a:pPr>
              <a:spcBef>
                <a:spcPts val="1000"/>
              </a:spcBef>
              <a:spcAft>
                <a:spcPts val="200"/>
              </a:spcAft>
              <a:defRPr sz="1550">
                <a:solidFill>
                  <a:srgbClr val="1E293B"/>
                </a:solidFill>
                <a:latin typeface="Segoe UI"/>
              </a:defRPr>
            </a:pPr>
            <a:r>
              <a:t>•  अम्ल वर्षा (Acid Rain): कारखानों और वाहनों से निकलने वाली सल्फर डाइऑक्साइड (SO2) और नाइट्रोजन डाइऑक्साइड (NO2) गैसें वर्षा के जल से मिलकर सल्फ्यूरिक अम्ल बनाती हैं, जिससे ऐतिहासिक इमारतों (जैसे ताजमहल) का 'मार्बल कैंसर' होता है।</a:t>
            </a:r>
          </a:p>
          <a:p>
            <a:pPr>
              <a:spcBef>
                <a:spcPts val="1000"/>
              </a:spcBef>
              <a:spcAft>
                <a:spcPts val="200"/>
              </a:spcAft>
              <a:defRPr sz="1550">
                <a:solidFill>
                  <a:srgbClr val="1E293B"/>
                </a:solidFill>
                <a:latin typeface="Segoe UI"/>
              </a:defRPr>
            </a:pPr>
            <a:r>
              <a:t>•  भूकंप (Earthquake): भूगर्भ में ऊर्जा विमुक्ति से धरातल का कांपना; भूगर्भ का वह स्थान जहां भूकंप शुरू होता है उसे 'उद्गम केंद्र' (Focus) और धरातल पर ठीक ऊपर के बिंदु को 'अधिकेंद्र' (Epicenter) कहते हैं।</a:t>
            </a:r>
          </a:p>
          <a:p>
            <a:pPr>
              <a:spcBef>
                <a:spcPts val="1000"/>
              </a:spcBef>
              <a:spcAft>
                <a:spcPts val="200"/>
              </a:spcAft>
              <a:defRPr sz="1550">
                <a:solidFill>
                  <a:srgbClr val="1E293B"/>
                </a:solidFill>
                <a:latin typeface="Segoe UI"/>
              </a:defRPr>
            </a:pPr>
            <a:r>
              <a:t>•  मापन यंत्र: भूकंप की तरंगों को 'सीस्मोग्राफ' (Seismograph) द्वारा आलेखित किया जाता है और भूकंप की तीव्रता 'रिएक्टर स्केल' (Richter Scale) पर 0 से 9+ तक मापी जाती है।</a:t>
            </a:r>
          </a:p>
          <a:p>
            <a:pPr>
              <a:spcBef>
                <a:spcPts val="1000"/>
              </a:spcBef>
              <a:spcAft>
                <a:spcPts val="200"/>
              </a:spcAft>
              <a:defRPr sz="1550">
                <a:solidFill>
                  <a:srgbClr val="1E293B"/>
                </a:solidFill>
                <a:latin typeface="Segoe UI"/>
              </a:defRPr>
            </a:pPr>
            <a:r>
              <a:t>•  सुनामी (Tsunami): जापानी शब्द (सू = बंदरगाह, नामी = लहरें); समुद्र के भीतर शक्तिशाली भूकंप या ज्वालामुखी विस्फोट से उठने वाली विनाशकारी समुद्री लहरें (26 दिसंबर 2004 को हिंद महासागर में सुनामी आई 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  [UP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5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 प्रत्येक वर्ष 'विश्व पर्यावरण दिवस' (World Environment Day) किस तिथि को मनाया जाता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22 अप्रैल</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5 जून</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16 सितंबर</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11 जुलाई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  [UP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6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 प्रत्येक वर्ष 'विश्व पर्यावरण दिवस' (World Environment Day) किस तिथि को मनाया जाता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22 अप्रैल</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5 जून</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16 सितंबर</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11 जुलाई</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पर्यावरण संरक्षण के प्रति जागरूकता फैलाने हेतु 5 जून को विश्व पर्यावरण दिवस मनाया जाता है।</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#2  [Bihar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7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2. 1973 में उत्तराखंड के चमोली में वृक्षों की कटाई रोकने के लिए 'चिपको आंदोलन' का नेतृत्व किसने किया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मेधा पाटकर</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सुंदरलाल बहुगुणा एवं गौरा देवी</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बाबा आमटे</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पांडुरंग हेगड़े</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#2  [Bihar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8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2. 1973 में उत्तराखंड के चमोली में वृक्षों की कटाई रोकने के लिए 'चिपको आंदोलन' का नेतृत्व किसने किया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मेधा पाटकर</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सुंदरलाल बहुगुणा एवं गौरा देवी</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बाबा आमटे</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पांडुरंग हेगड़े</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सुंदरलाल बहुगुणा और गौरा देवी ने पेड़ों से चिपककर जंगल कटाई के विरुद्ध चिपको आंदोलन का नेतृत्व किया।</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#3  [Rajasthan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9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3. 'एक सींग वाले गैंडे' (One-horned Rhino) के लिए भारत का कौन सा राष्ट्रीय उद्यान विश्व प्रसिद्ध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जिम कॉर्बेट</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काजीरंगा (असम)</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गिर (गुजरात)</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सुंदरवन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#3  [Rajasthan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10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3. 'एक सींग वाले गैंडे' (One-horned Rhino) के लिए भारत का कौन सा राष्ट्रीय उद्यान विश्व प्रसिद्ध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जिम कॉर्बेट</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काजीरंगा (असम)</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गिर (गुजरात)</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सुंदरवन</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असम का काजीरंगा राष्ट्रीय उद्यान दुर्लभ एक सींग वाले गैंडे का सबसे बड़ा प्राकृतिक आवास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#4  [MP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11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4. एशियाई बब्बर शेरों (Asiatic Lion) के लिए भारत का एकमात्र प्राकृतिक आवास कौन सा राष्ट्रीय उद्यान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रणथंभौर</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गिर राष्ट्रीय उद्यान (गुजरात)</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कान्हा</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बांदीपुर</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#4  [MP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12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4. एशियाई बब्बर शेरों (Asiatic Lion) के लिए भारत का एकमात्र प्राकृतिक आवास कौन सा राष्ट्रीय उद्यान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रणथंभौर</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गिर राष्ट्रीय उद्यान (गुजरात)</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कान्हा</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बांदीपुर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गुजरात का गिर राष्ट्रीय उद्यान एशियाई शेरों के संरक्षण हेतु पूरे एशिया में प्रसिद्ध है।</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#5  [Haryana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13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5. भारत का प्रथम राष्ट्रीय उद्यान कौन सा है जिसे 1936 में स्थापित किया गया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जिम कॉर्बेट (उत्तराखंड)</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सुंदरवन</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काजीरंगा</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बांधवगढ़</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#5  [Haryana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14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5. भारत का प्रथम राष्ट्रीय उद्यान कौन सा है जिसे 1936 में स्थापित किया गया था?</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जिम कॉर्बेट (उत्तराखंड)</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सुंदरवन</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काजीरंगा</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बांधवगढ़</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जिम कॉर्बेट (मूल नाम: हैली नेशनल पार्क) 1936 में स्थापित भारत का पहला राष्ट्रीय उद्यान है।</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#6  [UP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15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6. उत्तर प्रदेश का एकमात्र प्रसिद्ध राष्ट्रीय उद्यान 'दुधवा राष्ट्रीय उद्यान' किस जिले में स्थित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झांसी</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लखीमपुर खीरी</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वाराणसी</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गोरखपुर</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#6  [UP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16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6. उत्तर प्रदेश का एकमात्र प्रसिद्ध राष्ट्रीय उद्यान 'दुधवा राष्ट्रीय उद्यान' किस जिले में स्थित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झांसी</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लखीमपुर खीरी</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वाराणसी</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गोरखपुर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दुधवा राष्ट्रीय उद्यान UP के लखीमपुर खीरी में स्थित प्रसिद्ध बाघ एवं बारहसिंगा अभयारण्य 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#7  [Bihar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17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7. बिहार का एकमात्र राष्ट्रीय उद्यान (टाइगर रिजर्व) 'वाल्मीकि राष्ट्रीय उद्यान' किस जिले में स्थित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गया</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पश्चिमी चंपारण</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रोहतास</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भागलपुर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#7  [Bihar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18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7. बिहार का एकमात्र राष्ट्रीय उद्यान (टाइगर रिजर्व) 'वाल्मीकि राष्ट्रीय उद्यान' किस जिले में स्थित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गया</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पश्चिमी चंपारण</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रोहतास</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भागलपुर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वाल्मीकि राष्ट्रीय उद्यान बिहार के पश्चिमी चंपारण जिले में नेपाल सीमा पर स्थित है।</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#8  [Delhi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19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8. 'ग्लोबल वार्मिंग' (भूमंडलीय तापन) के लिए मुख्य रूप से कौन सी गैस उत्तरदायी मानी जाती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ऑक्सीजन</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नाइट्रोजन</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कार्बन डाइऑक्साइड (CO2)</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हीलियम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#8  [Delhi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20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8. 'ग्लोबल वार्मिंग' (भूमंडलीय तापन) के लिए मुख्य रूप से कौन सी गैस उत्तरदायी मानी जाती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ऑक्सीजन</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नाइट्रोजन</a:t>
            </a:r>
          </a:p>
        </p:txBody>
      </p:sp>
      <p:sp>
        <p:nvSpPr>
          <p:cNvPr id="9" name="Rounded Rectangle 8"/>
          <p:cNvSpPr/>
          <p:nvPr/>
        </p:nvSpPr>
        <p:spPr>
          <a:xfrm>
            <a:off x="457200" y="388620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(C)  कार्बन डाइऑक्साइड (CO2)</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हीलियम</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(C)</a:t>
            </a:r>
          </a:p>
          <a:p>
            <a:pPr>
              <a:defRPr sz="1350">
                <a:solidFill>
                  <a:srgbClr val="14532D"/>
                </a:solidFill>
                <a:latin typeface="Segoe UI"/>
              </a:defRPr>
            </a:pPr>
            <a:r>
              <a:t>💡 व्याख्या: CO2 और मीथेन जैसी ग्रीनहाउस गैसें पृथ्वी की गर्मी को रोककर तापमान बढ़ाती हैं।</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#9  [Maharashtra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21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9. भूकंप की तीव्रता मापने के लिए किस वैज्ञानिक पैमाने (Scale) का प्रयोग किया जाता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रिएक्टर स्केल (Richter Scale)</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सेल्सियस स्केल</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डेसिबल स्केल</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केल्विन स्केल</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#9  [Maharashtra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22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9. भूकंप की तीव्रता मापने के लिए किस वैज्ञानिक पैमाने (Scale) का प्रयोग किया जाता है?</a:t>
            </a:r>
          </a:p>
        </p:txBody>
      </p:sp>
      <p:sp>
        <p:nvSpPr>
          <p:cNvPr id="7" name="Rounded Rectangle 6"/>
          <p:cNvSpPr/>
          <p:nvPr/>
        </p:nvSpPr>
        <p:spPr>
          <a:xfrm>
            <a:off x="457200"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(A)  रिएक्टर स्केल (Richter Scale)</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सेल्सियस स्केल</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डेसिबल स्केल</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केल्विन स्केल</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(A)</a:t>
            </a:r>
          </a:p>
          <a:p>
            <a:pPr>
              <a:defRPr sz="1350">
                <a:solidFill>
                  <a:srgbClr val="14532D"/>
                </a:solidFill>
                <a:latin typeface="Segoe UI"/>
              </a:defRPr>
            </a:pPr>
            <a:r>
              <a:t>💡 व्याख्या: रिएक्टर स्केल पर भूकंप की तीव्रता और ऊर्जा विमुक्ति का मापन किया जाता है।</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#10  [Rajasthan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23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10. भूकंपीय तरंगों की गति को धरातल पर दर्ज (अंकित) करने वाले वैज्ञानिक यंत्र को क्या कहते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बैरोमीटर</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सीस्मोग्राफ (Seismograph)</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अल्टीमीटर</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एनीमोमीटर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#10  [Rajasthan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24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10. भूकंपीय तरंगों की गति को धरातल पर दर्ज (अंकित) करने वाले वैज्ञानिक यंत्र को क्या कहते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बैरोमीटर</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सीस्मोग्राफ (Seismograph)</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अल्टीमीटर</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एनीमोमीटर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सीस्मोग्राफ भूकंप के झटकों और तरंगों का रेखांकन करता है।</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#11  [MP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25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11. विश्व का एकमात्र 'तैरता हुआ राष्ट्रीय उद्यान' (केबुल लामजाओ) भारत के किस राज्य में स्थित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असम</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मणिपुर</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मेघालय</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सिक्किम</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#11  [MP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26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11. विश्व का एकमात्र 'तैरता हुआ राष्ट्रीय उद्यान' (केबुल लामजाओ) भारत के किस राज्य में स्थित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असम</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मणिपुर</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मेघालय</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सिक्किम</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मणिपुर की लोकटक झील पर तैरता हुआ केबुल लामजाओ पार्क संगाई हिरण हेतु प्रसिद्ध है।</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#12  [UP NMMS 2022]</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27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12. अम्ल वर्षा (Acid Rain) के लिए वायुमंडल में उपस्थित मुख्य प्रदूषक गैसें कौन सी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ऑक्सीजन व नाइट्रोजन</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सल्फर डाइऑक्साइड (SO2) व नाइट्रोजन ऑक्साइड</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हीलियम व आर्गन</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ओजोन व हाइड्रोजन</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#12  [UP NMMS 2022]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28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12. अम्ल वर्षा (Acid Rain) के लिए वायुमंडल में उपस्थित मुख्य प्रदूषक गैसें कौन सी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ऑक्सीजन व नाइट्रोजन</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सल्फर डाइऑक्साइड (SO2) व नाइट्रोजन ऑक्साइड</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हीलियम व आर्गन</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ओजोन व हाइड्रोजन</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SO2 और NO2 गैसें वर्षा जल में घुलकर सल्फ्यूरिक और नाइट्रिक अम्ल बनाती 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#13  [Bihar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29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13. भारत सरकार द्वारा बाघों की घटती संख्या को बचाने हेतु 'प्रोजेक्ट टाइगर' किस वर्ष शुरू किया गया था?</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1971 ई.</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1973 ई.</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1985 ई.</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1992 ई.</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#13  [Bihar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30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13. भारत सरकार द्वारा बाघों की घटती संख्या को बचाने हेतु 'प्रोजेक्ट टाइगर' किस वर्ष शुरू किया गया था?</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1971 ई.</a:t>
            </a:r>
          </a:p>
        </p:txBody>
      </p:sp>
      <p:sp>
        <p:nvSpPr>
          <p:cNvPr id="8" name="Rounded Rectangle 7"/>
          <p:cNvSpPr/>
          <p:nvPr/>
        </p:nvSpPr>
        <p:spPr>
          <a:xfrm>
            <a:off x="6291072" y="265176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(B)  1973 ई.</a:t>
            </a:r>
          </a:p>
        </p:txBody>
      </p:sp>
      <p:sp>
        <p:nvSpPr>
          <p:cNvPr id="9" name="Rounded Rectangle 8"/>
          <p:cNvSpPr/>
          <p:nvPr/>
        </p:nvSpPr>
        <p:spPr>
          <a:xfrm>
            <a:off x="457200"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(C)  1985 ई.</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1992 ई.</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(B)</a:t>
            </a:r>
          </a:p>
          <a:p>
            <a:pPr>
              <a:defRPr sz="1350">
                <a:solidFill>
                  <a:srgbClr val="14532D"/>
                </a:solidFill>
                <a:latin typeface="Segoe UI"/>
              </a:defRPr>
            </a:pPr>
            <a:r>
              <a:t>💡 व्याख्या: 1 अप्रैल 1973 को जिम कॉर्बेट नेशनल पार्क से प्रोजेक्ट टाइगर की शुरुआत की गई थी।</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#14  [Gujarat NMMS 2023]</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31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14. सूर्य की हानिकारक किरणों से रक्षा करने वाली ओजोन परत के संरक्षण हेतु 'विश्व ओजोन दिवस' कब मनाते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5 जून</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22 अप्रैल</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16 सितंबर</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1 दिसंबर</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#14  [Gujarat NMMS 2023]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32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14. सूर्य की हानिकारक किरणों से रक्षा करने वाली ओजोन परत के संरक्षण हेतु 'विश्व ओजोन दिवस' कब मनाते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5 जून</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22 अप्रैल</a:t>
            </a:r>
          </a:p>
        </p:txBody>
      </p:sp>
      <p:sp>
        <p:nvSpPr>
          <p:cNvPr id="9" name="Rounded Rectangle 8"/>
          <p:cNvSpPr/>
          <p:nvPr/>
        </p:nvSpPr>
        <p:spPr>
          <a:xfrm>
            <a:off x="457200" y="388620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(C)  16 सितंबर</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1 दिसंबर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(C)</a:t>
            </a:r>
          </a:p>
          <a:p>
            <a:pPr>
              <a:defRPr sz="1350">
                <a:solidFill>
                  <a:srgbClr val="14532D"/>
                </a:solidFill>
                <a:latin typeface="Segoe UI"/>
              </a:defRPr>
            </a:pPr>
            <a:r>
              <a:t>💡 व्याख्या: मॉन्ट्रियल प्रोटोकॉल की याद में 16 सितंबर को विश्व ओजोन दिवस मनाया जाता 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#15  [All India NMMS 2024]</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33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15. समुद्र के भीतर शक्तिशाली भूकंप से उत्पन्न होने वाली विनाशकारी विशाल समुद्री लहरों को क्या कहते हैं?</a:t>
            </a:r>
          </a:p>
        </p:txBody>
      </p:sp>
      <p:sp>
        <p:nvSpPr>
          <p:cNvPr id="7" name="Rounded Rectangle 6"/>
          <p:cNvSpPr/>
          <p:nvPr/>
        </p:nvSpPr>
        <p:spPr>
          <a:xfrm>
            <a:off x="457200"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(A)  ज्वार</a:t>
            </a:r>
          </a:p>
        </p:txBody>
      </p:sp>
      <p:sp>
        <p:nvSpPr>
          <p:cNvPr id="8" name="Rounded Rectangle 7"/>
          <p:cNvSpPr/>
          <p:nvPr/>
        </p:nvSpPr>
        <p:spPr>
          <a:xfrm>
            <a:off x="6291072" y="265176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(B)  भाटा</a:t>
            </a:r>
          </a:p>
        </p:txBody>
      </p:sp>
      <p:sp>
        <p:nvSpPr>
          <p:cNvPr id="9" name="Rounded Rectangle 8"/>
          <p:cNvSpPr/>
          <p:nvPr/>
        </p:nvSpPr>
        <p:spPr>
          <a:xfrm>
            <a:off x="457200"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(C)  सुनामी (Tsunami)</a:t>
            </a:r>
          </a:p>
        </p:txBody>
      </p:sp>
      <p:sp>
        <p:nvSpPr>
          <p:cNvPr id="10" name="Rounded Rectangle 9"/>
          <p:cNvSpPr/>
          <p:nvPr/>
        </p:nvSpPr>
        <p:spPr>
          <a:xfrm>
            <a:off x="6291072" y="3886200"/>
            <a:ext cx="5440680" cy="10972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1E293B"/>
                </a:solidFill>
                <a:latin typeface="Segoe UI"/>
              </a:defRPr>
            </a:pPr>
            <a:r>
              <a:t>(D)  धारा</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PYQ अभ्यास प्रश्न #15  [All India NMMS 2024]  —  [उत्तर व व्याख्या]</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34 of 37</a:t>
            </a:r>
          </a:p>
        </p:txBody>
      </p:sp>
      <p:sp>
        <p:nvSpPr>
          <p:cNvPr id="6" name="Rounded Rectangle 5"/>
          <p:cNvSpPr/>
          <p:nvPr/>
        </p:nvSpPr>
        <p:spPr>
          <a:xfrm>
            <a:off x="457200" y="1097280"/>
            <a:ext cx="11277295" cy="1371600"/>
          </a:xfrm>
          <a:prstGeom prst="roundRect">
            <a:avLst/>
          </a:prstGeom>
          <a:solidFill>
            <a:srgbClr val="EFF6FF"/>
          </a:solidFill>
          <a:ln w="254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800" b="1">
                <a:solidFill>
                  <a:srgbClr val="1E3A8A"/>
                </a:solidFill>
                <a:latin typeface="Segoe UI"/>
              </a:defRPr>
            </a:pPr>
            <a:r>
              <a:t>प्र. 15. समुद्र के भीतर शक्तिशाली भूकंप से उत्पन्न होने वाली विनाशकारी विशाल समुद्री लहरों को क्या कहते हैं?</a:t>
            </a:r>
          </a:p>
        </p:txBody>
      </p:sp>
      <p:sp>
        <p:nvSpPr>
          <p:cNvPr id="7" name="Rounded Rectangle 6"/>
          <p:cNvSpPr/>
          <p:nvPr/>
        </p:nvSpPr>
        <p:spPr>
          <a:xfrm>
            <a:off x="457200"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(A)  ज्वार</a:t>
            </a:r>
          </a:p>
        </p:txBody>
      </p:sp>
      <p:sp>
        <p:nvSpPr>
          <p:cNvPr id="8" name="Rounded Rectangle 7"/>
          <p:cNvSpPr/>
          <p:nvPr/>
        </p:nvSpPr>
        <p:spPr>
          <a:xfrm>
            <a:off x="6291072" y="265176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(B)  भाटा</a:t>
            </a:r>
          </a:p>
        </p:txBody>
      </p:sp>
      <p:sp>
        <p:nvSpPr>
          <p:cNvPr id="9" name="Rounded Rectangle 8"/>
          <p:cNvSpPr/>
          <p:nvPr/>
        </p:nvSpPr>
        <p:spPr>
          <a:xfrm>
            <a:off x="457200" y="3886200"/>
            <a:ext cx="5440680" cy="1097280"/>
          </a:xfrm>
          <a:prstGeom prst="roundRect">
            <a:avLst/>
          </a:prstGeom>
          <a:solidFill>
            <a:srgbClr val="166534"/>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600" b="1">
                <a:solidFill>
                  <a:srgbClr val="FFFFFF"/>
                </a:solidFill>
                <a:latin typeface="Segoe UI"/>
              </a:defRPr>
            </a:pPr>
            <a:r>
              <a:t>✅ (C)  सुनामी (Tsunami)</a:t>
            </a:r>
          </a:p>
        </p:txBody>
      </p:sp>
      <p:sp>
        <p:nvSpPr>
          <p:cNvPr id="10" name="Rounded Rectangle 9"/>
          <p:cNvSpPr/>
          <p:nvPr/>
        </p:nvSpPr>
        <p:spPr>
          <a:xfrm>
            <a:off x="6291072" y="3886200"/>
            <a:ext cx="54406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500">
                <a:solidFill>
                  <a:srgbClr val="94A3B8"/>
                </a:solidFill>
                <a:latin typeface="Segoe UI"/>
              </a:defRPr>
            </a:pPr>
            <a:r>
              <a:t>(D)  धारा</a:t>
            </a:r>
          </a:p>
        </p:txBody>
      </p:sp>
      <p:sp>
        <p:nvSpPr>
          <p:cNvPr id="11" name="Rounded Rectangle 10"/>
          <p:cNvSpPr/>
          <p:nvPr/>
        </p:nvSpPr>
        <p:spPr>
          <a:xfrm>
            <a:off x="457200" y="5120640"/>
            <a:ext cx="11277295" cy="1097280"/>
          </a:xfrm>
          <a:prstGeom prst="roundRect">
            <a:avLst/>
          </a:prstGeom>
          <a:solidFill>
            <a:srgbClr val="F0FDF4"/>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a:lstStyle/>
          <a:p>
            <a:pPr algn="ctr">
              <a:defRPr sz="1600" b="1">
                <a:solidFill>
                  <a:srgbClr val="166534"/>
                </a:solidFill>
                <a:latin typeface="Segoe UI"/>
              </a:defRPr>
            </a:pPr>
            <a:r>
              <a:t>✅ सही उत्तर: (C)</a:t>
            </a:r>
          </a:p>
          <a:p>
            <a:pPr>
              <a:defRPr sz="1350">
                <a:solidFill>
                  <a:srgbClr val="14532D"/>
                </a:solidFill>
                <a:latin typeface="Segoe UI"/>
              </a:defRPr>
            </a:pPr>
            <a:r>
              <a:t>💡 व्याख्या: सुनामी जापानी शब्द है जिसका अर्थ बंदरगाह की विनाशकारी महासागरीय लहरें होता है।</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कक्षा 16: सागर सर की 1-मिनट मेमोरी चाबी (पर्यावरण व राष्ट्रीय उद्यान सूत्र)</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35 of 37</a:t>
            </a:r>
          </a:p>
        </p:txBody>
      </p:sp>
      <p:sp>
        <p:nvSpPr>
          <p:cNvPr id="6" name="Rounded Rectangle 5"/>
          <p:cNvSpPr/>
          <p:nvPr/>
        </p:nvSpPr>
        <p:spPr>
          <a:xfrm>
            <a:off x="457200" y="1097280"/>
            <a:ext cx="11277295" cy="5029200"/>
          </a:xfrm>
          <a:prstGeom prst="roundRect">
            <a:avLst/>
          </a:prstGeom>
          <a:solidFill>
            <a:srgbClr val="FFFFFF"/>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a:lstStyle/>
          <a:p>
            <a:pPr algn="ctr">
              <a:defRPr sz="2000" b="1">
                <a:solidFill>
                  <a:srgbClr val="D97706"/>
                </a:solidFill>
                <a:latin typeface="Segoe UI"/>
              </a:defRPr>
            </a:pPr>
            <a:r>
              <a:t>🔑 1-मिनट क्विक मेमोरी सूत्र (Revision Formulae):</a:t>
            </a:r>
          </a:p>
          <a:p>
            <a:pPr>
              <a:spcBef>
                <a:spcPts val="1000"/>
              </a:spcBef>
              <a:defRPr sz="1500" b="1">
                <a:solidFill>
                  <a:srgbClr val="1E3A8A"/>
                </a:solidFill>
                <a:latin typeface="Segoe UI"/>
              </a:defRPr>
            </a:pPr>
            <a:r>
              <a:t>👉  5 जून = पर्यावरण दिवस | 22 अप्रैल = पृथ्वी दिवस | 16 सितंबर = ओजोन दिवस</a:t>
            </a:r>
          </a:p>
          <a:p>
            <a:pPr>
              <a:spcBef>
                <a:spcPts val="1000"/>
              </a:spcBef>
              <a:defRPr sz="1500" b="1">
                <a:solidFill>
                  <a:srgbClr val="1E3A8A"/>
                </a:solidFill>
                <a:latin typeface="Segoe UI"/>
              </a:defRPr>
            </a:pPr>
            <a:r>
              <a:t>👉  चिपको आंदोलन = सुंदरलाल बहुगुणा व गौरा देवी (उत्तराखंड 1973)</a:t>
            </a:r>
          </a:p>
          <a:p>
            <a:pPr>
              <a:spcBef>
                <a:spcPts val="1000"/>
              </a:spcBef>
              <a:defRPr sz="1500" b="1">
                <a:solidFill>
                  <a:srgbClr val="1E3A8A"/>
                </a:solidFill>
                <a:latin typeface="Segoe UI"/>
              </a:defRPr>
            </a:pPr>
            <a:r>
              <a:t>👉  जिम कॉर्बेट = पहला राष्ट्रीय उद्यान (1936 उत्तराखंड) | प्रोजेक्ट टाइगर = 1973</a:t>
            </a:r>
          </a:p>
          <a:p>
            <a:pPr>
              <a:spcBef>
                <a:spcPts val="1000"/>
              </a:spcBef>
              <a:defRPr sz="1500" b="1">
                <a:solidFill>
                  <a:srgbClr val="1E3A8A"/>
                </a:solidFill>
                <a:latin typeface="Segoe UI"/>
              </a:defRPr>
            </a:pPr>
            <a:r>
              <a:t>👉  काजीरंगा = एक सींग वाला गैंडा (असम) | गिर = एशियाई शेर (गुजरात)</a:t>
            </a:r>
          </a:p>
          <a:p>
            <a:pPr>
              <a:spcBef>
                <a:spcPts val="1000"/>
              </a:spcBef>
              <a:defRPr sz="1500" b="1">
                <a:solidFill>
                  <a:srgbClr val="1E3A8A"/>
                </a:solidFill>
                <a:latin typeface="Segoe UI"/>
              </a:defRPr>
            </a:pPr>
            <a:r>
              <a:t>👉  दुधवा = लखीमपुर खीरी (UP) | वाल्मीकि = पश्चिमी चंपारण (बिहार)</a:t>
            </a:r>
          </a:p>
          <a:p>
            <a:pPr>
              <a:spcBef>
                <a:spcPts val="1000"/>
              </a:spcBef>
              <a:defRPr sz="1500" b="1">
                <a:solidFill>
                  <a:srgbClr val="1E3A8A"/>
                </a:solidFill>
                <a:latin typeface="Segoe UI"/>
              </a:defRPr>
            </a:pPr>
            <a:r>
              <a:t>👉  केबुल लामजाओ = तैरता पार्क (मणिपुर) | रिएक्टर स्केल = भूकंप तीव्रता | सीस्मोग्राफ = भूकंप आलेखन</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365760" y="182880"/>
            <a:ext cx="11460175" cy="777240"/>
          </a:xfrm>
          <a:prstGeom prst="rect">
            <a:avLst/>
          </a:prstGeom>
          <a:solidFill>
            <a:srgbClr val="1E3A8A"/>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02920" y="228600"/>
            <a:ext cx="685800" cy="685800"/>
          </a:xfrm>
          <a:prstGeom prst="rect">
            <a:avLst/>
          </a:prstGeom>
        </p:spPr>
      </p:pic>
      <p:sp>
        <p:nvSpPr>
          <p:cNvPr id="4" name="TextBox 3"/>
          <p:cNvSpPr txBox="1"/>
          <p:nvPr/>
        </p:nvSpPr>
        <p:spPr>
          <a:xfrm>
            <a:off x="1325880" y="182880"/>
            <a:ext cx="10424160" cy="777240"/>
          </a:xfrm>
          <a:prstGeom prst="rect">
            <a:avLst/>
          </a:prstGeom>
          <a:noFill/>
        </p:spPr>
        <p:txBody>
          <a:bodyPr wrap="square" anchor="ctr" lIns="0" tIns="36576" bIns="36576">
            <a:spAutoFit/>
          </a:bodyPr>
          <a:lstStyle/>
          <a:p>
            <a:pPr algn="l">
              <a:defRPr sz="2000" b="1">
                <a:solidFill>
                  <a:srgbClr val="FFFFFF"/>
                </a:solidFill>
                <a:latin typeface="Segoe UI"/>
              </a:defRPr>
            </a:pPr>
            <a:r>
              <a:t>आज का अभ्यास कार्य (Homework Questions)</a:t>
            </a:r>
          </a:p>
          <a:p>
            <a:pPr>
              <a:defRPr sz="1100">
                <a:solidFill>
                  <a:srgbClr val="FDE68A"/>
                </a:solidFill>
                <a:latin typeface="Segoe UI"/>
              </a:defRPr>
            </a:pPr>
            <a:r>
              <a:t>सागर कोचिंग सेंटर भगवानपुर (सुपौल) | मार्गदर्शक: श्रवण कुमार 'सागर' (Sagar Sir) | YouTube: NMMS King Sagar Sir</a:t>
            </a:r>
          </a:p>
        </p:txBody>
      </p:sp>
      <p:sp>
        <p:nvSpPr>
          <p:cNvPr id="5" name="Rectangle 4"/>
          <p:cNvSpPr/>
          <p:nvPr/>
        </p:nvSpPr>
        <p:spPr>
          <a:xfrm>
            <a:off x="365760" y="6309360"/>
            <a:ext cx="11460175" cy="411480"/>
          </a:xfrm>
          <a:prstGeom prst="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3A8A"/>
                </a:solidFill>
                <a:latin typeface="Segoe UI"/>
              </a:defRPr>
            </a:pPr>
            <a:r>
              <a:t>WhatsApp / Helpline: +91 91101 13671  |  Official Website: sagarcoaching.tech  |  Slide 36 of 37</a:t>
            </a:r>
          </a:p>
        </p:txBody>
      </p:sp>
      <p:sp>
        <p:nvSpPr>
          <p:cNvPr id="6" name="Rounded Rectangle 5"/>
          <p:cNvSpPr/>
          <p:nvPr/>
        </p:nvSpPr>
        <p:spPr>
          <a:xfrm>
            <a:off x="731520" y="1188720"/>
            <a:ext cx="10728655" cy="4846320"/>
          </a:xfrm>
          <a:prstGeom prst="roundRect">
            <a:avLst/>
          </a:prstGeom>
          <a:solidFill>
            <a:srgbClr val="1E3A8A"/>
          </a:solidFill>
          <a:ln w="317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457200" tIns="365760"/>
          <a:lstStyle/>
          <a:p>
            <a:pPr algn="ctr">
              <a:defRPr sz="2200" b="1">
                <a:solidFill>
                  <a:srgbClr val="FDE68A"/>
                </a:solidFill>
                <a:latin typeface="Segoe UI"/>
              </a:defRPr>
            </a:pPr>
            <a:r>
              <a:t>📝 आज का अभ्यास कार्य (Homework):</a:t>
            </a:r>
          </a:p>
          <a:p>
            <a:pPr>
              <a:spcBef>
                <a:spcPts val="1400"/>
              </a:spcBef>
              <a:defRPr sz="1600" b="1">
                <a:solidFill>
                  <a:srgbClr val="FFFFFF"/>
                </a:solidFill>
                <a:latin typeface="Segoe UI"/>
              </a:defRPr>
            </a:pPr>
            <a:r>
              <a:t>प्रश्न 1: विश्व पर्यावरण दिवस कब मनाया जाता है और चिपको आंदोलन का क्या उद्देश्य था?</a:t>
            </a:r>
          </a:p>
          <a:p>
            <a:pPr>
              <a:spcBef>
                <a:spcPts val="1400"/>
              </a:spcBef>
              <a:defRPr sz="1600" b="1">
                <a:solidFill>
                  <a:srgbClr val="FFFFFF"/>
                </a:solidFill>
                <a:latin typeface="Segoe UI"/>
              </a:defRPr>
            </a:pPr>
            <a:r>
              <a:t>प्रश्न 2: काजीरंगा, गिर और दुधवा राष्ट्रीय उद्यान किन राज्यों में हैं और किसके लिए प्रसिद्ध हैं?</a:t>
            </a:r>
          </a:p>
          <a:p>
            <a:pPr>
              <a:spcBef>
                <a:spcPts val="1400"/>
              </a:spcBef>
              <a:defRPr sz="1600" b="1">
                <a:solidFill>
                  <a:srgbClr val="FFFFFF"/>
                </a:solidFill>
                <a:latin typeface="Segoe UI"/>
              </a:defRPr>
            </a:pPr>
            <a:r>
              <a:t>प्रश्न 3: भूकंप की तीव्रता मापने वाले पैमाने और यंत्र का नाम लिखिए।</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65760"/>
            <a:ext cx="11277295" cy="6126480"/>
          </a:xfrm>
          <a:prstGeom prst="rect">
            <a:avLst/>
          </a:prstGeom>
          <a:solidFill>
            <a:srgbClr val="1E3A8A"/>
          </a:solidFill>
          <a:ln w="3810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circle-transparent.png"/>
          <p:cNvPicPr>
            <a:picLocks noChangeAspect="1"/>
          </p:cNvPicPr>
          <p:nvPr/>
        </p:nvPicPr>
        <p:blipFill>
          <a:blip r:embed="rId2"/>
          <a:stretch>
            <a:fillRect/>
          </a:stretch>
        </p:blipFill>
        <p:spPr>
          <a:xfrm>
            <a:off x="5394960" y="640080"/>
            <a:ext cx="1371600" cy="1371600"/>
          </a:xfrm>
          <a:prstGeom prst="rect">
            <a:avLst/>
          </a:prstGeom>
        </p:spPr>
      </p:pic>
      <p:sp>
        <p:nvSpPr>
          <p:cNvPr id="4" name="TextBox 3"/>
          <p:cNvSpPr txBox="1"/>
          <p:nvPr/>
        </p:nvSpPr>
        <p:spPr>
          <a:xfrm>
            <a:off x="914400" y="2103120"/>
            <a:ext cx="10362895" cy="2011680"/>
          </a:xfrm>
          <a:prstGeom prst="rect">
            <a:avLst/>
          </a:prstGeom>
          <a:noFill/>
        </p:spPr>
        <p:txBody>
          <a:bodyPr wrap="square">
            <a:spAutoFit/>
          </a:bodyPr>
          <a:lstStyle/>
          <a:p>
            <a:pPr algn="ctr">
              <a:defRPr sz="1800" b="1">
                <a:solidFill>
                  <a:srgbClr val="FDE68A"/>
                </a:solidFill>
                <a:latin typeface="Segoe UI"/>
              </a:defRPr>
            </a:pPr>
            <a:r>
              <a:t>SAGAR COACHING CENTRE BHAGWANPUR</a:t>
            </a:r>
          </a:p>
          <a:p>
            <a:pPr algn="ctr">
              <a:defRPr sz="1600" b="1">
                <a:solidFill>
                  <a:srgbClr val="93C5FD"/>
                </a:solidFill>
                <a:latin typeface="Segoe UI"/>
              </a:defRPr>
            </a:pPr>
            <a:r>
              <a:t>NMMS All India (राष्ट्रीय आय-सह-मेधा छात्रवृत्ति)  •  Class 16 Complete! कल मिलेंगे Class 17 में</a:t>
            </a:r>
          </a:p>
          <a:p>
            <a:pPr algn="ctr">
              <a:defRPr sz="3200" b="1">
                <a:solidFill>
                  <a:srgbClr val="FFFFFF"/>
                </a:solidFill>
                <a:latin typeface="Segoe UI"/>
              </a:defRPr>
            </a:pPr>
            <a:r>
              <a:t>कल का विषय: संपूर्ण भूगोल टॉप 30 PYQ महा-मंथन मैराथन</a:t>
            </a:r>
          </a:p>
          <a:p>
            <a:pPr algn="ctr">
              <a:defRPr sz="1600">
                <a:solidFill>
                  <a:srgbClr val="F1F5F9"/>
                </a:solidFill>
                <a:latin typeface="Segoe UI"/>
              </a:defRPr>
            </a:pPr>
            <a:r>
              <a:t>इस क्लास की PDF डाउनलोड करें: sagarcoaching.tech | Helpline: +91 91101 13671</a:t>
            </a:r>
          </a:p>
        </p:txBody>
      </p:sp>
      <p:sp>
        <p:nvSpPr>
          <p:cNvPr id="5" name="Rounded Rectangle 4"/>
          <p:cNvSpPr/>
          <p:nvPr/>
        </p:nvSpPr>
        <p:spPr>
          <a:xfrm>
            <a:off x="1371600" y="4206240"/>
            <a:ext cx="9448495" cy="1188720"/>
          </a:xfrm>
          <a:prstGeom prst="roundRect">
            <a:avLst/>
          </a:prstGeom>
          <a:solidFill>
            <a:srgbClr val="284BA0"/>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DE68A"/>
                </a:solidFill>
                <a:latin typeface="Segoe UI"/>
              </a:defRPr>
            </a:pPr>
            <a:r>
              <a:t>🎯 आज की क्लास में क्या सीखेंगे (Key Topics):</a:t>
            </a:r>
          </a:p>
          <a:p>
            <a:pPr algn="ctr">
              <a:defRPr sz="1300">
                <a:solidFill>
                  <a:srgbClr val="FFFFFF"/>
                </a:solidFill>
                <a:latin typeface="Segoe UI"/>
              </a:defRPr>
            </a:pPr>
            <a:r>
              <a:t>सौरमंडल से पर्यावरण तक का संपूर्ण रिवीजन  ★  30 मोस्ट रिपीटेड ऑल इंडिया NMMS PYQs  ★  रैपिड-फायर अभ्यास और 10/10 अंक की गारंटी  ★  भूगोल संपूर्ण पाठ्यक्रम का महा-समापन</a:t>
            </a:r>
          </a:p>
        </p:txBody>
      </p:sp>
      <p:sp>
        <p:nvSpPr>
          <p:cNvPr id="6" name="TextBox 5"/>
          <p:cNvSpPr txBox="1"/>
          <p:nvPr/>
        </p:nvSpPr>
        <p:spPr>
          <a:xfrm>
            <a:off x="1371600" y="5532120"/>
            <a:ext cx="9448495" cy="731520"/>
          </a:xfrm>
          <a:prstGeom prst="rect">
            <a:avLst/>
          </a:prstGeom>
          <a:noFill/>
        </p:spPr>
        <p:txBody>
          <a:bodyPr wrap="none">
            <a:spAutoFit/>
          </a:bodyPr>
          <a:lstStyle/>
          <a:p>
            <a:pPr algn="ctr">
              <a:defRPr sz="1300" b="1">
                <a:solidFill>
                  <a:srgbClr val="E2E8F0"/>
                </a:solidFill>
                <a:latin typeface="Segoe UI"/>
              </a:defRPr>
            </a:pPr>
            <a:r>
              <a:t>मार्गदर्शक: श्रवण कुमार 'सागर' (Sagar Sir)  |  Helpline: +91 91101 13671  |  sagarcoaching.tech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