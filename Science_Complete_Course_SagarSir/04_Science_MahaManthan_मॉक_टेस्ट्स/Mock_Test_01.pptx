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🎯 राष्ट्रीय आय-सह-मेधा छात्रवृत्ति परीक्षा (NMMS All India Special) • मिशन 35/35 अंक</a:t>
            </a:r>
          </a:p>
        </p:txBody>
      </p:sp>
      <p:pic>
        <p:nvPicPr>
          <p:cNvPr id="4" name="Picture 3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640080"/>
            <a:ext cx="1216152" cy="12161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1874519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D97706"/>
                </a:solidFill>
                <a:latin typeface="Segoe UI"/>
              </a:defRPr>
            </a:pPr>
            <a:r>
              <a:t>SAGAR COACHING CENTRE, BHAGWANPUR (SUPAUL, BIHAR)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46704" y="2468880"/>
            <a:ext cx="5486400" cy="457200"/>
          </a:xfrm>
          <a:prstGeom prst="roundRect">
            <a:avLst/>
          </a:prstGeom>
          <a:solidFill>
            <a:srgbClr val="0D9488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🌟 NMMS ALL INDIA SCIENCE MOCK TEST 01 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971800"/>
            <a:ext cx="112772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FFFFFF"/>
                </a:solidFill>
                <a:latin typeface="Segoe UI"/>
              </a:defRPr>
            </a:pPr>
            <a:r>
              <a:t>विशुद्ध विज्ञान मॉक टेस्ट 01</a:t>
            </a:r>
          </a:p>
          <a:p>
            <a:pPr algn="ctr">
              <a:spcBef>
                <a:spcPts val="400"/>
              </a:spcBef>
              <a:defRPr sz="1500">
                <a:solidFill>
                  <a:srgbClr val="CBD5E1"/>
                </a:solidFill>
                <a:latin typeface="Segoe UI"/>
              </a:defRPr>
            </a:pPr>
            <a:r>
              <a:t>मिशन 35/35 अंक • 50 अति-महत्वपूर्ण विगत वर्षों के प्रश्न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371600" y="4160520"/>
            <a:ext cx="9448495" cy="1828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37160"/>
          <a:lstStyle/>
          <a:p>
            <a:pPr algn="ctr">
              <a:defRPr sz="1400" b="1">
                <a:solidFill>
                  <a:srgbClr val="D97706"/>
                </a:solidFill>
                <a:latin typeface="Segoe UI"/>
              </a:defRPr>
            </a:pPr>
            <a:r>
              <a:t>🎯 आज की क्लास में क्या सीखेंगे (Key Topics):</a:t>
            </a:r>
          </a:p>
          <a:p>
            <a:pPr>
              <a:spcBef>
                <a:spcPts val="200"/>
              </a:spcBef>
              <a:defRPr sz="1200">
                <a:solidFill>
                  <a:srgbClr val="FFFFFF"/>
                </a:solidFill>
                <a:latin typeface="Segoe UI"/>
              </a:defRPr>
            </a:pPr>
            <a:r>
              <a:t>  ✓  यांत्रिकी, प्रकाश, तरंग व आधुनिक भौतिकी के 15 चुनिंदा प्रश्न</a:t>
            </a:r>
          </a:p>
          <a:p>
            <a:pPr>
              <a:spcBef>
                <a:spcPts val="200"/>
              </a:spcBef>
              <a:defRPr sz="1200">
                <a:solidFill>
                  <a:srgbClr val="FFFFFF"/>
                </a:solidFill>
                <a:latin typeface="Segoe UI"/>
              </a:defRPr>
            </a:pPr>
            <a:r>
              <a:t>  ✓  अम्ल, क्षार, लवण, धातु, मिश्र धातु व रासायनिक सूत्रों के 15 प्रश्न</a:t>
            </a:r>
          </a:p>
          <a:p>
            <a:pPr>
              <a:spcBef>
                <a:spcPts val="200"/>
              </a:spcBef>
              <a:defRPr sz="1200">
                <a:solidFill>
                  <a:srgbClr val="FFFFFF"/>
                </a:solidFill>
                <a:latin typeface="Segoe UI"/>
              </a:defRPr>
            </a:pPr>
            <a:r>
              <a:t>  ✓  कंकाल तंत्र, विटामिन, मानव कार्यिकी व पर्यावरण के 20 प्रश्न</a:t>
            </a:r>
          </a:p>
          <a:p>
            <a:pPr>
              <a:spcBef>
                <a:spcPts val="200"/>
              </a:spcBef>
              <a:defRPr sz="1200">
                <a:solidFill>
                  <a:srgbClr val="FFFFFF"/>
                </a:solidFill>
                <a:latin typeface="Segoe UI"/>
              </a:defRPr>
            </a:pPr>
            <a:r>
              <a:t>  ✓  ऑल इंडिया NMMS परीक्षा स्तर के शत-प्रतिशत प्रामाणिक प्रश्न</a:t>
            </a:r>
          </a:p>
          <a:p>
            <a:pPr>
              <a:spcBef>
                <a:spcPts val="200"/>
              </a:spcBef>
              <a:defRPr sz="1200">
                <a:solidFill>
                  <a:srgbClr val="FFFFFF"/>
                </a:solidFill>
                <a:latin typeface="Segoe UI"/>
              </a:defRPr>
            </a:pPr>
            <a:r>
              <a:t>  ✓  प्रत्येक प्रश्न पर 2-स्लाइड इंटरैक्टिव पैटर्न एवं विस्तृत व्याख्या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172200"/>
            <a:ext cx="112772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94A3B8"/>
                </a:solidFill>
                <a:latin typeface="Segoe UI"/>
              </a:defRPr>
            </a:pPr>
            <a:r>
              <a:t>मार्गदर्शक: सागर सर (NMMS King)  |  Helpline / WhatsApp: +91 91101 13671  |  Website: sagarcoaching.tech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विशुद्ध विज्ञान मॉक टेस्ट 01 — परीक्षा निर्देश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512064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2004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📋 परीक्षा निर्देश एवं मूल्यांकन नियमावली (Exam Rules &amp; Scoring Pattern):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इस टेस्ट में राष्ट्रीय आय-सह-मेधा छात्रवृत्ति परीक्षा (NMMS) के विज्ञान (SAT) पाठ्यक्रम के कुल 50 प्रामाणिक प्रश्न शामिल हैं।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प्रत्येक प्रश्न के लिए 1 अंक निर्धारित है। परीक्षा में कोई नकारात्मक अंकन (Negative Marking) नहीं है।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प्रश्न स्लाइड पर उत्तर पूरी तरह छुपा हुआ है ताकि छात्र स्वयं विचार कर उत्तर दे सकें।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अगली स्लाइड पर सही विकल्प हरे रंग में प्रकाशित होगा तथा नीचे संपूर्ण वैज्ञानिक तथ्य और व्याख्या दी गई है।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लक्ष्य: विज्ञान के 35 प्रश्नों में से शत-प्रतिशत 35/35 अंक प्राप्त करना!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  [NMMS Bihar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1. बल का SI मात्रक क्या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जूल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न्यूटन (Newton)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पास्कल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वाट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  [NMMS Bihar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1. बल का SI मात्रक क्या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जूल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न्यूटन (Newton)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पास्कल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वाट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बल (Force) = द्रव्यमान × त्वरण, इसका अंतरराष्ट्रीय मानक मात्रक न्यूटन (N) है।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  [NMMS UP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2. विद्युत हीटर का तापन अवयव (Heating Element) किस तार का बना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तांबा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नाइक्रोम (Nichrome)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टंगस्टन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लोहा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  [NMMS UP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2. विद्युत हीटर का तापन अवयव (Heating Element) किस तार का बना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तांबा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नाइक्रोम (Nichrome)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टंगस्टन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लोहा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नाइक्रोम (निकेल + क्रोमियम) का प्रतिरोध और गलनांक उच्च होता है, जिससे यह लाल-तप्त हो जाता है।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  [NMMS MP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3. ध्वनि की प्रबलता (Loudness) ध्वनि तरंग के किस गुण पर निर्भर करती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आवृत्ति पर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आयाम (Amplitude) पर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तरंगदैर्घ्य पर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चाल पर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  [NMMS MP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3. ध्वनि की प्रबलता (Loudness) ध्वनि तरंग के किस गुण पर निर्भर करती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आवृत्ति पर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आयाम (Amplitude) पर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तरंगदैर्घ्य पर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चाल पर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ध्वनि की प्रबलता कंपन के आयाम के वर्ग (Amplitude²) के समानुपाती होती है।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  [NMMS Rajasthan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4. समतल दर्पण की फोकस दूरी कितनी होती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शून्य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25 सेमी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अनंत (Infinity)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100 सेमी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  [NMMS Rajasthan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10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4. समतल दर्पण की फोकस दूरी कितनी होती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शून्य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(B)  25 सेमी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(C)  अनंत (Infinity)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100 सेमी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(C)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समतल दर्पण की वक्रता त्रिज्या अनंत होती है, अतः इसकी फोकस दूरी भी अनंत होती है।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#5  [NMMS Haryana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11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5. आकाश का नीला रंग प्रकाश की किस परिघटना के कारण दिखाई देता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परावर्तन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अपवर्तन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प्रकीर्णन (Scattering)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वर्ण-विक्षेपण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#5  [NMMS Haryana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12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5. आकाश का नीला रंग प्रकाश की किस परिघटना के कारण दिखाई देता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परावर्तन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(B)  अपवर्तन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(C)  प्रकीर्णन (Scattering)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वर्ण-विक्षेपण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(C)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वायुमंडल के सूक्ष्म कण सूर्य के प्रकाश के नीले रंग का प्रकीर्णन सबसे अधिक करते हैं।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#6  [NMMS Delhi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13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6. समुद्र की गहराई या जल में डूबी वस्तुओं का पता लगाने हेतु किस तकनीक का उपयोग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राडार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सोनार (SONAR)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लेजर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सीस्मोग्राफ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#6  [NMMS Delhi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14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6. समुद्र की गहराई या जल में डूबी वस्तुओं का पता लगाने हेतु किस तकनीक का उपयोग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राडार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सोनार (SONAR)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लेजर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सीस्मोग्राफ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सोनार (Sound Navigation and Ranging) में पराश्रव्य तरंगों (Ultrasound) का उपयोग होता है।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#7  [NMMS Bihar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15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7. वायुमंडलीय दाब को मापने के लिए किस यंत्र का उपयोग किया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थर्मामीटर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बैरोमीटर (Barometer)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मैनोमीटर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हाइग्रोमीटर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#7  [NMMS Bihar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16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7. वायुमंडलीय दाब को मापने के लिए किस यंत्र का उपयोग किया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थर्मामीटर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बैरोमीटर (Barometer)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मैनोमीटर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हाइग्रोमीटर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बैरोमीटर में पारे के स्तंभ की ऊंचाई से वायुमंडलीय दाब मापा जाता है।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#8  [NMMS UP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17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8. धूप के चश्मों और कैमरों के लेंस बनाने में किस प्रकार के कांच का उपयोग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मृदु कांच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फ्लिंट कांच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पाइरेक्स कांच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क्रुक्स कांच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#8  [NMMS UP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18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8. धूप के चश्मों और कैमरों के लेंस बनाने में किस प्रकार के कांच का उपयोग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मृदु कांच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(B)  फ्लिंट कांच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पाइरेक्स कांच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(D)  क्रुक्स कांच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(D)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क्रुक्स कांच पराबैंगनी किरणों को सोख लेता है, अतः धूप के चश्मों में प्रयुक्त होता है।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#9  [NMMS MP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19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9. किसी तारे के रंग से उसके किस भौतिक गुण का पता चलता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भार का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दूरी का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तापमान (Temperature) का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आकार का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#9  [NMMS MP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20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9. किसी तारे के रंग से उसके किस भौतिक गुण का पता चलता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भार का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(B)  दूरी का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(C)  तापमान (Temperature) का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आकार का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(C)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तारे का रंग उसके पृष्ठीय तापमान पर निर्भर करता है (नीला तारा सबसे गर्म, लाल सबसे ठंडा)।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#10  [NMMS Rajasthan 2021]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21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10. तड़ित चालक (Lightning Conductor) का आविष्कार किस वैज्ञानिक ने किया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थॉमस एडिसन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बेंजामिन फ्रैंकलिन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माइकल फैराडे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न्यूटन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#10  [NMMS Rajasthan 2021]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22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10. तड़ित चालक (Lightning Conductor) का आविष्कार किस वैज्ञानिक ने किया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थॉमस एडिसन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बेंजामिन फ्रैंकलिन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माइकल फैराडे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न्यूटन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बेंजामिन फ्रैंकलिन ने तड़ित चालक का आविष्कार कर आकाशीय बिजली से सुरक्षा का उपाय खोजा।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#11  [NMMS All India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23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11. जल का घनत्व किस तापमान पर अधिकतम (1 g/cm³)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0°C पर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4°C पर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100°C पर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-4°C पर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#11  [NMMS All India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24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11. जल का घनत्व किस तापमान पर अधिकतम (1 g/cm³)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0°C पर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4°C पर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100°C पर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-4°C पर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जल का असामान्य प्रसार होने के कारण 4°C पर इसका घनत्व अधिकतम और आयतन न्यूनतम होता है।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#12  [NMMS Gujarat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25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12. दाढ़ी बनाने वाले शेविंग ब्रश के बाल जल से बाहर निकालने पर आपस में क्यों चिपक जाते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श्यानता के कारण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पृष्ठ तनाव (Surface Tension)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घर्षण के कारण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गुरुत्व के कारण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#12  [NMMS Gujarat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26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12. दाढ़ी बनाने वाले शेविंग ब्रश के बाल जल से बाहर निकालने पर आपस में क्यों चिपक जाते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श्यानता के कारण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पृष्ठ तनाव (Surface Tension)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घर्षण के कारण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गुरुत्व के कारण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जल के पृष्ठ तनाव के कारण पानी की सतह सिकुड़कर न्यूनतम क्षेत्रफल घेरने का प्रयास करती है।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#13  [NMMS Bihar 2021]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27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13. विद्युत ऊर्जा को यांत्रिक ऊर्जा में बदलने वाला उपकरण कौन-सा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डायनेमो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विद्युत मोटर (Electric Motor)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विद्युत सेल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ट्रांसफार्मर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#13  [NMMS Bihar 2021]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28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13. विद्युत ऊर्जा को यांत्रिक ऊर्जा में बदलने वाला उपकरण कौन-सा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डायनेमो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विद्युत मोटर (Electric Motor)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विद्युत सेल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ट्रांसफार्मर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विद्युत मोटर विद्युत ऊर्जा को यांत्रिक ऊर्जा में बदलती है (जैसे पंखे, मिक्सी में)।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#14  [NMMS UP 2021]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29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14. एक हॉर्स पावर (1 HP) में कितने वाट होते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500 वाट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746 वाट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1000 वाट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250 वाट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#14  [NMMS UP 2021]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30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14. एक हॉर्स पावर (1 HP) में कितने वाट होते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500 वाट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746 वाट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1000 वाट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250 वाट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शक्ति का व्यावहारिक मात्रक 1 अश्वशक्ति (Horse Power) = 746 वाट होता है।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#15  [NMMS MP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31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15. चंद्रमा पर कोई वायुमंडल न होने का मुख्य कारण क्या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कम तापमान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पलायन वेग का गैस अणुओं के वेग से कम होना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सूर्य का प्रकाश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जल का अभाव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#15  [NMMS MP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32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15. चंद्रमा पर कोई वायुमंडल न होने का मुख्य कारण क्या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कम तापमान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पलायन वेग का गैस अणुओं के वेग से कम होना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सूर्य का प्रकाश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जल का अभाव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चंद्रमा का गुरुत्वाकर्षण कम होने से वहाँ का पलायन वेग गैस के तापीय वेग से कम है।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#16  [NMMS Rajasthan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33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16. खट्टे दूध एवं दही में कौन-सा प्राकृतिक अम्ल उपस्थित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एसिटिक अम्ल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लैक्टिक अम्ल (Lactic Acid)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ऑक्जेलिक अम्ल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टार्टरिक अम्ल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#16  [NMMS Rajasthan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34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16. खट्टे दूध एवं दही में कौन-सा प्राकृतिक अम्ल उपस्थित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एसिटिक अम्ल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लैक्टिक अम्ल (Lactic Acid)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ऑक्जेलिक अम्ल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टार्टरिक अम्ल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लैक्टोबैसिलस जीवाणु द्वारा दूध की लैक्टोज शर्करा लैक्टिक अम्ल में बदल जाती है।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#17  [NMMS Delhi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35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17. टार्टरिक अम्ल प्राकृतिक रूप से किस फल में प्रचुर मात्रा में पाया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संतरा व नींबू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इमली एवं कच्चे अंगूर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टमाटर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सेब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#17  [NMMS Delhi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36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17. टार्टरिक अम्ल प्राकृतिक रूप से किस फल में प्रचुर मात्रा में पाया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संतरा व नींबू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इमली एवं कच्चे अंगूर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टमाटर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सेब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इमली और कच्चे अंगूर में टार्टरिक अम्ल प्रचुर मात्रा में पाया जाता है।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#18  [NMMS Bihar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37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18. टमाटर में कौन-सा कार्बनिक अम्ल मुख्य रूप से पाया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एसिटिक अम्ल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ऑक्जेलिक अम्ल (Oxalic Acid)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लैक्टिक अम्ल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फॉर्मिक अम्ल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#18  [NMMS Bihar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38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18. टमाटर में कौन-सा कार्बनिक अम्ल मुख्य रूप से पाया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एसिटिक अम्ल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ऑक्जेलिक अम्ल (Oxalic Acid)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लैक्टिक अम्ल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फॉर्मिक अम्ल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टमाटर में ऑक्जेलिक अम्ल तथा सिट्रिक अम्ल पाए जाते हैं।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#19  [NMMS UP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39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19. लोहे को संक्षारण व जंग से बचाने हेतु उस पर जस्ते (जिंक) की परत चढ़ाना क्या कहलाता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विद्युत अपघटन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यशदलेपन / गैल्वनीकरण (Galvanization)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पायसीकरण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उदासीनीकरण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#19  [NMMS UP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40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19. लोहे को संक्षारण व जंग से बचाने हेतु उस पर जस्ते (जिंक) की परत चढ़ाना क्या कहलाता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विद्युत अपघटन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यशदलेपन / गैल्वनीकरण (Galvanization)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पायसीकरण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उदासीनीकरण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लोहे पर पिघले हुए जिंक की सुरक्षा परत चढ़ाने की विधि को गैल्वनीकरण कहते हैं।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#20  [NMMS MP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41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20. पीतल (Brass) किन दो धातुओं की मिश्र धातु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तांबा और टिन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तांबा और जस्ता (Cu + Zn)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लोहा और कार्बन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सीसा और टिन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#20  [NMMS MP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42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20. पीतल (Brass) किन दो धातुओं की मिश्र धातु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तांबा और टिन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तांबा और जस्ता (Cu + Zn)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लोहा और कार्बन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सीसा और टिन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पीतल तांबा (70%) और जस्ता (30%) की मिश्र धातु है।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#21  [NMMS Haryana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43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21. कांसा (Bronze) किन दो धातुओं की मिश्र धातु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तांबा और जस्ता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तांबा और टिन (Cu + Sn)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सीसा और टिन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सोना और तांबा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#21  [NMMS Haryana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44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21. कांसा (Bronze) किन दो धातुओं की मिश्र धातु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तांबा और जस्ता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तांबा और टिन (Cu + Sn)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सीसा और टिन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सोना और तांबा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कांसा तांबे (88%) और टिन (12%) की प्राचीन मिश्र धातु है।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#22  [NMMS Rajasthan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45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22. बेकिंग सोडा (खाने का सोडा) का रासायनिक नाम क्या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सोडियम कार्बोनेट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सोडियम हाइड्रोजन कार्बोनेट (NaHCO₃)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कैल्शियम हाइड्रोक्साइड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सोडियम क्लोराइड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#22  [NMMS Rajasthan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46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22. बेकिंग सोडा (खाने का सोडा) का रासायनिक नाम क्या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सोडियम कार्बोनेट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सोडियम हाइड्रोजन कार्बोनेट (NaHCO₃)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कैल्शियम हाइड्रोक्साइड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सोडियम क्लोराइड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बेकिंग सोडा का रासायनिक नाम सोडियम बाइकार्बोनेट (NaHCO₃) है।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#23  [NMMS All India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47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23. धावन सोडा (Washing Soda) का सही रासायनिक सूत्र क्या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NaHCO₃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Na₂CO₃.10H₂O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CaSO₄.2H₂O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NaOH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#23  [NMMS All India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48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23. धावन सोडा (Washing Soda) का सही रासायनिक सूत्र क्या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NaHCO₃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Na₂CO₃.10H₂O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CaSO₄.2H₂O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NaOH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धावन सोडा सोडियम कार्बोनेट डेकाहाइड्रेट (Na₂CO₃.10H₂O) होता है।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#24  [NMMS Gujarat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49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24. प्लास्टर ऑफ पेरिस (POP) का रासायनिक सूत्र क्या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CaSO₄.2H₂O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CaSO₄.½H₂O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CaCO₃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CaO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#24  [NMMS Gujarat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50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24. प्लास्टर ऑफ पेरिस (POP) का रासायनिक सूत्र क्या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CaSO₄.2H₂O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CaSO₄.½H₂O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CaCO₃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CaO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जिप्सम को 373 K पर गर्म करने पर प्लास्टर ऑफ पेरिस (कैल्शियम सल्फेट हेमीहाइड्रेट) बनता है।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#25  [NMMS Bihar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51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25. विरंजक चूर्ण (Bleaching Powder) का रासायनिक सूत्र क्या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NaCl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CaOCl₂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CaCO₃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NaOH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#25  [NMMS Bihar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52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25. विरंजक चूर्ण (Bleaching Powder) का रासायनिक सूत्र क्या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NaCl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CaOCl₂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CaCO₃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NaOH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शुष्क बुझे चूने पर क्लोरीन गैस गुजारने पर ब्लीचिंग पाउडर (CaOCl₂) बनता है।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#26  [NMMS UP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53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26. आतिशबाजी में हरा रंग किस धातु के लवण की उपस्थिति के कारण उत्पन्न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स्ट्रोंशियम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बेरियम (Barium)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सोडियम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तांबा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#26  [NMMS UP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54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26. आतिशबाजी में हरा रंग किस धातु के लवण की उपस्थिति के कारण उत्पन्न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स्ट्रोंशियम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बेरियम (Barium)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सोडियम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तांबा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आतिशबाजी में बेरियम से हरा रंग तथा स्ट्रोंशियम से गहरा लाल रंग उत्पन्न होता है।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#27  [NMMS MP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55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27. भविष्य का ईंधन (Fuel of Future) किसे कहा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प्राकृतिक गैस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हाइड्रोजन गैस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पेट्रोलियम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कोयला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#27  [NMMS MP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56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27. भविष्य का ईंधन (Fuel of Future) किसे कहा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प्राकृतिक गैस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हाइड्रोजन गैस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पेट्रोलियम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कोयला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हाइड्रोजन का ऊष्मीय मान सर्वाधिक है और इसके दहन से केवल जल बनता है, कोई प्रदूषण नहीं।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#28  [NMMS Rajasthan 2021]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57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28. प्राकृतिक रबर किसका बहुलक (Polymer)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एथीन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आइसोप्रीन (Isoprene)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ब्यूटाडाइन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विनाइल क्लोराइड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#28  [NMMS Rajasthan 2021]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58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28. प्राकृतिक रबर किसका बहुलक (Polymer)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एथीन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आइसोप्रीन (Isoprene)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ब्यूटाडाइन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विनाइल क्लोराइड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प्राकृतिक रबर लैटेक्स से प्राप्त आइसोप्रीन का बहुलक होता है।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#29  [NMMS Delhi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59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29. रबर को कठोर व टिकाऊ बनाने हेतु सल्फर के साथ गर्म करने की प्रक्रिया क्या कहलाती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पाश्चुरीकरण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वल्कनीकरण (Vulcanization)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किण्वन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आसवन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#29  [NMMS Delhi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60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29. रबर को कठोर व टिकाऊ बनाने हेतु सल्फर के साथ गर्म करने की प्रक्रिया क्या कहलाती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पाश्चुरीकरण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वल्कनीकरण (Vulcanization)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किण्वन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आसवन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चार्ल्स गुडईयर ने वल्कनीकरण की खोज की, जिसमें रबर को गंधक (सल्फर) के साथ गर्म करते हैं।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#30  [NMMS Bihar 2021]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61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30. साबुन निर्माण में सह-उत्पाद (By-product) के रूप में क्या प्राप्त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ग्लिसरॉल (Glycerol)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अल्कोहल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सिरका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ईथर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#30  [NMMS Bihar 2021]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62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30. साबुन निर्माण में सह-उत्पाद (By-product) के रूप में क्या प्राप्त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(A)  ग्लिसरॉल (Glycerol)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(B)  अल्कोहल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सिरका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ईथर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(A)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वसा और कास्टिक सोडे के साबुनीकरण (Saponification) में ग्लिसरॉल सह-उत्पाद बनता है।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#31  [NMMS UP 2021]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63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31. मानव शरीर की सबसे छोटी हड्डी (Smallest Bone) कौन-सी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फीमर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स्टेप्स / स्टेपीज (Stapes)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टिबिया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ह्यूमरस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#31  [NMMS UP 2021]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64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31. मानव शरीर की सबसे छोटी हड्डी (Smallest Bone) कौन-सी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फीमर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स्टेप्स / स्टेपीज (Stapes)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टिबिया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ह्यूमरस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मानव कान के मध्य भाग में स्थित स्टेपीज (Stapes) शरीर की सबसे छोटी हड्डी है।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#32  [NMMS MP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65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32. मानव शरीर की सबसे लंबी और मजबूत हड्डी कौन-सी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स्टेप्स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फीमर (जांघ की हड्डी)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रीढ़ की हड्डी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रेडियस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#32  [NMMS MP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66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32. मानव शरीर की सबसे लंबी और मजबूत हड्डी कौन-सी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स्टेप्स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फीमर (जांघ की हड्डी)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रीढ़ की हड्डी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रेडियस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जांघ की हड्डी 'फीमर' (Femur) मानव शरीर की सबसे बड़ी और भारी हड्डी है।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#33  [NMMS Rajasthan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67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33. मानव खोपड़ी में हड्डियों की कुल संख्या कितनी होती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22 (खोपड़ी)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206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#33  [NMMS Rajasthan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68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33. मानव खोपड़ी में हड्डियों की कुल संख्या कितनी होती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22 (खोपड़ी)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206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मानव खोपड़ी में 8 कपाल (Cranial) और 14 चेहरे की मिलाकर कुल 22 हड्डियां होती हैं।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#34  [NMMS All India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69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34. वयस्क मानव शरीर में कुल कितनी अस्थियां (हड्डियां) पाई जाती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300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206 हड्डियां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208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180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#34  [NMMS All India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70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34. वयस्क मानव शरीर में कुल कितनी अस्थियां (हड्डियां) पाई जाती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300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206 हड्डियां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208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180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नवजात शिशु में लगभग 300 अस्थियां होती हैं जो जुड़कर वयस्क में 206 रह जाती हैं।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#35  [NMMS Gujarat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71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35. रक्त का थक्का जमाने के लिए कौन-सा विटामिन अनिवार्य रूप से आवश्यक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विटामिन 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विटामिन 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विटामिन 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विटामिन D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#35  [NMMS Gujarat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72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35. रक्त का थक्का जमाने के लिए कौन-सा विटामिन अनिवार्य रूप से आवश्यक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विटामिन 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विटामिन 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विटामिन 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विटामिन 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विटामिन K यकृत में प्रोथ्रोम्बिन निर्माण हेतु आवश्यक है जो रक्त का थक्का जमाता है।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#36  [NMMS Bihar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73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36. सूर्य की किरणों से हमारे शरीर की त्वचा में कौन-सा विटामिन संश्लेषित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विटामिन 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विटामिन 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विटामिन 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विटामिन B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#36  [NMMS Bihar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74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36. सूर्य की किरणों से हमारे शरीर की त्वचा में कौन-सा विटामिन संश्लेषित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विटामिन 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विटामिन 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विटामिन 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विटामिन B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सूर्य की UV किरणों के प्रभाव से त्वचा का कोलेस्ट्रॉल विटामिन D में बदल जाता है।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#37  [NMMS UP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75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37. रतौंधी (Night Blindness) रोग किस विटामिन की कमी के कारण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विटामिन 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विटामिन B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विटामिन 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विटामिन D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#37  [NMMS UP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76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37. रतौंधी (Night Blindness) रोग किस विटामिन की कमी के कारण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(A)  विटामिन 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(B)  विटामिन B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विटामिन 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विटामिन 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(A)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विटामिन A (रेटिनॉल) की कमी से कम रोशनी में देखने की क्षमता घट जाती है (रतौंधी)।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#38  [NMMS MP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77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38. स्कर्वी रोग (मसूड़ों से खून आना) किस विटामिन की कमी का लक्षण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विटामिन 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विटामिन C (एस्कॉर्बिक अम्ल)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विटामिन 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विटामिन K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#38  [NMMS MP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78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38. स्कर्वी रोग (मसूड़ों से खून आना) किस विटामिन की कमी का लक्षण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विटामिन 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विटामिन C (एस्कॉर्बिक अम्ल)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विटामिन 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विटामिन 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विटामिन C खट्टे फलों में मिलता है, इसकी कमी से मसूड़े सूज जाते हैं और खून निकलता है।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#39  [NMMS Haryana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79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39. सूखा रोग (Rickets) बच्चों में किस विटामिन की कमी से होता है जिसमें हड्डियां मुड़ जाती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विटामिन 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विटामिन 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विटामिन 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विटामिन E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#39  [NMMS Haryana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80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39. सूखा रोग (Rickets) बच्चों में किस विटामिन की कमी से होता है जिसमें हड्डियां मुड़ जाती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विटामिन 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विटामिन 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विटामिन 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विटामिन 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विटामिन D और कैल्शियम की कमी से बच्चों की अस्थियां कमजोर व टेढ़ी हो जाती हैं (रिकेट्स)।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#40  [NMMS Rajasthan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81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40. बेरी-बेरी रोग किस विटामिन की कमी के कारण उत्पन्न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विटामिन 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विटामिन B₁ (थायमीन)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विटामिन 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विटामिन D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#40  [NMMS Rajasthan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82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40. बेरी-बेरी रोग किस विटामिन की कमी के कारण उत्पन्न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विटामिन 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विटामिन B₁ (थायमीन)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विटामिन 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विटामिन 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विटामिन B₁ की कमी से तंत्रिका तंत्र कमजोर होता है और बेरी-बेरी रोग होता है।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#41  [NMMS Delhi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83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41. मानव शरीर का 'रक्त बैंक' (Blood Bank of Body) किसे कहा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हृदय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प्लीहा / तिल्ली (Spleen)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यकृत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वृक्क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#41  [NMMS Delhi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84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41. मानव शरीर का 'रक्त बैंक' (Blood Bank of Body) किसे कहा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हृदय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प्लीहा / तिल्ली (Spleen)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यकृत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वृक्क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प्लीहा (Spleen) अतिरिक्त रक्त संचित रखती है और मृत RBC को नष्ट करती है (RBC का कब्रिस्तान)।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#42  [NMMS Bihar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85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42. सामान्य अवस्था में मनुष्य की श्वसन दर प्रति मिनट कितनी होती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72 बार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15 से 18 बार प्रति मिनट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30 बार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50 बार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#42  [NMMS Bihar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86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42. सामान्य अवस्था में मनुष्य की श्वसन दर प्रति मिनट कितनी होती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72 बार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15 से 18 बार प्रति मिनट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30 बार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50 बार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विश्राम अवस्था में एक स्वस्थ वयस्क प्रति मिनट 15 से 18 बार सांस लेता है।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#43  [NMMS UP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87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43. पेसमेकर (Pacemaker) का संबंध मानव शरीर के किस अंग से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वृक्क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हृदय (Heart)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मस्तिष्क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फेफड़े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#43  [NMMS UP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88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43. पेसमेकर (Pacemaker) का संबंध मानव शरीर के किस अंग से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वृक्क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हृदय (Heart)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मस्तिष्क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फेफड़े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हृदय के SA नोड को प्राकृतिक पेसमेकर कहते हैं जो धड़कन की विद्युत तरंगें शुरू करता है।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#44  [NMMS MP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89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44. ईईजी (EEG) परीक्षण किस अंग की कार्यप्रणाली का अध्ययन करने हेतु किया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हृदय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मस्तिष्क (Brain)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यकृत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नेत्र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#44  [NMMS MP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90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44. ईईजी (EEG) परीक्षण किस अंग की कार्यप्रणाली का अध्ययन करने हेतु किया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हृदय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मस्तिष्क (Brain)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यकृत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नेत्र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इलेक्ट्रोएन्सेफेलोग्राम (EEG) मस्तिष्क की विद्युत तरंगों को रिकॉर्ड करता है।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#45  [NMMS Rajasthan 2021]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91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45. ईसीजी (ECG) का संबंध किस अंग की जांच से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फेफड़े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हृदय (Heart)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गुर्दे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हड्डी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#45  [NMMS Rajasthan 2021]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92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45. ईसीजी (ECG) का संबंध किस अंग की जांच से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फेफड़े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हृदय (Heart)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गुर्दे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हड्डी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इलेक्ट्रोकार्डियोग्राम (ECG) हृदय के स्पंदन और विद्युत गतिविधियों की जांच करता है।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#46  [NMMS All India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93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46. चिपको आंदोलन (Chipko Movement) का संबंध किसके संरक्षण से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वन / वृक्ष संरक्षण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बाघ संरक्षण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जल संरक्षण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मृदा संरक्षण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#46  [NMMS All India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94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46. चिपको आंदोलन (Chipko Movement) का संबंध किसके संरक्षण से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(A)  वन / वृक्ष संरक्षण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(B)  बाघ संरक्षण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जल संरक्षण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मृदा संरक्षण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(A)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सुंदरलाल बहुगुणा व गौरा देवी के नेतृत्व में उत्तराखंड में पेड़ों से चिपककर कटाई रोकी गई।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#47  [NMMS Gujarat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95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47. विश्व पर्यावरण दिवस (World Environment Day) प्रतिवर्ष किस तिथि को मनाया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22 अप्रैल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5 जून (5th June)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16 सितंबर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1 दिसंबर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#47  [NMMS Gujarat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96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47. विश्व पर्यावरण दिवस (World Environment Day) प्रतिवर्ष किस तिथि को मनाया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22 अप्रैल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5 जून (5th June)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16 सितंबर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1 दिसंबर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संयुक्त राष्ट्र द्वारा पर्यावरण संरक्षण हेतु प्रतिवर्ष 5 जून को विश्व पर्यावरण दिवस मनाया जाता है।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#48  [NMMS Bihar 2021]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97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48. विश्व ओजोन दिवस (World Ozone Day) कब मनाया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5 जून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16 सितंबर (16th Sept)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28 फरवरी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11 जुलाई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#48  [NMMS Bihar 2021]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98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48. विश्व ओजोन दिवस (World Ozone Day) कब मनाया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5 जून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16 सितंबर (16th Sept)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28 फरवरी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11 जुलाई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मॉन्ट्रियल प्रोटोकॉल की याद में प्रतिवर्ष 16 सितंबर को ओजोन दिवस मनाया जाता है।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#49  [NMMS UP 2021]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99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49. राष्ट्रीय विज्ञान दिवस (National Science Day) किस तिथि को मनाया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14 नवंबर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28 फरवरी (28th Feb)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2 अक्टूबर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22 दिसंबर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#49  [NMMS UP 2021]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100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49. राष्ट्रीय विज्ञान दिवस (National Science Day) किस तिथि को मनाया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14 नवंबर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28 फरवरी (28th Feb)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2 अक्टूबर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22 दिसंबर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सर सी. वी. रमन द्वारा 'रमन प्रभाव' की खोज के उपलक्ष्य में 28 फरवरी को विज्ञान दिवस मनाते हैं।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#50  [NMMS MP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101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50. भोपाल गैस त्रासदी (1984) में यूनियन कार्बाइड कारखाने से कौन-सी जहरीली गैस का रिसाव हुआ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क्लोरीन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मिथाइल आइसोसाइनेट (MIC)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अमोनिया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सल्फर डाइऑक्साइड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#50  [NMMS MP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102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50. भोपाल गैस त्रासदी (1984) में यूनियन कार्बाइड कारखाने से कौन-सी जहरीली गैस का रिसाव हुआ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क्लोरीन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मिथाइल आइसोसाइनेट (MIC)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अमोनिया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सल्फर डाइऑक्साइड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2-3 दिसंबर 1984 को भोपाल में मिथाइल आइसोसाइनेट (MIC) गैस के रिसाव से भीषण त्रासदी हुई थी।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विशुद्ध विज्ञान मॉक टेस्ट 01 : त्वरित रिवीजन सूत्र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103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5120640"/>
          </a:xfrm>
          <a:prstGeom prst="roundRect">
            <a:avLst/>
          </a:prstGeom>
          <a:solidFill>
            <a:srgbClr val="FEF3C7"/>
          </a:solidFill>
          <a:ln w="254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20040"/>
          <a:lstStyle/>
          <a:p>
            <a:pPr algn="ctr">
              <a:defRPr sz="1900" b="1">
                <a:solidFill>
                  <a:srgbClr val="0F172A"/>
                </a:solidFill>
                <a:latin typeface="Segoe UI"/>
              </a:defRPr>
            </a:pPr>
            <a:r>
              <a:t>🔑 1-मिनट क्विक मेमोरी सूत्र (Revision Formulae):</a:t>
            </a:r>
          </a:p>
          <a:p>
            <a:pPr>
              <a:spcBef>
                <a:spcPts val="1200"/>
              </a:spcBef>
              <a:spcAft>
                <a:spcPts val="200"/>
              </a:spcAft>
              <a:defRPr sz="1600" b="1">
                <a:solidFill>
                  <a:srgbClr val="78350F"/>
                </a:solidFill>
                <a:latin typeface="Segoe UI"/>
              </a:defRPr>
            </a:pPr>
            <a:r>
              <a:t>⚡  भौतिकी तथ्य: बल = न्यूटन | 1 HP = 746 वाट | 4°C पर जल का घनत्व अधिकतम | तड़ित चालक = फ्रैंकलिन | सोनार = पराश्रव्य</a:t>
            </a:r>
          </a:p>
          <a:p>
            <a:pPr>
              <a:spcBef>
                <a:spcPts val="1200"/>
              </a:spcBef>
              <a:spcAft>
                <a:spcPts val="200"/>
              </a:spcAft>
              <a:defRPr sz="1600" b="1">
                <a:solidFill>
                  <a:srgbClr val="78350F"/>
                </a:solidFill>
                <a:latin typeface="Segoe UI"/>
              </a:defRPr>
            </a:pPr>
            <a:r>
              <a:t>⚡  मिश्र धातु: पीतल = तांबा + जस्ता (Cu+Zn) | कांसा = तांबा + टिन (Cu+Sn) | गैल्वनीकरण = जिंक की परत</a:t>
            </a:r>
          </a:p>
          <a:p>
            <a:pPr>
              <a:spcBef>
                <a:spcPts val="1200"/>
              </a:spcBef>
              <a:spcAft>
                <a:spcPts val="200"/>
              </a:spcAft>
              <a:defRPr sz="1600" b="1">
                <a:solidFill>
                  <a:srgbClr val="78350F"/>
                </a:solidFill>
                <a:latin typeface="Segoe UI"/>
              </a:defRPr>
            </a:pPr>
            <a:r>
              <a:t>⚡  रासायनिक सूत्र: बेकिंग = NaHCO₃ | धावन = Na₂CO₃.10H₂O | POP = CaSO₄.½H₂O | विरंजक = CaOCl₂</a:t>
            </a:r>
          </a:p>
          <a:p>
            <a:pPr>
              <a:spcBef>
                <a:spcPts val="1200"/>
              </a:spcBef>
              <a:spcAft>
                <a:spcPts val="200"/>
              </a:spcAft>
              <a:defRPr sz="1600" b="1">
                <a:solidFill>
                  <a:srgbClr val="78350F"/>
                </a:solidFill>
                <a:latin typeface="Segoe UI"/>
              </a:defRPr>
            </a:pPr>
            <a:r>
              <a:t>⚡  विटामिन संक्षेप: A = रतौंधी | B₁ = बेरीबेरी | C = स्कर्वी | D = रिकेट्स | K = रक्त थक्का | धूप = विटामिन D</a:t>
            </a:r>
          </a:p>
          <a:p>
            <a:pPr>
              <a:spcBef>
                <a:spcPts val="1200"/>
              </a:spcBef>
              <a:spcAft>
                <a:spcPts val="200"/>
              </a:spcAft>
              <a:defRPr sz="1600" b="1">
                <a:solidFill>
                  <a:srgbClr val="78350F"/>
                </a:solidFill>
                <a:latin typeface="Segoe UI"/>
              </a:defRPr>
            </a:pPr>
            <a:r>
              <a:t>⚡  पर्यावरण दिवस: 5 जून = पर्यावरण दिवस | 16 सितंबर = ओजोन दिवस | 28 फरवरी = विज्ञान दिवस | भोपाल गैस = MIC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विशुद्ध विज्ञान मॉक टेस्ट 01 — स्कोर विश्लेषण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104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51206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20040"/>
          <a:lstStyle/>
          <a:p>
            <a:pPr algn="ctr">
              <a:defRPr sz="1900" b="1">
                <a:solidFill>
                  <a:srgbClr val="0F172A"/>
                </a:solidFill>
                <a:latin typeface="Segoe UI"/>
              </a:defRPr>
            </a:pPr>
            <a:r>
              <a:t>🎯 स्व-मूल्यांकन एवं प्रदर्शन विश्लेषण (Self Evaluation Chart):</a:t>
            </a:r>
          </a:p>
          <a:p>
            <a:pPr>
              <a:spcBef>
                <a:spcPts val="1200"/>
              </a:spcBef>
              <a:defRPr sz="1550">
                <a:solidFill>
                  <a:srgbClr val="1E293B"/>
                </a:solidFill>
                <a:latin typeface="Segoe UI"/>
              </a:defRPr>
            </a:pPr>
            <a:r>
              <a:t>🏆  45+ सही उत्तर (उत्कृष्ट प्रदर्शन): State Merit List में सर्वोच्च स्थान सुनिश्चित! तैयारी पूर्ण है।</a:t>
            </a:r>
          </a:p>
          <a:p>
            <a:pPr>
              <a:spcBef>
                <a:spcPts val="1200"/>
              </a:spcBef>
              <a:defRPr sz="1550">
                <a:solidFill>
                  <a:srgbClr val="1E293B"/>
                </a:solidFill>
                <a:latin typeface="Segoe UI"/>
              </a:defRPr>
            </a:pPr>
            <a:r>
              <a:t>🏆  38 - 44 सही उत्तर (सराहनीय प्रदर्शन): छात्रवृत्ति पक्की! कमजोर टॉपिक्स का 1 बार त्वरित रिवीजन करें।</a:t>
            </a:r>
          </a:p>
          <a:p>
            <a:pPr>
              <a:spcBef>
                <a:spcPts val="1200"/>
              </a:spcBef>
              <a:defRPr sz="1550">
                <a:solidFill>
                  <a:srgbClr val="1E293B"/>
                </a:solidFill>
                <a:latin typeface="Segoe UI"/>
              </a:defRPr>
            </a:pPr>
            <a:r>
              <a:t>🏆  30 - 37 सही उत्तर (औसत प्रदर्शन): भौतिकी व रसायन के सूत्रों का पुनः अभ्यास करें।</a:t>
            </a:r>
          </a:p>
          <a:p>
            <a:pPr>
              <a:spcBef>
                <a:spcPts val="1200"/>
              </a:spcBef>
              <a:defRPr sz="1550">
                <a:solidFill>
                  <a:srgbClr val="1E293B"/>
                </a:solidFill>
                <a:latin typeface="Segoe UI"/>
              </a:defRPr>
            </a:pPr>
            <a:r>
              <a:t>🏆  30 से कम सही उत्तर: क्लास 01 से 17 की थ्योरी स्लाइड्स को दोबारा पढ़ें और नोट्स बनाएं।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विशुद्ध विज्ञान मॉक टेस्ट 01 — सफलता का संकल्प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105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5120640"/>
          </a:xfrm>
          <a:prstGeom prst="roundRect">
            <a:avLst/>
          </a:prstGeom>
          <a:solidFill>
            <a:srgbClr val="0F172A"/>
          </a:solidFill>
          <a:ln w="317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D97706"/>
                </a:solidFill>
                <a:latin typeface="Segoe UI"/>
              </a:defRPr>
            </a:pPr>
            <a:r>
              <a:t>SAGAR COACHING CENTRE, BHAGWANPUR</a:t>
            </a:r>
          </a:p>
          <a:p>
            <a:pPr algn="ctr">
              <a:spcBef>
                <a:spcPts val="600"/>
              </a:spcBef>
              <a:defRPr sz="1500">
                <a:solidFill>
                  <a:srgbClr val="CBD5E1"/>
                </a:solidFill>
                <a:latin typeface="Segoe UI"/>
              </a:defRPr>
            </a:pPr>
            <a:r>
              <a:t>निकट - माँ भगवती मंदिर, भगवानपुर (सुपौल, बिहार) • पिन - 852109</a:t>
            </a:r>
          </a:p>
          <a:p>
            <a:pPr algn="ctr">
              <a:spcBef>
                <a:spcPts val="1600"/>
              </a:spcBef>
              <a:defRPr sz="1800" b="1">
                <a:solidFill>
                  <a:srgbClr val="FFFFFF"/>
                </a:solidFill>
                <a:latin typeface="Segoe UI"/>
              </a:defRPr>
            </a:pPr>
            <a:r>
              <a:t>🌟 NMMS ALL INDIA SCIENCE MOCK TEST 01 : सम्पूर्ण पाठ्यक्रम सफलता किट 🌟</a:t>
            </a:r>
          </a:p>
          <a:p>
            <a:pPr algn="ctr">
              <a:spcBef>
                <a:spcPts val="1400"/>
              </a:spcBef>
              <a:defRPr sz="1600" b="1">
                <a:solidFill>
                  <a:srgbClr val="D97706"/>
                </a:solidFill>
                <a:latin typeface="Segoe UI"/>
              </a:defRPr>
            </a:pPr>
            <a:r>
              <a:t>मार्गदर्शक: सागर सर (NMMS King)  |  WhatsApp / Helpline: +91 91101 13671</a:t>
            </a:r>
          </a:p>
          <a:p>
            <a:pPr algn="ctr">
              <a:spcBef>
                <a:spcPts val="800"/>
              </a:spcBef>
              <a:defRPr sz="1400">
                <a:solidFill>
                  <a:srgbClr val="E2E8F0"/>
                </a:solidFill>
                <a:latin typeface="Segoe UI"/>
              </a:defRPr>
            </a:pPr>
            <a:r>
              <a:t>ऑनलाइन टेस्ट, क्लास नोट्स व PDF सामग्री हेतु वेबसाइट पर पधारें: sagarcoaching.tech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