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आय-सह-मेधा छात्रवृत्ति परीक्षा (NMMS All India Special) • मिशन 35/35 अंक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640080"/>
            <a:ext cx="1216152" cy="12161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74519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 (SUPAUL, BIHAR)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46704" y="2468880"/>
            <a:ext cx="5486400" cy="457200"/>
          </a:xfrm>
          <a:prstGeom prst="roundRect">
            <a:avLst/>
          </a:prstGeom>
          <a:solidFill>
            <a:srgbClr val="0D948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05 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</a:t>
            </a:r>
          </a:p>
          <a:p>
            <a:pPr algn="ctr">
              <a:spcBef>
                <a:spcPts val="4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मिशन 35/35 अंक • 50 अति-महत्वपूर्ण विगत वर्षों के प्रश्न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60520"/>
            <a:ext cx="9448495" cy="18288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/>
          <a:lstStyle/>
          <a:p>
            <a:pPr algn="ctr">
              <a:defRPr sz="1400" b="1">
                <a:solidFill>
                  <a:srgbClr val="D97706"/>
                </a:solidFill>
                <a:latin typeface="Segoe UI"/>
              </a:defRPr>
            </a:pPr>
            <a:r>
              <a:t>🎯 आज की क्लास में क्या सीखेंगे (Key Topics):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न्यूटन के गति नियम, संवेग, गतिज/स्थितिज ऊर्जा व प्रतिध्वनि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आवर्त सारणी, अक्रिय गैसें, कैरेट सोना, मिश्र धातु व ट्यूबलाइट के 15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मानव मस्तिष्क, तंत्रिकाएं, मलेरिया की दवा व महत्वपूर्ण दिवसों के 20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ऑल इंडिया NMMS परीक्षा स्तर के शत-प्रतिशत प्रामाणिक प्रश्न</a:t>
            </a:r>
          </a:p>
          <a:p>
            <a:pPr>
              <a:spcBef>
                <a:spcPts val="200"/>
              </a:spcBef>
              <a:defRPr sz="1200">
                <a:solidFill>
                  <a:srgbClr val="FFFFFF"/>
                </a:solidFill>
                <a:latin typeface="Segoe UI"/>
              </a:defRPr>
            </a:pPr>
            <a:r>
              <a:t>  ✓  प्रत्येक प्रश्न पर 2-स्लाइड इंटरैक्टिव पैटर्न एवं विस्तृत व्याख्या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King)  |  Website: sagarcoaching.tech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— परीक्षा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परीक्षा निर्देश एवं मूल्यांकन नियमावली (Exam Rules &amp; Scoring Pattern):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इस टेस्ट में राष्ट्रीय आय-सह-मेधा छात्रवृत्ति परीक्षा (NMMS) के विज्ञान (SAT) पाठ्यक्रम के कुल 50 प्रामाणिक प्रश्न शामिल हैं।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प्रत्येक प्रश्न के लिए 1 अंक निर्धारित है। परीक्षा में कोई नकारात्मक अंकन (Negative Marking) नहीं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प्रश्न स्लाइड पर उत्तर पूरी तरह छुपा हुआ है ताकि छात्र स्वयं विचार कर उत्तर दे सकें।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अगली स्लाइड पर सही विकल्प हरे रंग में प्रकाशित होगा तथा नीचे संपूर्ण वैज्ञानिक तथ्य और व्याख्या दी गई है।</a:t>
            </a:r>
          </a:p>
          <a:p>
            <a:pPr>
              <a:spcBef>
                <a:spcPts val="1000"/>
              </a:spcBef>
              <a:spcAft>
                <a:spcPts val="200"/>
              </a:spcAft>
              <a:defRPr sz="1500">
                <a:solidFill>
                  <a:srgbClr val="1E293B"/>
                </a:solidFill>
                <a:latin typeface="Segoe UI"/>
              </a:defRPr>
            </a:pPr>
            <a:r>
              <a:t>•  लक्ष्य: विज्ञान के 35 प्रश्नों में से शत-प्रतिशत 35/35 अंक प्राप्त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बस अचानक मुड़ती है, तो उसमें बैठे यात्री बाहर की ओर झुक जाते हैं, इसका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गुरुत्वाकर्षण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दिशा का जड़त्व (Inertia of Direction)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अभिकेंद्रीय बल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1. जब बस अचानक मुड़ती है, तो उसमें बैठे यात्री बाहर की ओर झुक जाते हैं, इसका कारण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गुरुत्वाकर्षण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दिशा का जड़त्व (Inertia of Direction)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बल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अभिकेंद्रीय बल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न्यूटन के प्रथम नियम (जड़त्व नियम) के अनुसार वस्तु अपनी दिशा में परिवर्तन का विरोध करती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रॉकेट का अंतरिक्ष में ऊपर जाना न्यूटन के किस गति नियम पर आधारित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प्रथम 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द्वितीय 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तृतीय नियम (क्रिया-प्रतिक्रिया)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गुरुत्वाकर्षण नियम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2. रॉकेट का अंतरिक्ष में ऊपर जाना न्यूटन के किस गति नियम पर आधारित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प्रथम नियम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द्वितीय नियम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तृतीय नियम (क्रिया-प्रतिक्रिया)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गुरुत्वाकर्षण नियम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रॉकेट से गैसें तीव्र वेग से पीछे निकलती हैं (क्रिया) और रॉकेट आगे बढ़ता है (प्रतिक्रिया)।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क्रिकेट खिलाड़ी गेंद को कैच करते समय अपने हाथों को पीछे क्यों खींचता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गेंद को देखने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संवेग परिवर्तन का समय बढ़ाकर बल कम करने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मजबूत पकड़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नियम के कारण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3. क्रिकेट खिलाड़ी गेंद को कैच करते समय अपने हाथों को पीछे क्यों खींचता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गेंद को देखने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संवेग परिवर्तन का समय बढ़ाकर बल कम करने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मजबूत पकड़ हेतु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नियम के कारण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समय (t) बढ़ने से बल (F = Δp/t) कम हो जाता है, जिससे हाथों पर चोट नहीं लगती।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ऊर्जा संरक्षण का नियम (Law of Conservation of Energy) क्या कहता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ऊर्जा पैदा की जा सकती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ऊर्जा न उत्पन्न की जा सकती है न नष्ट, केवल रूपांतरित होती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ऊर्जा हमेशा नष्ट होती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ऊर्जा घटती है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4. ऊर्जा संरक्षण का नियम (Law of Conservation of Energy) क्या कहता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ऊर्जा पैदा की जा सकती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ऊर्जा न उत्पन्न की जा सकती है न नष्ट, केवल रूपांतरित होती है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ऊर्जा हमेशा नष्ट होती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ऊर्जा घटती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ब्रह्मांड की कुल ऊर्जा नियत रहती है, इसे केवल एक रूप से दूसरे रूप में बदला जा सकता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बहते हुए पानी, उड़ते हवाई जहाज और दौड़ते बच्चे में कौन-सी ऊर्जा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स्थितिज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गतिज ऊर्जा (Kinetic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रासायनिक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विद्युत ऊर्जा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5. बहते हुए पानी, उड़ते हवाई जहाज और दौड़ते बच्चे में कौन-सी ऊर्जा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स्थितिज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गतिज ऊर्जा (Kinetic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रासायनिक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विद्युत ऊर्जा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किसी वस्तु में उसकी गति के कारण निहित ऊर्जा को गतिज ऊर्जा कहते हैं (K = ½ mv²)।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बांध में रोके गए पानी या खींचे गए धनुष की डोरी में कौन-सी ऊर्जा संचित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गतिज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स्थितिज ऊर्जा (Potential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ध्वनि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ऊष्मीय ऊर्जा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#6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6. बांध में रोके गए पानी या खींचे गए धनुष की डोरी में कौन-सी ऊर्जा संचित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गतिज ऊर्जा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स्थितिज ऊर्जा (Potential Energy)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ध्वनि ऊर्जा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ऊष्मीय ऊर्जा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वस्तु की स्थिति या विन्यास में परिवर्तन के कारण संचित ऊर्जा स्थितिज ऊर्जा (U = mgh) कहलाती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ध्वनि की गति वायु में 0°C पर लगभग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332 m/s (लगभग)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1500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3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100 m/s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#7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7. ध्वनि की गति वायु में 0°C पर लगभग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332 m/s (लगभग)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1500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3 × 10⁸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100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सामान्य शुष्क वायु में 0°C पर ध्वनि का वेग 332 मीटर प्रति सेकंड होता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प्रतिध्वनि (Echo) सुनने के लिए श्रोता और परावर्तक सतह के बीच न्यूनतम दूरी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11 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17.2 मीटर (लगभग 17 मीटर)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25 मीटर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#8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8. प्रतिध्वनि (Echo) सुनने के लिए श्रोता और परावर्तक सतह के बीच न्यूनतम दूरी कितनी होनी चाहिए?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11 मीटर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17.2 मीटर (लगभग 17 मीटर)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25 मीटर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कान पर ध्वनि का प्रभाव 0.1 सेकंड रहता है, अतः 344 × 0.1 / 2 ≈ 17.2 मीटर दूरी जरूरी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चमगादड़ रात के अंधेरे में उड़ते समय किस तरंग का उपयोग कर शिकार पकड़ते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श्रव्य तरंगें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पराश्रव्य तरंगें (Ultrasound)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अवश्रव्य तरंगें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रेडियो तरंगें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#9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9. चमगादड़ रात के अंधेरे में उड़ते समय किस तरंग का उपयोग कर शिकार पकड़ते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श्रव्य तरंगें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पराश्रव्य तरंगें (Ultrasound)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अवश्रव्य तरंगें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रेडियो तरंगें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चमगादड़ 20,000 Hz से अधिक आवृत्ति की पराश्रव्य तरंगें छोड़कर अवरोधों का पता लगाते हैं।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गाड़ियों के पहियों में खांचे (Treads) क्यों बनाए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सुंदरता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सड़क के साथ घर्षण बढ़ाने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घर्षण घटाने के लिए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वजन कम करने के लिए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#10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10. गाड़ियों के पहियों में खांचे (Treads) क्यों बनाए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सुंदरता के लिए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सड़क के साथ घर्षण बढ़ाने हेतु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घर्षण घटाने के लिए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वजन कम करने के लिए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पहियों में खांचे बनाने से सड़क पर मजबूत पकड़ बनती है और फिसलने का खतरा नहीं रहता।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कैरोम बोर्ड पर बारीक पाउडर छिड़कने से घर्षण पर क्या प्रभाव पड़ता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घर्षण बढ़ जाता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घर्षण कम हो जाता है (Smooth)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प्रभाव नहीं पड़ता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स्ट्राइकर भारी होता है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#11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11. कैरोम बोर्ड पर बारीक पाउडर छिड़कने से घर्षण पर क्या प्रभाव पड़ता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घर्षण बढ़ जाता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घर्षण कम हो जाता है (Smooth)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कोई प्रभाव नहीं पड़ता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स्ट्राइकर भारी होता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पाउडर छिड़कने से सतह चिकनी हो जाती है और घर्षण बल घट जाता है जिससे गोटियां फिसलती हैं।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मशीनों में घर्षण कम करने के लिए किन पदार्थों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स्नेहक / लुब्रिकेंट (तेल, ग्रीस, ग्रेफाइट)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एसिड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#12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12. मशीनों में घर्षण कम करने के लिए किन पदार्थों का उपयोग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पानी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स्नेहक / लुब्रिकेंट (तेल, ग्रीस, ग्रेफाइट)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रेत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एसिड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ग्रीस और तेल मशीन के पुर्जों के बीच पतली परत बनाकर संपर्क व घर्षण को न्यूनतम करते हैं।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पेंसिल तराशने वाले शार्पनर में कौन-सा दर्पण लगा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कोई दर्पण नहीं (ब्लेड होती है)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समतल दर्पण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#13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13. पेंसिल तराशने वाले शार्पनर में कौन-सा दर्पण लगा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अवतल दर्पण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कोई दर्पण नहीं (ब्लेड होती है)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समतल दर्पण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शार्पनर में कोई दर्पण नहीं होता, उसमें केवल तेज धार वाली स्टील की ब्लेड होती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29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उत्तल दर्पण द्वारा बना प्रतिबिंब हमेशा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आभासी, सीधा और वस्तु से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वास्तविक और बड़ा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समतल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#14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14. उत्तल दर्पण द्वारा बना प्रतिबिंब हमेशा कैसा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वास्तविक और उल्टा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आभासी, सीधा और वस्तु से छोटा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वास्तविक और बड़ा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समतल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उत्तल दर्पण सदैव आभासी, सीधा और वस्तु से छोटा प्रतिबिंब ही बनाता है।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लेंस की क्षमता (Power of Lens) का अंतरराष्ट्रीय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डायोप्टर (Dioptre - 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सेंटीमीटर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हर्ट्ज़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#15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15. लेंस की क्षमता (Power of Lens) का अंतरराष्ट्रीय मात्रक क्या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मीटर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डायोप्टर (Dioptre - 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सेंटीमीटर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हर्ट्ज़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लेंस की क्षमता P = 1/f (मीटर में), इसका SI मात्रक डायोप्टर (D) होता है।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तत्वों की आधुनिक आवर्त सारणी (Modern Periodic Table) किस वैज्ञानिक ने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मेंडेलीव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हेनरी मोजले (Henry Moseley)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डाल्टन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न्यूलैंड्स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#16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16. तत्वों की आधुनिक आवर्त सारणी (Modern Periodic Table) किस वैज्ञानिक ने बनाई?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मेंडेलीव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हेनरी मोजले (Henry Moseley)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डाल्टन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न्यूलैंड्स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1913 में हेनरी मोजले ने तत्वों को उनके परमाणु क्रमांक (Atomic Number) के बढ़ते क्रम में सजाया।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मेंडेलीव की मूल आवर्त सारणी किस आधार पर व्यवस्थित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परमाणु क्रमांक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परमाणु भार (Atomic Mass)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संयोजकता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घनत्व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#17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17. मेंडेलीव की मूल आवर्त सारणी किस आधार पर व्यवस्थित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परमाणु क्रमांक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परमाणु भार (Atomic Mass)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संयोजकता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घनत्व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मेंडेलीव की आवर्त सारणी तत्वों के परमाणु भारों के आवर्ती फलन पर आधारित थी।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आधुनिक आवर्त सारणी में कुल कितने आवर्त (Periods) और वर्ग (Groups)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7 आवर्त और 18 वर्ग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8 आवर्त और 16 वर्ग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9 आवर्त और 18 वर्ग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 आवर्त और 8 वर्ग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#18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18. आधुनिक आवर्त सारणी में कुल कितने आवर्त (Periods) और वर्ग (Groups)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7 आवर्त और 18 वर्ग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8 आवर्त और 16 वर्ग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9 आवर्त और 18 वर्ग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7 आवर्त और 8 वर्ग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आधुनिक आवर्त सारणी में 7 क्षैतिज पंक्तियां (आवर्त) और 18 ऊर्ध्वाधर स्तंभ (वर्ग) हैं।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39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आवर्त सारणी के किस वर्ग के तत्वों को 'अक्रिय गैसें' या नोबल गैसें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वर्ग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वर्ग 17 (हैलोजन)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वर्ग 18 (उत्कृष्ट गैसें)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वर्ग 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#19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19. आवर्त सारणी के किस वर्ग के तत्वों को 'अक्रिय गैसें' या नोबल गैसें कहा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वर्ग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वर्ग 17 (हैलोजन)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वर्ग 18 (उत्कृष्ट गैसें)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वर्ग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वर्ग 18 में हीलियम, नियॉन, आर्गन, क्रिप्टन, जीनॉन और रेडॉन अक्रिय गैसें हैं।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विद्युत बल्बों में अक्रिय वातावरण बनाने हेतु कौन-सी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आर्गन (Argon) या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हाइड्रोजन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#20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20. विद्युत बल्बों में अक्रिय वातावरण बनाने हेतु कौन-सी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आर्गन (Argon) या नाइट्रोजन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क्लोरीन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हाइड्रोजन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आर्गन एक अक्रिय गैस है जो तप्त टंगस्टन फिलामेंट को जलने या वाष्पीकृत होने से बचाती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हवाई जहाजों के टायरों में कौन-सी हल्की व अज्वलनशील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नाइट्रोजन (N₂)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ऑक्सीजन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#21  [NMMS Haryana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21. हवाई जहाजों के टायरों में कौन-सी हल्की व अज्वलनशील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नाइट्रोजन (N₂)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ऑक्सीजन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नाइट्रोजन गैस ठंडी रहती है, अज्वलनशील है और उच्च घर्षण में टायर को फटने से बचाती है।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मौसम का पूर्वानुमान लगाने वाले गुब्बारों में कौन-सी हल्की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आर्गन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#22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22. मौसम का पूर्वानुमान लगाने वाले गुब्बारों में कौन-सी हल्की गैस भरी जाती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हाइड्रोजन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नाइट्रोजन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आर्गन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हीलियम वायु से अत्यंत हल्की और अज्वलनशील गैस है, अतः गुब्बारों में सुरक्षित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गोताखोर गहरे समुद्र में सांस लेने हेतु ऑक्सीजन के साथ किस गैस का मिश्रण ले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मीथेन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#23  [NMMS All India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23. गोताखोर गहरे समुद्र में सांस लेने हेतु ऑक्सीजन के साथ किस गैस का मिश्रण ले जाते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हीलियम (Helium)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कार्बन डाइऑक्साइड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मीथेन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हीलियम रक्त में कम घुलनशील होती है, जिससे गोताखोरों को 'बेंड्स' नामक दर्द नहीं होता।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49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शुद्ध सोना कितने कैरेट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18 कैरेट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कैरेट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24 कैरेट (24 Carat)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 कैरेट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#24  [NMMS Gujarat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24. शुद्ध सोना कितने कैरेट का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18 कैरेट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22 कैरेट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24 कैरेट (24 Carat)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 कैरेट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24 कैरेट सोना 100% शुद्ध होता है, आभूषण बनाने हेतु इसमें तांबा मिलाकर 22 कैरेट बनाते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18 कैरेट सोने में शुद्ध सोने का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75% (75% शुद्ध सोना)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85%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#25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25. 18 कैरेट सोने में शुद्ध सोने का कितना प्रतिशत भाग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75% (75% शुद्ध सोना)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90%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85%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18/24 × 100 = 75% शुद्ध सोना और 25% तांबा या चांदी मिलाया जाता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स्टेनलेस स्टील (Stainless Steel) में लोहे के साथ किन धातुओं को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व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क्रोमियम, निकेल और कार्बन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सीसा व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एल्युमिनियम व जस्ता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#26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26. स्टेनलेस स्टील (Stainless Steel) में लोहे के साथ किन धातुओं को मिलाया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व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क्रोमियम, निकेल और कार्बन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सीसा व टिन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एल्युमिनियम व जस्ता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लोहे में क्रोमियम (18%) और निकेल मिलाने से उस पर कभी जंग नहीं लगता।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जर्मन सिल्वर (German Silver) मिश्र धातु में चांदी (Silver) का कितना प्रतिशत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0% (शून्य प्रतिशत)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80%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#27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27. जर्मन सिल्वर (German Silver) मिश्र धातु में चांदी (Silver) का कितना प्रतिशत होता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20%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(C)  0% (शून्य प्रतिशत)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80%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(C)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जर्मन सिल्वर तांबा (60%), जस्ता (20%) और निकेल (20%) की मिश्र धातु है; इसमें चांदी 0% होती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टांका / सोल्डर (Solder) तार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सीसा और टिन (Pb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#28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28. टांका / सोल्डर (Solder) तार किन दो धातुओं की मिश्र धातु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तांबा और जस्ता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सीसा और टिन (Pb + Sn)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लोहा और कार्बन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सोना और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सोल्डर तार सीसा (50%) और टिन (50%) की कम गलनांक वाली मिश्र धातु है जो तारों को जोड़ती है।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59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सड़कों पर पीली रोशनी देने वाले सोडियम लैंप में किस धातु की वाष्प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सोडियम (Sodium)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तांबा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#29  [NMMS Delhi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29. सड़कों पर पीली रोशनी देने वाले सोडियम लैंप में किस धातु की वाष्प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पारा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सोडियम (Sodium)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टंगस्टन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तांबा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सोडियम वाष्प लैंप तीखा पीला प्रकाश देते हैं जो कोहरे में भी साफ दिखाई देता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ट्यूबलाइट (Fluorescent Tube) में मुख्य रूप से कौन-सी गैस और वाष्प भरी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आर्गन गैस और पारे की वाष्प (Hg Vapor)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हीलियम व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क्लोरीन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#30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30. ट्यूबलाइट (Fluorescent Tube) में मुख्य रूप से कौन-सी गैस और वाष्प भरी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ऑक्सीजन व नाइट्रोजन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आर्गन गैस और पारे की वाष्प (Hg Vapor)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हीलियम व हाइड्रोजन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क्लोरीन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ट्यूबलाइट में कम दाब पर आर्गन गैस और पारे की वाष्प भरी जाती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शरीर के तापमान को नियंत्रित करने वाला मस्तिष्क का भाग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सेरेब्रम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हाइपोथैलेमस (Hypothalamus)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सेरेबेलम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मेडुला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#31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31. शरीर के तापमान को नियंत्रित करने वाला मस्तिष्क का भाग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सेरेब्रम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हाइपोथैलेमस (Hypothalamus)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सेरेबेलम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मेडुला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मस्तिष्क का हाइपोथैलेमस भाग शरीर के तापमान, भूख, प्यास और भावनाओं को नियंत्रित करता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मस्तिष्क का कौन-सा भाग शरीर का संतुलन और चलने-फिरने का समन्वय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हाइपोथैलेमस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अनुमस्तिष्क / सेरेबेलम (Cerebellum)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प्रमस्तिष्क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मेरुरज्जु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#32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32. मानव मस्तिष्क का कौन-सा भाग शरीर का संतुलन और चलने-फिरने का समन्वय करता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हाइपोथैलेमस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अनुमस्तिष्क / सेरेबेलम (Cerebellum)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प्रमस्तिष्क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मेरुरज्जु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सेरेबेलम (छोटा दिमाग) पेशियों की गति और शारीरिक संतुलन को बनाए रखता है।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मस्तिष्क का सबसे बड़ा और विकसित भाग कौन-सा है जो सोचने-समझने का केंद्र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प्रमस्तिष्क / सेरेब्रम (Cerebrum)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सेरेबेलम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मेडुला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थैलेमस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#33  [NMMS Rajasthan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33. मानव मस्तिष्क का सबसे बड़ा और विकसित भाग कौन-सा है जो सोचने-समझने का केंद्र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प्रमस्तिष्क / सेरेब्रम (Cerebrum)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सेरेबेलम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मेडुला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थैलेमस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सेरेब्रम (प्रमस्तिष्क) बुद्धि, स्मृति, चेतना और तर्कशक्ति का मुख्य केंद्र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69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प्रतिवर्ती क्रियाओं (Reflex Actions) का नियंत्रण केंद्र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प्रमस्तिष्क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मेरुरज्जु (Spinal Cord)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अनुमस्तिष्क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नेत्र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#34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34. प्रतिवर्ती क्रियाओं (Reflex Actions) का नियंत्रण केंद्र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प्रमस्तिष्क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मेरुरज्जु (Spinal Cord)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अनुमस्तिष्क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नेत्र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हाथ का गर्म वस्तु से अचानक हटना जैसी त्वरित अनैच्छिक क्रियाओं को मेरुरज्जु नियंत्रित करता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की सबसे लंबी तंत्रिका कोशिका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नेफ्रॉन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न्यूरॉन (Neuron)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अस्थि कोशिका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मायोसाइट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#35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35. मानव शरीर की सबसे लंबी तंत्रिका कोशिका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नेफ्रॉन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न्यूरॉन (Neuron)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अस्थि कोशिका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मायोसाइट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न्यूरॉन तंत्रिका तंत्र की मूल संरचनात्मक एवं क्रियात्मक इकाई है।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कुल कितने क्रेनियल तंत्रिकाएं (Cranial Nerves)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जोड़े (12 Pairs)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31 जोड़े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10 जोड़े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24 जोड़े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#36  [NMMS Bihar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36. मानव शरीर में कुल कितने क्रेनियल तंत्रिकाएं (Cranial Nerves) पाई जाती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(A)  12 जोड़े (12 Pairs)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(B)  31 जोड़े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10 जोड़े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24 जोड़े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(A)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मस्तिष्क से 12 जोड़े कपाल तंत्रिकाएं तथा मेरुरज्जु से 31 जोड़े मेरु तंत्रिकाएं निकलती हैं।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मानव शरीर में पसलियों (Ribs)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12 पसलियां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24 पसलियां (12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 पसलियां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14 पसलियां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#37  [NMMS UP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37. मानव शरीर में पसलियों (Ribs) की कुल संख्या कितनी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12 पसलियां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24 पसलियां (12 जोड़े)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 पसलियां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14 पसलियां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मानव वक्ष गुहा में 12 जोड़ी (कुल 24) पसलियां हृदय व फेफड़ों की रक्षा करती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हृदय को घेरने वाली सुरक्षात्मक दोहरी झिल्ली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प्लूरल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पेरीकार्डियम (Pericardium)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पेरिटोनियम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#38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38. हृदय को घेरने वाली सुरक्षात्मक दोहरी झिल्ली को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प्लूरल झिल्ली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पेरीकार्डियम (Pericardium)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पेरिटोनियम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हृदय पेरीकार्डियम (हृदयावरण) झिल्ली से घिरा रहता है जो घर्षण से बचाती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79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फेफड़ों को ढकने वाली सुरक्षात्मक आवरण झिल्ली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पेरीकार्डियम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प्लूरल झिल्ली / फुफ्फुसावरण (Pleura)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डर्मिस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#39  [NMMS Haryana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39. फेफड़ों को ढकने वाली सुरक्षात्मक आवरण झिल्ली क्या कहलाती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पेरीकार्डियम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प्लूरल झिल्ली / फुफ्फुसावरण (Pleura)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मेनिन्जेस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डर्मिस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फेफड़े फुफ्फुसावरण (Pleural Membrane) द्वारा सुरक्षित रहते हैं।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मस्तिष्क को ढकने वाली तीनों सुरक्षा परतों को सामूहिक रूप से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प्लूरल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मेनिन्जेस (Meninges)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पेरीकार्डियम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टोनोप्लास्ट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#40  [NMMS Rajasthan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40. मस्तिष्क को ढकने वाली तीनों सुरक्षा परतों को सामूहिक रूप से क्या कहते हैं?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प्लूरल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मेनिन्जेस (Meninges)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पेरीकार्डियम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टोनोप्लास्ट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मस्तिष्क ड्यूरा मैटर, एरेकनॉइड और पाया मैटर (मेनिन्जेस) से ढका रहता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मलेरिया बुखार में रोगी को कंपकंपी और तीव्र ठंड किस विषैले पदार्थ के कारण लगती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प्लाज्मोडिन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हीमोजोइन (Haemozoin)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हीमोग्लोबिन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टॉक्सिन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#41  [NMMS Delhi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41. मलेरिया बुखार में रोगी को कंपकंपी और तीव्र ठंड किस विषैले पदार्थ के कारण लगती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प्लाज्मोडिन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हीमोजोइन (Haemozoin)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हीमोग्लोबिन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टॉक्सिन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RBC के फटने पर प्लाज्मोडियम हीमोजोइन विष निकालता है जिससे तेज कंपकंपी के साथ बुखार आता है।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मलेरिया के उपचार में प्रयुक्त औषधि 'कुनैन' (Quinine) किस वृक्ष की छाल से प्राप्त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नीम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सिनकोना (Cinchona Tree)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यूकेलिप्टस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तुलसी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#42  [NMMS Bihar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42. मलेरिया के उपचार में प्रयुक्त औषधि 'कुनैन' (Quinine) किस वृक्ष की छाल से प्राप्त होती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नीम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सिनकोना (Cinchona Tree)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यूकेलिप्टस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तुलसी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सिनकोना वृक्ष की छाल से कुनैन औषधि बनाई जाती है जो मलेरिया के रोगाणु को मारती है।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टाइफाइड (मियादी बुखार) की पुष्टि के लिए कौन-सा नैदानिक परीक्षण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एलिसा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विडाल टेस्ट (Widal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ईसीजी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ईईजी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#43  [NMMS UP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43. टाइफाइड (मियादी बुखार) की पुष्टि के लिए कौन-सा नैदानिक परीक्षण किया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एलिसा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विडाल टेस्ट (Widal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ईसीजी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ईईजी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साल्मोनेला टाइफी जीवाणु के संक्रमण की जांच हेतु विडाल टेस्ट किया जाता है।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89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एड्स (AIDS) रोग की जांच हेतु प्राथमिक रक्त परीक्षण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विडाल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एलिसा टेस्ट (ELISA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बायोप्सी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एक्स-रे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#44  [NMMS MP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44. एड्स (AIDS) रोग की जांच हेतु प्राथमिक रक्त परीक्षण कौन-सा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विडाल टेस्ट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एलिसा टेस्ट (ELISA Test)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बायोप्सी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एक्स-रे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एंजाइम-लिंक्ड इम्यूनोसॉर्बेंट एसे (ELISA) टेस्ट HIV संक्रमण की पहचान करता है।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विश्व एड्स दिवस (World AIDS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1 दिसंबर (1st December)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14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7 अप्रैल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#45  [NMMS Rajasthan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45. विश्व एड्स दिवस (World AIDS Day) प्रतिवर्ष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5 जून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1 दिसंबर (1st December)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14 नवंबर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7 अप्रैल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जन-जागरूकता फैलाने हेतु प्रतिवर्ष 1 दिसंबर को विश्व एड्स दिवस मनाया जाता है।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विश्व स्वास्थ्य दिवस (World Health Day) किस दिन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1 दिसंबर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7 अप्रैल (7th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22 मार्च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#46  [NMMS All India 2022]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46. विश्व स्वास्थ्य दिवस (World Health Day) किस दिन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1 दिसंबर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7 अप्रैल (7th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22 मार्च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विश्व स्वास्थ्य संगठन (WHO) की स्थापना 7 अप्रैल 1948 को हुई थी, अतः 7 अप्रैल को स्वास्थ्य दिवस मनाते हैं।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जल दिवस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मार्च (22nd March)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21 मार्च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#47  [NMMS Gujarat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96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47. विश्व जल दिवस (World Water Day) किस तिथि को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22 अप्रैल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22 मार्च (22nd March)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21 मार्च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जल संरक्षण को बढ़ावा देने हेतु प्रतिवर्ष 22 मार्च को विश्व जल दिवस मनाया जाता है।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97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पृथ्वी दिवस (Earth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22 अप्रैल (22nd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16 सितंबर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#48  [NMMS Bihar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98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48. पृथ्वी दिवस (Earth Day) कब मनाया जाता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22 मार्च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22 अप्रैल (22nd April)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5 जून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16 सितंबर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पृथ्वी और पर्यावरण की रक्षा का संकल्प लेने हेतु प्रतिवर्ष 22 अप्रैल को पृथ्वी दिवस मनाया जाता है।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99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गंगा नदी को स्वच्छ बनाने हेतु 'नमामि गंगे' परियोजना किस वर्ष प्रारंभ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2010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2014 (June 2014)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2018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2020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#49  [NMMS UP 2021]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100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49. गंगा नदी को स्वच्छ बनाने हेतु 'नमामि गंगे' परियोजना किस वर्ष प्रारंभ की गई थी?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2010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2014 (June 2014)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2018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2020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गंगा नदी के प्रदूषण निवारण एवं कायाकल्प हेतु केंद्र सरकार द्वारा जून 2014 में नमामि गंगे शुरू की गई।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101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गुणवत्ता सूचकांक (AQI - Air Quality Index) में शून्य से 50 तक का स्तर क्या दर्शाता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(A)  खतरनाक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(B)  अच्छा / उत्तम (Good Quality)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(C)  मध्यम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E293B"/>
                </a:solidFill>
                <a:latin typeface="Segoe UI"/>
              </a:defRPr>
            </a:pPr>
            <a:r>
              <a:t>(D)  गंभीर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विज्ञान महामंथन PYQ #50  [NMMS MP 2023]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102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137160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प्र. 50. वायु गुणवत्ता सूचकांक (AQI - Air Quality Index) में शून्य से 50 तक का स्तर क्या दर्शाता है?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51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(A)  खतरनाक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5176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166534"/>
                </a:solidFill>
                <a:latin typeface="Segoe UI"/>
              </a:defRPr>
            </a:pPr>
            <a:r>
              <a:t>✅ (B)  अच्छा / उत्तम (Good Quality)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(C)  मध्यम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79476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600" b="1">
                <a:solidFill>
                  <a:srgbClr val="94A3B8"/>
                </a:solidFill>
                <a:latin typeface="Segoe UI"/>
              </a:defRPr>
            </a:pPr>
            <a:r>
              <a:t>(D)  गंभीर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37760"/>
            <a:ext cx="11277295" cy="12801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50" b="1">
                <a:solidFill>
                  <a:srgbClr val="166534"/>
                </a:solidFill>
                <a:latin typeface="Segoe UI"/>
              </a:defRPr>
            </a:pPr>
            <a:r>
              <a:t>✅ सही उत्तर: विकल्प (B)</a:t>
            </a:r>
          </a:p>
          <a:p>
            <a:pPr>
              <a:spcBef>
                <a:spcPts val="400"/>
              </a:spcBef>
              <a:defRPr sz="1400" b="0">
                <a:solidFill>
                  <a:srgbClr val="1E293B"/>
                </a:solidFill>
                <a:latin typeface="Segoe UI"/>
              </a:defRPr>
            </a:pPr>
            <a:r>
              <a:t>💡 व्याख्या (Explanation): 0 से 50 के बीच AQI को स्वच्छ एवं स्वास्थ्य के लिए सर्वोत्तम (Good) माना जाता है।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: त्वरित रिवीजन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103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🔑 1-मिनट क्विक मेमोरी सूत्र (Revision Formulae):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यांत्रिकी सूत्र: गतिज ऊर्जा = ½ mv² | स्थितिज ऊर्जा = mgh | प्रतिध्वनि = 17.2 m | ध्वनि वायु = 332 m/s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आवर्त सारणी: आधुनिक सारणी = हेनरी मोजले (परमाणु क्रमांक) | 7 आवर्त व 18 वर्ग | अक्रिय गैस = वर्ग 18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मिश्र धातु: शुद्ध सोना = 24 कैरेट | 18 कैरेट = 75% सोना | सोल्डर = लेड + टिन (Pb+Sn) | जर्मन सिल्वर = 0% चांदी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मस्तिष्क व तंत्रिका: ताप नियंत्रण = हाइपोथैलेमस | संतुलन = सेरेबेलम | बुद्धि = सेरेब्रम | 12 जोड़ी क्रेनियल</a:t>
            </a:r>
          </a:p>
          <a:p>
            <a:pPr>
              <a:spcBef>
                <a:spcPts val="1200"/>
              </a:spcBef>
              <a:spcAft>
                <a:spcPts val="200"/>
              </a:spcAft>
              <a:defRPr sz="1600" b="1">
                <a:solidFill>
                  <a:srgbClr val="78350F"/>
                </a:solidFill>
                <a:latin typeface="Segoe UI"/>
              </a:defRPr>
            </a:pPr>
            <a:r>
              <a:t>⚡  महत्वपूर्ण दिवस: 22 मार्च = जल दिवस | 7 अप्रैल = स्वास्थ्य दिवस | 22 अप्रैल = पृथ्वी दिवस | 1 दिसंबर = एड्स दिवस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— स्कोर विश्लेषण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104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320040"/>
          <a:lstStyle/>
          <a:p>
            <a:pPr algn="ctr">
              <a:defRPr sz="1900" b="1">
                <a:solidFill>
                  <a:srgbClr val="0F172A"/>
                </a:solidFill>
                <a:latin typeface="Segoe UI"/>
              </a:defRPr>
            </a:pPr>
            <a:r>
              <a:t>🎯 स्व-मूल्यांकन एवं प्रदर्शन विश्लेषण (Self Evaluation Chart):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45+ सही उत्तर (उत्कृष्ट प्रदर्शन): State Merit List में सर्वोच्च स्थान सुनिश्चित! तैयारी पूर्ण है।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38 - 44 सही उत्तर (सराहनीय प्रदर्शन): छात्रवृत्ति पक्की! कमजोर टॉपिक्स का 1 बार त्वरित रिवीजन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30 - 37 सही उत्तर (औसत प्रदर्शन): भौतिकी व रसायन के सूत्रों का पुनः अभ्यास करें।</a:t>
            </a:r>
          </a:p>
          <a:p>
            <a:pPr>
              <a:spcBef>
                <a:spcPts val="1200"/>
              </a:spcBef>
              <a:defRPr sz="1550">
                <a:solidFill>
                  <a:srgbClr val="1E293B"/>
                </a:solidFill>
                <a:latin typeface="Segoe UI"/>
              </a:defRPr>
            </a:pPr>
            <a:r>
              <a:t>🏆  30 से कम सही उत्तर: क्लास 01 से 17 की थ्योरी स्लाइड्स को दोबारा पढ़ें और नोट्स बनाएं।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BHAGWANPUR • NMMS All India (विज्ञान Special)</a:t>
            </a:r>
          </a:p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विशुद्ध विज्ञान मॉक टेस्ट 05 — सफलता का संकल्प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वेबसाइट: sagarcoaching.tech  |  Slide 105 of 105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600"/>
              </a:spcBef>
              <a:defRPr sz="1500">
                <a:solidFill>
                  <a:srgbClr val="CBD5E1"/>
                </a:solidFill>
                <a:latin typeface="Segoe UI"/>
              </a:defRPr>
            </a:pPr>
            <a:r>
              <a:t>निकट - माँ भगवती मंदिर, भगवानपुर (सुपौल, बिहार) • पिन - 852109</a:t>
            </a:r>
          </a:p>
          <a:p>
            <a:pPr algn="ctr">
              <a:spcBef>
                <a:spcPts val="16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🌟 NMMS ALL INDIA SCIENCE MOCK TEST 05 : सम्पूर्ण पाठ्यक्रम सफलता किट 🌟</a:t>
            </a:r>
          </a:p>
          <a:p>
            <a:pPr algn="ctr">
              <a:spcBef>
                <a:spcPts val="1400"/>
              </a:spcBef>
              <a:defRPr sz="1600" b="1">
                <a:solidFill>
                  <a:srgbClr val="D97706"/>
                </a:solidFill>
                <a:latin typeface="Segoe UI"/>
              </a:defRPr>
            </a:pPr>
            <a:r>
              <a:t>मार्गदर्शक: सागर सर (NMMS King)</a:t>
            </a:r>
          </a:p>
          <a:p>
            <a:pPr algn="ctr">
              <a:spcBef>
                <a:spcPts val="8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ऑनलाइन टेस्ट, क्लास नोट्स व PDF सामग्री हेतु वेबसाइट पर पधारें: sagarcoaching.tech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