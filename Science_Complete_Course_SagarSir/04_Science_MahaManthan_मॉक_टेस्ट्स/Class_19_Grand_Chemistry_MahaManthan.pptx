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  <p:sldId id="310" r:id="rId61"/>
    <p:sldId id="311" r:id="rId62"/>
    <p:sldId id="312" r:id="rId63"/>
    <p:sldId id="313" r:id="rId64"/>
    <p:sldId id="314" r:id="rId65"/>
    <p:sldId id="315" r:id="rId66"/>
    <p:sldId id="316" r:id="rId67"/>
    <p:sldId id="317" r:id="rId68"/>
    <p:sldId id="318" r:id="rId6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Relationship Id="rId60" Type="http://schemas.openxmlformats.org/officeDocument/2006/relationships/slide" Target="slides/slide54.xml"/><Relationship Id="rId61" Type="http://schemas.openxmlformats.org/officeDocument/2006/relationships/slide" Target="slides/slide55.xml"/><Relationship Id="rId62" Type="http://schemas.openxmlformats.org/officeDocument/2006/relationships/slide" Target="slides/slide56.xml"/><Relationship Id="rId63" Type="http://schemas.openxmlformats.org/officeDocument/2006/relationships/slide" Target="slides/slide57.xml"/><Relationship Id="rId64" Type="http://schemas.openxmlformats.org/officeDocument/2006/relationships/slide" Target="slides/slide58.xml"/><Relationship Id="rId65" Type="http://schemas.openxmlformats.org/officeDocument/2006/relationships/slide" Target="slides/slide59.xml"/><Relationship Id="rId66" Type="http://schemas.openxmlformats.org/officeDocument/2006/relationships/slide" Target="slides/slide60.xml"/><Relationship Id="rId67" Type="http://schemas.openxmlformats.org/officeDocument/2006/relationships/slide" Target="slides/slide61.xml"/><Relationship Id="rId68" Type="http://schemas.openxmlformats.org/officeDocument/2006/relationships/slide" Target="slides/slide62.xml"/><Relationship Id="rId69" Type="http://schemas.openxmlformats.org/officeDocument/2006/relationships/slide" Target="slides/slide6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457200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FFFFFF"/>
                </a:solidFill>
                <a:latin typeface="Segoe UI"/>
              </a:defRPr>
            </a:pPr>
            <a:r>
              <a:t>🎯 राष्ट्रीय आय-सह-मेधा छात्रवृत्ति परीक्षा (NMMS All India Special) • मिशन 35/35 अंक</a:t>
            </a:r>
          </a:p>
        </p:txBody>
      </p:sp>
      <p:pic>
        <p:nvPicPr>
          <p:cNvPr id="4" name="Picture 3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0" y="640080"/>
            <a:ext cx="1216152" cy="121615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57200" y="1874519"/>
            <a:ext cx="11277295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600" b="1">
                <a:solidFill>
                  <a:srgbClr val="D97706"/>
                </a:solidFill>
                <a:latin typeface="Segoe UI"/>
              </a:defRPr>
            </a:pPr>
            <a:r>
              <a:t>SAGAR COACHING CENTRE, BHAGWANPUR (SUPAUL, BIHAR)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346704" y="2468880"/>
            <a:ext cx="5486400" cy="457200"/>
          </a:xfrm>
          <a:prstGeom prst="roundRect">
            <a:avLst/>
          </a:prstGeom>
          <a:solidFill>
            <a:srgbClr val="0D9488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FFFFFF"/>
                </a:solidFill>
                <a:latin typeface="Segoe UI"/>
              </a:defRPr>
            </a:pPr>
            <a:r>
              <a:t>🌟 NMMS SCIENCE CLASS 19 • GRAND MAHAMANTHAN 🌟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2971800"/>
            <a:ext cx="11277295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000" b="1">
                <a:solidFill>
                  <a:srgbClr val="FFFFFF"/>
                </a:solidFill>
                <a:latin typeface="Segoe UI"/>
              </a:defRPr>
            </a:pPr>
            <a:r>
              <a:t>सम्पूर्ण रसायन विज्ञान महामंथन</a:t>
            </a:r>
            <a:br/>
            <a:r>
              <a:t>(Grand Chemistry MahaManthan)</a:t>
            </a:r>
          </a:p>
          <a:p>
            <a:pPr algn="ctr">
              <a:spcBef>
                <a:spcPts val="400"/>
              </a:spcBef>
              <a:defRPr sz="1500">
                <a:solidFill>
                  <a:srgbClr val="CBD5E1"/>
                </a:solidFill>
                <a:latin typeface="Segoe UI"/>
              </a:defRPr>
            </a:pPr>
            <a:r>
              <a:t>विगत 10 वर्षों के 30 सबसे महत्वपूर्ण PYQs का धुआंधार लाइव रिवीजन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371600" y="4160520"/>
            <a:ext cx="9448495" cy="182880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37160"/>
          <a:lstStyle/>
          <a:p>
            <a:pPr algn="ctr">
              <a:defRPr sz="1400" b="1">
                <a:solidFill>
                  <a:srgbClr val="D97706"/>
                </a:solidFill>
                <a:latin typeface="Segoe UI"/>
              </a:defRPr>
            </a:pPr>
            <a:r>
              <a:t>🎯 आज की क्लास में क्या सीखेंगे (Key Topics):</a:t>
            </a:r>
          </a:p>
          <a:p>
            <a:pPr>
              <a:spcBef>
                <a:spcPts val="200"/>
              </a:spcBef>
              <a:defRPr sz="1200">
                <a:solidFill>
                  <a:srgbClr val="FFFFFF"/>
                </a:solidFill>
                <a:latin typeface="Segoe UI"/>
              </a:defRPr>
            </a:pPr>
            <a:r>
              <a:t>  ✓  पदार्थ, अणु, परमाणु व रासायनिक प्रतीक (Matter &amp; Atoms)</a:t>
            </a:r>
          </a:p>
          <a:p>
            <a:pPr>
              <a:spcBef>
                <a:spcPts val="200"/>
              </a:spcBef>
              <a:defRPr sz="1200">
                <a:solidFill>
                  <a:srgbClr val="FFFFFF"/>
                </a:solidFill>
                <a:latin typeface="Segoe UI"/>
              </a:defRPr>
            </a:pPr>
            <a:r>
              <a:t>  ✓  अम्ल, क्षार, लवण, सूचक एवं pH पैमाना (Acids, Bases &amp; Salts)</a:t>
            </a:r>
          </a:p>
          <a:p>
            <a:pPr>
              <a:spcBef>
                <a:spcPts val="200"/>
              </a:spcBef>
              <a:defRPr sz="1200">
                <a:solidFill>
                  <a:srgbClr val="FFFFFF"/>
                </a:solidFill>
                <a:latin typeface="Segoe UI"/>
              </a:defRPr>
            </a:pPr>
            <a:r>
              <a:t>  ✓  धातु एवं अधातु, सक्रियता श्रेणी व संक्षारण (Metals &amp; Non-metals)</a:t>
            </a:r>
          </a:p>
          <a:p>
            <a:pPr>
              <a:spcBef>
                <a:spcPts val="200"/>
              </a:spcBef>
              <a:defRPr sz="1200">
                <a:solidFill>
                  <a:srgbClr val="FFFFFF"/>
                </a:solidFill>
                <a:latin typeface="Segoe UI"/>
              </a:defRPr>
            </a:pPr>
            <a:r>
              <a:t>  ✓  दहन, ज्वाला, ईंधन, अग्निशामक व कैलोरी मान (Combustion &amp; Fuels)</a:t>
            </a:r>
          </a:p>
          <a:p>
            <a:pPr>
              <a:spcBef>
                <a:spcPts val="200"/>
              </a:spcBef>
              <a:defRPr sz="1200">
                <a:solidFill>
                  <a:srgbClr val="FFFFFF"/>
                </a:solidFill>
                <a:latin typeface="Segoe UI"/>
              </a:defRPr>
            </a:pPr>
            <a:r>
              <a:t>  ✓  संश्लेषित रेशे, प्लास्टिक, कोयला व पेट्रोलियम (Polymers &amp; Petroleum)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172200"/>
            <a:ext cx="11277295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>
                <a:solidFill>
                  <a:srgbClr val="94A3B8"/>
                </a:solidFill>
                <a:latin typeface="Segoe UI"/>
              </a:defRPr>
            </a:pPr>
            <a:r>
              <a:t>मार्गदर्शक: सागर सर (NMMS King)  |  Helpline / WhatsApp: +91 91101 13671  |  Website: sagarcoaching.tech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रसायन विज्ञान महामंथन : त्वरित सूत्र संकलन (Chemistry Formula Sheet)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WhatsApp / Helpline: +91 91101 13671  |  वेबसाइट: sagarcoaching.tech  |  Slide 2 of 63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51206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0" tIns="320040" rIns="45720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📖 मुख्य वैज्ञानिक तथ्य एवं सिद्धांत (Key Concepts &amp; Exam Notes):</a:t>
            </a:r>
          </a:p>
          <a:p>
            <a:pPr>
              <a:spcBef>
                <a:spcPts val="900"/>
              </a:spcBef>
              <a:spcAft>
                <a:spcPts val="200"/>
              </a:spcAft>
              <a:defRPr sz="1500">
                <a:solidFill>
                  <a:srgbClr val="1E293B"/>
                </a:solidFill>
                <a:latin typeface="Segoe UI"/>
              </a:defRPr>
            </a:pPr>
            <a:r>
              <a:t>•  अम्ल (pH &lt; 7): स्वाद में खट्टे, नीले लिटमस को लाल करते हैं (HCl, H₂SO₄, सिरका = एसिटिक अम्ल)</a:t>
            </a:r>
          </a:p>
          <a:p>
            <a:pPr>
              <a:spcBef>
                <a:spcPts val="900"/>
              </a:spcBef>
              <a:spcAft>
                <a:spcPts val="200"/>
              </a:spcAft>
              <a:defRPr sz="1500">
                <a:solidFill>
                  <a:srgbClr val="1E293B"/>
                </a:solidFill>
                <a:latin typeface="Segoe UI"/>
              </a:defRPr>
            </a:pPr>
            <a:r>
              <a:t>•  क्षार (pH &gt; 7): स्वाद में कड़वे, साबुन जैसे चिकने, लाल लिटमस को नीला करते हैं (NaOH, KOH, चूने का पानी)</a:t>
            </a:r>
          </a:p>
          <a:p>
            <a:pPr>
              <a:spcBef>
                <a:spcPts val="900"/>
              </a:spcBef>
              <a:spcAft>
                <a:spcPts val="200"/>
              </a:spcAft>
              <a:defRPr sz="1500">
                <a:solidFill>
                  <a:srgbClr val="1E293B"/>
                </a:solidFill>
                <a:latin typeface="Segoe UI"/>
              </a:defRPr>
            </a:pPr>
            <a:r>
              <a:t>•  उदासीन विलयन (pH = 7): शुद्ध जल, साधारण नमक (NaCl)</a:t>
            </a:r>
          </a:p>
          <a:p>
            <a:pPr>
              <a:spcBef>
                <a:spcPts val="900"/>
              </a:spcBef>
              <a:spcAft>
                <a:spcPts val="200"/>
              </a:spcAft>
              <a:defRPr sz="1500">
                <a:solidFill>
                  <a:srgbClr val="1E293B"/>
                </a:solidFill>
                <a:latin typeface="Segoe UI"/>
              </a:defRPr>
            </a:pPr>
            <a:r>
              <a:t>•  धातुएं: चमकदार, आघातवर्ध्य, तन्य, विद्युत व ऊष्मा की सुचालक (द्रव धातु = पारा/Hg)</a:t>
            </a:r>
          </a:p>
          <a:p>
            <a:pPr>
              <a:spcBef>
                <a:spcPts val="900"/>
              </a:spcBef>
              <a:spcAft>
                <a:spcPts val="200"/>
              </a:spcAft>
              <a:defRPr sz="1500">
                <a:solidFill>
                  <a:srgbClr val="1E293B"/>
                </a:solidFill>
                <a:latin typeface="Segoe UI"/>
              </a:defRPr>
            </a:pPr>
            <a:r>
              <a:t>•  अधातुएं: भंगुर, कुचालक (अपवाद: ग्रेफाइट सुचालक है, द्रव अधातु = ब्रोमीन/Br)</a:t>
            </a:r>
          </a:p>
          <a:p>
            <a:pPr>
              <a:spcBef>
                <a:spcPts val="900"/>
              </a:spcBef>
              <a:spcAft>
                <a:spcPts val="200"/>
              </a:spcAft>
              <a:defRPr sz="1500">
                <a:solidFill>
                  <a:srgbClr val="1E293B"/>
                </a:solidFill>
                <a:latin typeface="Segoe UI"/>
              </a:defRPr>
            </a:pPr>
            <a:r>
              <a:t>•  दहन के 3 घटक: ज्वलनशील पदार्थ + ऑक्सीजन (O₂) + ज्वलन ताप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रसायन महामंथन PYQ #1  [NMMS Bihar 2023]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WhatsApp / Helpline: +91 91101 13671  |  वेबसाइट: sagarcoaching.tech  |  Slide 3 of 63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1. कमरे के तापमान पर द्रव अवस्था में पाई जाने वाली एकमात्र धातु कौन-सी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सोडियम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पारा / मरकरी (Hg)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ब्रोमीन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पोटेशियम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रसायन महामंथन PYQ #1  [NMMS Bihar 2023]  —  [उत्तर व व्याख्या]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WhatsApp / Helpline: +91 91101 13671  |  वेबसाइट: sagarcoaching.tech  |  Slide 4 of 63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1. कमरे के तापमान पर द्रव अवस्था में पाई जाने वाली एकमात्र धातु कौन-सी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(A)  सोडियम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DCFCE7"/>
          </a:solidFill>
          <a:ln w="381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(B)  पारा / मरकरी (Hg)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(C)  ब्रोमीन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(D)  पोटेशियम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4937760"/>
            <a:ext cx="11277295" cy="128016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09728"/>
          <a:lstStyle/>
          <a:p>
            <a:pPr algn="ctr">
              <a:defRPr sz="1550" b="1">
                <a:solidFill>
                  <a:srgbClr val="166534"/>
                </a:solidFill>
                <a:latin typeface="Segoe UI"/>
              </a:defRPr>
            </a:pPr>
            <a:r>
              <a:t>✅ सही उत्तर: विकल्प (B)</a:t>
            </a:r>
          </a:p>
          <a:p>
            <a:pPr>
              <a:spcBef>
                <a:spcPts val="400"/>
              </a:spcBef>
              <a:defRPr sz="1400" b="0">
                <a:solidFill>
                  <a:srgbClr val="1E293B"/>
                </a:solidFill>
                <a:latin typeface="Segoe UI"/>
              </a:defRPr>
            </a:pPr>
            <a:r>
              <a:t>💡 व्याख्या (Explanation): पारा (Mercury) एकमात्र ऐसी धातु है जो कमरे के सामान्य तापमान पर द्रव अवस्था में रहती है।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रसायन महामंथन PYQ #2  [NMMS UP 2022]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WhatsApp / Helpline: +91 91101 13671  |  वेबसाइट: sagarcoaching.tech  |  Slide 5 of 63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2. कमरे के तापमान पर द्रव अवस्था में पाई जाने वाली एकमात्र अधातु कौन-सी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क्लोरीन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सल्फर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ब्रोमीन (Bromine)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फास्फोरस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रसायन महामंथन PYQ #2  [NMMS UP 2022]  —  [उत्तर व व्याख्या]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WhatsApp / Helpline: +91 91101 13671  |  वेबसाइट: sagarcoaching.tech  |  Slide 6 of 63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2. कमरे के तापमान पर द्रव अवस्था में पाई जाने वाली एकमात्र अधातु कौन-सी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(A)  क्लोरीन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(B)  सल्फर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DCFCE7"/>
          </a:solidFill>
          <a:ln w="381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(C)  ब्रोमीन (Bromine)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(D)  फास्फोरस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4937760"/>
            <a:ext cx="11277295" cy="128016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09728"/>
          <a:lstStyle/>
          <a:p>
            <a:pPr algn="ctr">
              <a:defRPr sz="1550" b="1">
                <a:solidFill>
                  <a:srgbClr val="166534"/>
                </a:solidFill>
                <a:latin typeface="Segoe UI"/>
              </a:defRPr>
            </a:pPr>
            <a:r>
              <a:t>✅ सही उत्तर: विकल्प (C)</a:t>
            </a:r>
          </a:p>
          <a:p>
            <a:pPr>
              <a:spcBef>
                <a:spcPts val="400"/>
              </a:spcBef>
              <a:defRPr sz="1400" b="0">
                <a:solidFill>
                  <a:srgbClr val="1E293B"/>
                </a:solidFill>
                <a:latin typeface="Segoe UI"/>
              </a:defRPr>
            </a:pPr>
            <a:r>
              <a:t>💡 व्याख्या (Explanation): ब्रोमीन (Br) एक लाल-भूरे रंग की अधातु है जो सामान्य ताप पर द्रव रहती है।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रसायन महामंथन PYQ #3  [NMMS MP 2023]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WhatsApp / Helpline: +91 91101 13671  |  वेबसाइट: sagarcoaching.tech  |  Slide 7 of 63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3. नीले लिटमस पत्र को लाल रंग में बदलने वाले विलयन की प्रकृति कैसी होती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क्षारीय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अम्लीय (Acidic)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उदासीन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लवणीय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रसायन महामंथन PYQ #3  [NMMS MP 2023]  —  [उत्तर व व्याख्या]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WhatsApp / Helpline: +91 91101 13671  |  वेबसाइट: sagarcoaching.tech  |  Slide 8 of 63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3. नीले लिटमस पत्र को लाल रंग में बदलने वाले विलयन की प्रकृति कैसी होती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(A)  क्षारीय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DCFCE7"/>
          </a:solidFill>
          <a:ln w="381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(B)  अम्लीय (Acidic)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(C)  उदासीन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(D)  लवणीय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4937760"/>
            <a:ext cx="11277295" cy="128016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09728"/>
          <a:lstStyle/>
          <a:p>
            <a:pPr algn="ctr">
              <a:defRPr sz="1550" b="1">
                <a:solidFill>
                  <a:srgbClr val="166534"/>
                </a:solidFill>
                <a:latin typeface="Segoe UI"/>
              </a:defRPr>
            </a:pPr>
            <a:r>
              <a:t>✅ सही उत्तर: विकल्प (B)</a:t>
            </a:r>
          </a:p>
          <a:p>
            <a:pPr>
              <a:spcBef>
                <a:spcPts val="400"/>
              </a:spcBef>
              <a:defRPr sz="1400" b="0">
                <a:solidFill>
                  <a:srgbClr val="1E293B"/>
                </a:solidFill>
                <a:latin typeface="Segoe UI"/>
              </a:defRPr>
            </a:pPr>
            <a:r>
              <a:t>💡 व्याख्या (Explanation): अम्ल नीले लिटमस को लाल कर देते हैं, जबकि क्षार लाल लिटमस को नीला करते हैं।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रसायन महामंथन PYQ #4  [NMMS Rajasthan 2022]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WhatsApp / Helpline: +91 91101 13671  |  वेबसाइट: sagarcoaching.tech  |  Slide 9 of 63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4. निम्नलिखित में से किसे 'चाकू से आसानी से काटा जा सकने वाली धातु' कहा जाता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लोहा और तांबा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सोडियम और पोटेशियम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एल्युमिनियम और जस्ता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चांदी और सोना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रसायन महामंथन PYQ #4  [NMMS Rajasthan 2022]  —  [उत्तर व व्याख्या]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WhatsApp / Helpline: +91 91101 13671  |  वेबसाइट: sagarcoaching.tech  |  Slide 10 of 63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4. निम्नलिखित में से किसे 'चाकू से आसानी से काटा जा सकने वाली धातु' कहा जाता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(A)  लोहा और तांबा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DCFCE7"/>
          </a:solidFill>
          <a:ln w="381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(B)  सोडियम और पोटेशियम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(C)  एल्युमिनियम और जस्ता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(D)  चांदी और सोना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4937760"/>
            <a:ext cx="11277295" cy="128016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09728"/>
          <a:lstStyle/>
          <a:p>
            <a:pPr algn="ctr">
              <a:defRPr sz="1550" b="1">
                <a:solidFill>
                  <a:srgbClr val="166534"/>
                </a:solidFill>
                <a:latin typeface="Segoe UI"/>
              </a:defRPr>
            </a:pPr>
            <a:r>
              <a:t>✅ सही उत्तर: विकल्प (B)</a:t>
            </a:r>
          </a:p>
          <a:p>
            <a:pPr>
              <a:spcBef>
                <a:spcPts val="400"/>
              </a:spcBef>
              <a:defRPr sz="1400" b="0">
                <a:solidFill>
                  <a:srgbClr val="1E293B"/>
                </a:solidFill>
                <a:latin typeface="Segoe UI"/>
              </a:defRPr>
            </a:pPr>
            <a:r>
              <a:t>💡 व्याख्या (Explanation): सोडियम और पोटेशियम अत्यंत नर्म क्षार धातुएं हैं जिन्हें साधारण चाकू से काटा जा सकता है।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रसायन महामंथन PYQ #5  [NMMS Haryana 2023]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WhatsApp / Helpline: +91 91101 13671  |  वेबसाइट: sagarcoaching.tech  |  Slide 11 of 63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5. सोडियम धातु को अत्यधिक क्रियाशील होने के कारण किस द्रव में डुबोकर रखा जाता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जल में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अल्कोहल में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केरोसिन (मिट्टी के तेल) में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ईथर में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रसायन महामंथन PYQ #5  [NMMS Haryana 2023]  —  [उत्तर व व्याख्या]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WhatsApp / Helpline: +91 91101 13671  |  वेबसाइट: sagarcoaching.tech  |  Slide 12 of 63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5. सोडियम धातु को अत्यधिक क्रियाशील होने के कारण किस द्रव में डुबोकर रखा जाता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(A)  जल में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(B)  अल्कोहल में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DCFCE7"/>
          </a:solidFill>
          <a:ln w="381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(C)  केरोसिन (मिट्टी के तेल) में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(D)  ईथर में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4937760"/>
            <a:ext cx="11277295" cy="128016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09728"/>
          <a:lstStyle/>
          <a:p>
            <a:pPr algn="ctr">
              <a:defRPr sz="1550" b="1">
                <a:solidFill>
                  <a:srgbClr val="166534"/>
                </a:solidFill>
                <a:latin typeface="Segoe UI"/>
              </a:defRPr>
            </a:pPr>
            <a:r>
              <a:t>✅ सही उत्तर: विकल्प (C)</a:t>
            </a:r>
          </a:p>
          <a:p>
            <a:pPr>
              <a:spcBef>
                <a:spcPts val="400"/>
              </a:spcBef>
              <a:defRPr sz="1400" b="0">
                <a:solidFill>
                  <a:srgbClr val="1E293B"/>
                </a:solidFill>
                <a:latin typeface="Segoe UI"/>
              </a:defRPr>
            </a:pPr>
            <a:r>
              <a:t>💡 व्याख्या (Explanation): सोडियम वायु की ऑक्सीजन व जल से विस्फोटक अभिक्रिया करता है, अतः इसे मिट्टी के तेल में रखते हैं।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रसायन महामंथन PYQ #6  [NMMS Delhi 2022]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WhatsApp / Helpline: +91 91101 13671  |  वेबसाइट: sagarcoaching.tech  |  Slide 13 of 63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6. शुद्ध जल का pH मान कितना होता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0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5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7 (उदासीन)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14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रसायन महामंथन PYQ #6  [NMMS Delhi 2022]  —  [उत्तर व व्याख्या]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WhatsApp / Helpline: +91 91101 13671  |  वेबसाइट: sagarcoaching.tech  |  Slide 14 of 63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6. शुद्ध जल का pH मान कितना होता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(A)  0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(B)  5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DCFCE7"/>
          </a:solidFill>
          <a:ln w="381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(C)  7 (उदासीन)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(D)  14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4937760"/>
            <a:ext cx="11277295" cy="128016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09728"/>
          <a:lstStyle/>
          <a:p>
            <a:pPr algn="ctr">
              <a:defRPr sz="1550" b="1">
                <a:solidFill>
                  <a:srgbClr val="166534"/>
                </a:solidFill>
                <a:latin typeface="Segoe UI"/>
              </a:defRPr>
            </a:pPr>
            <a:r>
              <a:t>✅ सही उत्तर: विकल्प (C)</a:t>
            </a:r>
          </a:p>
          <a:p>
            <a:pPr>
              <a:spcBef>
                <a:spcPts val="400"/>
              </a:spcBef>
              <a:defRPr sz="1400" b="0">
                <a:solidFill>
                  <a:srgbClr val="1E293B"/>
                </a:solidFill>
                <a:latin typeface="Segoe UI"/>
              </a:defRPr>
            </a:pPr>
            <a:r>
              <a:t>💡 व्याख्या (Explanation): शुद्ध जल पूर्णतः उदासीन होता है, इसलिए इसका pH मान 7 होता है।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रसायन महामंथन PYQ #7  [NMMS Bihar 2022]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WhatsApp / Helpline: +91 91101 13671  |  वेबसाइट: sagarcoaching.tech  |  Slide 15 of 63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7. चींटी के डंक में कौन-सा अम्ल पाया जाता है जो जलन पैदा करता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सिट्रिक अम्ल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फॉर्मिक / मेथेनोइक अम्ल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एसिटिक अम्ल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टार्टरिक अम्ल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रसायन महामंथन PYQ #7  [NMMS Bihar 2022]  —  [उत्तर व व्याख्या]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WhatsApp / Helpline: +91 91101 13671  |  वेबसाइट: sagarcoaching.tech  |  Slide 16 of 63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7. चींटी के डंक में कौन-सा अम्ल पाया जाता है जो जलन पैदा करता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(A)  सिट्रिक अम्ल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DCFCE7"/>
          </a:solidFill>
          <a:ln w="381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(B)  फॉर्मिक / मेथेनोइक अम्ल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(C)  एसिटिक अम्ल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(D)  टार्टरिक अम्ल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4937760"/>
            <a:ext cx="11277295" cy="128016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09728"/>
          <a:lstStyle/>
          <a:p>
            <a:pPr algn="ctr">
              <a:defRPr sz="1550" b="1">
                <a:solidFill>
                  <a:srgbClr val="166534"/>
                </a:solidFill>
                <a:latin typeface="Segoe UI"/>
              </a:defRPr>
            </a:pPr>
            <a:r>
              <a:t>✅ सही उत्तर: विकल्प (B)</a:t>
            </a:r>
          </a:p>
          <a:p>
            <a:pPr>
              <a:spcBef>
                <a:spcPts val="400"/>
              </a:spcBef>
              <a:defRPr sz="1400" b="0">
                <a:solidFill>
                  <a:srgbClr val="1E293B"/>
                </a:solidFill>
                <a:latin typeface="Segoe UI"/>
              </a:defRPr>
            </a:pPr>
            <a:r>
              <a:t>💡 व्याख्या (Explanation): चींटी व मधुमक्खी के डंक में फॉर्मिक अम्ल (HCOOH) होता है; बेकिंग सोडा लगाने से राहत मिलती है।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रसायन महामंथन PYQ #8  [NMMS UP 2023]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WhatsApp / Helpline: +91 91101 13671  |  वेबसाइट: sagarcoaching.tech  |  Slide 17 of 63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8. लोहे पर जंग (Rust) लगने के लिए किन दो घटकों की एक साथ उपस्थिति अनिवार्य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केवल ऑक्सीजन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केवल जल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ऑक्सीजन और जलवाष्प (नमी)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नाइट्रोजन और जल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रसायन महामंथन PYQ #8  [NMMS UP 2023]  —  [उत्तर व व्याख्या]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WhatsApp / Helpline: +91 91101 13671  |  वेबसाइट: sagarcoaching.tech  |  Slide 18 of 63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8. लोहे पर जंग (Rust) लगने के लिए किन दो घटकों की एक साथ उपस्थिति अनिवार्य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(A)  केवल ऑक्सीजन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(B)  केवल जल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DCFCE7"/>
          </a:solidFill>
          <a:ln w="381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(C)  ऑक्सीजन और जलवाष्प (नमी)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(D)  नाइट्रोजन और जल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4937760"/>
            <a:ext cx="11277295" cy="128016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09728"/>
          <a:lstStyle/>
          <a:p>
            <a:pPr algn="ctr">
              <a:defRPr sz="1550" b="1">
                <a:solidFill>
                  <a:srgbClr val="166534"/>
                </a:solidFill>
                <a:latin typeface="Segoe UI"/>
              </a:defRPr>
            </a:pPr>
            <a:r>
              <a:t>✅ सही उत्तर: विकल्प (C)</a:t>
            </a:r>
          </a:p>
          <a:p>
            <a:pPr>
              <a:spcBef>
                <a:spcPts val="400"/>
              </a:spcBef>
              <a:defRPr sz="1400" b="0">
                <a:solidFill>
                  <a:srgbClr val="1E293B"/>
                </a:solidFill>
                <a:latin typeface="Segoe UI"/>
              </a:defRPr>
            </a:pPr>
            <a:r>
              <a:t>💡 व्याख्या (Explanation): लोहा हवा की ऑक्सीजन और जलवाष्प से क्रिया कर भूरा जलयोजित आयरन ऑक्साइड (Fe₂O₃.xH₂O) बनाता है।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रसायन महामंथन PYQ #9  [NMMS MP 2022]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WhatsApp / Helpline: +91 91101 13671  |  वेबसाइट: sagarcoaching.tech  |  Slide 19 of 63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9. विद्युत की एकमात्र सर्वोत्तम सुचालक अधातु कौन-सी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हीरा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ग्रेफाइट (Graphite)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सल्फर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कोयला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रसायन महामंथन PYQ #9  [NMMS MP 2022]  —  [उत्तर व व्याख्या]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WhatsApp / Helpline: +91 91101 13671  |  वेबसाइट: sagarcoaching.tech  |  Slide 20 of 63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9. विद्युत की एकमात्र सर्वोत्तम सुचालक अधातु कौन-सी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(A)  हीरा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DCFCE7"/>
          </a:solidFill>
          <a:ln w="381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(B)  ग्रेफाइट (Graphite)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(C)  सल्फर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(D)  कोयला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4937760"/>
            <a:ext cx="11277295" cy="128016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09728"/>
          <a:lstStyle/>
          <a:p>
            <a:pPr algn="ctr">
              <a:defRPr sz="1550" b="1">
                <a:solidFill>
                  <a:srgbClr val="166534"/>
                </a:solidFill>
                <a:latin typeface="Segoe UI"/>
              </a:defRPr>
            </a:pPr>
            <a:r>
              <a:t>✅ सही उत्तर: विकल्प (B)</a:t>
            </a:r>
          </a:p>
          <a:p>
            <a:pPr>
              <a:spcBef>
                <a:spcPts val="400"/>
              </a:spcBef>
              <a:defRPr sz="1400" b="0">
                <a:solidFill>
                  <a:srgbClr val="1E293B"/>
                </a:solidFill>
                <a:latin typeface="Segoe UI"/>
              </a:defRPr>
            </a:pPr>
            <a:r>
              <a:t>💡 व्याख्या (Explanation): ग्रेफाइट कार्बन का एक अपररूप है जिसमें मुक्त इलेक्ट्रॉन होने से यह विद्युत का सुचालक है।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रसायन महामंथन PYQ #10  [NMMS Rajasthan 2021]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WhatsApp / Helpline: +91 91101 13671  |  वेबसाइट: sagarcoaching.tech  |  Slide 21 of 63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10. अग्निशामक यंत्रों (Fire Extinguishers) में आग बुझाने हेतु कौन-सी गैस प्रयुक्त होती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ऑक्सीजन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कार्बन डाइऑक्साइड (CO₂)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हाइड्रोजन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नाइट्रोजन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रसायन महामंथन PYQ #10  [NMMS Rajasthan 2021]  —  [उत्तर व व्याख्या]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WhatsApp / Helpline: +91 91101 13671  |  वेबसाइट: sagarcoaching.tech  |  Slide 22 of 63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10. अग्निशामक यंत्रों (Fire Extinguishers) में आग बुझाने हेतु कौन-सी गैस प्रयुक्त होती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(A)  ऑक्सीजन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DCFCE7"/>
          </a:solidFill>
          <a:ln w="381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(B)  कार्बन डाइऑक्साइड (CO₂)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(C)  हाइड्रोजन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(D)  नाइट्रोजन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4937760"/>
            <a:ext cx="11277295" cy="128016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09728"/>
          <a:lstStyle/>
          <a:p>
            <a:pPr algn="ctr">
              <a:defRPr sz="1550" b="1">
                <a:solidFill>
                  <a:srgbClr val="166534"/>
                </a:solidFill>
                <a:latin typeface="Segoe UI"/>
              </a:defRPr>
            </a:pPr>
            <a:r>
              <a:t>✅ सही उत्तर: विकल्प (B)</a:t>
            </a:r>
          </a:p>
          <a:p>
            <a:pPr>
              <a:spcBef>
                <a:spcPts val="400"/>
              </a:spcBef>
              <a:defRPr sz="1400" b="0">
                <a:solidFill>
                  <a:srgbClr val="1E293B"/>
                </a:solidFill>
                <a:latin typeface="Segoe UI"/>
              </a:defRPr>
            </a:pPr>
            <a:r>
              <a:t>💡 व्याख्या (Explanation): CO₂ गैस हवा से भारी होने के कारण आग को कंबल की तरह ढककर ऑक्सीजन की आपूर्ति रोक देती है।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रसायन महामंथन PYQ #11  [NMMS All India 2022]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WhatsApp / Helpline: +91 91101 13671  |  वेबसाइट: sagarcoaching.tech  |  Slide 23 of 63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11. सिरके (Vinegar) में मुख्य रूप से कौन-सा अम्ल उपस्थित होता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ऑक्जेलिक अम्ल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एसिटिक अम्ल (Acetic Acid)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लैक्टिक अम्ल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नाइट्रिक अम्ल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रसायन महामंथन PYQ #11  [NMMS All India 2022]  —  [उत्तर व व्याख्या]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WhatsApp / Helpline: +91 91101 13671  |  वेबसाइट: sagarcoaching.tech  |  Slide 24 of 63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11. सिरके (Vinegar) में मुख्य रूप से कौन-सा अम्ल उपस्थित होता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(A)  ऑक्जेलिक अम्ल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DCFCE7"/>
          </a:solidFill>
          <a:ln w="381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(B)  एसिटिक अम्ल (Acetic Acid)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(C)  लैक्टिक अम्ल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(D)  नाइट्रिक अम्ल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4937760"/>
            <a:ext cx="11277295" cy="128016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09728"/>
          <a:lstStyle/>
          <a:p>
            <a:pPr algn="ctr">
              <a:defRPr sz="1550" b="1">
                <a:solidFill>
                  <a:srgbClr val="166534"/>
                </a:solidFill>
                <a:latin typeface="Segoe UI"/>
              </a:defRPr>
            </a:pPr>
            <a:r>
              <a:t>✅ सही उत्तर: विकल्प (B)</a:t>
            </a:r>
          </a:p>
          <a:p>
            <a:pPr>
              <a:spcBef>
                <a:spcPts val="400"/>
              </a:spcBef>
              <a:defRPr sz="1400" b="0">
                <a:solidFill>
                  <a:srgbClr val="1E293B"/>
                </a:solidFill>
                <a:latin typeface="Segoe UI"/>
              </a:defRPr>
            </a:pPr>
            <a:r>
              <a:t>💡 व्याख्या (Explanation): सिरका 5% से 8% तनु एसिटिक अम्ल (CH₃COOH) का जलीय विलयन होता है।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रसायन महामंथन PYQ #12  [NMMS Gujarat 2023]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WhatsApp / Helpline: +91 91101 13671  |  वेबसाइट: sagarcoaching.tech  |  Slide 25 of 63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12. किस ईंधन का कैलोरी मान (ऊष्मीय मान) सबसे अधिक (1,50,000 kJ/kg) होता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एलपीजी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सीएनजी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हाइड्रोजन गैस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पेट्रोल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रसायन महामंथन PYQ #12  [NMMS Gujarat 2023]  —  [उत्तर व व्याख्या]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WhatsApp / Helpline: +91 91101 13671  |  वेबसाइट: sagarcoaching.tech  |  Slide 26 of 63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12. किस ईंधन का कैलोरी मान (ऊष्मीय मान) सबसे अधिक (1,50,000 kJ/kg) होता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(A)  एलपीजी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(B)  सीएनजी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DCFCE7"/>
          </a:solidFill>
          <a:ln w="381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(C)  हाइड्रोजन गैस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(D)  पेट्रोल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4937760"/>
            <a:ext cx="11277295" cy="128016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09728"/>
          <a:lstStyle/>
          <a:p>
            <a:pPr algn="ctr">
              <a:defRPr sz="1550" b="1">
                <a:solidFill>
                  <a:srgbClr val="166534"/>
                </a:solidFill>
                <a:latin typeface="Segoe UI"/>
              </a:defRPr>
            </a:pPr>
            <a:r>
              <a:t>✅ सही उत्तर: विकल्प (C)</a:t>
            </a:r>
          </a:p>
          <a:p>
            <a:pPr>
              <a:spcBef>
                <a:spcPts val="400"/>
              </a:spcBef>
              <a:defRPr sz="1400" b="0">
                <a:solidFill>
                  <a:srgbClr val="1E293B"/>
                </a:solidFill>
                <a:latin typeface="Segoe UI"/>
              </a:defRPr>
            </a:pPr>
            <a:r>
              <a:t>💡 व्याख्या (Explanation): हाइड्रोजन का ऊष्मीय मान सबसे अधिक होता है और इसे भविष्य का स्वच्छ प्रदूषण-मुक्त ईंधन माना जाता है।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रसायन महामंथन PYQ #13  [NMMS Bihar 2021]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WhatsApp / Helpline: +91 91101 13671  |  वेबसाइट: sagarcoaching.tech  |  Slide 27 of 63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13. पेंसिल की लेड (Pencil Lead) बनाने में कार्बन के किस रूप का उपयोग किया जाता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हीरा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ग्रेफाइट (Graphite)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चारकोल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काजल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रसायन महामंथन PYQ #13  [NMMS Bihar 2021]  —  [उत्तर व व्याख्या]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WhatsApp / Helpline: +91 91101 13671  |  वेबसाइट: sagarcoaching.tech  |  Slide 28 of 63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13. पेंसिल की लेड (Pencil Lead) बनाने में कार्बन के किस रूप का उपयोग किया जाता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(A)  हीरा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DCFCE7"/>
          </a:solidFill>
          <a:ln w="381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(B)  ग्रेफाइट (Graphite)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(C)  चारकोल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(D)  काजल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4937760"/>
            <a:ext cx="11277295" cy="128016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09728"/>
          <a:lstStyle/>
          <a:p>
            <a:pPr algn="ctr">
              <a:defRPr sz="1550" b="1">
                <a:solidFill>
                  <a:srgbClr val="166534"/>
                </a:solidFill>
                <a:latin typeface="Segoe UI"/>
              </a:defRPr>
            </a:pPr>
            <a:r>
              <a:t>✅ सही उत्तर: विकल्प (B)</a:t>
            </a:r>
          </a:p>
          <a:p>
            <a:pPr>
              <a:spcBef>
                <a:spcPts val="400"/>
              </a:spcBef>
              <a:defRPr sz="1400" b="0">
                <a:solidFill>
                  <a:srgbClr val="1E293B"/>
                </a:solidFill>
                <a:latin typeface="Segoe UI"/>
              </a:defRPr>
            </a:pPr>
            <a:r>
              <a:t>💡 व्याख्या (Explanation): ग्रेफाइट नर्म और चिकना (परतदार) होता है, जिससे यह कागज पर आसानी से निशान बनाता है।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रसायन महामंथन PYQ #14  [NMMS UP 2021]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WhatsApp / Helpline: +91 91101 13671  |  वेबसाइट: sagarcoaching.tech  |  Slide 29 of 63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14. प्रथम पूर्ण रूप से मानव निर्मित संश्लेषित रेशा (Synthetic Fibre) कौन-सा था?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रेयॉन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नायलॉन (Nylon)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पॉलिएस्टर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एक्रिलिक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रसायन महामंथन PYQ #14  [NMMS UP 2021]  —  [उत्तर व व्याख्या]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WhatsApp / Helpline: +91 91101 13671  |  वेबसाइट: sagarcoaching.tech  |  Slide 30 of 63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14. प्रथम पूर्ण रूप से मानव निर्मित संश्लेषित रेशा (Synthetic Fibre) कौन-सा था?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(A)  रेयॉन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DCFCE7"/>
          </a:solidFill>
          <a:ln w="381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(B)  नायलॉन (Nylon)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(C)  पॉलिएस्टर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(D)  एक्रिलिक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4937760"/>
            <a:ext cx="11277295" cy="128016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09728"/>
          <a:lstStyle/>
          <a:p>
            <a:pPr algn="ctr">
              <a:defRPr sz="1550" b="1">
                <a:solidFill>
                  <a:srgbClr val="166534"/>
                </a:solidFill>
                <a:latin typeface="Segoe UI"/>
              </a:defRPr>
            </a:pPr>
            <a:r>
              <a:t>✅ सही उत्तर: विकल्प (B)</a:t>
            </a:r>
          </a:p>
          <a:p>
            <a:pPr>
              <a:spcBef>
                <a:spcPts val="400"/>
              </a:spcBef>
              <a:defRPr sz="1400" b="0">
                <a:solidFill>
                  <a:srgbClr val="1E293B"/>
                </a:solidFill>
                <a:latin typeface="Segoe UI"/>
              </a:defRPr>
            </a:pPr>
            <a:r>
              <a:t>💡 व्याख्या (Explanation): नायलॉन 1931 में कोयले, जल और वायु से बनाया गया प्रथम पूर्णतः संश्लेषित रेशा था।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रसायन महामंथन PYQ #15  [NMMS MP 2023]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WhatsApp / Helpline: +91 91101 13671  |  वेबसाइट: sagarcoaching.tech  |  Slide 31 of 63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15. कृत्रिम रेशम (Artificial Silk) के नाम से किसे जाना जाता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नायलॉन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रेयॉन (Rayon)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टेरीलीन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ऊन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रसायन महामंथन PYQ #15  [NMMS MP 2023]  —  [उत्तर व व्याख्या]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WhatsApp / Helpline: +91 91101 13671  |  वेबसाइट: sagarcoaching.tech  |  Slide 32 of 63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15. कृत्रिम रेशम (Artificial Silk) के नाम से किसे जाना जाता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(A)  नायलॉन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DCFCE7"/>
          </a:solidFill>
          <a:ln w="381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(B)  रेयॉन (Rayon)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(C)  टेरीलीन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(D)  ऊन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4937760"/>
            <a:ext cx="11277295" cy="128016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09728"/>
          <a:lstStyle/>
          <a:p>
            <a:pPr algn="ctr">
              <a:defRPr sz="1550" b="1">
                <a:solidFill>
                  <a:srgbClr val="166534"/>
                </a:solidFill>
                <a:latin typeface="Segoe UI"/>
              </a:defRPr>
            </a:pPr>
            <a:r>
              <a:t>✅ सही उत्तर: विकल्प (B)</a:t>
            </a:r>
          </a:p>
          <a:p>
            <a:pPr>
              <a:spcBef>
                <a:spcPts val="400"/>
              </a:spcBef>
              <a:defRPr sz="1400" b="0">
                <a:solidFill>
                  <a:srgbClr val="1E293B"/>
                </a:solidFill>
                <a:latin typeface="Segoe UI"/>
              </a:defRPr>
            </a:pPr>
            <a:r>
              <a:t>💡 व्याख्या (Explanation): रेयॉन को काष्ठ लुगदी (Cellulose) के रासायनिक उपचार से बनाया जाता है, इसके गुण रेशम जैसे होते हैं।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रसायन महामंथन PYQ #16  [NMMS Rajasthan 2023]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WhatsApp / Helpline: +91 91101 13671  |  वेबसाइट: sagarcoaching.tech  |  Slide 33 of 63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16. विद्युत स्विच, प्लग और बर्तनों के हत्थे बनाने में प्रयुक्त थर्मोसेटिंग प्लास्टिक कौन-सा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पॉलीथीन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पीवीसी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बेकेलाइट (Bakelite)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नायलॉन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रसायन महामंथन PYQ #16  [NMMS Rajasthan 2023]  —  [उत्तर व व्याख्या]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WhatsApp / Helpline: +91 91101 13671  |  वेबसाइट: sagarcoaching.tech  |  Slide 34 of 63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16. विद्युत स्विच, प्लग और बर्तनों के हत्थे बनाने में प्रयुक्त थर्मोसेटिंग प्लास्टिक कौन-सा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(A)  पॉलीथीन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(B)  पीवीसी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DCFCE7"/>
          </a:solidFill>
          <a:ln w="381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(C)  बेकेलाइट (Bakelite)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(D)  नायलॉन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4937760"/>
            <a:ext cx="11277295" cy="128016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09728"/>
          <a:lstStyle/>
          <a:p>
            <a:pPr algn="ctr">
              <a:defRPr sz="1550" b="1">
                <a:solidFill>
                  <a:srgbClr val="166534"/>
                </a:solidFill>
                <a:latin typeface="Segoe UI"/>
              </a:defRPr>
            </a:pPr>
            <a:r>
              <a:t>✅ सही उत्तर: विकल्प (C)</a:t>
            </a:r>
          </a:p>
          <a:p>
            <a:pPr>
              <a:spcBef>
                <a:spcPts val="400"/>
              </a:spcBef>
              <a:defRPr sz="1400" b="0">
                <a:solidFill>
                  <a:srgbClr val="1E293B"/>
                </a:solidFill>
                <a:latin typeface="Segoe UI"/>
              </a:defRPr>
            </a:pPr>
            <a:r>
              <a:t>💡 व्याख्या (Explanation): बेकेलाइट ऊष्मा और विद्युत का प्रबल कुचालक थर्मोसेटिंग प्लास्टिक है जो गर्म करने पर नहीं पिघलता।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रसायन महामंथन PYQ #17  [NMMS Delhi 2023]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WhatsApp / Helpline: +91 91101 13671  |  वेबसाइट: sagarcoaching.tech  |  Slide 35 of 63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17. सफेद फास्फोरस (White Phosphorus) को सुरक्षित रखने हेतु किसमें डुबोकर रखा जाता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केरोसिन में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जल (Water) में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अल्कोहल में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पेट्रोल में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रसायन महामंथन PYQ #17  [NMMS Delhi 2023]  —  [उत्तर व व्याख्या]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WhatsApp / Helpline: +91 91101 13671  |  वेबसाइट: sagarcoaching.tech  |  Slide 36 of 63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17. सफेद फास्फोरस (White Phosphorus) को सुरक्षित रखने हेतु किसमें डुबोकर रखा जाता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(A)  केरोसिन में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DCFCE7"/>
          </a:solidFill>
          <a:ln w="381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(B)  जल (Water) में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(C)  अल्कोहल में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(D)  पेट्रोल में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4937760"/>
            <a:ext cx="11277295" cy="128016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09728"/>
          <a:lstStyle/>
          <a:p>
            <a:pPr algn="ctr">
              <a:defRPr sz="1550" b="1">
                <a:solidFill>
                  <a:srgbClr val="166534"/>
                </a:solidFill>
                <a:latin typeface="Segoe UI"/>
              </a:defRPr>
            </a:pPr>
            <a:r>
              <a:t>✅ सही उत्तर: विकल्प (B)</a:t>
            </a:r>
          </a:p>
          <a:p>
            <a:pPr>
              <a:spcBef>
                <a:spcPts val="400"/>
              </a:spcBef>
              <a:defRPr sz="1400" b="0">
                <a:solidFill>
                  <a:srgbClr val="1E293B"/>
                </a:solidFill>
                <a:latin typeface="Segoe UI"/>
              </a:defRPr>
            </a:pPr>
            <a:r>
              <a:t>💡 व्याख्या (Explanation): सफेद फास्फोरस का ज्वलन ताप बहुत कम (35°C) होता है और हवा में स्वतः जल उठता है, अतः जल में रखते हैं।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रसायन महामंथन PYQ #18  [NMMS Bihar 2023]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WhatsApp / Helpline: +91 91101 13671  |  वेबसाइट: sagarcoaching.tech  |  Slide 37 of 63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18. मोमबत्ती की ज्वाला का सबसे गर्म भाग कौन-सा होता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आंतरिक काला क्षेत्र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मध्य पीला दीप्त क्षेत्र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बाह्य नीला अदीप्त क्षेत्र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नीचे का भाग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रसायन महामंथन PYQ #18  [NMMS Bihar 2023]  —  [उत्तर व व्याख्या]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WhatsApp / Helpline: +91 91101 13671  |  वेबसाइट: sagarcoaching.tech  |  Slide 38 of 63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18. मोमबत्ती की ज्वाला का सबसे गर्म भाग कौन-सा होता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(A)  आंतरिक काला क्षेत्र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(B)  मध्य पीला दीप्त क्षेत्र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DCFCE7"/>
          </a:solidFill>
          <a:ln w="381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(C)  बाह्य नीला अदीप्त क्षेत्र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(D)  नीचे का भाग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4937760"/>
            <a:ext cx="11277295" cy="128016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09728"/>
          <a:lstStyle/>
          <a:p>
            <a:pPr algn="ctr">
              <a:defRPr sz="1550" b="1">
                <a:solidFill>
                  <a:srgbClr val="166534"/>
                </a:solidFill>
                <a:latin typeface="Segoe UI"/>
              </a:defRPr>
            </a:pPr>
            <a:r>
              <a:t>✅ सही उत्तर: विकल्प (C)</a:t>
            </a:r>
          </a:p>
          <a:p>
            <a:pPr>
              <a:spcBef>
                <a:spcPts val="400"/>
              </a:spcBef>
              <a:defRPr sz="1400" b="0">
                <a:solidFill>
                  <a:srgbClr val="1E293B"/>
                </a:solidFill>
                <a:latin typeface="Segoe UI"/>
              </a:defRPr>
            </a:pPr>
            <a:r>
              <a:t>💡 व्याख्या (Explanation): बाह्य नीला क्षेत्र पूर्ण दहन का क्षेत्र होता है, जहाँ तापमान सर्वाधिक होता है (सुनार इसी से फूंकते हैं)।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रसायन महामंथन PYQ #19  [NMMS UP 2022]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WhatsApp / Helpline: +91 91101 13671  |  वेबसाइट: sagarcoaching.tech  |  Slide 39 of 63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19. पेट्रोलियम के प्रभाजी आसवन से प्राप्त होने वाले किस उत्पाद का उपयोग सड़क निर्माण में होता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कोलतार / बिटुमेन (Bitumen)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केरोसिन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पैराफिन मोम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डीजल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रसायन महामंथन PYQ #19  [NMMS UP 2022]  —  [उत्तर व व्याख्या]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WhatsApp / Helpline: +91 91101 13671  |  वेबसाइट: sagarcoaching.tech  |  Slide 40 of 63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19. पेट्रोलियम के प्रभाजी आसवन से प्राप्त होने वाले किस उत्पाद का उपयोग सड़क निर्माण में होता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(A)  कोलतार / बिटुमेन (Bitumen)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DCFCE7"/>
          </a:solidFill>
          <a:ln w="381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(B)  केरोसिन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(C)  पैराफिन मोम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(D)  डीजल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4937760"/>
            <a:ext cx="11277295" cy="128016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09728"/>
          <a:lstStyle/>
          <a:p>
            <a:pPr algn="ctr">
              <a:defRPr sz="1550" b="1">
                <a:solidFill>
                  <a:srgbClr val="166534"/>
                </a:solidFill>
                <a:latin typeface="Segoe UI"/>
              </a:defRPr>
            </a:pPr>
            <a:r>
              <a:t>✅ सही उत्तर: विकल्प (B)</a:t>
            </a:r>
          </a:p>
          <a:p>
            <a:pPr>
              <a:spcBef>
                <a:spcPts val="400"/>
              </a:spcBef>
              <a:defRPr sz="1400" b="0">
                <a:solidFill>
                  <a:srgbClr val="1E293B"/>
                </a:solidFill>
                <a:latin typeface="Segoe UI"/>
              </a:defRPr>
            </a:pPr>
            <a:r>
              <a:t>💡 व्याख्या (Explanation): आजकल पक्की सड़कों के निर्माण में कोलतार के स्थान पर पेट्रोलियम उत्पाद 'बिटुमेन' का उपयोग होता है।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रसायन महामंथन PYQ #20  [NMMS MP 2022]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WhatsApp / Helpline: +91 91101 13671  |  वेबसाइट: sagarcoaching.tech  |  Slide 41 of 63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20. अम्ल एवं क्षार की परस्पर क्रिया से लवण और जल बनने की अभिक्रिया क्या कहलाती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संयोजन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अपघटन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उदासीनीकरण (Neutralization)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विस्थापन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रसायन महामंथन PYQ #20  [NMMS MP 2022]  —  [उत्तर व व्याख्या]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WhatsApp / Helpline: +91 91101 13671  |  वेबसाइट: sagarcoaching.tech  |  Slide 42 of 63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20. अम्ल एवं क्षार की परस्पर क्रिया से लवण और जल बनने की अभिक्रिया क्या कहलाती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(A)  संयोजन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(B)  अपघटन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DCFCE7"/>
          </a:solidFill>
          <a:ln w="381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(C)  उदासीनीकरण (Neutralization)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(D)  विस्थापन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4937760"/>
            <a:ext cx="11277295" cy="128016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09728"/>
          <a:lstStyle/>
          <a:p>
            <a:pPr algn="ctr">
              <a:defRPr sz="1550" b="1">
                <a:solidFill>
                  <a:srgbClr val="166534"/>
                </a:solidFill>
                <a:latin typeface="Segoe UI"/>
              </a:defRPr>
            </a:pPr>
            <a:r>
              <a:t>✅ सही उत्तर: विकल्प (C)</a:t>
            </a:r>
          </a:p>
          <a:p>
            <a:pPr>
              <a:spcBef>
                <a:spcPts val="400"/>
              </a:spcBef>
              <a:defRPr sz="1400" b="0">
                <a:solidFill>
                  <a:srgbClr val="1E293B"/>
                </a:solidFill>
                <a:latin typeface="Segoe UI"/>
              </a:defRPr>
            </a:pPr>
            <a:r>
              <a:t>💡 व्याख्या (Explanation): अम्ल + क्षार ➔ लवण + जल + ऊष्मा। इस अभिक्रिया को उदासीनीकरण कहते हैं।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रसायन महामंथन PYQ #21  [NMMS Haryana 2022]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WhatsApp / Helpline: +91 91101 13671  |  वेबसाइट: sagarcoaching.tech  |  Slide 43 of 63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21. धातुएं तनु अम्लों से क्रिया करके कौन-सी गैस उत्सर्जित करती हैं?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ऑक्सीजन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कार्बन डाइऑक्साइड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हाइड्रोजन गैस (H₂)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नाइट्रोजन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रसायन महामंथन PYQ #21  [NMMS Haryana 2022]  —  [उत्तर व व्याख्या]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WhatsApp / Helpline: +91 91101 13671  |  वेबसाइट: sagarcoaching.tech  |  Slide 44 of 63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21. धातुएं तनु अम्लों से क्रिया करके कौन-सी गैस उत्सर्जित करती हैं?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(A)  ऑक्सीजन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(B)  कार्बन डाइऑक्साइड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DCFCE7"/>
          </a:solidFill>
          <a:ln w="381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(C)  हाइड्रोजन गैस (H₂)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(D)  नाइट्रोजन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4937760"/>
            <a:ext cx="11277295" cy="128016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09728"/>
          <a:lstStyle/>
          <a:p>
            <a:pPr algn="ctr">
              <a:defRPr sz="1550" b="1">
                <a:solidFill>
                  <a:srgbClr val="166534"/>
                </a:solidFill>
                <a:latin typeface="Segoe UI"/>
              </a:defRPr>
            </a:pPr>
            <a:r>
              <a:t>✅ सही उत्तर: विकल्प (C)</a:t>
            </a:r>
          </a:p>
          <a:p>
            <a:pPr>
              <a:spcBef>
                <a:spcPts val="400"/>
              </a:spcBef>
              <a:defRPr sz="1400" b="0">
                <a:solidFill>
                  <a:srgbClr val="1E293B"/>
                </a:solidFill>
                <a:latin typeface="Segoe UI"/>
              </a:defRPr>
            </a:pPr>
            <a:r>
              <a:t>💡 व्याख्या (Explanation): धातु + तनु अम्ल ➔ धात्विक लवण + हाइड्रोजन गैस (जो पॉप ध्वनि के साथ जलती है)।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रसायन महामंथन PYQ #22  [NMMS Rajasthan 2022]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WhatsApp / Helpline: +91 91101 13671  |  वेबसाइट: sagarcoaching.tech  |  Slide 45 of 63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22. दही व खट्टे पदार्थों को तांबे या पीतल के बर्तनों में क्यों नहीं रखना चाहिए?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वे रंग बदलते हैं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अम्ल धातु से क्रिया कर विषैले यौगिक बनाते हैं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वे जम जाते हैं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वे सूख जाते हैं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रसायन महामंथन PYQ #22  [NMMS Rajasthan 2022]  —  [उत्तर व व्याख्या]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WhatsApp / Helpline: +91 91101 13671  |  वेबसाइट: sagarcoaching.tech  |  Slide 46 of 63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22. दही व खट्टे पदार्थों को तांबे या पीतल के बर्तनों में क्यों नहीं रखना चाहिए?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(A)  वे रंग बदलते हैं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DCFCE7"/>
          </a:solidFill>
          <a:ln w="381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(B)  अम्ल धातु से क्रिया कर विषैले यौगिक बनाते हैं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(C)  वे जम जाते हैं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(D)  वे सूख जाते हैं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4937760"/>
            <a:ext cx="11277295" cy="128016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09728"/>
          <a:lstStyle/>
          <a:p>
            <a:pPr algn="ctr">
              <a:defRPr sz="1550" b="1">
                <a:solidFill>
                  <a:srgbClr val="166534"/>
                </a:solidFill>
                <a:latin typeface="Segoe UI"/>
              </a:defRPr>
            </a:pPr>
            <a:r>
              <a:t>✅ सही उत्तर: विकल्प (B)</a:t>
            </a:r>
          </a:p>
          <a:p>
            <a:pPr>
              <a:spcBef>
                <a:spcPts val="400"/>
              </a:spcBef>
              <a:defRPr sz="1400" b="0">
                <a:solidFill>
                  <a:srgbClr val="1E293B"/>
                </a:solidFill>
                <a:latin typeface="Segoe UI"/>
              </a:defRPr>
            </a:pPr>
            <a:r>
              <a:t>💡 व्याख्या (Explanation): दही में लैक्टिक अम्ल होता है जो तांबे/पीतल से क्रिया कर विषैले लवण बनाता है जिससे भोजन विषाक्त हो जाता है।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रसायन महामंथन PYQ #23  [NMMS All India 2023]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WhatsApp / Helpline: +91 91101 13671  |  वेबसाइट: sagarcoaching.tech  |  Slide 47 of 63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23. हल्दी एक प्राकृतिक सूचक है। यह क्षारीय विलयन (जैसे साबुन के घोल) के संपर्क में कैसा रंग देती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पीला ही रहता है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लाल / भूरा-लाल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नीला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हरा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रसायन महामंथन PYQ #23  [NMMS All India 2023]  —  [उत्तर व व्याख्या]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WhatsApp / Helpline: +91 91101 13671  |  वेबसाइट: sagarcoaching.tech  |  Slide 48 of 63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23. हल्दी एक प्राकृतिक सूचक है। यह क्षारीय विलयन (जैसे साबुन के घोल) के संपर्क में कैसा रंग देती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(A)  पीला ही रहता है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DCFCE7"/>
          </a:solidFill>
          <a:ln w="381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(B)  लाल / भूरा-लाल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(C)  नीला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(D)  हरा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4937760"/>
            <a:ext cx="11277295" cy="128016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09728"/>
          <a:lstStyle/>
          <a:p>
            <a:pPr algn="ctr">
              <a:defRPr sz="1550" b="1">
                <a:solidFill>
                  <a:srgbClr val="166534"/>
                </a:solidFill>
                <a:latin typeface="Segoe UI"/>
              </a:defRPr>
            </a:pPr>
            <a:r>
              <a:t>✅ सही उत्तर: विकल्प (B)</a:t>
            </a:r>
          </a:p>
          <a:p>
            <a:pPr>
              <a:spcBef>
                <a:spcPts val="400"/>
              </a:spcBef>
              <a:defRPr sz="1400" b="0">
                <a:solidFill>
                  <a:srgbClr val="1E293B"/>
                </a:solidFill>
                <a:latin typeface="Segoe UI"/>
              </a:defRPr>
            </a:pPr>
            <a:r>
              <a:t>💡 व्याख्या (Explanation): हल्दी अम्ल में पीली रहती है परंतु क्षारीय विलयन में गहरा लाल-भूरा रंग देती है।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रसायन महामंथन PYQ #24  [NMMS Bihar 2022]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WhatsApp / Helpline: +91 91101 13671  |  वेबसाइट: sagarcoaching.tech  |  Slide 49 of 63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24. निम्नलिखित में से कौन-सा एक जीवाश्म ईंधन (Fossil Fuel) नहीं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कोयला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पेट्रोलियम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प्राकृतिक गैस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काष्ठ / लकड़ी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रसायन महामंथन PYQ #24  [NMMS Bihar 2022]  —  [उत्तर व व्याख्या]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WhatsApp / Helpline: +91 91101 13671  |  वेबसाइट: sagarcoaching.tech  |  Slide 50 of 63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24. निम्नलिखित में से कौन-सा एक जीवाश्म ईंधन (Fossil Fuel) नहीं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(A)  कोयला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(B)  पेट्रोलियम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(C)  प्राकृतिक गैस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DCFCE7"/>
          </a:solidFill>
          <a:ln w="381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(D)  काष्ठ / लकड़ी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4937760"/>
            <a:ext cx="11277295" cy="128016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09728"/>
          <a:lstStyle/>
          <a:p>
            <a:pPr algn="ctr">
              <a:defRPr sz="1550" b="1">
                <a:solidFill>
                  <a:srgbClr val="166534"/>
                </a:solidFill>
                <a:latin typeface="Segoe UI"/>
              </a:defRPr>
            </a:pPr>
            <a:r>
              <a:t>✅ सही उत्तर: विकल्प (D)</a:t>
            </a:r>
          </a:p>
          <a:p>
            <a:pPr>
              <a:spcBef>
                <a:spcPts val="400"/>
              </a:spcBef>
              <a:defRPr sz="1400" b="0">
                <a:solidFill>
                  <a:srgbClr val="1E293B"/>
                </a:solidFill>
                <a:latin typeface="Segoe UI"/>
              </a:defRPr>
            </a:pPr>
            <a:r>
              <a:t>💡 व्याख्या (Explanation): कोयला, पेट्रोलियम और प्राकृतिक गैस लाखों वर्ष पूर्व दबे अवशेषों से बने जीवाश्म ईंधन हैं।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रसायन महामंथन PYQ #25  [NMMS UP 2023]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WhatsApp / Helpline: +91 91101 13671  |  वेबसाइट: sagarcoaching.tech  |  Slide 51 of 63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25. सीएनजी (CNG - Compressed Natural Gas) का मुख्य घटक कौन-सी गैस होती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ब्यूटेन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मीथेन (CH₄)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प्रोपेन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ईथेन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रसायन महामंथन PYQ #25  [NMMS UP 2023]  —  [उत्तर व व्याख्या]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WhatsApp / Helpline: +91 91101 13671  |  वेबसाइट: sagarcoaching.tech  |  Slide 52 of 63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25. सीएनजी (CNG - Compressed Natural Gas) का मुख्य घटक कौन-सी गैस होती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(A)  ब्यूटेन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DCFCE7"/>
          </a:solidFill>
          <a:ln w="381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(B)  मीथेन (CH₄)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(C)  प्रोपेन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(D)  ईथेन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4937760"/>
            <a:ext cx="11277295" cy="128016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09728"/>
          <a:lstStyle/>
          <a:p>
            <a:pPr algn="ctr">
              <a:defRPr sz="1550" b="1">
                <a:solidFill>
                  <a:srgbClr val="166534"/>
                </a:solidFill>
                <a:latin typeface="Segoe UI"/>
              </a:defRPr>
            </a:pPr>
            <a:r>
              <a:t>✅ सही उत्तर: विकल्प (B)</a:t>
            </a:r>
          </a:p>
          <a:p>
            <a:pPr>
              <a:spcBef>
                <a:spcPts val="400"/>
              </a:spcBef>
              <a:defRPr sz="1400" b="0">
                <a:solidFill>
                  <a:srgbClr val="1E293B"/>
                </a:solidFill>
                <a:latin typeface="Segoe UI"/>
              </a:defRPr>
            </a:pPr>
            <a:r>
              <a:t>💡 व्याख्या (Explanation): प्राकृतिक गैस (CNG) में लगभग 85% से 95% तक मीथेन (Methane) गैस होती है।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रसायन महामंथन PYQ #26  [NMMS MP 2023]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WhatsApp / Helpline: +91 91101 13671  |  वेबसाइट: sagarcoaching.tech  |  Slide 53 of 63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26. घरेलू रसोई गैस सिलेंडर (LPG) में मुख्य रूप से कौन-सी गैसें भरी होती हैं?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मीथेन व हाइड्रोजन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प्रोपेन एवं ब्यूटेन (Butane)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कार्बन डाइऑक्साइड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हीलियम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रसायन महामंथन PYQ #26  [NMMS MP 2023]  —  [उत्तर व व्याख्या]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WhatsApp / Helpline: +91 91101 13671  |  वेबसाइट: sagarcoaching.tech  |  Slide 54 of 63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26. घरेलू रसोई गैस सिलेंडर (LPG) में मुख्य रूप से कौन-सी गैसें भरी होती हैं?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(A)  मीथेन व हाइड्रोजन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DCFCE7"/>
          </a:solidFill>
          <a:ln w="381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(B)  प्रोपेन एवं ब्यूटेन (Butane)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(C)  कार्बन डाइऑक्साइड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(D)  हीलियम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4937760"/>
            <a:ext cx="11277295" cy="128016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09728"/>
          <a:lstStyle/>
          <a:p>
            <a:pPr algn="ctr">
              <a:defRPr sz="1550" b="1">
                <a:solidFill>
                  <a:srgbClr val="166534"/>
                </a:solidFill>
                <a:latin typeface="Segoe UI"/>
              </a:defRPr>
            </a:pPr>
            <a:r>
              <a:t>✅ सही उत्तर: विकल्प (B)</a:t>
            </a:r>
          </a:p>
          <a:p>
            <a:pPr>
              <a:spcBef>
                <a:spcPts val="400"/>
              </a:spcBef>
              <a:defRPr sz="1400" b="0">
                <a:solidFill>
                  <a:srgbClr val="1E293B"/>
                </a:solidFill>
                <a:latin typeface="Segoe UI"/>
              </a:defRPr>
            </a:pPr>
            <a:r>
              <a:t>💡 व्याख्या (Explanation): एलपीजी में मुख्य रूप से द्रवीभूत ब्यूटेन और प्रोपेन होती है। गंध हेतु एथिल मरकैप्टेन मिलाते हैं।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रसायन महामंथन PYQ #27  [NMMS Gujarat 2022]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WhatsApp / Helpline: +91 91101 13671  |  वेबसाइट: sagarcoaching.tech  |  Slide 55 of 63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27. धातुओं के पतले तार के रूप में खींचे जाने के गुण को क्या कहते हैं?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आघातवर्ध्यता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तन्यता (Ductility)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ध्वानिक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कठोरता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रसायन महामंथन PYQ #27  [NMMS Gujarat 2022]  —  [उत्तर व व्याख्या]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WhatsApp / Helpline: +91 91101 13671  |  वेबसाइट: sagarcoaching.tech  |  Slide 56 of 63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27. धातुओं के पतले तार के रूप में खींचे जाने के गुण को क्या कहते हैं?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(A)  आघातवर्ध्यता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DCFCE7"/>
          </a:solidFill>
          <a:ln w="381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(B)  तन्यता (Ductility)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(C)  ध्वानिक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(D)  कठोरता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4937760"/>
            <a:ext cx="11277295" cy="128016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09728"/>
          <a:lstStyle/>
          <a:p>
            <a:pPr algn="ctr">
              <a:defRPr sz="1550" b="1">
                <a:solidFill>
                  <a:srgbClr val="166534"/>
                </a:solidFill>
                <a:latin typeface="Segoe UI"/>
              </a:defRPr>
            </a:pPr>
            <a:r>
              <a:t>✅ सही उत्तर: विकल्प (B)</a:t>
            </a:r>
          </a:p>
          <a:p>
            <a:pPr>
              <a:spcBef>
                <a:spcPts val="400"/>
              </a:spcBef>
              <a:defRPr sz="1400" b="0">
                <a:solidFill>
                  <a:srgbClr val="1E293B"/>
                </a:solidFill>
                <a:latin typeface="Segoe UI"/>
              </a:defRPr>
            </a:pPr>
            <a:r>
              <a:t>💡 व्याख्या (Explanation): धातुओं को खींचकर पतले तार बनाने का गुण तन्यता कहलाता है (सोना सर्वाधिक तन्य धातु है)।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रसायन महामंथन PYQ #28  [NMMS Rajasthan 2021]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WhatsApp / Helpline: +91 91101 13671  |  वेबसाइट: sagarcoaching.tech  |  Slide 57 of 63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28. धातुओं को हथौड़े से पीटकर पतली चादर में बदलने का गुण क्या कहलाता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तन्यता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आघातवर्ध्यता (Malleability)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चालकता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पारदर्शिता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रसायन महामंथन PYQ #28  [NMMS Rajasthan 2021]  —  [उत्तर व व्याख्या]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WhatsApp / Helpline: +91 91101 13671  |  वेबसाइट: sagarcoaching.tech  |  Slide 58 of 63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28. धातुओं को हथौड़े से पीटकर पतली चादर में बदलने का गुण क्या कहलाता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(A)  तन्यता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DCFCE7"/>
          </a:solidFill>
          <a:ln w="381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(B)  आघातवर्ध्यता (Malleability)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(C)  चालकता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(D)  पारदर्शिता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4937760"/>
            <a:ext cx="11277295" cy="128016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09728"/>
          <a:lstStyle/>
          <a:p>
            <a:pPr algn="ctr">
              <a:defRPr sz="1550" b="1">
                <a:solidFill>
                  <a:srgbClr val="166534"/>
                </a:solidFill>
                <a:latin typeface="Segoe UI"/>
              </a:defRPr>
            </a:pPr>
            <a:r>
              <a:t>✅ सही उत्तर: विकल्प (B)</a:t>
            </a:r>
          </a:p>
          <a:p>
            <a:pPr>
              <a:spcBef>
                <a:spcPts val="400"/>
              </a:spcBef>
              <a:defRPr sz="1400" b="0">
                <a:solidFill>
                  <a:srgbClr val="1E293B"/>
                </a:solidFill>
                <a:latin typeface="Segoe UI"/>
              </a:defRPr>
            </a:pPr>
            <a:r>
              <a:t>💡 व्याख्या (Explanation): धातुओं को पीटकर चादर बनाने का गुण आघातवर्ध्यता कहलाता है (सोना व चांदी सर्वाधिक आघातवर्ध्य हैं)।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रसायन महामंथन PYQ #29  [NMMS Bihar 2021]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WhatsApp / Helpline: +91 91101 13671  |  वेबसाइट: sagarcoaching.tech  |  Slide 59 of 63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29. आग बुझाने वाले कर्मचारियों के कपड़ों पर अग्नि-अवरोधक बनाने हेतु किस प्लास्टिक की परत चढ़ाई जाती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मेलामाइन (Melamine)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पॉलीथीन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पीवीसी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टेफ्लॉन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रसायन महामंथन PYQ #29  [NMMS Bihar 2021]  —  [उत्तर व व्याख्या]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WhatsApp / Helpline: +91 91101 13671  |  वेबसाइट: sagarcoaching.tech  |  Slide 60 of 63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29. आग बुझाने वाले कर्मचारियों के कपड़ों पर अग्नि-अवरोधक बनाने हेतु किस प्लास्टिक की परत चढ़ाई जाती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DCFCE7"/>
          </a:solidFill>
          <a:ln w="381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(A)  मेलामाइन (Melamine)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(B)  पॉलीथीन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(C)  पीवीसी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(D)  टेफ्लॉन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4937760"/>
            <a:ext cx="11277295" cy="128016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09728"/>
          <a:lstStyle/>
          <a:p>
            <a:pPr algn="ctr">
              <a:defRPr sz="1550" b="1">
                <a:solidFill>
                  <a:srgbClr val="166534"/>
                </a:solidFill>
                <a:latin typeface="Segoe UI"/>
              </a:defRPr>
            </a:pPr>
            <a:r>
              <a:t>✅ सही उत्तर: विकल्प (A)</a:t>
            </a:r>
          </a:p>
          <a:p>
            <a:pPr>
              <a:spcBef>
                <a:spcPts val="400"/>
              </a:spcBef>
              <a:defRPr sz="1400" b="0">
                <a:solidFill>
                  <a:srgbClr val="1E293B"/>
                </a:solidFill>
                <a:latin typeface="Segoe UI"/>
              </a:defRPr>
            </a:pPr>
            <a:r>
              <a:t>💡 व्याख्या (Explanation): मेलामाइन आग का प्रतिरोध करता है तथा अन्य प्लास्टिक की तुलना में गर्मी सहन कर सकता है।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रसायन महामंथन PYQ #30  [NMMS All India 2022]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WhatsApp / Helpline: +91 91101 13671  |  वेबसाइट: sagarcoaching.tech  |  Slide 61 of 63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30. न चिपकने वाले (Non-stick) बर्तनों पर किस विशिष्ट प्लास्टिक की परत चढ़ाई जाती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रेयॉन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नायलॉन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टेफ्लॉन (Teflon)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बेकेलाइट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रसायन महामंथन PYQ #30  [NMMS All India 2022]  —  [उत्तर व व्याख्या]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WhatsApp / Helpline: +91 91101 13671  |  वेबसाइट: sagarcoaching.tech  |  Slide 62 of 63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30. न चिपकने वाले (Non-stick) बर्तनों पर किस विशिष्ट प्लास्टिक की परत चढ़ाई जाती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(A)  रेयॉन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(B)  नायलॉन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DCFCE7"/>
          </a:solidFill>
          <a:ln w="381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(C)  टेफ्लॉन (Teflon)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(D)  बेकेलाइट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4937760"/>
            <a:ext cx="11277295" cy="128016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09728"/>
          <a:lstStyle/>
          <a:p>
            <a:pPr algn="ctr">
              <a:defRPr sz="1550" b="1">
                <a:solidFill>
                  <a:srgbClr val="166534"/>
                </a:solidFill>
                <a:latin typeface="Segoe UI"/>
              </a:defRPr>
            </a:pPr>
            <a:r>
              <a:t>✅ सही उत्तर: विकल्प (C)</a:t>
            </a:r>
          </a:p>
          <a:p>
            <a:pPr>
              <a:spcBef>
                <a:spcPts val="400"/>
              </a:spcBef>
              <a:defRPr sz="1400" b="0">
                <a:solidFill>
                  <a:srgbClr val="1E293B"/>
                </a:solidFill>
                <a:latin typeface="Segoe UI"/>
              </a:defRPr>
            </a:pPr>
            <a:r>
              <a:t>💡 व्याख्या (Explanation): टेफ्लॉन पर तेल और जल नहीं चिपकते, अतः इसका उपयोग नॉन-स्टिक खाना पकाने के बर्तनों पर होता है।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रसायन महामंथन त्वरित सार (Chemistry Grand Master Key)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WhatsApp / Helpline: +91 91101 13671  |  वेबसाइट: sagarcoaching.tech  |  Slide 63 of 63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5120640"/>
          </a:xfrm>
          <a:prstGeom prst="roundRect">
            <a:avLst/>
          </a:prstGeom>
          <a:solidFill>
            <a:srgbClr val="FEF3C7"/>
          </a:solidFill>
          <a:ln w="254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0" tIns="320040"/>
          <a:lstStyle/>
          <a:p>
            <a:pPr algn="ctr">
              <a:defRPr sz="1900" b="1">
                <a:solidFill>
                  <a:srgbClr val="0F172A"/>
                </a:solidFill>
                <a:latin typeface="Segoe UI"/>
              </a:defRPr>
            </a:pPr>
            <a:r>
              <a:t>🔑 1-मिनट क्विक मेमोरी सूत्र (Revision Formulae):</a:t>
            </a:r>
          </a:p>
          <a:p>
            <a:pPr>
              <a:spcBef>
                <a:spcPts val="1200"/>
              </a:spcBef>
              <a:spcAft>
                <a:spcPts val="200"/>
              </a:spcAft>
              <a:defRPr sz="1600" b="1">
                <a:solidFill>
                  <a:srgbClr val="78350F"/>
                </a:solidFill>
                <a:latin typeface="Segoe UI"/>
              </a:defRPr>
            </a:pPr>
            <a:r>
              <a:t>⚡  द्रव अवस्था: द्रव धातु = पारा (Hg) | द्रव अधातु = ब्रोमीन (Br)</a:t>
            </a:r>
          </a:p>
          <a:p>
            <a:pPr>
              <a:spcBef>
                <a:spcPts val="1200"/>
              </a:spcBef>
              <a:spcAft>
                <a:spcPts val="200"/>
              </a:spcAft>
              <a:defRPr sz="1600" b="1">
                <a:solidFill>
                  <a:srgbClr val="78350F"/>
                </a:solidFill>
                <a:latin typeface="Segoe UI"/>
              </a:defRPr>
            </a:pPr>
            <a:r>
              <a:t>⚡  सुरक्षा भंडारण: सोडियम/पोटेशियम = मिट्टी का तेल (केरोसिन) | सफेद फास्फोरस = जल में</a:t>
            </a:r>
          </a:p>
          <a:p>
            <a:pPr>
              <a:spcBef>
                <a:spcPts val="1200"/>
              </a:spcBef>
              <a:spcAft>
                <a:spcPts val="200"/>
              </a:spcAft>
              <a:defRPr sz="1600" b="1">
                <a:solidFill>
                  <a:srgbClr val="78350F"/>
                </a:solidFill>
                <a:latin typeface="Segoe UI"/>
              </a:defRPr>
            </a:pPr>
            <a:r>
              <a:t>⚡  संश्लेषित बहुलक: प्रथम रेशा = नायलॉन (1931) | कृत्रिम रेशम = रेयॉन | नॉन-स्टिक बर्तन = टेफ्लॉन | स्विच = बेकेलाइट</a:t>
            </a:r>
          </a:p>
          <a:p>
            <a:pPr>
              <a:spcBef>
                <a:spcPts val="1200"/>
              </a:spcBef>
              <a:spcAft>
                <a:spcPts val="200"/>
              </a:spcAft>
              <a:defRPr sz="1600" b="1">
                <a:solidFill>
                  <a:srgbClr val="78350F"/>
                </a:solidFill>
                <a:latin typeface="Segoe UI"/>
              </a:defRPr>
            </a:pPr>
            <a:r>
              <a:t>⚡  ईंधन संक्षेप: सर्वोत्तम कैलोरी = हाइड्रोजन (1.5 लाख kJ/kg) | CNG = मीथेन (CH₄) | LPG = ब्यूटेन + प्रोपेन</a:t>
            </a:r>
          </a:p>
          <a:p>
            <a:pPr>
              <a:spcBef>
                <a:spcPts val="1200"/>
              </a:spcBef>
              <a:spcAft>
                <a:spcPts val="200"/>
              </a:spcAft>
              <a:defRPr sz="1600" b="1">
                <a:solidFill>
                  <a:srgbClr val="78350F"/>
                </a:solidFill>
                <a:latin typeface="Segoe UI"/>
              </a:defRPr>
            </a:pPr>
            <a:r>
              <a:t>⚡  ज्वाला व अग्निशमन: सबसे गर्म क्षेत्र = बाह्य नीला अदीप्त क्षेत्र | अग्निशामक गैस = CO₂ | चींटी डंक = फॉर्मिक अम्ल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