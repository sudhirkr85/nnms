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05 • भौतिक विज्ञान (Physics Special)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ऊष्मा, ताप एवं ऊष्मा स्थानांतरण</a:t>
            </a:r>
          </a:p>
          <a:p>
            <a:pPr algn="ctr">
              <a:spcBef>
                <a:spcPts val="400"/>
              </a:spcBef>
              <a:defRPr sz="1500">
                <a:solidFill>
                  <a:srgbClr val="CBD5E1"/>
                </a:solidFill>
                <a:latin typeface="Segoe UI"/>
              </a:defRPr>
            </a:pPr>
            <a:r>
              <a:t>Heat, Temperature Measurement, Clinical/Laboratory Thermometer &amp; Conduction, Convection, Radiation</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ऊष्मा व तापमान की परिभाषा एवं पैमाने (°C, °F, K)</a:t>
            </a:r>
          </a:p>
          <a:p>
            <a:pPr>
              <a:spcBef>
                <a:spcPts val="200"/>
              </a:spcBef>
              <a:defRPr sz="1200">
                <a:solidFill>
                  <a:srgbClr val="FFFFFF"/>
                </a:solidFill>
                <a:latin typeface="Segoe UI"/>
              </a:defRPr>
            </a:pPr>
            <a:r>
              <a:t>  ✓  डॉक्टरी थर्मामीटर (35°C - 42°C) व शरीर का सामान्य ताप (37°C / 98.6°F)</a:t>
            </a:r>
          </a:p>
          <a:p>
            <a:pPr>
              <a:spcBef>
                <a:spcPts val="200"/>
              </a:spcBef>
              <a:defRPr sz="1200">
                <a:solidFill>
                  <a:srgbClr val="FFFFFF"/>
                </a:solidFill>
                <a:latin typeface="Segoe UI"/>
              </a:defRPr>
            </a:pPr>
            <a:r>
              <a:t>  ✓  ऊष्मा का चालन (Conduction): सुचालक व कुचालक</a:t>
            </a:r>
          </a:p>
          <a:p>
            <a:pPr>
              <a:spcBef>
                <a:spcPts val="200"/>
              </a:spcBef>
              <a:defRPr sz="1200">
                <a:solidFill>
                  <a:srgbClr val="FFFFFF"/>
                </a:solidFill>
                <a:latin typeface="Segoe UI"/>
              </a:defRPr>
            </a:pPr>
            <a:r>
              <a:t>  ✓  संवहन (Convection): समुद्री समीर व थल समीर</a:t>
            </a:r>
          </a:p>
          <a:p>
            <a:pPr>
              <a:spcBef>
                <a:spcPts val="200"/>
              </a:spcBef>
              <a:defRPr sz="1200">
                <a:solidFill>
                  <a:srgbClr val="FFFFFF"/>
                </a:solidFill>
                <a:latin typeface="Segoe UI"/>
              </a:defRPr>
            </a:pPr>
            <a:r>
              <a:t>  ✓  विकिरण (Radiation) व काले/सफेद कपड़ों का विज्ञान</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05: ऊष्मा, तापमान एवं डॉक्टरी तापमापी (Thermometers)</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तापमान (Temperature): किसी वस्तु के गर्माहट या ठंडेपन की विश्वसनीय माप तापमान कहलाती है। ताप का SI मात्रक 'केल्विन' (K) है।</a:t>
            </a:r>
          </a:p>
          <a:p>
            <a:pPr>
              <a:spcBef>
                <a:spcPts val="900"/>
              </a:spcBef>
              <a:spcAft>
                <a:spcPts val="200"/>
              </a:spcAft>
              <a:defRPr sz="1500">
                <a:solidFill>
                  <a:srgbClr val="1E293B"/>
                </a:solidFill>
                <a:latin typeface="Segoe UI"/>
              </a:defRPr>
            </a:pPr>
            <a:r>
              <a:t>•  डॉक्टरी थर्मामीटर (Clinical Thermometer):</a:t>
            </a:r>
          </a:p>
          <a:p>
            <a:pPr>
              <a:spcBef>
                <a:spcPts val="900"/>
              </a:spcBef>
              <a:spcAft>
                <a:spcPts val="200"/>
              </a:spcAft>
              <a:defRPr sz="1500">
                <a:solidFill>
                  <a:srgbClr val="1E293B"/>
                </a:solidFill>
                <a:latin typeface="Segoe UI"/>
              </a:defRPr>
            </a:pPr>
            <a:r>
              <a:t>•    • केवल मानव शरीर का तापमान मापने के लिए डिजाइन किया गया है।</a:t>
            </a:r>
          </a:p>
          <a:p>
            <a:pPr>
              <a:spcBef>
                <a:spcPts val="900"/>
              </a:spcBef>
              <a:spcAft>
                <a:spcPts val="200"/>
              </a:spcAft>
              <a:defRPr sz="1500">
                <a:solidFill>
                  <a:srgbClr val="1E293B"/>
                </a:solidFill>
                <a:latin typeface="Segoe UI"/>
              </a:defRPr>
            </a:pPr>
            <a:r>
              <a:t>•    • परास (Range): 35°C से 42°C (या 94°F से 108°F)।</a:t>
            </a:r>
          </a:p>
          <a:p>
            <a:pPr>
              <a:spcBef>
                <a:spcPts val="900"/>
              </a:spcBef>
              <a:spcAft>
                <a:spcPts val="200"/>
              </a:spcAft>
              <a:defRPr sz="1500">
                <a:solidFill>
                  <a:srgbClr val="1E293B"/>
                </a:solidFill>
                <a:latin typeface="Segoe UI"/>
              </a:defRPr>
            </a:pPr>
            <a:r>
              <a:t>•    • मानव शरीर का सामान्य तापमान 37°C (या 98.6°F) होता है।</a:t>
            </a:r>
          </a:p>
          <a:p>
            <a:pPr>
              <a:spcBef>
                <a:spcPts val="900"/>
              </a:spcBef>
              <a:spcAft>
                <a:spcPts val="200"/>
              </a:spcAft>
              <a:defRPr sz="1500">
                <a:solidFill>
                  <a:srgbClr val="1E293B"/>
                </a:solidFill>
                <a:latin typeface="Segoe UI"/>
              </a:defRPr>
            </a:pPr>
            <a:r>
              <a:t>•    • इसमें पारा (Mercury) भरा होता है और बल्ब के पास एक 'किंक' (विभंग) होता है जो पारे को अपने आप नीचे गिरने से रोकता है।</a:t>
            </a:r>
          </a:p>
          <a:p>
            <a:pPr>
              <a:spcBef>
                <a:spcPts val="900"/>
              </a:spcBef>
              <a:spcAft>
                <a:spcPts val="200"/>
              </a:spcAft>
              <a:defRPr sz="1500">
                <a:solidFill>
                  <a:srgbClr val="1E293B"/>
                </a:solidFill>
                <a:latin typeface="Segoe UI"/>
              </a:defRPr>
            </a:pPr>
            <a:r>
              <a:t>•  प्रयोगशाला थर्मामीटर (Laboratory Thermometer):</a:t>
            </a:r>
          </a:p>
          <a:p>
            <a:pPr>
              <a:spcBef>
                <a:spcPts val="900"/>
              </a:spcBef>
              <a:spcAft>
                <a:spcPts val="200"/>
              </a:spcAft>
              <a:defRPr sz="1500">
                <a:solidFill>
                  <a:srgbClr val="1E293B"/>
                </a:solidFill>
                <a:latin typeface="Segoe UI"/>
              </a:defRPr>
            </a:pPr>
            <a:r>
              <a:t>•    • विभिन्न पदार्थों का तापमान मापने हेतु; परास सामान्यतः -10°C से 110°C तक होती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05: ऊष्मा स्थानांतरण की तीन प्रमुख विधियां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ऊष्मा हमेशा 'उच्च तापमान से निम्न तापमान' (गर्म वस्तु से ठंडी वस्तु) की ओर प्रवाहित होती है।</a:t>
            </a:r>
          </a:p>
          <a:p>
            <a:pPr>
              <a:spcBef>
                <a:spcPts val="900"/>
              </a:spcBef>
              <a:spcAft>
                <a:spcPts val="200"/>
              </a:spcAft>
              <a:defRPr sz="1500">
                <a:solidFill>
                  <a:srgbClr val="1E293B"/>
                </a:solidFill>
                <a:latin typeface="Segoe UI"/>
              </a:defRPr>
            </a:pPr>
            <a:r>
              <a:t>•  1. चालन (Conduction):</a:t>
            </a:r>
          </a:p>
          <a:p>
            <a:pPr>
              <a:spcBef>
                <a:spcPts val="900"/>
              </a:spcBef>
              <a:spcAft>
                <a:spcPts val="200"/>
              </a:spcAft>
              <a:defRPr sz="1500">
                <a:solidFill>
                  <a:srgbClr val="1E293B"/>
                </a:solidFill>
                <a:latin typeface="Segoe UI"/>
              </a:defRPr>
            </a:pPr>
            <a:r>
              <a:t>•    • ठोस पदार्थों में ऊष्मा एक कण से दूसरे कण में बिना कणों के स्थान छोड़े स्थानांतरित होती है (जैसे चम्मच का गर्म होना)।</a:t>
            </a:r>
          </a:p>
          <a:p>
            <a:pPr>
              <a:spcBef>
                <a:spcPts val="900"/>
              </a:spcBef>
              <a:spcAft>
                <a:spcPts val="200"/>
              </a:spcAft>
              <a:defRPr sz="1500">
                <a:solidFill>
                  <a:srgbClr val="1E293B"/>
                </a:solidFill>
                <a:latin typeface="Segoe UI"/>
              </a:defRPr>
            </a:pPr>
            <a:r>
              <a:t>•    • ऊष्मा के सुचालक: लोहा, तांबा, एल्युमिनियम।</a:t>
            </a:r>
          </a:p>
          <a:p>
            <a:pPr>
              <a:spcBef>
                <a:spcPts val="900"/>
              </a:spcBef>
              <a:spcAft>
                <a:spcPts val="200"/>
              </a:spcAft>
              <a:defRPr sz="1500">
                <a:solidFill>
                  <a:srgbClr val="1E293B"/>
                </a:solidFill>
                <a:latin typeface="Segoe UI"/>
              </a:defRPr>
            </a:pPr>
            <a:r>
              <a:t>•    • ऊष्मा के कुचालक (ऊष्मारोधी): लकड़ी, प्लास्टिक, कांच, रबर, हवा और पानी।</a:t>
            </a:r>
          </a:p>
          <a:p>
            <a:pPr>
              <a:spcBef>
                <a:spcPts val="900"/>
              </a:spcBef>
              <a:spcAft>
                <a:spcPts val="200"/>
              </a:spcAft>
              <a:defRPr sz="1500">
                <a:solidFill>
                  <a:srgbClr val="1E293B"/>
                </a:solidFill>
                <a:latin typeface="Segoe UI"/>
              </a:defRPr>
            </a:pPr>
            <a:r>
              <a:t>•  2. संवहन (Convection):</a:t>
            </a:r>
          </a:p>
          <a:p>
            <a:pPr>
              <a:spcBef>
                <a:spcPts val="900"/>
              </a:spcBef>
              <a:spcAft>
                <a:spcPts val="200"/>
              </a:spcAft>
              <a:defRPr sz="1500">
                <a:solidFill>
                  <a:srgbClr val="1E293B"/>
                </a:solidFill>
                <a:latin typeface="Segoe UI"/>
              </a:defRPr>
            </a:pPr>
            <a:r>
              <a:t>•    • द्रवों एवं गैसों में कण स्वयं ऊष्मा लेकर ऊपर उठते हैं और ठंडे कण नीचे आते हैं (जैसे पानी का उबलना)।</a:t>
            </a:r>
          </a:p>
          <a:p>
            <a:pPr>
              <a:spcBef>
                <a:spcPts val="900"/>
              </a:spcBef>
              <a:spcAft>
                <a:spcPts val="200"/>
              </a:spcAft>
              <a:defRPr sz="1500">
                <a:solidFill>
                  <a:srgbClr val="1E293B"/>
                </a:solidFill>
                <a:latin typeface="Segoe UI"/>
              </a:defRPr>
            </a:pPr>
            <a:r>
              <a:t>•  3. विकिरण (Radiation):</a:t>
            </a:r>
          </a:p>
          <a:p>
            <a:pPr>
              <a:spcBef>
                <a:spcPts val="900"/>
              </a:spcBef>
              <a:spcAft>
                <a:spcPts val="200"/>
              </a:spcAft>
              <a:defRPr sz="1500">
                <a:solidFill>
                  <a:srgbClr val="1E293B"/>
                </a:solidFill>
                <a:latin typeface="Segoe UI"/>
              </a:defRPr>
            </a:pPr>
            <a:r>
              <a:t>•    • ऊष्मा स्थानांतरण की वह विधि जिसमें किसी माध्यम की आवश्यकता नहीं होती। सूर्य की ऊष्मा पृथ्वी तक विकिरण द्वारा ही पहुंचती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05: समुद्री समीर, थल समीर एवं कपड़ों का चयन</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4 of 37</a:t>
            </a:r>
          </a:p>
        </p:txBody>
      </p:sp>
      <p:sp>
        <p:nvSpPr>
          <p:cNvPr id="6" name="Rounded Rectangle 5"/>
          <p:cNvSpPr/>
          <p:nvPr/>
        </p:nvSpPr>
        <p:spPr>
          <a:xfrm>
            <a:off x="457200" y="1097280"/>
            <a:ext cx="11277295" cy="51206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rIns="457200"/>
          <a:lstStyle/>
          <a:p>
            <a:pPr algn="ctr">
              <a:defRPr sz="1800" b="1">
                <a:solidFill>
                  <a:srgbClr val="0F172A"/>
                </a:solidFill>
                <a:latin typeface="Segoe UI"/>
              </a:defRPr>
            </a:pPr>
            <a:r>
              <a:t>📖 मुख्य वैज्ञानिक तथ्य एवं सिद्धांत (Key Concepts &amp; Exam Notes):</a:t>
            </a:r>
          </a:p>
          <a:p>
            <a:pPr>
              <a:spcBef>
                <a:spcPts val="900"/>
              </a:spcBef>
              <a:spcAft>
                <a:spcPts val="200"/>
              </a:spcAft>
              <a:defRPr sz="1500">
                <a:solidFill>
                  <a:srgbClr val="1E293B"/>
                </a:solidFill>
                <a:latin typeface="Segoe UI"/>
              </a:defRPr>
            </a:pPr>
            <a:r>
              <a:t>•  समुद्री समीर (Sea Breeze): दिन के समय स्थल (भूमि) जल की अपेक्षा तेजी से गर्म होता है। स्थल की गर्म हवा ऊपर उठती है और समुद्र की ठंडी हवा स्थल की ओर बहती है।</a:t>
            </a:r>
          </a:p>
          <a:p>
            <a:pPr>
              <a:spcBef>
                <a:spcPts val="900"/>
              </a:spcBef>
              <a:spcAft>
                <a:spcPts val="200"/>
              </a:spcAft>
              <a:defRPr sz="1500">
                <a:solidFill>
                  <a:srgbClr val="1E293B"/>
                </a:solidFill>
                <a:latin typeface="Segoe UI"/>
              </a:defRPr>
            </a:pPr>
            <a:r>
              <a:t>•  थल समीर (Land Breeze): रात के समय स्थल समुद्र की अपेक्षा तेजी से ठंडा होता है। समुद्र के ऊपर की गर्म हवा ऊपर उठती है और स्थल की ठंडी हवा समुद्र की ओर बहती है।</a:t>
            </a:r>
          </a:p>
          <a:p>
            <a:pPr>
              <a:spcBef>
                <a:spcPts val="900"/>
              </a:spcBef>
              <a:spcAft>
                <a:spcPts val="200"/>
              </a:spcAft>
              <a:defRPr sz="1500">
                <a:solidFill>
                  <a:srgbClr val="1E293B"/>
                </a:solidFill>
                <a:latin typeface="Segoe UI"/>
              </a:defRPr>
            </a:pPr>
            <a:r>
              <a:t>•  गर्मियों में हल्के रंग के वस्त्र: सफेद या हल्के रंग के कपड़े ऊष्मा का अधिकांश भाग परावर्तित कर देते हैं, जिससे ठंडक रहती है।</a:t>
            </a:r>
          </a:p>
          <a:p>
            <a:pPr>
              <a:spcBef>
                <a:spcPts val="900"/>
              </a:spcBef>
              <a:spcAft>
                <a:spcPts val="200"/>
              </a:spcAft>
              <a:defRPr sz="1500">
                <a:solidFill>
                  <a:srgbClr val="1E293B"/>
                </a:solidFill>
                <a:latin typeface="Segoe UI"/>
              </a:defRPr>
            </a:pPr>
            <a:r>
              <a:t>•  सर्दियों में गहरे रंग व ऊनी वस्त्र: गहरे रंग ऊष्मा अवशोषित करते हैं। ऊन के रेशों के बीच हवा (जो ऊष्मा की कुचालक है) फंस जाती है, जो शरीर की गर्मी को बाहर निकलने से रोकती है।</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स्वस्थ मानव शरीर का सामान्य तापमान कितना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35°C</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37°C (या 98.6°F)</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40°C</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98.6°C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  [UP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 स्वस्थ मानव शरीर का सामान्य तापमान कितना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35°C</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37°C (या 98.6°F)</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40°C</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98.6°C</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सेल्सियस पैमाने पर 37°C तथा फारेनहाइट पैमाने पर 98.6°F सामान्य शरीर ताप 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डॉक्टरी थर्मामीटर (Clinical Thermometer) का पाठ्यांक परास (रेंज) क्या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0°C से 100°C</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35°C से 42°C</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-10°C से 110°C</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32°F से 212°F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#2  [Bihar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2. डॉक्टरी थर्मामीटर (Clinical Thermometer) का पाठ्यांक परास (रेंज) क्या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0°C से 100°C</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35°C से 42°C</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-10°C से 110°C</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32°F से 212°F</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मानव शरीर का तापमान 35°C से नीचे या 42°C से ऊपर नहीं जाता, इसलिए यह 35°C-42°C होता है।</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सूर्य की ऊष्मा पृथ्वी तक किस विधि द्वारा पहुंचती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चालन द्वारा</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संवहन द्वारा</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विकिरण (Radiation) द्वारा</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विसरण द्वारा</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#3  [Rajasthan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3. सूर्य की ऊष्मा पृथ्वी तक किस विधि द्वारा पहुंचती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चालन द्वारा</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संवहन द्वारा</a:t>
            </a:r>
          </a:p>
        </p:txBody>
      </p:sp>
      <p:sp>
        <p:nvSpPr>
          <p:cNvPr id="9" name="Rounded Rectangle 8"/>
          <p:cNvSpPr/>
          <p:nvPr/>
        </p:nvSpPr>
        <p:spPr>
          <a:xfrm>
            <a:off x="457200" y="3794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(C)  विकिरण (Radiation) द्वारा</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विसरण द्वारा</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(C)</a:t>
            </a:r>
          </a:p>
          <a:p>
            <a:pPr>
              <a:spcBef>
                <a:spcPts val="400"/>
              </a:spcBef>
              <a:defRPr sz="1400" b="0">
                <a:solidFill>
                  <a:srgbClr val="1E293B"/>
                </a:solidFill>
                <a:latin typeface="Segoe UI"/>
              </a:defRPr>
            </a:pPr>
            <a:r>
              <a:t>💡 व्याख्या (Explanation): अंतरिक्ष में कोई माध्यम नहीं है, अतः निर्वात से ऊष्मा केवल विकिरण द्वारा ही आ सकती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ठोस पदार्थों (जैसे लोहे की छड़) में ऊष्मा का स्थानांतरण मुख्य रूप से किस विधि से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चालन (Conduction)</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संवहन</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विकिरण</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वाष्पीकरण</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#4  [MP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4. ठोस पदार्थों (जैसे लोहे की छड़) में ऊष्मा का स्थानांतरण मुख्य रूप से किस विधि से होता है?</a:t>
            </a:r>
          </a:p>
        </p:txBody>
      </p:sp>
      <p:sp>
        <p:nvSpPr>
          <p:cNvPr id="7" name="Rounded Rectangle 6"/>
          <p:cNvSpPr/>
          <p:nvPr/>
        </p:nvSpPr>
        <p:spPr>
          <a:xfrm>
            <a:off x="457200"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(A)  चालन (Conduction)</a:t>
            </a:r>
          </a:p>
        </p:txBody>
      </p:sp>
      <p:sp>
        <p:nvSpPr>
          <p:cNvPr id="8" name="Rounded Rectangle 7"/>
          <p:cNvSpPr/>
          <p:nvPr/>
        </p:nvSpPr>
        <p:spPr>
          <a:xfrm>
            <a:off x="6291072"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(B)  संवहन</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विकिरण</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वाष्पीकरण</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(A)</a:t>
            </a:r>
          </a:p>
          <a:p>
            <a:pPr>
              <a:spcBef>
                <a:spcPts val="400"/>
              </a:spcBef>
              <a:defRPr sz="1400" b="0">
                <a:solidFill>
                  <a:srgbClr val="1E293B"/>
                </a:solidFill>
                <a:latin typeface="Segoe UI"/>
              </a:defRPr>
            </a:pPr>
            <a:r>
              <a:t>💡 व्याख्या (Explanation): ठोसों में कण अपनी जगह पर रहकर पास वाले कण को ऊष्मा देते हैं जिसे चालन कहते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थर्मामीटर में पारे (Mercury) का उपयोग क्यों किया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पारा पारदर्शी होता है</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पारा कांच से चिपकता नहीं और ऊष्मा का सुचालक है</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पारा बहुत सस्ता है</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पारा जम जाता है</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#5  [Haryana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5. थर्मामीटर में पारे (Mercury) का उपयोग क्यों किया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पारा पारदर्शी होता है</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पारा कांच से चिपकता नहीं और ऊष्मा का सुचालक है</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पारा बहुत सस्ता है</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पारा जम जाता है</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पारा एक चमकीली तरल धातु है जो कांच से नहीं चिपकती और ताप के साथ समान रूप से फैलती 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तटीय क्षेत्रों में दिन के समय समुद्र से स्थल की ओर चलने वाली ठंडी हवा को क्या कहते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थल समीर</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समुद्री समीर (Sea Breeze)</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लू</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चक्रवात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#6  [Bihar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6. तटीय क्षेत्रों में दिन के समय समुद्र से स्थल की ओर चलने वाली ठंडी हवा को क्या कहते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थल समीर</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समुद्री समीर (Sea Breeze)</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लू</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चक्रवात</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दिन में जमीन तेजी से गर्म होकर निम्न दाब बनाती है जिससे समुद्र से ठंडी हवा जमीन की ओर आती 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सर्दियों में ऊनी कपड़े हमें गर्म क्यों रखते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ऊन बहुत गर्म धातु है</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ऊन के रेशों में फंसी वायु ऊष्मा की कुचालक होती है</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ऊन शरीर से ऊष्मा सोखता है</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ऊन से पसीना निकलता है</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#7  [UP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7. सर्दियों में ऊनी कपड़े हमें गर्म क्यों रखते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ऊन बहुत गर्म धातु है</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ऊन के रेशों में फंसी वायु ऊष्मा की कुचालक होती है</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ऊन शरीर से ऊष्मा सोखता है</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ऊन से पसीना निकलता है</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हवा ऊष्मा की दुर्बल चालक है जो शरीर की ऊष्मा को बाहर वातावरण में जाने से रोकती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19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तापमान (Temperature) का अंतर्राष्ट्रीय मानक (SI) मात्रक क्या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डिग्री सेल्सियस (°C)</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केल्विन (Kelvin / K)</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फारेनहाइट (°F)</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कैलोरी</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#8  [Delhi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8. तापमान (Temperature) का अंतर्राष्ट्रीय मानक (SI) मात्रक क्या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डिग्री सेल्सियस (°C)</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केल्विन (Kelvin / K)</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फारेनहाइट (°F)</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कैलोरी</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तापमान का SI मात्रक केल्विन (K) है (0°C = 273.15 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खाना पकाने के बर्तनों के हैंडल लकड़ी या बैकेलाइट प्लास्टिक के क्यों बनाए जाते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सुंदरता हेतु</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क्योंकि लकड़ी व प्लास्टिक ऊष्मा के कुचालक हैं</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सस्ता होने से</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हल्का करने हेतु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#9  [Maharashtra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9. खाना पकाने के बर्तनों के हैंडल लकड़ी या बैकेलाइट प्लास्टिक के क्यों बनाए जाते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सुंदरता हेतु</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क्योंकि लकड़ी व प्लास्टिक ऊष्मा के कुचालक हैं</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सस्ता होने से</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हल्का करने हेतु</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कुचालक होने से गर्म बर्तन का हैंडल पकड़ने पर हाथ नहीं जलता।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द्रवों और गैसों में ऊष्मा का स्थानांतरण मुख्य रूप से किस विधि द्वारा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चालन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संवहन (Convection)</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विकिरण</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चुंबकत्व</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#10  [Rajasthan NMMS 2023]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10. द्रवों और गैसों में ऊष्मा का स्थानांतरण मुख्य रूप से किस विधि द्वारा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चालन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संवहन (Convection)</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विकिरण</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चुंबकत्व</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द्रवों में गर्म कण हल्के होकर ऊपर उठते हैं और ठंडे कण नीचे आते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25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प्रयोगशाला थर्मामीटर (Laboratory Thermometer) का सामान्य तापमान परास कितना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35°C से 42°C</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-10°C से 110°C</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0°C से 50°C</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-50°C से 200°C</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#11  [MP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26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11. प्रयोगशाला थर्मामीटर (Laboratory Thermometer) का सामान्य तापमान परास कितना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35°C से 42°C</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-10°C से 110°C</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0°C से 50°C</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-50°C से 200°C</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प्रयोगशाला में विभिन्न प्रयोगों हेतु ताप परास -10°C से 110°C रखी जाती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27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काली या गहरे रंग की सतहें सफेद सतहों की तुलना में ऊष्मा को —</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कम अवशोषित करती हैं</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अधिक अवशोषित करती हैं</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पूरी तरह लौटा देती हैं</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ठंडी रखती हैं</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#12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28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12. काली या गहरे रंग की सतहें सफेद सतहों की तुलना में ऊष्मा को —</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कम अवशोषित करती हैं</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अधिक अवशोषित करती हैं</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पूरी तरह लौटा देती हैं</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ठंडी रखती हैं</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काले रंग की वस्तुएं ऊष्मा की अच्छी अवशोषक और अच्छी उत्सर्जक होती 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29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डॉक्टरी थर्मामीटर में बल्ब के ठीक ऊपर बने संकरे मोड़ (Kink) का क्या कार्य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दबाव बढ़ाना</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पारे के तल को अपने आप गिरने से रोकना</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पारे को गर्म करना</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बल्ब को मजबूत करना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#13  [Bihar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30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13. डॉक्टरी थर्मामीटर में बल्ब के ठीक ऊपर बने संकरे मोड़ (Kink) का क्या कार्य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दबाव बढ़ाना</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पारे के तल को अपने आप गिरने से रोकना</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पारे को गर्म करना</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बल्ब को मजबूत करना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किंक पारे को मुंह से बाहर निकालने पर भी तुरंत गिरने नहीं देता जिससे सही माप ली जा सके।</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31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जल का क्वथनांक (उबलने का तापमान) सामान्य वायुमंडलीय दाब पर कितना होता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0°C</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100°C (373 K)</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37°C</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212°C</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#14  [UP NMMS 2022]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32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14. जल का क्वथनांक (उबलने का तापमान) सामान्य वायुमंडलीय दाब पर कितना होता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0°C</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100°C (373 K)</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37°C</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212°C</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जल 100°C पर उबलकर वाष्प में बदलता है और 0°C पर जमकर बर्फ बनता है (हिमांक)।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33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ऊष्मा (Heat) का SI मात्रक निम्नलिखित में से कौन सा है?</a:t>
            </a:r>
          </a:p>
        </p:txBody>
      </p:sp>
      <p:sp>
        <p:nvSpPr>
          <p:cNvPr id="7" name="Rounded Rectangle 6"/>
          <p:cNvSpPr/>
          <p:nvPr/>
        </p:nvSpPr>
        <p:spPr>
          <a:xfrm>
            <a:off x="457200"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(A)  कैलोरी</a:t>
            </a:r>
          </a:p>
        </p:txBody>
      </p:sp>
      <p:sp>
        <p:nvSpPr>
          <p:cNvPr id="8" name="Rounded Rectangle 7"/>
          <p:cNvSpPr/>
          <p:nvPr/>
        </p:nvSpPr>
        <p:spPr>
          <a:xfrm>
            <a:off x="6291072" y="2651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(B)  जूल (Joule / J)</a:t>
            </a:r>
          </a:p>
        </p:txBody>
      </p:sp>
      <p:sp>
        <p:nvSpPr>
          <p:cNvPr id="9" name="Rounded Rectangle 8"/>
          <p:cNvSpPr/>
          <p:nvPr/>
        </p:nvSpPr>
        <p:spPr>
          <a:xfrm>
            <a:off x="457200"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(C)  वाट</a:t>
            </a:r>
          </a:p>
        </p:txBody>
      </p:sp>
      <p:sp>
        <p:nvSpPr>
          <p:cNvPr id="10" name="Rounded Rectangle 9"/>
          <p:cNvSpPr/>
          <p:nvPr/>
        </p:nvSpPr>
        <p:spPr>
          <a:xfrm>
            <a:off x="6291072" y="3794760"/>
            <a:ext cx="5440680" cy="100584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E293B"/>
                </a:solidFill>
                <a:latin typeface="Segoe UI"/>
              </a:defRPr>
            </a:pPr>
            <a:r>
              <a:t>(D)  न्यूटन</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PYQ अभ्यास प्रश्न #15  [All India NMMS 2024]  —  [उत्तर व व्याख्या]</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34 of 37</a:t>
            </a:r>
          </a:p>
        </p:txBody>
      </p:sp>
      <p:sp>
        <p:nvSpPr>
          <p:cNvPr id="6" name="Rounded Rectangle 5"/>
          <p:cNvSpPr/>
          <p:nvPr/>
        </p:nvSpPr>
        <p:spPr>
          <a:xfrm>
            <a:off x="457200" y="1097280"/>
            <a:ext cx="11277295" cy="137160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0F172A"/>
                </a:solidFill>
                <a:latin typeface="Segoe UI"/>
              </a:defRPr>
            </a:pPr>
            <a:r>
              <a:t>प्र. 15. ऊष्मा (Heat) का SI मात्रक निम्नलिखित में से कौन सा है?</a:t>
            </a:r>
          </a:p>
        </p:txBody>
      </p:sp>
      <p:sp>
        <p:nvSpPr>
          <p:cNvPr id="7" name="Rounded Rectangle 6"/>
          <p:cNvSpPr/>
          <p:nvPr/>
        </p:nvSpPr>
        <p:spPr>
          <a:xfrm>
            <a:off x="457200" y="2651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(A)  कैलोरी</a:t>
            </a:r>
          </a:p>
        </p:txBody>
      </p:sp>
      <p:sp>
        <p:nvSpPr>
          <p:cNvPr id="8" name="Rounded Rectangle 7"/>
          <p:cNvSpPr/>
          <p:nvPr/>
        </p:nvSpPr>
        <p:spPr>
          <a:xfrm>
            <a:off x="6291072" y="2651760"/>
            <a:ext cx="5440680" cy="1005840"/>
          </a:xfrm>
          <a:prstGeom prst="roundRect">
            <a:avLst/>
          </a:prstGeom>
          <a:solidFill>
            <a:srgbClr val="DCFCE7"/>
          </a:solidFill>
          <a:ln w="381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(B)  जूल (Joule / J)</a:t>
            </a:r>
          </a:p>
        </p:txBody>
      </p:sp>
      <p:sp>
        <p:nvSpPr>
          <p:cNvPr id="9" name="Rounded Rectangle 8"/>
          <p:cNvSpPr/>
          <p:nvPr/>
        </p:nvSpPr>
        <p:spPr>
          <a:xfrm>
            <a:off x="457200"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(C)  वाट</a:t>
            </a:r>
          </a:p>
        </p:txBody>
      </p:sp>
      <p:sp>
        <p:nvSpPr>
          <p:cNvPr id="10" name="Rounded Rectangle 9"/>
          <p:cNvSpPr/>
          <p:nvPr/>
        </p:nvSpPr>
        <p:spPr>
          <a:xfrm>
            <a:off x="6291072" y="3794760"/>
            <a:ext cx="5440680" cy="10058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94A3B8"/>
                </a:solidFill>
                <a:latin typeface="Segoe UI"/>
              </a:defRPr>
            </a:pPr>
            <a:r>
              <a:t>(D)  न्यूटन</a:t>
            </a:r>
          </a:p>
        </p:txBody>
      </p:sp>
      <p:sp>
        <p:nvSpPr>
          <p:cNvPr id="11" name="Rounded Rectangle 10"/>
          <p:cNvSpPr/>
          <p:nvPr/>
        </p:nvSpPr>
        <p:spPr>
          <a:xfrm>
            <a:off x="457200" y="4937760"/>
            <a:ext cx="11277295" cy="1280160"/>
          </a:xfrm>
          <a:prstGeom prst="roundRect">
            <a:avLst/>
          </a:prstGeom>
          <a:solidFill>
            <a:srgbClr val="FEF3C7"/>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274320" tIns="109728"/>
          <a:lstStyle/>
          <a:p>
            <a:pPr algn="ctr">
              <a:defRPr sz="1550" b="1">
                <a:solidFill>
                  <a:srgbClr val="166534"/>
                </a:solidFill>
                <a:latin typeface="Segoe UI"/>
              </a:defRPr>
            </a:pPr>
            <a:r>
              <a:t>✅ सही उत्तर: विकल्प (B)</a:t>
            </a:r>
          </a:p>
          <a:p>
            <a:pPr>
              <a:spcBef>
                <a:spcPts val="400"/>
              </a:spcBef>
              <a:defRPr sz="1400" b="0">
                <a:solidFill>
                  <a:srgbClr val="1E293B"/>
                </a:solidFill>
                <a:latin typeface="Segoe UI"/>
              </a:defRPr>
            </a:pPr>
            <a:r>
              <a:t>💡 व्याख्या (Explanation): ऊष्मा ऊर्जा का ही एक रूप है और ऊर्जा का SI मात्रक 'जूल' होता 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कक्षा 05: सागर सर की 1-मिनट मेमोरी चाबी (ऊष्मा सूत्र)</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35 of 37</a:t>
            </a:r>
          </a:p>
        </p:txBody>
      </p:sp>
      <p:sp>
        <p:nvSpPr>
          <p:cNvPr id="6" name="Rounded Rectangle 5"/>
          <p:cNvSpPr/>
          <p:nvPr/>
        </p:nvSpPr>
        <p:spPr>
          <a:xfrm>
            <a:off x="457200" y="1097280"/>
            <a:ext cx="11277295" cy="5120640"/>
          </a:xfrm>
          <a:prstGeom prst="roundRect">
            <a:avLst/>
          </a:prstGeom>
          <a:solidFill>
            <a:srgbClr val="FEF3C7"/>
          </a:solidFill>
          <a:ln w="254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1-मिनट क्विक मेमोरी सूत्र (Revision Formulae):</a:t>
            </a:r>
          </a:p>
          <a:p>
            <a:pPr>
              <a:spcBef>
                <a:spcPts val="1200"/>
              </a:spcBef>
              <a:spcAft>
                <a:spcPts val="200"/>
              </a:spcAft>
              <a:defRPr sz="1600" b="1">
                <a:solidFill>
                  <a:srgbClr val="78350F"/>
                </a:solidFill>
                <a:latin typeface="Segoe UI"/>
              </a:defRPr>
            </a:pPr>
            <a:r>
              <a:t>⚡  सामान्य शरीर ताप = 37°C = 98.6°F | SI मात्रक = केल्विन (K)</a:t>
            </a:r>
          </a:p>
          <a:p>
            <a:pPr>
              <a:spcBef>
                <a:spcPts val="1200"/>
              </a:spcBef>
              <a:spcAft>
                <a:spcPts val="200"/>
              </a:spcAft>
              <a:defRPr sz="1600" b="1">
                <a:solidFill>
                  <a:srgbClr val="78350F"/>
                </a:solidFill>
                <a:latin typeface="Segoe UI"/>
              </a:defRPr>
            </a:pPr>
            <a:r>
              <a:t>⚡  डॉक्टरी थर्मामीटर = 35°C से 42°C (किंक युक्त पारा)</a:t>
            </a:r>
          </a:p>
          <a:p>
            <a:pPr>
              <a:spcBef>
                <a:spcPts val="1200"/>
              </a:spcBef>
              <a:spcAft>
                <a:spcPts val="200"/>
              </a:spcAft>
              <a:defRPr sz="1600" b="1">
                <a:solidFill>
                  <a:srgbClr val="78350F"/>
                </a:solidFill>
                <a:latin typeface="Segoe UI"/>
              </a:defRPr>
            </a:pPr>
            <a:r>
              <a:t>⚡  प्रयोगशाला थर्मामीटर = -10°C से 110°C</a:t>
            </a:r>
          </a:p>
          <a:p>
            <a:pPr>
              <a:spcBef>
                <a:spcPts val="1200"/>
              </a:spcBef>
              <a:spcAft>
                <a:spcPts val="200"/>
              </a:spcAft>
              <a:defRPr sz="1600" b="1">
                <a:solidFill>
                  <a:srgbClr val="78350F"/>
                </a:solidFill>
                <a:latin typeface="Segoe UI"/>
              </a:defRPr>
            </a:pPr>
            <a:r>
              <a:t>⚡  चालन (ठोस) | संवहन (द्रव/गैस - समुद्री समीर) | विकिरण (सूर्य ऊष्मा - नो माध्यम)</a:t>
            </a:r>
          </a:p>
          <a:p>
            <a:pPr>
              <a:spcBef>
                <a:spcPts val="1200"/>
              </a:spcBef>
              <a:spcAft>
                <a:spcPts val="200"/>
              </a:spcAft>
              <a:defRPr sz="1600" b="1">
                <a:solidFill>
                  <a:srgbClr val="78350F"/>
                </a:solidFill>
                <a:latin typeface="Segoe UI"/>
              </a:defRPr>
            </a:pPr>
            <a:r>
              <a:t>⚡  सफेद कपड़े = ऊष्मा परावर्तक (गर्मी में) | गहरे/ऊनी कपड़े = ऊष्मा अवशोषक (सर्दी में)</a:t>
            </a:r>
          </a:p>
          <a:p>
            <a:pPr>
              <a:spcBef>
                <a:spcPts val="1200"/>
              </a:spcBef>
              <a:spcAft>
                <a:spcPts val="200"/>
              </a:spcAft>
              <a:defRPr sz="1600" b="1">
                <a:solidFill>
                  <a:srgbClr val="78350F"/>
                </a:solidFill>
                <a:latin typeface="Segoe UI"/>
              </a:defRPr>
            </a:pPr>
            <a:r>
              <a:t>⚡  जल: हिमांक = 0°C | क्वथनांक = 100°C | ऊष्मा का मात्रक = जूल (J)</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0F172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a:spAutoFit/>
          </a:bodyPr>
          <a:lstStyle/>
          <a:p>
            <a:pPr>
              <a:defRPr sz="1100" b="1">
                <a:solidFill>
                  <a:srgbClr val="D97706"/>
                </a:solidFill>
                <a:latin typeface="Segoe UI"/>
              </a:defRPr>
            </a:pPr>
            <a:r>
              <a:t>SAGAR COACHING CENTRE BHAGWANPUR • NMMS All India (विज्ञान Special)</a:t>
            </a:r>
          </a:p>
          <a:p>
            <a:pPr>
              <a:defRPr sz="1400" b="1">
                <a:solidFill>
                  <a:srgbClr val="FFFFFF"/>
                </a:solidFill>
                <a:latin typeface="Segoe UI"/>
              </a:defRPr>
            </a:pPr>
            <a:r>
              <a:t>आज का अभ्यास कार्य (Homework Questions)</a:t>
            </a:r>
          </a:p>
        </p:txBody>
      </p:sp>
      <p:sp>
        <p:nvSpPr>
          <p:cNvPr id="5" name="TextBox 4"/>
          <p:cNvSpPr txBox="1"/>
          <p:nvPr/>
        </p:nvSpPr>
        <p:spPr>
          <a:xfrm>
            <a:off x="365760" y="6446520"/>
            <a:ext cx="11460175" cy="320040"/>
          </a:xfrm>
          <a:prstGeom prst="rect">
            <a:avLst/>
          </a:prstGeom>
          <a:noFill/>
        </p:spPr>
        <p:txBody>
          <a:bodyPr wrap="none">
            <a:spAutoFit/>
          </a:bodyPr>
          <a:lstStyle/>
          <a:p>
            <a:pPr algn="ctr">
              <a:defRPr sz="1000">
                <a:solidFill>
                  <a:srgbClr val="64748B"/>
                </a:solidFill>
                <a:latin typeface="Segoe UI"/>
              </a:defRPr>
            </a:pPr>
            <a:r>
              <a:t>वेबसाइट: sagarcoaching.tech  |  Slide 36 of 37</a:t>
            </a:r>
          </a:p>
        </p:txBody>
      </p:sp>
      <p:sp>
        <p:nvSpPr>
          <p:cNvPr id="6" name="Rounded Rectangle 5"/>
          <p:cNvSpPr/>
          <p:nvPr/>
        </p:nvSpPr>
        <p:spPr>
          <a:xfrm>
            <a:off x="457200" y="1097280"/>
            <a:ext cx="11277295" cy="5120640"/>
          </a:xfrm>
          <a:prstGeom prst="roundRect">
            <a:avLst/>
          </a:prstGeom>
          <a:solidFill>
            <a:srgbClr val="F0F9FF"/>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457200" tIns="320040"/>
          <a:lstStyle/>
          <a:p>
            <a:pPr algn="ctr">
              <a:defRPr sz="1900" b="1">
                <a:solidFill>
                  <a:srgbClr val="0F172A"/>
                </a:solidFill>
                <a:latin typeface="Segoe UI"/>
              </a:defRPr>
            </a:pPr>
            <a:r>
              <a:t>📝 घर पर अभ्यास के लिए 3 महत्वपूर्ण प्रश्न (Self Practice):</a:t>
            </a:r>
          </a:p>
          <a:p>
            <a:pPr>
              <a:spcBef>
                <a:spcPts val="1600"/>
              </a:spcBef>
              <a:spcAft>
                <a:spcPts val="400"/>
              </a:spcAft>
              <a:defRPr sz="1600">
                <a:solidFill>
                  <a:srgbClr val="1E293B"/>
                </a:solidFill>
                <a:latin typeface="Segoe UI"/>
              </a:defRPr>
            </a:pPr>
            <a:r>
              <a:t>प्रश्न 1.  चालन, संवहन और विकिरण में मुख्य अंतर उदाहरण सहित लिखिए।</a:t>
            </a:r>
          </a:p>
          <a:p>
            <a:pPr>
              <a:spcBef>
                <a:spcPts val="1600"/>
              </a:spcBef>
              <a:spcAft>
                <a:spcPts val="400"/>
              </a:spcAft>
              <a:defRPr sz="1600">
                <a:solidFill>
                  <a:srgbClr val="1E293B"/>
                </a:solidFill>
                <a:latin typeface="Segoe UI"/>
              </a:defRPr>
            </a:pPr>
            <a:r>
              <a:t>प्रश्न 2.  समुद्री समीर और थल समीर बनने का वैज्ञानिक कारण स्पष्ट कीजिए।</a:t>
            </a:r>
          </a:p>
          <a:p>
            <a:pPr>
              <a:spcBef>
                <a:spcPts val="1600"/>
              </a:spcBef>
              <a:spcAft>
                <a:spcPts val="400"/>
              </a:spcAft>
              <a:defRPr sz="1600">
                <a:solidFill>
                  <a:srgbClr val="1E293B"/>
                </a:solidFill>
                <a:latin typeface="Segoe UI"/>
              </a:defRPr>
            </a:pPr>
            <a:r>
              <a:t>प्रश्न 3.  गर्मियों में सफेद कपड़े और सर्दियों में गहरे रंग के ऊनी कपड़े क्यों आरामदायक होते हैं?</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राष्ट्रीय आय-सह-मेधा छात्रवृत्ति परीक्षा (NMMS All India Special) • मिशन 35/35 अंक</a:t>
            </a:r>
          </a:p>
        </p:txBody>
      </p:sp>
      <p:pic>
        <p:nvPicPr>
          <p:cNvPr id="4" name="Picture 3" descr="logo-circle-transparent.png"/>
          <p:cNvPicPr>
            <a:picLocks noChangeAspect="1"/>
          </p:cNvPicPr>
          <p:nvPr/>
        </p:nvPicPr>
        <p:blipFill>
          <a:blip r:embed="rId2"/>
          <a:stretch>
            <a:fillRect/>
          </a:stretch>
        </p:blipFill>
        <p:spPr>
          <a:xfrm>
            <a:off x="5486400" y="640080"/>
            <a:ext cx="1216152" cy="1216152"/>
          </a:xfrm>
          <a:prstGeom prst="rect">
            <a:avLst/>
          </a:prstGeom>
        </p:spPr>
      </p:pic>
      <p:sp>
        <p:nvSpPr>
          <p:cNvPr id="5" name="TextBox 4"/>
          <p:cNvSpPr txBox="1"/>
          <p:nvPr/>
        </p:nvSpPr>
        <p:spPr>
          <a:xfrm>
            <a:off x="457200" y="1874519"/>
            <a:ext cx="11277295" cy="548640"/>
          </a:xfrm>
          <a:prstGeom prst="rect">
            <a:avLst/>
          </a:prstGeom>
          <a:noFill/>
        </p:spPr>
        <p:txBody>
          <a:bodyPr wrap="none">
            <a:spAutoFit/>
          </a:bodyPr>
          <a:lstStyle/>
          <a:p>
            <a:pPr algn="ctr">
              <a:defRPr sz="1600" b="1">
                <a:solidFill>
                  <a:srgbClr val="D97706"/>
                </a:solidFill>
                <a:latin typeface="Segoe UI"/>
              </a:defRPr>
            </a:pPr>
            <a:r>
              <a:t>SAGAR COACHING CENTRE, BHAGWANPUR (SUPAUL, BIHAR)</a:t>
            </a:r>
          </a:p>
        </p:txBody>
      </p:sp>
      <p:sp>
        <p:nvSpPr>
          <p:cNvPr id="6" name="Rounded Rectangle 5"/>
          <p:cNvSpPr/>
          <p:nvPr/>
        </p:nvSpPr>
        <p:spPr>
          <a:xfrm>
            <a:off x="3346704" y="2468880"/>
            <a:ext cx="5486400" cy="457200"/>
          </a:xfrm>
          <a:prstGeom prst="roundRect">
            <a:avLst/>
          </a:prstGeom>
          <a:solidFill>
            <a:srgbClr val="0D9488"/>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 Class 05 Complete! कल मिलेंगे Class 06 में 🌟</a:t>
            </a:r>
          </a:p>
        </p:txBody>
      </p:sp>
      <p:sp>
        <p:nvSpPr>
          <p:cNvPr id="7" name="TextBox 6"/>
          <p:cNvSpPr txBox="1"/>
          <p:nvPr/>
        </p:nvSpPr>
        <p:spPr>
          <a:xfrm>
            <a:off x="457200" y="2971800"/>
            <a:ext cx="11277295" cy="1097280"/>
          </a:xfrm>
          <a:prstGeom prst="rect">
            <a:avLst/>
          </a:prstGeom>
          <a:noFill/>
        </p:spPr>
        <p:txBody>
          <a:bodyPr wrap="square">
            <a:spAutoFit/>
          </a:bodyPr>
          <a:lstStyle/>
          <a:p>
            <a:pPr algn="ctr">
              <a:defRPr sz="3000" b="1">
                <a:solidFill>
                  <a:srgbClr val="FFFFFF"/>
                </a:solidFill>
                <a:latin typeface="Segoe UI"/>
              </a:defRPr>
            </a:pPr>
            <a:r>
              <a:t>कल का विषय: दाब, वायुमंडलीय दाब एवं प्राकृतिक आपदाएं</a:t>
            </a:r>
          </a:p>
          <a:p>
            <a:pPr algn="ctr">
              <a:spcBef>
                <a:spcPts val="400"/>
              </a:spcBef>
              <a:defRPr sz="1500">
                <a:solidFill>
                  <a:srgbClr val="CBD5E1"/>
                </a:solidFill>
                <a:latin typeface="Segoe UI"/>
              </a:defRPr>
            </a:pPr>
            <a:r>
              <a:t>इस क्लास की PDF डाउनलोड करें: sagarcoaching.tech</a:t>
            </a:r>
          </a:p>
        </p:txBody>
      </p:sp>
      <p:sp>
        <p:nvSpPr>
          <p:cNvPr id="8" name="Rounded Rectangle 7"/>
          <p:cNvSpPr/>
          <p:nvPr/>
        </p:nvSpPr>
        <p:spPr>
          <a:xfrm>
            <a:off x="1371600" y="4160520"/>
            <a:ext cx="9448495" cy="1828800"/>
          </a:xfrm>
          <a:prstGeom prst="roundRect">
            <a:avLst/>
          </a:prstGeom>
          <a:solidFill>
            <a:srgbClr val="1E293B"/>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tIns="137160"/>
          <a:lstStyle/>
          <a:p>
            <a:pPr algn="ctr">
              <a:defRPr sz="1400" b="1">
                <a:solidFill>
                  <a:srgbClr val="D97706"/>
                </a:solidFill>
                <a:latin typeface="Segoe UI"/>
              </a:defRPr>
            </a:pPr>
            <a:r>
              <a:t>🎯 आज की क्लास में क्या सीखेंगे (Key Topics):</a:t>
            </a:r>
          </a:p>
          <a:p>
            <a:pPr>
              <a:spcBef>
                <a:spcPts val="200"/>
              </a:spcBef>
              <a:defRPr sz="1200">
                <a:solidFill>
                  <a:srgbClr val="FFFFFF"/>
                </a:solidFill>
                <a:latin typeface="Segoe UI"/>
              </a:defRPr>
            </a:pPr>
            <a:r>
              <a:t>  ✓  दाब = बल / क्षेत्रफल (पास्कल या N/m²)</a:t>
            </a:r>
          </a:p>
          <a:p>
            <a:pPr>
              <a:spcBef>
                <a:spcPts val="200"/>
              </a:spcBef>
              <a:defRPr sz="1200">
                <a:solidFill>
                  <a:srgbClr val="FFFFFF"/>
                </a:solidFill>
                <a:latin typeface="Segoe UI"/>
              </a:defRPr>
            </a:pPr>
            <a:r>
              <a:t>  ✓  द्रवों का दाब एवं बांध की चौड़ी दीवारें</a:t>
            </a:r>
          </a:p>
          <a:p>
            <a:pPr>
              <a:spcBef>
                <a:spcPts val="200"/>
              </a:spcBef>
              <a:defRPr sz="1200">
                <a:solidFill>
                  <a:srgbClr val="FFFFFF"/>
                </a:solidFill>
                <a:latin typeface="Segoe UI"/>
              </a:defRPr>
            </a:pPr>
            <a:r>
              <a:t>  ✓  वायुमंडलीय दाब व पहाड़ों पर नाक से खून आना</a:t>
            </a:r>
          </a:p>
          <a:p>
            <a:pPr>
              <a:spcBef>
                <a:spcPts val="200"/>
              </a:spcBef>
              <a:defRPr sz="1200">
                <a:solidFill>
                  <a:srgbClr val="FFFFFF"/>
                </a:solidFill>
                <a:latin typeface="Segoe UI"/>
              </a:defRPr>
            </a:pPr>
            <a:r>
              <a:t>  ✓  तड़ित (आकाशीय बिजली), तड़ित चालक व भूकंप</a:t>
            </a:r>
          </a:p>
        </p:txBody>
      </p:sp>
      <p:sp>
        <p:nvSpPr>
          <p:cNvPr id="9" name="TextBox 8"/>
          <p:cNvSpPr txBox="1"/>
          <p:nvPr/>
        </p:nvSpPr>
        <p:spPr>
          <a:xfrm>
            <a:off x="457200" y="6172200"/>
            <a:ext cx="11277295" cy="457200"/>
          </a:xfrm>
          <a:prstGeom prst="rect">
            <a:avLst/>
          </a:prstGeom>
          <a:noFill/>
        </p:spPr>
        <p:txBody>
          <a:bodyPr wrap="none">
            <a:spAutoFit/>
          </a:bodyPr>
          <a:lstStyle/>
          <a:p>
            <a:pPr algn="ctr">
              <a:defRPr sz="1100">
                <a:solidFill>
                  <a:srgbClr val="94A3B8"/>
                </a:solidFill>
                <a:latin typeface="Segoe UI"/>
              </a:defRPr>
            </a:pPr>
            <a:r>
              <a:t>मार्गदर्शक: सागर सर (NMMS King)  |  Website: sagarcoaching.tech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