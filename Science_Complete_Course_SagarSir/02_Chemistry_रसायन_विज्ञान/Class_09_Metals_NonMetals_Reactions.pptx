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 राष्ट्रीय आय-सह-मेधा छात्रवृत्ति परीक्षा (NMMS All India Special) • मिशन 35/35 अंक</a:t>
            </a:r>
          </a:p>
        </p:txBody>
      </p:sp>
      <p:pic>
        <p:nvPicPr>
          <p:cNvPr id="4" name="Picture 3" descr="logo-circle-transparent.png"/>
          <p:cNvPicPr>
            <a:picLocks noChangeAspect="1"/>
          </p:cNvPicPr>
          <p:nvPr/>
        </p:nvPicPr>
        <p:blipFill>
          <a:blip r:embed="rId2"/>
          <a:stretch>
            <a:fillRect/>
          </a:stretch>
        </p:blipFill>
        <p:spPr>
          <a:xfrm>
            <a:off x="5486400" y="640080"/>
            <a:ext cx="1216152" cy="1216152"/>
          </a:xfrm>
          <a:prstGeom prst="rect">
            <a:avLst/>
          </a:prstGeom>
        </p:spPr>
      </p:pic>
      <p:sp>
        <p:nvSpPr>
          <p:cNvPr id="5" name="TextBox 4"/>
          <p:cNvSpPr txBox="1"/>
          <p:nvPr/>
        </p:nvSpPr>
        <p:spPr>
          <a:xfrm>
            <a:off x="457200" y="1874519"/>
            <a:ext cx="11277295" cy="548640"/>
          </a:xfrm>
          <a:prstGeom prst="rect">
            <a:avLst/>
          </a:prstGeom>
          <a:noFill/>
        </p:spPr>
        <p:txBody>
          <a:bodyPr wrap="none">
            <a:spAutoFit/>
          </a:bodyPr>
          <a:lstStyle/>
          <a:p>
            <a:pPr algn="ctr">
              <a:defRPr sz="1600" b="1">
                <a:solidFill>
                  <a:srgbClr val="D97706"/>
                </a:solidFill>
                <a:latin typeface="Segoe UI"/>
              </a:defRPr>
            </a:pPr>
            <a:r>
              <a:t>SAGAR COACHING CENTRE, BHAGWANPUR (SUPAUL, BIHAR)</a:t>
            </a:r>
          </a:p>
        </p:txBody>
      </p:sp>
      <p:sp>
        <p:nvSpPr>
          <p:cNvPr id="6" name="Rounded Rectangle 5"/>
          <p:cNvSpPr/>
          <p:nvPr/>
        </p:nvSpPr>
        <p:spPr>
          <a:xfrm>
            <a:off x="3346704" y="2468880"/>
            <a:ext cx="5486400" cy="457200"/>
          </a:xfrm>
          <a:prstGeom prst="roundRect">
            <a:avLst/>
          </a:prstGeom>
          <a:solidFill>
            <a:srgbClr val="0D9488"/>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 Class 09 • रसायन विज्ञान (Chemistry Special) 🌟</a:t>
            </a:r>
          </a:p>
        </p:txBody>
      </p:sp>
      <p:sp>
        <p:nvSpPr>
          <p:cNvPr id="7" name="TextBox 6"/>
          <p:cNvSpPr txBox="1"/>
          <p:nvPr/>
        </p:nvSpPr>
        <p:spPr>
          <a:xfrm>
            <a:off x="457200" y="2971800"/>
            <a:ext cx="11277295" cy="1097280"/>
          </a:xfrm>
          <a:prstGeom prst="rect">
            <a:avLst/>
          </a:prstGeom>
          <a:noFill/>
        </p:spPr>
        <p:txBody>
          <a:bodyPr wrap="square">
            <a:spAutoFit/>
          </a:bodyPr>
          <a:lstStyle/>
          <a:p>
            <a:pPr algn="ctr">
              <a:defRPr sz="3000" b="1">
                <a:solidFill>
                  <a:srgbClr val="FFFFFF"/>
                </a:solidFill>
                <a:latin typeface="Segoe UI"/>
              </a:defRPr>
            </a:pPr>
            <a:r>
              <a:t>धातु एवं अधातु: गुण, सक्रियता एवं उपयोग</a:t>
            </a:r>
          </a:p>
          <a:p>
            <a:pPr algn="ctr">
              <a:spcBef>
                <a:spcPts val="400"/>
              </a:spcBef>
              <a:defRPr sz="1500">
                <a:solidFill>
                  <a:srgbClr val="CBD5E1"/>
                </a:solidFill>
                <a:latin typeface="Segoe UI"/>
              </a:defRPr>
            </a:pPr>
            <a:r>
              <a:t>Metals and Non-metals: Physical &amp; Chemical Properties, Reactivity Series, Displacement &amp; Corrosion</a:t>
            </a:r>
          </a:p>
        </p:txBody>
      </p:sp>
      <p:sp>
        <p:nvSpPr>
          <p:cNvPr id="8" name="Rounded Rectangle 7"/>
          <p:cNvSpPr/>
          <p:nvPr/>
        </p:nvSpPr>
        <p:spPr>
          <a:xfrm>
            <a:off x="1371600" y="4160520"/>
            <a:ext cx="9448495" cy="18288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400" b="1">
                <a:solidFill>
                  <a:srgbClr val="D97706"/>
                </a:solidFill>
                <a:latin typeface="Segoe UI"/>
              </a:defRPr>
            </a:pPr>
            <a:r>
              <a:t>🎯 आज की क्लास में क्या सीखेंगे (Key Topics):</a:t>
            </a:r>
          </a:p>
          <a:p>
            <a:pPr>
              <a:spcBef>
                <a:spcPts val="200"/>
              </a:spcBef>
              <a:defRPr sz="1200">
                <a:solidFill>
                  <a:srgbClr val="FFFFFF"/>
                </a:solidFill>
                <a:latin typeface="Segoe UI"/>
              </a:defRPr>
            </a:pPr>
            <a:r>
              <a:t>  ✓  आघातवर्ध्यता (Malleability) व तन्यता (Ductility)</a:t>
            </a:r>
          </a:p>
          <a:p>
            <a:pPr>
              <a:spcBef>
                <a:spcPts val="200"/>
              </a:spcBef>
              <a:defRPr sz="1200">
                <a:solidFill>
                  <a:srgbClr val="FFFFFF"/>
                </a:solidFill>
                <a:latin typeface="Segoe UI"/>
              </a:defRPr>
            </a:pPr>
            <a:r>
              <a:t>  ✓  विशेष अपवाद: पारा (द्रव धातु), सोडियम (मुलायम), ग्रेफाइट (सुचालक अधातु)</a:t>
            </a:r>
          </a:p>
          <a:p>
            <a:pPr>
              <a:spcBef>
                <a:spcPts val="200"/>
              </a:spcBef>
              <a:defRPr sz="1200">
                <a:solidFill>
                  <a:srgbClr val="FFFFFF"/>
                </a:solidFill>
                <a:latin typeface="Segoe UI"/>
              </a:defRPr>
            </a:pPr>
            <a:r>
              <a:t>  ✓  सक्रियता श्रेणी (Reactivity Series) व विस्थापन अभिक्रियाएं</a:t>
            </a:r>
          </a:p>
          <a:p>
            <a:pPr>
              <a:spcBef>
                <a:spcPts val="200"/>
              </a:spcBef>
              <a:defRPr sz="1200">
                <a:solidFill>
                  <a:srgbClr val="FFFFFF"/>
                </a:solidFill>
                <a:latin typeface="Segoe UI"/>
              </a:defRPr>
            </a:pPr>
            <a:r>
              <a:t>  ✓  धातु ऑक्साइड (क्षारकीय) व अधातु ऑक्साइड (अम्लीय)</a:t>
            </a:r>
          </a:p>
          <a:p>
            <a:pPr>
              <a:spcBef>
                <a:spcPts val="200"/>
              </a:spcBef>
              <a:defRPr sz="1200">
                <a:solidFill>
                  <a:srgbClr val="FFFFFF"/>
                </a:solidFill>
                <a:latin typeface="Segoe UI"/>
              </a:defRPr>
            </a:pPr>
            <a:r>
              <a:t>  ✓  लोहे में जंग लगना एवं रोकथाम (गैल्वनीकरण)</a:t>
            </a:r>
          </a:p>
        </p:txBody>
      </p:sp>
      <p:sp>
        <p:nvSpPr>
          <p:cNvPr id="9" name="TextBox 8"/>
          <p:cNvSpPr txBox="1"/>
          <p:nvPr/>
        </p:nvSpPr>
        <p:spPr>
          <a:xfrm>
            <a:off x="457200" y="6172200"/>
            <a:ext cx="11277295" cy="457200"/>
          </a:xfrm>
          <a:prstGeom prst="rect">
            <a:avLst/>
          </a:prstGeom>
          <a:noFill/>
        </p:spPr>
        <p:txBody>
          <a:bodyPr wrap="none">
            <a:spAutoFit/>
          </a:bodyPr>
          <a:lstStyle/>
          <a:p>
            <a:pPr algn="ctr">
              <a:defRPr sz="1100">
                <a:solidFill>
                  <a:srgbClr val="94A3B8"/>
                </a:solidFill>
                <a:latin typeface="Segoe UI"/>
              </a:defRPr>
            </a:pPr>
            <a:r>
              <a:t>मार्गदर्शक: सागर सर (NMMS King)  |  Website: sagarcoaching.tech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कक्षा 09: धातुओं एवं अधातुओं के भौतिक गुण तथा महत्वपूर्ण अपवाद</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 of 37</a:t>
            </a:r>
          </a:p>
        </p:txBody>
      </p:sp>
      <p:sp>
        <p:nvSpPr>
          <p:cNvPr id="6" name="Rounded Rectangle 5"/>
          <p:cNvSpPr/>
          <p:nvPr/>
        </p:nvSpPr>
        <p:spPr>
          <a:xfrm>
            <a:off x="457200" y="1097280"/>
            <a:ext cx="11277295" cy="51206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tIns="320040" rIns="457200"/>
          <a:lstStyle/>
          <a:p>
            <a:pPr algn="ctr">
              <a:defRPr sz="1800" b="1">
                <a:solidFill>
                  <a:srgbClr val="0F172A"/>
                </a:solidFill>
                <a:latin typeface="Segoe UI"/>
              </a:defRPr>
            </a:pPr>
            <a:r>
              <a:t>📖 मुख्य वैज्ञानिक तथ्य एवं सिद्धांत (Key Concepts &amp; Exam Notes):</a:t>
            </a:r>
          </a:p>
          <a:p>
            <a:pPr>
              <a:spcBef>
                <a:spcPts val="900"/>
              </a:spcBef>
              <a:spcAft>
                <a:spcPts val="200"/>
              </a:spcAft>
              <a:defRPr sz="1500">
                <a:solidFill>
                  <a:srgbClr val="1E293B"/>
                </a:solidFill>
                <a:latin typeface="Segoe UI"/>
              </a:defRPr>
            </a:pPr>
            <a:r>
              <a:t>•  धातुओं के भौतिक गुण:</a:t>
            </a:r>
          </a:p>
          <a:p>
            <a:pPr>
              <a:spcBef>
                <a:spcPts val="900"/>
              </a:spcBef>
              <a:spcAft>
                <a:spcPts val="200"/>
              </a:spcAft>
              <a:defRPr sz="1500">
                <a:solidFill>
                  <a:srgbClr val="1E293B"/>
                </a:solidFill>
                <a:latin typeface="Segoe UI"/>
              </a:defRPr>
            </a:pPr>
            <a:r>
              <a:t>•    • आघातवर्ध्यता (Malleability): पीटकर पतली चादर में बदलना (सोना और चांदी सर्वाधिक आघातवर्ध्य हैं; मिठाइयों पर चांदी का वर्क)।</a:t>
            </a:r>
          </a:p>
          <a:p>
            <a:pPr>
              <a:spcBef>
                <a:spcPts val="900"/>
              </a:spcBef>
              <a:spcAft>
                <a:spcPts val="200"/>
              </a:spcAft>
              <a:defRPr sz="1500">
                <a:solidFill>
                  <a:srgbClr val="1E293B"/>
                </a:solidFill>
                <a:latin typeface="Segoe UI"/>
              </a:defRPr>
            </a:pPr>
            <a:r>
              <a:t>•    • तन्यता (Ductility): खींचकर पतले लंबे तार बनाना (1 ग्राम सोने से 2 किमी लंबा तार बन सकता है)।</a:t>
            </a:r>
          </a:p>
          <a:p>
            <a:pPr>
              <a:spcBef>
                <a:spcPts val="900"/>
              </a:spcBef>
              <a:spcAft>
                <a:spcPts val="200"/>
              </a:spcAft>
              <a:defRPr sz="1500">
                <a:solidFill>
                  <a:srgbClr val="1E293B"/>
                </a:solidFill>
                <a:latin typeface="Segoe UI"/>
              </a:defRPr>
            </a:pPr>
            <a:r>
              <a:t>•    • विद्युत व ऊष्मा की सुचालक: चांदी (Ag) सर्वोत्तम सुचालक है, इसके बाद तांबा (Cu) और एल्युमिनियम।</a:t>
            </a:r>
          </a:p>
          <a:p>
            <a:pPr>
              <a:spcBef>
                <a:spcPts val="900"/>
              </a:spcBef>
              <a:spcAft>
                <a:spcPts val="200"/>
              </a:spcAft>
              <a:defRPr sz="1500">
                <a:solidFill>
                  <a:srgbClr val="1E293B"/>
                </a:solidFill>
                <a:latin typeface="Segoe UI"/>
              </a:defRPr>
            </a:pPr>
            <a:r>
              <a:t>•    • ध्वानिक (Sonorous): चोट मारने पर गूंजने वाली ध्वनि उत्पन्न करना (मंदिर की घंटियां)।</a:t>
            </a:r>
          </a:p>
          <a:p>
            <a:pPr>
              <a:spcBef>
                <a:spcPts val="900"/>
              </a:spcBef>
              <a:spcAft>
                <a:spcPts val="200"/>
              </a:spcAft>
              <a:defRPr sz="1500">
                <a:solidFill>
                  <a:srgbClr val="1E293B"/>
                </a:solidFill>
                <a:latin typeface="Segoe UI"/>
              </a:defRPr>
            </a:pPr>
            <a:r>
              <a:t>•  परीक्षा के लिए अति-महत्वपूर्ण अपवाद (Exceptions):</a:t>
            </a:r>
          </a:p>
          <a:p>
            <a:pPr>
              <a:spcBef>
                <a:spcPts val="900"/>
              </a:spcBef>
              <a:spcAft>
                <a:spcPts val="200"/>
              </a:spcAft>
              <a:defRPr sz="1500">
                <a:solidFill>
                  <a:srgbClr val="1E293B"/>
                </a:solidFill>
                <a:latin typeface="Segoe UI"/>
              </a:defRPr>
            </a:pPr>
            <a:r>
              <a:t>•    • पारा (Mercury / Hg): एकमात्र ऐसी 'धातु' है जो कमरे के ताप पर 'द्रव' (Liquid) अवस्था में रहती है।</a:t>
            </a:r>
          </a:p>
          <a:p>
            <a:pPr>
              <a:spcBef>
                <a:spcPts val="900"/>
              </a:spcBef>
              <a:spcAft>
                <a:spcPts val="200"/>
              </a:spcAft>
              <a:defRPr sz="1500">
                <a:solidFill>
                  <a:srgbClr val="1E293B"/>
                </a:solidFill>
                <a:latin typeface="Segoe UI"/>
              </a:defRPr>
            </a:pPr>
            <a:r>
              <a:t>•    • सोडियम (Na) और पोटेशियम (K): इतनी मुलायम धातुएं हैं कि इन्हें 'चाकू से आसानी से काटा' जा सकता है। अत्यधिक सक्रिय होने से इन्हें 'मिट्टी के तेल' (केरोसिन) में डुबोकर रखते हैं।</a:t>
            </a:r>
          </a:p>
          <a:p>
            <a:pPr>
              <a:spcBef>
                <a:spcPts val="900"/>
              </a:spcBef>
              <a:spcAft>
                <a:spcPts val="200"/>
              </a:spcAft>
              <a:defRPr sz="1500">
                <a:solidFill>
                  <a:srgbClr val="1E293B"/>
                </a:solidFill>
                <a:latin typeface="Segoe UI"/>
              </a:defRPr>
            </a:pPr>
            <a:r>
              <a:t>•    • ब्रोमीन (Bromine / Br): एकमात्र ऐसी 'अधातु' है जो कमरे के ताप पर 'द्रव' अवस्था में पाई जाती है।</a:t>
            </a:r>
          </a:p>
          <a:p>
            <a:pPr>
              <a:spcBef>
                <a:spcPts val="900"/>
              </a:spcBef>
              <a:spcAft>
                <a:spcPts val="200"/>
              </a:spcAft>
              <a:defRPr sz="1500">
                <a:solidFill>
                  <a:srgbClr val="1E293B"/>
                </a:solidFill>
                <a:latin typeface="Segoe UI"/>
              </a:defRPr>
            </a:pPr>
            <a:r>
              <a:t>•    • ग्रेफाइट (Graphite): कार्बन का अपररूप अधातु होते हुए भी 'विद्युत का सुचालक' है (पेंसिल लेड)।</a:t>
            </a:r>
          </a:p>
          <a:p>
            <a:pPr>
              <a:spcBef>
                <a:spcPts val="900"/>
              </a:spcBef>
              <a:spcAft>
                <a:spcPts val="200"/>
              </a:spcAft>
              <a:defRPr sz="1500">
                <a:solidFill>
                  <a:srgbClr val="1E293B"/>
                </a:solidFill>
                <a:latin typeface="Segoe UI"/>
              </a:defRPr>
            </a:pPr>
            <a:r>
              <a:t>•    • हीरा (Diamond): कार्बन का अपररूप; प्रकृति का 'सबसे कठोरतम' ज्ञात पदार्थ 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कक्षा 09: धातुओं के रासायनिक गुण एवं सक्रियता श्रेणी</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 of 37</a:t>
            </a:r>
          </a:p>
        </p:txBody>
      </p:sp>
      <p:sp>
        <p:nvSpPr>
          <p:cNvPr id="6" name="Rounded Rectangle 5"/>
          <p:cNvSpPr/>
          <p:nvPr/>
        </p:nvSpPr>
        <p:spPr>
          <a:xfrm>
            <a:off x="457200" y="1097280"/>
            <a:ext cx="11277295" cy="51206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tIns="320040" rIns="457200"/>
          <a:lstStyle/>
          <a:p>
            <a:pPr algn="ctr">
              <a:defRPr sz="1800" b="1">
                <a:solidFill>
                  <a:srgbClr val="0F172A"/>
                </a:solidFill>
                <a:latin typeface="Segoe UI"/>
              </a:defRPr>
            </a:pPr>
            <a:r>
              <a:t>📖 मुख्य वैज्ञानिक तथ्य एवं सिद्धांत (Key Concepts &amp; Exam Notes):</a:t>
            </a:r>
          </a:p>
          <a:p>
            <a:pPr>
              <a:spcBef>
                <a:spcPts val="900"/>
              </a:spcBef>
              <a:spcAft>
                <a:spcPts val="200"/>
              </a:spcAft>
              <a:defRPr sz="1500">
                <a:solidFill>
                  <a:srgbClr val="1E293B"/>
                </a:solidFill>
                <a:latin typeface="Segoe UI"/>
              </a:defRPr>
            </a:pPr>
            <a:r>
              <a:t>•  ऑक्सीजन से क्रिया: धातुएं ऑक्सीजन से क्रिया करके 'क्षारकीय ऑक्साइड' (Basic Oxides) बनाती हैं जो लाल लिटमस को नीला करते हैं (जैसे मैग्नीशियम ऑक्साइड MgO)।</a:t>
            </a:r>
          </a:p>
          <a:p>
            <a:pPr>
              <a:spcBef>
                <a:spcPts val="900"/>
              </a:spcBef>
              <a:spcAft>
                <a:spcPts val="200"/>
              </a:spcAft>
              <a:defRPr sz="1500">
                <a:solidFill>
                  <a:srgbClr val="1E293B"/>
                </a:solidFill>
                <a:latin typeface="Segoe UI"/>
              </a:defRPr>
            </a:pPr>
            <a:r>
              <a:t>•  अधातुएं ऑक्सीजन से क्रिया करके 'अम्लीय ऑक्साइड' बनाती हैं जो नीले लिटमस को लाल करते हैं (जैसे SO2, CO2)।</a:t>
            </a:r>
          </a:p>
          <a:p>
            <a:pPr>
              <a:spcBef>
                <a:spcPts val="900"/>
              </a:spcBef>
              <a:spcAft>
                <a:spcPts val="200"/>
              </a:spcAft>
              <a:defRPr sz="1500">
                <a:solidFill>
                  <a:srgbClr val="1E293B"/>
                </a:solidFill>
                <a:latin typeface="Segoe UI"/>
              </a:defRPr>
            </a:pPr>
            <a:r>
              <a:t>•  जल से क्रिया: सोडियम पानी से अत्यंत तीव्र क्रिया कर हाइड्रोजन गैस और ऊष्मा उत्पन्न करता है जिससे आग लग जाती है। फॉस्फोरस अधातु को हवा से बचाने हेतु 'जल' में रखा जाता है।</a:t>
            </a:r>
          </a:p>
          <a:p>
            <a:pPr>
              <a:spcBef>
                <a:spcPts val="900"/>
              </a:spcBef>
              <a:spcAft>
                <a:spcPts val="200"/>
              </a:spcAft>
              <a:defRPr sz="1500">
                <a:solidFill>
                  <a:srgbClr val="1E293B"/>
                </a:solidFill>
                <a:latin typeface="Segoe UI"/>
              </a:defRPr>
            </a:pPr>
            <a:r>
              <a:t>•  सक्रियता श्रेणी (Reactivity Series): धातुओं की घटती क्रियाशीलता का क्रम:</a:t>
            </a:r>
          </a:p>
          <a:p>
            <a:pPr>
              <a:spcBef>
                <a:spcPts val="900"/>
              </a:spcBef>
              <a:spcAft>
                <a:spcPts val="200"/>
              </a:spcAft>
              <a:defRPr sz="1500">
                <a:solidFill>
                  <a:srgbClr val="1E293B"/>
                </a:solidFill>
                <a:latin typeface="Segoe UI"/>
              </a:defRPr>
            </a:pPr>
            <a:r>
              <a:t>•    • K (पोटेशियम) &gt; Na (सोडियम) &gt; Ca &gt; Mg &gt; Al &gt; Zn &gt; Fe &gt; Pb &gt; [H] &gt; Cu &gt; Ag &gt; Au (सोना सबसे कम सक्रिय)।</a:t>
            </a:r>
          </a:p>
          <a:p>
            <a:pPr>
              <a:spcBef>
                <a:spcPts val="900"/>
              </a:spcBef>
              <a:spcAft>
                <a:spcPts val="200"/>
              </a:spcAft>
              <a:defRPr sz="1500">
                <a:solidFill>
                  <a:srgbClr val="1E293B"/>
                </a:solidFill>
                <a:latin typeface="Segoe UI"/>
              </a:defRPr>
            </a:pPr>
            <a:r>
              <a:t>•  विस्थापन अभिक्रिया (Displacement Reaction): अधिक सक्रिय धातु कम सक्रिय धातु को उसके लवण विलयन से विस्थापित कर देती है।</a:t>
            </a:r>
          </a:p>
          <a:p>
            <a:pPr>
              <a:spcBef>
                <a:spcPts val="900"/>
              </a:spcBef>
              <a:spcAft>
                <a:spcPts val="200"/>
              </a:spcAft>
              <a:defRPr sz="1500">
                <a:solidFill>
                  <a:srgbClr val="1E293B"/>
                </a:solidFill>
                <a:latin typeface="Segoe UI"/>
              </a:defRPr>
            </a:pPr>
            <a:r>
              <a:t>•    • उदाहरण: Fe (लोहा) + CuSO4 (नीला थोथा) —&gt; FeSO4 (हरा विलयन) + Cu (तांबा बाहर)।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कक्षा 09: धातुओं का संक्षारण (Corrosion) एवं सुरक्षा उपाय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4 of 37</a:t>
            </a:r>
          </a:p>
        </p:txBody>
      </p:sp>
      <p:sp>
        <p:nvSpPr>
          <p:cNvPr id="6" name="Rounded Rectangle 5"/>
          <p:cNvSpPr/>
          <p:nvPr/>
        </p:nvSpPr>
        <p:spPr>
          <a:xfrm>
            <a:off x="457200" y="1097280"/>
            <a:ext cx="11277295" cy="51206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tIns="320040" rIns="457200"/>
          <a:lstStyle/>
          <a:p>
            <a:pPr algn="ctr">
              <a:defRPr sz="1800" b="1">
                <a:solidFill>
                  <a:srgbClr val="0F172A"/>
                </a:solidFill>
                <a:latin typeface="Segoe UI"/>
              </a:defRPr>
            </a:pPr>
            <a:r>
              <a:t>📖 मुख्य वैज्ञानिक तथ्य एवं सिद्धांत (Key Concepts &amp; Exam Notes):</a:t>
            </a:r>
          </a:p>
          <a:p>
            <a:pPr>
              <a:spcBef>
                <a:spcPts val="900"/>
              </a:spcBef>
              <a:spcAft>
                <a:spcPts val="200"/>
              </a:spcAft>
              <a:defRPr sz="1500">
                <a:solidFill>
                  <a:srgbClr val="1E293B"/>
                </a:solidFill>
                <a:latin typeface="Segoe UI"/>
              </a:defRPr>
            </a:pPr>
            <a:r>
              <a:t>•  संक्षारण: वायु, नमी और रसायनों के प्रभाव से धातु की सतह का धीरे-धीरे नष्ट होना।</a:t>
            </a:r>
          </a:p>
          <a:p>
            <a:pPr>
              <a:spcBef>
                <a:spcPts val="900"/>
              </a:spcBef>
              <a:spcAft>
                <a:spcPts val="200"/>
              </a:spcAft>
              <a:defRPr sz="1500">
                <a:solidFill>
                  <a:srgbClr val="1E293B"/>
                </a:solidFill>
                <a:latin typeface="Segoe UI"/>
              </a:defRPr>
            </a:pPr>
            <a:r>
              <a:t>•  लोहे पर जंग लगना (Rusting): लोहा + ऑक्सीजन + नमी —&gt; जलयोजित आयरन ऑक्साइड (Fe2O3·xH2O जंग)। जंग लगने से लोहे का भार 'बढ़' जाता है।</a:t>
            </a:r>
          </a:p>
          <a:p>
            <a:pPr>
              <a:spcBef>
                <a:spcPts val="900"/>
              </a:spcBef>
              <a:spcAft>
                <a:spcPts val="200"/>
              </a:spcAft>
              <a:defRPr sz="1500">
                <a:solidFill>
                  <a:srgbClr val="1E293B"/>
                </a:solidFill>
                <a:latin typeface="Segoe UI"/>
              </a:defRPr>
            </a:pPr>
            <a:r>
              <a:t>•  संक्षारण रोकने के उपाय:</a:t>
            </a:r>
          </a:p>
          <a:p>
            <a:pPr>
              <a:spcBef>
                <a:spcPts val="900"/>
              </a:spcBef>
              <a:spcAft>
                <a:spcPts val="200"/>
              </a:spcAft>
              <a:defRPr sz="1500">
                <a:solidFill>
                  <a:srgbClr val="1E293B"/>
                </a:solidFill>
                <a:latin typeface="Segoe UI"/>
              </a:defRPr>
            </a:pPr>
            <a:r>
              <a:t>•    1. पेंट, वार्निश या तेल/ग्रीस लगाना।</a:t>
            </a:r>
          </a:p>
          <a:p>
            <a:pPr>
              <a:spcBef>
                <a:spcPts val="900"/>
              </a:spcBef>
              <a:spcAft>
                <a:spcPts val="200"/>
              </a:spcAft>
              <a:defRPr sz="1500">
                <a:solidFill>
                  <a:srgbClr val="1E293B"/>
                </a:solidFill>
                <a:latin typeface="Segoe UI"/>
              </a:defRPr>
            </a:pPr>
            <a:r>
              <a:t>•    2. यशदलेपन (Galvanization): लोहे पर पिघले हुए जस्ते (Zinc) की परत चढ़ाना।</a:t>
            </a:r>
          </a:p>
          <a:p>
            <a:pPr>
              <a:spcBef>
                <a:spcPts val="900"/>
              </a:spcBef>
              <a:spcAft>
                <a:spcPts val="200"/>
              </a:spcAft>
              <a:defRPr sz="1500">
                <a:solidFill>
                  <a:srgbClr val="1E293B"/>
                </a:solidFill>
                <a:latin typeface="Segoe UI"/>
              </a:defRPr>
            </a:pPr>
            <a:r>
              <a:t>•    3. विद्युत लेपन (Electroplating): क्रोमियम या टिन की परत चढ़ाना।</a:t>
            </a:r>
          </a:p>
          <a:p>
            <a:pPr>
              <a:spcBef>
                <a:spcPts val="900"/>
              </a:spcBef>
              <a:spcAft>
                <a:spcPts val="200"/>
              </a:spcAft>
              <a:defRPr sz="1500">
                <a:solidFill>
                  <a:srgbClr val="1E293B"/>
                </a:solidFill>
                <a:latin typeface="Segoe UI"/>
              </a:defRPr>
            </a:pPr>
            <a:r>
              <a:t>•    4. मिश्रधातु बनाना (Alloying): लोहे में क्रोमियम और निकल मिलाकर 'स्टेनलेस स्टील' बनाना (जिसमें कभी जंग नहीं लगता)।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  [UP NMMS 2024]</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5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 कमरे के सामान्य तापमान पर 'द्रव' अवस्था में पाई जाने वाली एकमात्र धातु कौन सी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सोडियम</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पारा (Mercury / मरकरी)</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ब्रोमीन</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मैग्नीशियम</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  [UP NMMS 2024]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6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 कमरे के सामान्य तापमान पर 'द्रव' अवस्था में पाई जाने वाली एकमात्र धातु कौन सी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सोडियम</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पारा (Mercury / मरकरी)</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ब्रोमीन</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मैग्नीशियम</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पारा एकमात्र तरल धातु है जिसका उपयोग थर्मामीटर में किया जाता है (ब्रोमीन द्रव अधातु है)।</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#2  [Bihar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7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2. कमरे के तापमान पर 'द्रव' अवस्था में पाई जाने वाली एकमात्र 'अधातु' कौन सी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क्लोरीन</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ब्रोमीन (Bromine)</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आयोडीन</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सल्फर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#2  [Bihar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8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2. कमरे के तापमान पर 'द्रव' अवस्था में पाई जाने वाली एकमात्र 'अधातु' कौन सी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क्लोरीन</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ब्रोमीन (Bromine)</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आयोडीन</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सल्फर</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ब्रोमीन लाल-भूरे रंग की एकमात्र तरल अधातु है।</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#3  [Rajasthan NMMS 2022]</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9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3. निम्नलिखित में से किन धातुओं को साधारण चाकू से भी आसानी से काटा जा सकता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लोहा और तांबा</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सोडियम एवं पोटेशियम</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सोना और चांदी</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एल्युमिनियम और जस्ता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#3  [Rajasthan NMMS 2022]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10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3. निम्नलिखित में से किन धातुओं को साधारण चाकू से भी आसानी से काटा जा सकता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लोहा और तांबा</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सोडियम एवं पोटेशियम</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सोना और चांदी</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एल्युमिनियम और जस्ता</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सोडियम और पोटेशियम अत्यंत मुलायम और क्षारीय धातुएं 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#4  [MP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11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4. सोडियम धातु को सुरक्षित रखने के लिए किस द्रव में डुबोकर रखा जाता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पानी में</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मिट्टी के तेल (केरोसिन) में</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अम्ल में</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शराब में</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#4  [MP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12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4. सोडियम धातु को सुरक्षित रखने के लिए किस द्रव में डुबोकर रखा जाता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पानी में</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मिट्टी के तेल (केरोसिन) में</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अम्ल में</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शराब में</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सोडियम हवा की ऑक्सीजन और पानी से विस्फोटक क्रिया करता है, अतः इसे मिट्टी के तेल में रखते हैं।</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#5  [Haryana NMMS 2024]</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13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5. अत्यधिक सक्रिय अधातु 'सफेद फॉस्फोरस' को वायु से बचाने के लिए कहाँ रखा जाता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केरोसिन में</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जल (पानी) में</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खुली हवा में</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अम्ल में</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#5  [Haryana NMMS 2024]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14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5. अत्यधिक सक्रिय अधातु 'सफेद फॉस्फोरस' को वायु से बचाने के लिए कहाँ रखा जाता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केरोसिन में</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जल (पानी) में</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खुली हवा में</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अम्ल में</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सफेद फॉस्फोरस हवा के संपर्क में आते ही जलने लगता है, अतः इसे पानी में डुबोकर रखते हैं।</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#6  [Bihar NMMS 2024]</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15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6. पेंसिल की लेड में प्रयुक्त होने वाला 'ग्रेफाइट' किसका रूप है और इसकी विशेषता क्या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धातु - कुचालक</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अधातु (कार्बन) - विद्युत का सुचालक</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यौगिक</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मिश्रधातु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#6  [Bihar NMMS 2024]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16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6. पेंसिल की लेड में प्रयुक्त होने वाला 'ग्रेफाइट' किसका रूप है और इसकी विशेषता क्या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धातु - कुचालक</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अधातु (कार्बन) - विद्युत का सुचालक</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यौगिक</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मिश्रधातु</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ग्रेफाइट कार्बन की अधातु है परंतु स्वतंत्र इलेक्ट्रॉनों के कारण विद्युत की अच्छी सुचालक है।</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#7  [UP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17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7. प्रकृति में पाया जाने वाला सबसे कठोरतम प्राकृतिक पदार्थ कौन सा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लोहा</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हीरा (Diamond)</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सोना</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प्लैटिनम</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#7  [UP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18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7. प्रकृति में पाया जाने वाला सबसे कठोरतम प्राकृतिक पदार्थ कौन सा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लोहा</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हीरा (Diamond)</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सोना</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प्लैटिनम</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हीरा कार्बन का अपररूप है और ब्रह्मांड का सबसे कठोर ज्ञात प्राकृतिक पदार्थ है।</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#8  [Delhi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19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8. धातुओं को पीटकर पतली चादरों में बदलने के गुण को क्या कहा जाता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तन्यता</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आघातवर्ध्यता (Malleability)</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चालकता</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ध्वानिक</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#8  [Delhi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20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8. धातुओं को पीटकर पतली चादरों में बदलने के गुण को क्या कहा जाता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तन्यता</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आघातवर्ध्यता (Malleability)</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चालकता</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ध्वानिक</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सोना और चांदी सर्वाधिक आघातवर्ध्य धातुएं हैं।</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#9  [Maharashtra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21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9. धातुओं को खींचकर लंबे महीन तारों में बदलने की क्षमता को क्या कहते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आघातवर्ध्यता</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तन्यता (Ductility)</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कठोरता</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घनत्व</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#9  [Maharashtra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22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9. धातुओं को खींचकर लंबे महीन तारों में बदलने की क्षमता को क्या कहते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आघातवर्ध्यता</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तन्यता (Ductility)</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कठोरता</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घनत्व</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तन्यता के कारण 1 ग्राम सोने से 2 किमी लंबा तार बनाया जा सकता है।</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#10  [Rajasthan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23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10. विद्युत धारा की सर्वोत्तम सुचालक (Best Conductor) धातु कौन सी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तांबा</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चांदी (Silver / Ag)</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एल्युमिनियम</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लोहा</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#10  [Rajasthan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24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10. विद्युत धारा की सर्वोत्तम सुचालक (Best Conductor) धातु कौन सी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तांबा</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चांदी (Silver / Ag)</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एल्युमिनियम</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लोहा</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चांदी में विद्युत प्रतिरोध सबसे कम होता है, अतः यह सर्वश्रेष्ठ सुचालक 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#11  [MP NMMS 2022]</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25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11. कॉपर सल्फेट (CuSO4) के नीले घोल में लोहे की कील डालने पर घोल का रंग हरा क्यों हो जाता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जंग लगने से</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लोहे द्वारा तांबे को विस्थापित करने से (FeSO4 बनने से)</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पानी सूखने से</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अम्ल बनने से</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#11  [MP NMMS 2022]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26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11. कॉपर सल्फेट (CuSO4) के नीले घोल में लोहे की कील डालने पर घोल का रंग हरा क्यों हो जाता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जंग लगने से</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लोहे द्वारा तांबे को विस्थापित करने से (FeSO4 बनने से)</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पानी सूखने से</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अम्ल बनने से</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लोहा तांबे से अधिक सक्रिय है, अतः विस्थापन अभिक्रिया से फेरस सल्फेट बनता है।</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#12  [All India NMMS 2024]</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27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12. लोहे पर जंग लगने के लिए किन दो कारकों की एक साथ अनिवार्य उपस्थिति आवश्यक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केवल ऑक्सीजन</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ऑक्सीजन एवं नमी (जलवाष्प)</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केवल नाइट्रोजन</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केवल धूप</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#12  [All India NMMS 2024]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28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12. लोहे पर जंग लगने के लिए किन दो कारकों की एक साथ अनिवार्य उपस्थिति आवश्यक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केवल ऑक्सीजन</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ऑक्सीजन एवं नमी (जलवाष्प)</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केवल नाइट्रोजन</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केवल धूप</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शुष्क हवा में या उबले पानी (बिना हवा) में लोहे पर जंग नहीं लगता।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#13  [Bihar NMMS 2022]</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29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13. मिठाइयों पर सजावट हेतु लगाई जाने वाली चमकीली पन्नी (वर्क) किस धातु की बनी होती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एल्युमिनियम</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चांदी (Silver)</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सोना</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जस्ता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#13  [Bihar NMMS 2022]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30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13. मिठाइयों पर सजावट हेतु लगाई जाने वाली चमकीली पन्नी (वर्क) किस धातु की बनी होती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एल्युमिनियम</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चांदी (Silver)</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सोना</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जस्ता</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चांदी की अत्यधिक आघातवर्ध्यता के कारण इसका अत्यंत महीन वर्क बनाया जाता है।</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#14  [UP NMMS 2022]</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31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14. धातुओं के ऑक्साइड की सामान्य रासायनिक प्रकृति कैसी होती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अम्लीय</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क्षारकीय (Basic)</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उदासीन</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उभयधर्मी नहीं</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#14  [UP NMMS 2022]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32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14. धातुओं के ऑक्साइड की सामान्य रासायनिक प्रकृति कैसी होती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अम्लीय</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क्षारकीय (Basic)</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उदासीन</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उभयधर्मी नहीं</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धातु ऑक्साइड जल में घुलकर क्षार बनाते हैं और लाल लिटमस को नीला करते हैं।</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#15  [All India NMMS 2024]</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33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15. अधातुओं के ऑक्साइड (जैसे सल्फर डाइऑक्साइड SO2) की प्रकृति कैसी होती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क्षारकीय</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अम्लीय (Acidic)</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उदासीन</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लवणीय</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#15  [All India NMMS 2024]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34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15. अधातुओं के ऑक्साइड (जैसे सल्फर डाइऑक्साइड SO2) की प्रकृति कैसी होती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क्षारकीय</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अम्लीय (Acidic)</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उदासीन</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लवणीय</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SO2 जल से क्रिया करके सल्फ्यूरस अम्ल बनाती है और नीले लिटमस को लाल करती है।</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कक्षा 09: सागर सर की 1-मिनट मेमोरी चाबी (धातु-अधातु सूत्र)</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35 of 37</a:t>
            </a:r>
          </a:p>
        </p:txBody>
      </p:sp>
      <p:sp>
        <p:nvSpPr>
          <p:cNvPr id="6" name="Rounded Rectangle 5"/>
          <p:cNvSpPr/>
          <p:nvPr/>
        </p:nvSpPr>
        <p:spPr>
          <a:xfrm>
            <a:off x="457200" y="1097280"/>
            <a:ext cx="11277295" cy="5120640"/>
          </a:xfrm>
          <a:prstGeom prst="roundRect">
            <a:avLst/>
          </a:prstGeom>
          <a:solidFill>
            <a:srgbClr val="FEF3C7"/>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457200" tIns="320040"/>
          <a:lstStyle/>
          <a:p>
            <a:pPr algn="ctr">
              <a:defRPr sz="1900" b="1">
                <a:solidFill>
                  <a:srgbClr val="0F172A"/>
                </a:solidFill>
                <a:latin typeface="Segoe UI"/>
              </a:defRPr>
            </a:pPr>
            <a:r>
              <a:t>🔑 1-मिनट क्विक मेमोरी सूत्र (Revision Formulae):</a:t>
            </a:r>
          </a:p>
          <a:p>
            <a:pPr>
              <a:spcBef>
                <a:spcPts val="1200"/>
              </a:spcBef>
              <a:spcAft>
                <a:spcPts val="200"/>
              </a:spcAft>
              <a:defRPr sz="1600" b="1">
                <a:solidFill>
                  <a:srgbClr val="78350F"/>
                </a:solidFill>
                <a:latin typeface="Segoe UI"/>
              </a:defRPr>
            </a:pPr>
            <a:r>
              <a:t>⚡  पारा (Hg) = एकमात्र द्रव धातु | ब्रोमीन (Br) = एकमात्र द्रव अधातु</a:t>
            </a:r>
          </a:p>
          <a:p>
            <a:pPr>
              <a:spcBef>
                <a:spcPts val="1200"/>
              </a:spcBef>
              <a:spcAft>
                <a:spcPts val="200"/>
              </a:spcAft>
              <a:defRPr sz="1600" b="1">
                <a:solidFill>
                  <a:srgbClr val="78350F"/>
                </a:solidFill>
                <a:latin typeface="Segoe UI"/>
              </a:defRPr>
            </a:pPr>
            <a:r>
              <a:t>⚡  सोडियम/पोटेशियम = चाकू से कटने वाली मुलायम धातुएं (केरोसिन में सुरक्षित)</a:t>
            </a:r>
          </a:p>
          <a:p>
            <a:pPr>
              <a:spcBef>
                <a:spcPts val="1200"/>
              </a:spcBef>
              <a:spcAft>
                <a:spcPts val="200"/>
              </a:spcAft>
              <a:defRPr sz="1600" b="1">
                <a:solidFill>
                  <a:srgbClr val="78350F"/>
                </a:solidFill>
                <a:latin typeface="Segoe UI"/>
              </a:defRPr>
            </a:pPr>
            <a:r>
              <a:t>⚡  सफेद फॉस्फोरस = जल में सुरक्षित रखी जाने वाली अधातु</a:t>
            </a:r>
          </a:p>
          <a:p>
            <a:pPr>
              <a:spcBef>
                <a:spcPts val="1200"/>
              </a:spcBef>
              <a:spcAft>
                <a:spcPts val="200"/>
              </a:spcAft>
              <a:defRPr sz="1600" b="1">
                <a:solidFill>
                  <a:srgbClr val="78350F"/>
                </a:solidFill>
                <a:latin typeface="Segoe UI"/>
              </a:defRPr>
            </a:pPr>
            <a:r>
              <a:t>⚡  ग्रेफाइट = विद्युत सुचालक अधातु | हीरा = सबसे कठोर प्राकृतिक पदार्थ</a:t>
            </a:r>
          </a:p>
          <a:p>
            <a:pPr>
              <a:spcBef>
                <a:spcPts val="1200"/>
              </a:spcBef>
              <a:spcAft>
                <a:spcPts val="200"/>
              </a:spcAft>
              <a:defRPr sz="1600" b="1">
                <a:solidFill>
                  <a:srgbClr val="78350F"/>
                </a:solidFill>
                <a:latin typeface="Segoe UI"/>
              </a:defRPr>
            </a:pPr>
            <a:r>
              <a:t>⚡  चांदी (Ag) = विद्युत की सर्वोत्तम सुचालक धातु | सोना = सर्वाधिक तन्य धातु</a:t>
            </a:r>
          </a:p>
          <a:p>
            <a:pPr>
              <a:spcBef>
                <a:spcPts val="1200"/>
              </a:spcBef>
              <a:spcAft>
                <a:spcPts val="200"/>
              </a:spcAft>
              <a:defRPr sz="1600" b="1">
                <a:solidFill>
                  <a:srgbClr val="78350F"/>
                </a:solidFill>
                <a:latin typeface="Segoe UI"/>
              </a:defRPr>
            </a:pPr>
            <a:r>
              <a:t>⚡  धातु ऑक्साइड = क्षारकीय | अधातु ऑक्साइड = अम्लीय | जंग = Fe2O3·xH2O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आज का अभ्यास कार्य (Homework Questions)</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36 of 37</a:t>
            </a:r>
          </a:p>
        </p:txBody>
      </p:sp>
      <p:sp>
        <p:nvSpPr>
          <p:cNvPr id="6" name="Rounded Rectangle 5"/>
          <p:cNvSpPr/>
          <p:nvPr/>
        </p:nvSpPr>
        <p:spPr>
          <a:xfrm>
            <a:off x="457200" y="1097280"/>
            <a:ext cx="11277295" cy="512064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457200" tIns="320040"/>
          <a:lstStyle/>
          <a:p>
            <a:pPr algn="ctr">
              <a:defRPr sz="1900" b="1">
                <a:solidFill>
                  <a:srgbClr val="0F172A"/>
                </a:solidFill>
                <a:latin typeface="Segoe UI"/>
              </a:defRPr>
            </a:pPr>
            <a:r>
              <a:t>📝 घर पर अभ्यास के लिए 3 महत्वपूर्ण प्रश्न (Self Practice):</a:t>
            </a:r>
          </a:p>
          <a:p>
            <a:pPr>
              <a:spcBef>
                <a:spcPts val="1600"/>
              </a:spcBef>
              <a:spcAft>
                <a:spcPts val="400"/>
              </a:spcAft>
              <a:defRPr sz="1600">
                <a:solidFill>
                  <a:srgbClr val="1E293B"/>
                </a:solidFill>
                <a:latin typeface="Segoe UI"/>
              </a:defRPr>
            </a:pPr>
            <a:r>
              <a:t>प्रश्न 1.  आघातवर्ध्यता और तन्यता की परिभाषा उदाहरण सहित लिखिए।</a:t>
            </a:r>
          </a:p>
          <a:p>
            <a:pPr>
              <a:spcBef>
                <a:spcPts val="1600"/>
              </a:spcBef>
              <a:spcAft>
                <a:spcPts val="400"/>
              </a:spcAft>
              <a:defRPr sz="1600">
                <a:solidFill>
                  <a:srgbClr val="1E293B"/>
                </a:solidFill>
                <a:latin typeface="Segoe UI"/>
              </a:defRPr>
            </a:pPr>
            <a:r>
              <a:t>प्रश्न 2.  सोडियम को मिट्टी के तेल में और फॉस्फोरस को पानी में क्यों डुबोकर रखा जाता है?</a:t>
            </a:r>
          </a:p>
          <a:p>
            <a:pPr>
              <a:spcBef>
                <a:spcPts val="1600"/>
              </a:spcBef>
              <a:spcAft>
                <a:spcPts val="400"/>
              </a:spcAft>
              <a:defRPr sz="1600">
                <a:solidFill>
                  <a:srgbClr val="1E293B"/>
                </a:solidFill>
                <a:latin typeface="Segoe UI"/>
              </a:defRPr>
            </a:pPr>
            <a:r>
              <a:t>प्रश्न 3.  विस्थापन अभिक्रिया किसे कहते हैं? कॉपर सल्फेट और लोहे की अभिक्रिया का समीकरण लिखिए।</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 राष्ट्रीय आय-सह-मेधा छात्रवृत्ति परीक्षा (NMMS All India Special) • मिशन 35/35 अंक</a:t>
            </a:r>
          </a:p>
        </p:txBody>
      </p:sp>
      <p:pic>
        <p:nvPicPr>
          <p:cNvPr id="4" name="Picture 3" descr="logo-circle-transparent.png"/>
          <p:cNvPicPr>
            <a:picLocks noChangeAspect="1"/>
          </p:cNvPicPr>
          <p:nvPr/>
        </p:nvPicPr>
        <p:blipFill>
          <a:blip r:embed="rId2"/>
          <a:stretch>
            <a:fillRect/>
          </a:stretch>
        </p:blipFill>
        <p:spPr>
          <a:xfrm>
            <a:off x="5486400" y="640080"/>
            <a:ext cx="1216152" cy="1216152"/>
          </a:xfrm>
          <a:prstGeom prst="rect">
            <a:avLst/>
          </a:prstGeom>
        </p:spPr>
      </p:pic>
      <p:sp>
        <p:nvSpPr>
          <p:cNvPr id="5" name="TextBox 4"/>
          <p:cNvSpPr txBox="1"/>
          <p:nvPr/>
        </p:nvSpPr>
        <p:spPr>
          <a:xfrm>
            <a:off x="457200" y="1874519"/>
            <a:ext cx="11277295" cy="548640"/>
          </a:xfrm>
          <a:prstGeom prst="rect">
            <a:avLst/>
          </a:prstGeom>
          <a:noFill/>
        </p:spPr>
        <p:txBody>
          <a:bodyPr wrap="none">
            <a:spAutoFit/>
          </a:bodyPr>
          <a:lstStyle/>
          <a:p>
            <a:pPr algn="ctr">
              <a:defRPr sz="1600" b="1">
                <a:solidFill>
                  <a:srgbClr val="D97706"/>
                </a:solidFill>
                <a:latin typeface="Segoe UI"/>
              </a:defRPr>
            </a:pPr>
            <a:r>
              <a:t>SAGAR COACHING CENTRE, BHAGWANPUR (SUPAUL, BIHAR)</a:t>
            </a:r>
          </a:p>
        </p:txBody>
      </p:sp>
      <p:sp>
        <p:nvSpPr>
          <p:cNvPr id="6" name="Rounded Rectangle 5"/>
          <p:cNvSpPr/>
          <p:nvPr/>
        </p:nvSpPr>
        <p:spPr>
          <a:xfrm>
            <a:off x="3346704" y="2468880"/>
            <a:ext cx="5486400" cy="457200"/>
          </a:xfrm>
          <a:prstGeom prst="roundRect">
            <a:avLst/>
          </a:prstGeom>
          <a:solidFill>
            <a:srgbClr val="0D9488"/>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 Class 09 Complete! कल मिलेंगे Class 10 में 🌟</a:t>
            </a:r>
          </a:p>
        </p:txBody>
      </p:sp>
      <p:sp>
        <p:nvSpPr>
          <p:cNvPr id="7" name="TextBox 6"/>
          <p:cNvSpPr txBox="1"/>
          <p:nvPr/>
        </p:nvSpPr>
        <p:spPr>
          <a:xfrm>
            <a:off x="457200" y="2971800"/>
            <a:ext cx="11277295" cy="1097280"/>
          </a:xfrm>
          <a:prstGeom prst="rect">
            <a:avLst/>
          </a:prstGeom>
          <a:noFill/>
        </p:spPr>
        <p:txBody>
          <a:bodyPr wrap="square">
            <a:spAutoFit/>
          </a:bodyPr>
          <a:lstStyle/>
          <a:p>
            <a:pPr algn="ctr">
              <a:defRPr sz="3000" b="1">
                <a:solidFill>
                  <a:srgbClr val="FFFFFF"/>
                </a:solidFill>
                <a:latin typeface="Segoe UI"/>
              </a:defRPr>
            </a:pPr>
            <a:r>
              <a:t>कल का विषय: दहन, ज्वाला की संरचना एवं ईंधन</a:t>
            </a:r>
          </a:p>
          <a:p>
            <a:pPr algn="ctr">
              <a:spcBef>
                <a:spcPts val="400"/>
              </a:spcBef>
              <a:defRPr sz="1500">
                <a:solidFill>
                  <a:srgbClr val="CBD5E1"/>
                </a:solidFill>
                <a:latin typeface="Segoe UI"/>
              </a:defRPr>
            </a:pPr>
            <a:r>
              <a:t>इस क्लास की PDF डाउनलोड करें: sagarcoaching.tech</a:t>
            </a:r>
          </a:p>
        </p:txBody>
      </p:sp>
      <p:sp>
        <p:nvSpPr>
          <p:cNvPr id="8" name="Rounded Rectangle 7"/>
          <p:cNvSpPr/>
          <p:nvPr/>
        </p:nvSpPr>
        <p:spPr>
          <a:xfrm>
            <a:off x="1371600" y="4160520"/>
            <a:ext cx="9448495" cy="18288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400" b="1">
                <a:solidFill>
                  <a:srgbClr val="D97706"/>
                </a:solidFill>
                <a:latin typeface="Segoe UI"/>
              </a:defRPr>
            </a:pPr>
            <a:r>
              <a:t>🎯 आज की क्लास में क्या सीखेंगे (Key Topics):</a:t>
            </a:r>
          </a:p>
          <a:p>
            <a:pPr>
              <a:spcBef>
                <a:spcPts val="200"/>
              </a:spcBef>
              <a:defRPr sz="1200">
                <a:solidFill>
                  <a:srgbClr val="FFFFFF"/>
                </a:solidFill>
                <a:latin typeface="Segoe UI"/>
              </a:defRPr>
            </a:pPr>
            <a:r>
              <a:t>  ✓  दहन के लिए आवश्यक शर्तें (ऑक्सीजन, ज्वलन ताप, दहनशील पदार्थ)</a:t>
            </a:r>
          </a:p>
          <a:p>
            <a:pPr>
              <a:spcBef>
                <a:spcPts val="200"/>
              </a:spcBef>
              <a:defRPr sz="1200">
                <a:solidFill>
                  <a:srgbClr val="FFFFFF"/>
                </a:solidFill>
                <a:latin typeface="Segoe UI"/>
              </a:defRPr>
            </a:pPr>
            <a:r>
              <a:t>  ✓  ज्वलन ताप (Ignition Temperature) व माचिस का इतिहास (लाल फॉस्फोरस)</a:t>
            </a:r>
          </a:p>
          <a:p>
            <a:pPr>
              <a:spcBef>
                <a:spcPts val="200"/>
              </a:spcBef>
              <a:defRPr sz="1200">
                <a:solidFill>
                  <a:srgbClr val="FFFFFF"/>
                </a:solidFill>
                <a:latin typeface="Segoe UI"/>
              </a:defRPr>
            </a:pPr>
            <a:r>
              <a:t>  ✓  मोमबत्ती की ज्वाला के 3 क्षेत्र (दीप्त, अदीप्त व सबसे गर्म नीला क्षेत्र)</a:t>
            </a:r>
          </a:p>
          <a:p>
            <a:pPr>
              <a:spcBef>
                <a:spcPts val="200"/>
              </a:spcBef>
              <a:defRPr sz="1200">
                <a:solidFill>
                  <a:srgbClr val="FFFFFF"/>
                </a:solidFill>
                <a:latin typeface="Segoe UI"/>
              </a:defRPr>
            </a:pPr>
            <a:r>
              <a:t>  ✓  अग्निशामक यंत्र (CO2 सिलेंडर) व ईंधन का ऊष्मीय मान (कैलोरी मान)</a:t>
            </a:r>
          </a:p>
        </p:txBody>
      </p:sp>
      <p:sp>
        <p:nvSpPr>
          <p:cNvPr id="9" name="TextBox 8"/>
          <p:cNvSpPr txBox="1"/>
          <p:nvPr/>
        </p:nvSpPr>
        <p:spPr>
          <a:xfrm>
            <a:off x="457200" y="6172200"/>
            <a:ext cx="11277295" cy="457200"/>
          </a:xfrm>
          <a:prstGeom prst="rect">
            <a:avLst/>
          </a:prstGeom>
          <a:noFill/>
        </p:spPr>
        <p:txBody>
          <a:bodyPr wrap="none">
            <a:spAutoFit/>
          </a:bodyPr>
          <a:lstStyle/>
          <a:p>
            <a:pPr algn="ctr">
              <a:defRPr sz="1100">
                <a:solidFill>
                  <a:srgbClr val="94A3B8"/>
                </a:solidFill>
                <a:latin typeface="Segoe UI"/>
              </a:defRPr>
            </a:pPr>
            <a:r>
              <a:t>मार्गदर्शक: सागर सर (NMMS King)  |  Website: sagarcoaching.tech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