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 राष्ट्रीय आय-सह-मेधा छात्रवृत्ति परीक्षा (NMMS All India Special) • मिशन 35/35 अंक</a:t>
            </a:r>
          </a:p>
        </p:txBody>
      </p:sp>
      <p:pic>
        <p:nvPicPr>
          <p:cNvPr id="4" name="Picture 3" descr="logo-circle-transparent.png"/>
          <p:cNvPicPr>
            <a:picLocks noChangeAspect="1"/>
          </p:cNvPicPr>
          <p:nvPr/>
        </p:nvPicPr>
        <p:blipFill>
          <a:blip r:embed="rId2"/>
          <a:stretch>
            <a:fillRect/>
          </a:stretch>
        </p:blipFill>
        <p:spPr>
          <a:xfrm>
            <a:off x="5486400" y="640080"/>
            <a:ext cx="1216152" cy="1216152"/>
          </a:xfrm>
          <a:prstGeom prst="rect">
            <a:avLst/>
          </a:prstGeom>
        </p:spPr>
      </p:pic>
      <p:sp>
        <p:nvSpPr>
          <p:cNvPr id="5" name="TextBox 4"/>
          <p:cNvSpPr txBox="1"/>
          <p:nvPr/>
        </p:nvSpPr>
        <p:spPr>
          <a:xfrm>
            <a:off x="457200" y="1874519"/>
            <a:ext cx="11277295" cy="548640"/>
          </a:xfrm>
          <a:prstGeom prst="rect">
            <a:avLst/>
          </a:prstGeom>
          <a:noFill/>
        </p:spPr>
        <p:txBody>
          <a:bodyPr wrap="none">
            <a:spAutoFit/>
          </a:bodyPr>
          <a:lstStyle/>
          <a:p>
            <a:pPr algn="ctr">
              <a:defRPr sz="1600" b="1">
                <a:solidFill>
                  <a:srgbClr val="D97706"/>
                </a:solidFill>
                <a:latin typeface="Segoe UI"/>
              </a:defRPr>
            </a:pPr>
            <a:r>
              <a:t>SAGAR COACHING CENTRE, BHAGWANPUR (SUPAUL, BIHAR)</a:t>
            </a:r>
          </a:p>
        </p:txBody>
      </p:sp>
      <p:sp>
        <p:nvSpPr>
          <p:cNvPr id="6" name="Rounded Rectangle 5"/>
          <p:cNvSpPr/>
          <p:nvPr/>
        </p:nvSpPr>
        <p:spPr>
          <a:xfrm>
            <a:off x="3346704" y="2468880"/>
            <a:ext cx="5486400" cy="457200"/>
          </a:xfrm>
          <a:prstGeom prst="roundRect">
            <a:avLst/>
          </a:prstGeom>
          <a:solidFill>
            <a:srgbClr val="0D9488"/>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 Class 10 • रसायन विज्ञान (Chemistry Special) 🌟</a:t>
            </a:r>
          </a:p>
        </p:txBody>
      </p:sp>
      <p:sp>
        <p:nvSpPr>
          <p:cNvPr id="7" name="TextBox 6"/>
          <p:cNvSpPr txBox="1"/>
          <p:nvPr/>
        </p:nvSpPr>
        <p:spPr>
          <a:xfrm>
            <a:off x="457200" y="2971800"/>
            <a:ext cx="11277295" cy="1097280"/>
          </a:xfrm>
          <a:prstGeom prst="rect">
            <a:avLst/>
          </a:prstGeom>
          <a:noFill/>
        </p:spPr>
        <p:txBody>
          <a:bodyPr wrap="square">
            <a:spAutoFit/>
          </a:bodyPr>
          <a:lstStyle/>
          <a:p>
            <a:pPr algn="ctr">
              <a:defRPr sz="3000" b="1">
                <a:solidFill>
                  <a:srgbClr val="FFFFFF"/>
                </a:solidFill>
                <a:latin typeface="Segoe UI"/>
              </a:defRPr>
            </a:pPr>
            <a:r>
              <a:t>दहन, ज्वाला की संरचना एवं ईंधन</a:t>
            </a:r>
          </a:p>
          <a:p>
            <a:pPr algn="ctr">
              <a:spcBef>
                <a:spcPts val="400"/>
              </a:spcBef>
              <a:defRPr sz="1500">
                <a:solidFill>
                  <a:srgbClr val="CBD5E1"/>
                </a:solidFill>
                <a:latin typeface="Segoe UI"/>
              </a:defRPr>
            </a:pPr>
            <a:r>
              <a:t>Combustion, Types of Combustion, Flame Zones, Fire Extinguishers &amp; Fuel Calorific Value</a:t>
            </a:r>
          </a:p>
        </p:txBody>
      </p:sp>
      <p:sp>
        <p:nvSpPr>
          <p:cNvPr id="8" name="Rounded Rectangle 7"/>
          <p:cNvSpPr/>
          <p:nvPr/>
        </p:nvSpPr>
        <p:spPr>
          <a:xfrm>
            <a:off x="1371600" y="4160520"/>
            <a:ext cx="9448495" cy="18288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400" b="1">
                <a:solidFill>
                  <a:srgbClr val="D97706"/>
                </a:solidFill>
                <a:latin typeface="Segoe UI"/>
              </a:defRPr>
            </a:pPr>
            <a:r>
              <a:t>🎯 आज की क्लास में क्या सीखेंगे (Key Topics):</a:t>
            </a:r>
          </a:p>
          <a:p>
            <a:pPr>
              <a:spcBef>
                <a:spcPts val="200"/>
              </a:spcBef>
              <a:defRPr sz="1200">
                <a:solidFill>
                  <a:srgbClr val="FFFFFF"/>
                </a:solidFill>
                <a:latin typeface="Segoe UI"/>
              </a:defRPr>
            </a:pPr>
            <a:r>
              <a:t>  ✓  दहन की परिभाषा व 3 अनिवार्य शर्तें (ईंधन, O2, ज्वलन ताप)</a:t>
            </a:r>
          </a:p>
          <a:p>
            <a:pPr>
              <a:spcBef>
                <a:spcPts val="200"/>
              </a:spcBef>
              <a:defRPr sz="1200">
                <a:solidFill>
                  <a:srgbClr val="FFFFFF"/>
                </a:solidFill>
                <a:latin typeface="Segoe UI"/>
              </a:defRPr>
            </a:pPr>
            <a:r>
              <a:t>  ✓  ज्वलन ताप (Ignition Temp) व माचिस का सिरा (एंटीमनी ट्राइसल्फाइड + लाल फॉस्फोरस)</a:t>
            </a:r>
          </a:p>
          <a:p>
            <a:pPr>
              <a:spcBef>
                <a:spcPts val="200"/>
              </a:spcBef>
              <a:defRPr sz="1200">
                <a:solidFill>
                  <a:srgbClr val="FFFFFF"/>
                </a:solidFill>
                <a:latin typeface="Segoe UI"/>
              </a:defRPr>
            </a:pPr>
            <a:r>
              <a:t>  ✓  अग्निशामक (CO2): आग बुझाने के वैज्ञानिक नियम</a:t>
            </a:r>
          </a:p>
          <a:p>
            <a:pPr>
              <a:spcBef>
                <a:spcPts val="200"/>
              </a:spcBef>
              <a:defRPr sz="1200">
                <a:solidFill>
                  <a:srgbClr val="FFFFFF"/>
                </a:solidFill>
                <a:latin typeface="Segoe UI"/>
              </a:defRPr>
            </a:pPr>
            <a:r>
              <a:t>  ✓  मोमबत्ती की ज्वाला के 3 क्षेत्र (सबसे गर्म बाहरी नीला क्षेत्र)</a:t>
            </a:r>
          </a:p>
          <a:p>
            <a:pPr>
              <a:spcBef>
                <a:spcPts val="200"/>
              </a:spcBef>
              <a:defRPr sz="1200">
                <a:solidFill>
                  <a:srgbClr val="FFFFFF"/>
                </a:solidFill>
                <a:latin typeface="Segoe UI"/>
              </a:defRPr>
            </a:pPr>
            <a:r>
              <a:t>  ✓  ईंधन का ऊष्मीय मान (kJ/kg): हाइड्रोजन का सर्वोच्च मान (1,50,000 kJ/kg)</a:t>
            </a:r>
          </a:p>
        </p:txBody>
      </p:sp>
      <p:sp>
        <p:nvSpPr>
          <p:cNvPr id="9" name="TextBox 8"/>
          <p:cNvSpPr txBox="1"/>
          <p:nvPr/>
        </p:nvSpPr>
        <p:spPr>
          <a:xfrm>
            <a:off x="457200" y="6172200"/>
            <a:ext cx="11277295" cy="457200"/>
          </a:xfrm>
          <a:prstGeom prst="rect">
            <a:avLst/>
          </a:prstGeom>
          <a:noFill/>
        </p:spPr>
        <p:txBody>
          <a:bodyPr wrap="none">
            <a:spAutoFit/>
          </a:bodyPr>
          <a:lstStyle/>
          <a:p>
            <a:pPr algn="ctr">
              <a:defRPr sz="1100">
                <a:solidFill>
                  <a:srgbClr val="94A3B8"/>
                </a:solidFill>
                <a:latin typeface="Segoe UI"/>
              </a:defRPr>
            </a:pPr>
            <a:r>
              <a:t>मार्गदर्शक: सागर सर (NMMS King)  |  Website: sagarcoaching.tech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कक्षा 10: दहन (Combustion) एवं दहन की अनिवार्य शर्तें</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 of 37</a:t>
            </a:r>
          </a:p>
        </p:txBody>
      </p:sp>
      <p:sp>
        <p:nvSpPr>
          <p:cNvPr id="6" name="Rounded Rectangle 5"/>
          <p:cNvSpPr/>
          <p:nvPr/>
        </p:nvSpPr>
        <p:spPr>
          <a:xfrm>
            <a:off x="457200" y="1097280"/>
            <a:ext cx="11277295" cy="51206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457200" tIns="320040" rIns="457200"/>
          <a:lstStyle/>
          <a:p>
            <a:pPr algn="ctr">
              <a:defRPr sz="1800" b="1">
                <a:solidFill>
                  <a:srgbClr val="0F172A"/>
                </a:solidFill>
                <a:latin typeface="Segoe UI"/>
              </a:defRPr>
            </a:pPr>
            <a:r>
              <a:t>📖 मुख्य वैज्ञानिक तथ्य एवं सिद्धांत (Key Concepts &amp; Exam Notes):</a:t>
            </a:r>
          </a:p>
          <a:p>
            <a:pPr>
              <a:spcBef>
                <a:spcPts val="900"/>
              </a:spcBef>
              <a:spcAft>
                <a:spcPts val="200"/>
              </a:spcAft>
              <a:defRPr sz="1500">
                <a:solidFill>
                  <a:srgbClr val="1E293B"/>
                </a:solidFill>
                <a:latin typeface="Segoe UI"/>
              </a:defRPr>
            </a:pPr>
            <a:r>
              <a:t>•  दहन (Combustion): वह रासायनिक प्रक्रिया जिसमें पदार्थ ऑक्सीजन से अभिक्रिया कर ऊष्मा और प्रकाश उत्पन्न करता है।</a:t>
            </a:r>
          </a:p>
          <a:p>
            <a:pPr>
              <a:spcBef>
                <a:spcPts val="900"/>
              </a:spcBef>
              <a:spcAft>
                <a:spcPts val="200"/>
              </a:spcAft>
              <a:defRPr sz="1500">
                <a:solidFill>
                  <a:srgbClr val="1E293B"/>
                </a:solidFill>
                <a:latin typeface="Segoe UI"/>
              </a:defRPr>
            </a:pPr>
            <a:r>
              <a:t>•  दहन के लिए 3 आवश्यक शर्तें:</a:t>
            </a:r>
          </a:p>
          <a:p>
            <a:pPr>
              <a:spcBef>
                <a:spcPts val="900"/>
              </a:spcBef>
              <a:spcAft>
                <a:spcPts val="200"/>
              </a:spcAft>
              <a:defRPr sz="1500">
                <a:solidFill>
                  <a:srgbClr val="1E293B"/>
                </a:solidFill>
                <a:latin typeface="Segoe UI"/>
              </a:defRPr>
            </a:pPr>
            <a:r>
              <a:t>•    1. दहनशील पदार्थ (ईंधन): लकड़ी, कोयला, पेट्रोल, LPG।</a:t>
            </a:r>
          </a:p>
          <a:p>
            <a:pPr>
              <a:spcBef>
                <a:spcPts val="900"/>
              </a:spcBef>
              <a:spcAft>
                <a:spcPts val="200"/>
              </a:spcAft>
              <a:defRPr sz="1500">
                <a:solidFill>
                  <a:srgbClr val="1E293B"/>
                </a:solidFill>
                <a:latin typeface="Segoe UI"/>
              </a:defRPr>
            </a:pPr>
            <a:r>
              <a:t>•    2. ऑक्सीजन (हवा) की निरंतर आपूर्ति।</a:t>
            </a:r>
          </a:p>
          <a:p>
            <a:pPr>
              <a:spcBef>
                <a:spcPts val="900"/>
              </a:spcBef>
              <a:spcAft>
                <a:spcPts val="200"/>
              </a:spcAft>
              <a:defRPr sz="1500">
                <a:solidFill>
                  <a:srgbClr val="1E293B"/>
                </a:solidFill>
                <a:latin typeface="Segoe UI"/>
              </a:defRPr>
            </a:pPr>
            <a:r>
              <a:t>•    3. ज्वलन ताप (Ignition Temperature): वह न्यूनतम तापमान जिस पर कोई पदार्थ जलना शुरू करता है।</a:t>
            </a:r>
          </a:p>
          <a:p>
            <a:pPr>
              <a:spcBef>
                <a:spcPts val="900"/>
              </a:spcBef>
              <a:spcAft>
                <a:spcPts val="200"/>
              </a:spcAft>
              <a:defRPr sz="1500">
                <a:solidFill>
                  <a:srgbClr val="1E293B"/>
                </a:solidFill>
                <a:latin typeface="Segoe UI"/>
              </a:defRPr>
            </a:pPr>
            <a:r>
              <a:t>•  ज्वलनशील पदार्थ: जिनका ज्वलन ताप बहुत कम होता है और आसानी से आग पकड़ते हैं (जैसे पेट्रोल, एलपीजी, अल्कोहल)।</a:t>
            </a:r>
          </a:p>
          <a:p>
            <a:pPr>
              <a:spcBef>
                <a:spcPts val="900"/>
              </a:spcBef>
              <a:spcAft>
                <a:spcPts val="200"/>
              </a:spcAft>
              <a:defRPr sz="1500">
                <a:solidFill>
                  <a:srgbClr val="1E293B"/>
                </a:solidFill>
                <a:latin typeface="Segoe UI"/>
              </a:defRPr>
            </a:pPr>
            <a:r>
              <a:t>•  माचिस की तीली का सिरा: पोटेशियम क्लोरेट और एंटीमनी ट्राइसल्फाइड होता है; डिब्बी की रगड़ने वाली सतह पर 'लाल फॉस्फोरस' और कांच का चूर्ण होता 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कक्षा 10: आग पर नियंत्रण एवं ज्वाला के तीन क्षेत्र</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 of 37</a:t>
            </a:r>
          </a:p>
        </p:txBody>
      </p:sp>
      <p:sp>
        <p:nvSpPr>
          <p:cNvPr id="6" name="Rounded Rectangle 5"/>
          <p:cNvSpPr/>
          <p:nvPr/>
        </p:nvSpPr>
        <p:spPr>
          <a:xfrm>
            <a:off x="457200" y="1097280"/>
            <a:ext cx="11277295" cy="51206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457200" tIns="320040" rIns="457200"/>
          <a:lstStyle/>
          <a:p>
            <a:pPr algn="ctr">
              <a:defRPr sz="1800" b="1">
                <a:solidFill>
                  <a:srgbClr val="0F172A"/>
                </a:solidFill>
                <a:latin typeface="Segoe UI"/>
              </a:defRPr>
            </a:pPr>
            <a:r>
              <a:t>📖 मुख्य वैज्ञानिक तथ्य एवं सिद्धांत (Key Concepts &amp; Exam Notes):</a:t>
            </a:r>
          </a:p>
          <a:p>
            <a:pPr>
              <a:spcBef>
                <a:spcPts val="900"/>
              </a:spcBef>
              <a:spcAft>
                <a:spcPts val="200"/>
              </a:spcAft>
              <a:defRPr sz="1500">
                <a:solidFill>
                  <a:srgbClr val="1E293B"/>
                </a:solidFill>
                <a:latin typeface="Segoe UI"/>
              </a:defRPr>
            </a:pPr>
            <a:r>
              <a:t>•  आग पर नियंत्रण (Fire Extinguishing): तीनों शर्तों (ईंधन, ऑक्सीजन, ताप) में से किसी एक को तोड़ना।</a:t>
            </a:r>
          </a:p>
          <a:p>
            <a:pPr>
              <a:spcBef>
                <a:spcPts val="900"/>
              </a:spcBef>
              <a:spcAft>
                <a:spcPts val="200"/>
              </a:spcAft>
              <a:defRPr sz="1500">
                <a:solidFill>
                  <a:srgbClr val="1E293B"/>
                </a:solidFill>
                <a:latin typeface="Segoe UI"/>
              </a:defRPr>
            </a:pPr>
            <a:r>
              <a:t>•  CO2 अग्निशामक यंत्र: कार्बन डाइऑक्साइड हवा से भारी होती है और आग को कंबल की तरह ढककर ऑक्सीजन का संपर्क काट देती है। विद्युत तारों और पेट्रोल की आग बुझाने हेतु जल का प्रयोग कभी नहीं करना चाहिए, केवल CO2 उपयोगी है।</a:t>
            </a:r>
          </a:p>
          <a:p>
            <a:pPr>
              <a:spcBef>
                <a:spcPts val="900"/>
              </a:spcBef>
              <a:spcAft>
                <a:spcPts val="200"/>
              </a:spcAft>
              <a:defRPr sz="1500">
                <a:solidFill>
                  <a:srgbClr val="1E293B"/>
                </a:solidFill>
                <a:latin typeface="Segoe UI"/>
              </a:defRPr>
            </a:pPr>
            <a:r>
              <a:t>•  मोमबत्ती की ज्वाला (Flame) के 3 क्षेत्र:</a:t>
            </a:r>
          </a:p>
          <a:p>
            <a:pPr>
              <a:spcBef>
                <a:spcPts val="900"/>
              </a:spcBef>
              <a:spcAft>
                <a:spcPts val="200"/>
              </a:spcAft>
              <a:defRPr sz="1500">
                <a:solidFill>
                  <a:srgbClr val="1E293B"/>
                </a:solidFill>
                <a:latin typeface="Segoe UI"/>
              </a:defRPr>
            </a:pPr>
            <a:r>
              <a:t>•    1. बाहरी क्षेत्र (अदीप्त मंडल / नीला क्षेत्र): पूर्ण दहन; ऑक्सीजन प्रचुर; 'सबसे अधिक गर्म' भाग (स्वर्णकार सोने-चांदी को पिघलाने हेतु इसी का उपयोग करते हैं)।</a:t>
            </a:r>
          </a:p>
          <a:p>
            <a:pPr>
              <a:spcBef>
                <a:spcPts val="900"/>
              </a:spcBef>
              <a:spcAft>
                <a:spcPts val="200"/>
              </a:spcAft>
              <a:defRPr sz="1500">
                <a:solidFill>
                  <a:srgbClr val="1E293B"/>
                </a:solidFill>
                <a:latin typeface="Segoe UI"/>
              </a:defRPr>
            </a:pPr>
            <a:r>
              <a:t>•    2. मध्य क्षेत्र (दीप्त मंडल / पीला क्षेत्र): अपूर्ण दहन; बिना जले कार्बन कण चमकते हैं; मध्यम गर्म।</a:t>
            </a:r>
          </a:p>
          <a:p>
            <a:pPr>
              <a:spcBef>
                <a:spcPts val="900"/>
              </a:spcBef>
              <a:spcAft>
                <a:spcPts val="200"/>
              </a:spcAft>
              <a:defRPr sz="1500">
                <a:solidFill>
                  <a:srgbClr val="1E293B"/>
                </a:solidFill>
                <a:latin typeface="Segoe UI"/>
              </a:defRPr>
            </a:pPr>
            <a:r>
              <a:t>•    3. आंतरिक क्षेत्र (काला क्षेत्र): मोमबत्ती की बत्ती के पास; बिना जली मोम की वाष्प; 'सबसे कम गर्म' भाग।</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कक्षा 10: ईंधन, ऊष्मीय मान (Calorific Value) एवं पर्यावरण प्रभाव</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4 of 37</a:t>
            </a:r>
          </a:p>
        </p:txBody>
      </p:sp>
      <p:sp>
        <p:nvSpPr>
          <p:cNvPr id="6" name="Rounded Rectangle 5"/>
          <p:cNvSpPr/>
          <p:nvPr/>
        </p:nvSpPr>
        <p:spPr>
          <a:xfrm>
            <a:off x="457200" y="1097280"/>
            <a:ext cx="11277295" cy="51206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457200" tIns="320040" rIns="457200"/>
          <a:lstStyle/>
          <a:p>
            <a:pPr algn="ctr">
              <a:defRPr sz="1800" b="1">
                <a:solidFill>
                  <a:srgbClr val="0F172A"/>
                </a:solidFill>
                <a:latin typeface="Segoe UI"/>
              </a:defRPr>
            </a:pPr>
            <a:r>
              <a:t>📖 मुख्य वैज्ञानिक तथ्य एवं सिद्धांत (Key Concepts &amp; Exam Notes):</a:t>
            </a:r>
          </a:p>
          <a:p>
            <a:pPr>
              <a:spcBef>
                <a:spcPts val="900"/>
              </a:spcBef>
              <a:spcAft>
                <a:spcPts val="200"/>
              </a:spcAft>
              <a:defRPr sz="1500">
                <a:solidFill>
                  <a:srgbClr val="1E293B"/>
                </a:solidFill>
                <a:latin typeface="Segoe UI"/>
              </a:defRPr>
            </a:pPr>
            <a:r>
              <a:t>•  ऊष्मीय मान (Calorific Value): किसी ईंधन के 1 किलोग्राम के पूर्ण दहन से उत्पन्न ऊष्मा ऊर्जा की मात्रा। इसका मात्रक 'किलोजूल प्रति किलोग्राम' (kJ/kg) है।</a:t>
            </a:r>
          </a:p>
          <a:p>
            <a:pPr>
              <a:spcBef>
                <a:spcPts val="900"/>
              </a:spcBef>
              <a:spcAft>
                <a:spcPts val="200"/>
              </a:spcAft>
              <a:defRPr sz="1500">
                <a:solidFill>
                  <a:srgbClr val="1E293B"/>
                </a:solidFill>
                <a:latin typeface="Segoe UI"/>
              </a:defRPr>
            </a:pPr>
            <a:r>
              <a:t>•  प्रमुख ईंधनों के ऊष्मीय मान:</a:t>
            </a:r>
          </a:p>
          <a:p>
            <a:pPr>
              <a:spcBef>
                <a:spcPts val="900"/>
              </a:spcBef>
              <a:spcAft>
                <a:spcPts val="200"/>
              </a:spcAft>
              <a:defRPr sz="1500">
                <a:solidFill>
                  <a:srgbClr val="1E293B"/>
                </a:solidFill>
                <a:latin typeface="Segoe UI"/>
              </a:defRPr>
            </a:pPr>
            <a:r>
              <a:t>•    • गोबर के उपले: 6000 - 8000 kJ/kg</a:t>
            </a:r>
          </a:p>
          <a:p>
            <a:pPr>
              <a:spcBef>
                <a:spcPts val="900"/>
              </a:spcBef>
              <a:spcAft>
                <a:spcPts val="200"/>
              </a:spcAft>
              <a:defRPr sz="1500">
                <a:solidFill>
                  <a:srgbClr val="1E293B"/>
                </a:solidFill>
                <a:latin typeface="Segoe UI"/>
              </a:defRPr>
            </a:pPr>
            <a:r>
              <a:t>•    • लकड़ी: 17000 - 22000 kJ/kg | कोयला: 25000 - 33000 kJ/kg</a:t>
            </a:r>
          </a:p>
          <a:p>
            <a:pPr>
              <a:spcBef>
                <a:spcPts val="900"/>
              </a:spcBef>
              <a:spcAft>
                <a:spcPts val="200"/>
              </a:spcAft>
              <a:defRPr sz="1500">
                <a:solidFill>
                  <a:srgbClr val="1E293B"/>
                </a:solidFill>
                <a:latin typeface="Segoe UI"/>
              </a:defRPr>
            </a:pPr>
            <a:r>
              <a:t>•    • पेट्रोल / डीजल / केरोसिन: 45000 kJ/kg</a:t>
            </a:r>
          </a:p>
          <a:p>
            <a:pPr>
              <a:spcBef>
                <a:spcPts val="900"/>
              </a:spcBef>
              <a:spcAft>
                <a:spcPts val="200"/>
              </a:spcAft>
              <a:defRPr sz="1500">
                <a:solidFill>
                  <a:srgbClr val="1E293B"/>
                </a:solidFill>
                <a:latin typeface="Segoe UI"/>
              </a:defRPr>
            </a:pPr>
            <a:r>
              <a:t>•    • CNG व मीथेन: 50000 kJ/kg | LPG: 55000 kJ/kg</a:t>
            </a:r>
          </a:p>
          <a:p>
            <a:pPr>
              <a:spcBef>
                <a:spcPts val="900"/>
              </a:spcBef>
              <a:spcAft>
                <a:spcPts val="200"/>
              </a:spcAft>
              <a:defRPr sz="1500">
                <a:solidFill>
                  <a:srgbClr val="1E293B"/>
                </a:solidFill>
                <a:latin typeface="Segoe UI"/>
              </a:defRPr>
            </a:pPr>
            <a:r>
              <a:t>•    • हाइड्रोजन गैस (Hydrogen): 1,50,000 kJ/kg (ब्रह्मांड में सर्वाधिक ऊष्मीय मान - भविष्य का ईंधन)।</a:t>
            </a:r>
          </a:p>
          <a:p>
            <a:pPr>
              <a:spcBef>
                <a:spcPts val="900"/>
              </a:spcBef>
              <a:spcAft>
                <a:spcPts val="200"/>
              </a:spcAft>
              <a:defRPr sz="1500">
                <a:solidFill>
                  <a:srgbClr val="1E293B"/>
                </a:solidFill>
                <a:latin typeface="Segoe UI"/>
              </a:defRPr>
            </a:pPr>
            <a:r>
              <a:t>•  हानिकारक प्रभाव: ईंधनों के अपूर्ण दहन से जहरीली गैस 'कार्बन मोनोऑक्साइड' (CO - दमघोंटू गैस) निकलती है। CO2 से ग्लोबल वार्मिंग होती है और SO2/NO2 से अम्ल वर्षा होती है।</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  [UP NMMS 2024]</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5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 मोमबत्ती की ज्वाला का कौन सा क्षेत्र 'सर्वाधिक गर्म' होता है जिसका उपयोग सुनार करते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आंतरिक काला क्षेत्र</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मध्य पीला क्षेत्र</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बाहरी नीला क्षेत्र (अदीप्त क्षेत्र)</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निचला क्षेत्र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  [UP NMMS 2024]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6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 मोमबत्ती की ज्वाला का कौन सा क्षेत्र 'सर्वाधिक गर्म' होता है जिसका उपयोग सुनार करते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आंतरिक काला क्षेत्र</a:t>
            </a:r>
          </a:p>
        </p:txBody>
      </p:sp>
      <p:sp>
        <p:nvSpPr>
          <p:cNvPr id="8" name="Rounded Rectangle 7"/>
          <p:cNvSpPr/>
          <p:nvPr/>
        </p:nvSpPr>
        <p:spPr>
          <a:xfrm>
            <a:off x="6291072"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(B)  मध्य पीला क्षेत्र</a:t>
            </a:r>
          </a:p>
        </p:txBody>
      </p:sp>
      <p:sp>
        <p:nvSpPr>
          <p:cNvPr id="9" name="Rounded Rectangle 8"/>
          <p:cNvSpPr/>
          <p:nvPr/>
        </p:nvSpPr>
        <p:spPr>
          <a:xfrm>
            <a:off x="457200" y="3794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(C)  बाहरी नीला क्षेत्र (अदीप्त क्षेत्र)</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निचला क्षेत्र</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(C)</a:t>
            </a:r>
          </a:p>
          <a:p>
            <a:pPr>
              <a:spcBef>
                <a:spcPts val="400"/>
              </a:spcBef>
              <a:defRPr sz="1400" b="0">
                <a:solidFill>
                  <a:srgbClr val="1E293B"/>
                </a:solidFill>
                <a:latin typeface="Segoe UI"/>
              </a:defRPr>
            </a:pPr>
            <a:r>
              <a:t>💡 व्याख्या (Explanation): बाहरी क्षेत्र में पूर्ण दहन होता है, अतः यह ज्वाला का सबसे गर्म (नीला) भाग होता है।</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#2  [Bihar NMMS 2023]</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7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2. निम्नलिखित में से किस ईंधन का ऊष्मीय मान (Calorific Value) सबसे अधिक (1,50,000 kJ/kg)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एलपीजी (LPG)</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हाइड्रोजन गैस (Hydrogen)</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पेट्रोल</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प्राकृतिक गैस (CNG)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#2  [Bihar NMMS 2023]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8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2. निम्नलिखित में से किस ईंधन का ऊष्मीय मान (Calorific Value) सबसे अधिक (1,50,000 kJ/kg)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एलपीजी (LPG)</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हाइड्रोजन गैस (Hydrogen)</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पेट्रोल</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प्राकृतिक गैस (CNG)</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हाइड्रोजन का ऊष्मीय मान सबसे अधिक होता है और यह प्रदूषण रहित स्वच्छ ईंधन है।</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#3  [Rajasthan NMMS 2022]</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9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3. माचिस की डिब्बी की रगड़ने वाली खुरदरी सतह पर मुख्य रूप से कौन सा पदार्थ लगा होता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सफेद फॉस्फोरस</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लाल फॉस्फोरस (Red Phosphorus)</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पोटेशियम क्लोरेट</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सल्फर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#3  [Rajasthan NMMS 2022]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10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3. माचिस की डिब्बी की रगड़ने वाली खुरदरी सतह पर मुख्य रूप से कौन सा पदार्थ लगा होता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सफेद फॉस्फोरस</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लाल फॉस्फोरस (Red Phosphorus)</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पोटेशियम क्लोरेट</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सल्फर</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घर्षण से लाल फॉस्फोरस सफेद फॉस्फोरस में बदलकर तीली को प्रज्वलित करता 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#4  [MP NMMS 2023]</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11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4. विद्युत उपकरणों और पेट्रोल में लगी आग को बुझाने के लिए सबसे उपयुक्त अग्निशामक कौन सा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जल (पानी)</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कार्बन डाइऑक्साइड (CO2)</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ऑक्सीजन</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रेत व जल का मिश्रण</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#4  [MP NMMS 2023]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12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4. विद्युत उपकरणों और पेट्रोल में लगी आग को बुझाने के लिए सबसे उपयुक्त अग्निशामक कौन सा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जल (पानी)</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कार्बन डाइऑक्साइड (CO2)</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ऑक्सीजन</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रेत व जल का मिश्रण</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CO2 विद्युत का कुचालक है और ऑक्सीजन को रोककर आग को तुरंत बुझा देती है।</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#5  [Haryana NMMS 2024]</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13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5. वह न्यूनतम तापमान जिस पर कोई पदार्थ जलना प्रारंभ करता है, क्या कहलाता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क्वथनांक</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ज्वलन ताप (Ignition Temperature)</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गलनांक</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ऊष्मीय ताप</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#5  [Haryana NMMS 2024]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14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5. वह न्यूनतम तापमान जिस पर कोई पदार्थ जलना प्रारंभ करता है, क्या कहलाता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क्वथनांक</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ज्वलन ताप (Ignition Temperature)</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गलनांक</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ऊष्मीय ताप</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जब तक किसी पदार्थ का तापमान उसके ज्वलन ताप तक नहीं पहुंचता, वह आग नहीं पकड़ता।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#6  [Bihar NMMS 2024]</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15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6. बंद कमरे में कोयला जलाकर सोने से किस जहरीली दमघोंटू गैस के बनने से मृत्यु हो सकती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कार्बन डाइऑक्साइड</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कार्बन मोनोऑक्साइड (CO)</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सल्फर डाइऑक्साइड</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नाइट्रोजन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#6  [Bihar NMMS 2024]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16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6. बंद कमरे में कोयला जलाकर सोने से किस जहरीली दमघोंटू गैस के बनने से मृत्यु हो सकती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कार्बन डाइऑक्साइड</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कार्बन मोनोऑक्साइड (CO)</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सल्फर डाइऑक्साइड</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नाइट्रोजन</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अपूर्ण दहन से अत्यंत विषैली कार्बन मोनोऑक्साइड बनती है जो हीमोग्लोबिन से जुड़कर दम घोंट देती है।</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#7  [UP NMMS 2023]</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17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7. ईंधन के ऊष्मीय मान (कैलोरी मान) को मापने की मानक इकाई क्या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जूल</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किलोजूल प्रति किलोग्राम (kJ/kg)</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कैलोरी/सेकंड</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वाट</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#7  [UP NMMS 2023]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18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7. ईंधन के ऊष्मीय मान (कैलोरी मान) को मापने की मानक इकाई क्या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जूल</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किलोजूल प्रति किलोग्राम (kJ/kg)</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कैलोरी/सेकंड</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वाट</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1 किग्रा ईंधन के पूर्ण दहन से उत्पन्न ऊष्मा kJ/kg में व्यक्त की जाती है।</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#8  [Delhi NMMS 2023]</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19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8. मोमबत्ती की ज्वाला का आंतरिक काला क्षेत्र बत्ती के पास काला क्यों दिखाई देता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पूर्ण दहन के कारण</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बिना जली मोम की वाष्प उपस्थित होने से</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अत्यधिक गर्मी से</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धुएं 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#8  [Delhi NMMS 2023]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20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8. मोमबत्ती की ज्वाला का आंतरिक काला क्षेत्र बत्ती के पास काला क्यों दिखाई देता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पूर्ण दहन के कारण</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बिना जली मोम की वाष्प उपस्थित होने से</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अत्यधिक गर्मी से</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धुएं से</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ऑक्सीजन न मिलने से मोमबत्ती के पास बिना जले मोम कण काले दिखते हैं।</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#9  [Maharashtra NMMS 2023]</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21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9. घरों में खाना पकाने के लिए सिलेंडरों में भरी जाने वाली गैस LPG का मुख्य घटक क्या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मीथेन</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ब्यूटेन एवं प्रोपेन (Butane)</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हाइड्रोजन</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हीलियम</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#9  [Maharashtra NMMS 2023]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22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9. घरों में खाना पकाने के लिए सिलेंडरों में भरी जाने वाली गैस LPG का मुख्य घटक क्या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मीथेन</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ब्यूटेन एवं प्रोपेन (Butane)</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हाइड्रोजन</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हीलियम</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द्रवित पेट्रोलियम गैस (LPG) में मुख्य रूप से ब्यूटेन और थोड़ी मात्रा में प्रोपेन होती है।</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#10  [Rajasthan NMMS 2023]</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23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10. LPG गैस रिसाव की पहचान करने के लिए उसमें कौन सा तीव्र दुर्गंधयुक्त पदार्थ मिलाया जाता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क्लोरीन</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एथिल मरकैप्टन (Ethyl Mercaptan)</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अमोनिया</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कपूर</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#10  [Rajasthan NMMS 2023]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24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10. LPG गैस रिसाव की पहचान करने के लिए उसमें कौन सा तीव्र दुर्गंधयुक्त पदार्थ मिलाया जाता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क्लोरीन</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एथिल मरकैप्टन (Ethyl Mercaptan)</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अमोनिया</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कपूर</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सुरक्षा की दृष्टि से गंधहीन LPG में तीखी गंध वाला एथिल मरकैप्टन मिलाया जाता है।</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#11  [MP NMMS 2022]</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25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11. वाहनों में प्रदूषण नियंत्रण हेतु प्रयुक्त CNG का पूरा नाम क्या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Common Natural Gas</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संपीड़ित प्राकृतिक गैस (Compressed Natural Gas)</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Carbon Nitrogen Gas</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Clean New Gas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#11  [MP NMMS 2022]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26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11. वाहनों में प्रदूषण नियंत्रण हेतु प्रयुक्त CNG का पूरा नाम क्या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Common Natural Gas</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संपीड़ित प्राकृतिक गैस (Compressed Natural Gas)</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Carbon Nitrogen Gas</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Clean New Gas</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CNG में मुख्य रूप से मीथेन (CH4) होती है जो न्यूनतम धुआं देती है।</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#12  [All India NMMS 2024]</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27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12. आग बुझाने के लिए जल का उपयोग किस प्रकार की आग में कभी नहीं करना चाहिए?</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लकड़ी की आग</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विद्युत तारों एवं तेल (पेट्रोल) की आग में</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कागज की आग</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कपड़े की आग</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#12  [All India NMMS 2024]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28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12. आग बुझाने के लिए जल का उपयोग किस प्रकार की आग में कभी नहीं करना चाहिए?</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लकड़ी की आग</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विद्युत तारों एवं तेल (पेट्रोल) की आग में</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कागज की आग</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कपड़े की आग</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जल विद्युत का चालक है जिससे करंट लग सकता है, और पेट्रोल पानी पर तैरकर फैलता है।</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#13  [Bihar NMMS 2022]</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29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13. किसी ज्वलनशील पदार्थ के बिना किसी प्रत्यक्ष कारण के अचानक भड़क उठने वाले दहन को क्या कहते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तीव्र दहन</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स्वतः दहन (Spontaneous Combustion)</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विस्फोट</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धीमा दहन</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#13  [Bihar NMMS 2022]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30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13. किसी ज्वलनशील पदार्थ के बिना किसी प्रत्यक्ष कारण के अचानक भड़क उठने वाले दहन को क्या कहते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तीव्र दहन</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स्वतः दहन (Spontaneous Combustion)</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विस्फोट</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धीमा दहन</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कोयले की खानों में कोयले की धूल का स्वतः सुलगना स्वतः दहन का उदाहरण है।</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#14  [UP NMMS 2022]</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31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14. दहन की प्रक्रिया में कौन सी गैस जलने में सहायक (अनिवार्य) होती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कार्बन डाइऑक्साइड</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ऑक्सीजन (O2)</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नाइट्रोजन</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हीलियम</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#14  [UP NMMS 2022]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32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14. दहन की प्रक्रिया में कौन सी गैस जलने में सहायक (अनिवार्य) होती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कार्बन डाइऑक्साइड</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ऑक्सीजन (O2)</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नाइट्रोजन</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हीलियम</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ऑक्सीजन के बिना दहन संभव नहीं है; CO2 आग बुझाने में सहायक है।</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#15  [All India NMMS 2024]</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33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15. पटाखों का तेज आवाज, प्रकाश और गैस के साथ अचानक फटना किस प्रकार का दहन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स्वतः दहन</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विस्फोट (Explosion)</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मंद दहन</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प्राकृतिक दहन</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#15  [All India NMMS 2024]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34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15. पटाखों का तेज आवाज, प्रकाश और गैस के साथ अचानक फटना किस प्रकार का दहन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स्वतः दहन</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विस्फोट (Explosion)</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मंद दहन</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प्राकृतिक दहन</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तीव्र गति से भारी मात्रा में गैस, ध्वनि और ऊष्मा उत्पन्न होना विस्फोट कहलाता है।</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कक्षा 10: सागर सर की 1-मिनट मेमोरी चाबी (दहन व ईंधन सूत्र)</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35 of 37</a:t>
            </a:r>
          </a:p>
        </p:txBody>
      </p:sp>
      <p:sp>
        <p:nvSpPr>
          <p:cNvPr id="6" name="Rounded Rectangle 5"/>
          <p:cNvSpPr/>
          <p:nvPr/>
        </p:nvSpPr>
        <p:spPr>
          <a:xfrm>
            <a:off x="457200" y="1097280"/>
            <a:ext cx="11277295" cy="5120640"/>
          </a:xfrm>
          <a:prstGeom prst="roundRect">
            <a:avLst/>
          </a:prstGeom>
          <a:solidFill>
            <a:srgbClr val="FEF3C7"/>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457200" tIns="320040"/>
          <a:lstStyle/>
          <a:p>
            <a:pPr algn="ctr">
              <a:defRPr sz="1900" b="1">
                <a:solidFill>
                  <a:srgbClr val="0F172A"/>
                </a:solidFill>
                <a:latin typeface="Segoe UI"/>
              </a:defRPr>
            </a:pPr>
            <a:r>
              <a:t>🔑 1-मिनट क्विक मेमोरी सूत्र (Revision Formulae):</a:t>
            </a:r>
          </a:p>
          <a:p>
            <a:pPr>
              <a:spcBef>
                <a:spcPts val="1200"/>
              </a:spcBef>
              <a:spcAft>
                <a:spcPts val="200"/>
              </a:spcAft>
              <a:defRPr sz="1600" b="1">
                <a:solidFill>
                  <a:srgbClr val="78350F"/>
                </a:solidFill>
                <a:latin typeface="Segoe UI"/>
              </a:defRPr>
            </a:pPr>
            <a:r>
              <a:t>⚡  दहन हेतु 3 शर्तें = ईंधन + ऑक्सीजन + ज्वलन ताप</a:t>
            </a:r>
          </a:p>
          <a:p>
            <a:pPr>
              <a:spcBef>
                <a:spcPts val="1200"/>
              </a:spcBef>
              <a:spcAft>
                <a:spcPts val="200"/>
              </a:spcAft>
              <a:defRPr sz="1600" b="1">
                <a:solidFill>
                  <a:srgbClr val="78350F"/>
                </a:solidFill>
                <a:latin typeface="Segoe UI"/>
              </a:defRPr>
            </a:pPr>
            <a:r>
              <a:t>⚡  माचिस = लाल फॉस्फोरस (डिब्बी) + पोटेशियम क्लोरेट (तीली)</a:t>
            </a:r>
          </a:p>
          <a:p>
            <a:pPr>
              <a:spcBef>
                <a:spcPts val="1200"/>
              </a:spcBef>
              <a:spcAft>
                <a:spcPts val="200"/>
              </a:spcAft>
              <a:defRPr sz="1600" b="1">
                <a:solidFill>
                  <a:srgbClr val="78350F"/>
                </a:solidFill>
                <a:latin typeface="Segoe UI"/>
              </a:defRPr>
            </a:pPr>
            <a:r>
              <a:t>⚡  ज्वाला के 3 क्षेत्र = बाहरी नीला (सबसे गर्म) &gt; मध्य पीला &gt; आंतरिक काला</a:t>
            </a:r>
          </a:p>
          <a:p>
            <a:pPr>
              <a:spcBef>
                <a:spcPts val="1200"/>
              </a:spcBef>
              <a:spcAft>
                <a:spcPts val="200"/>
              </a:spcAft>
              <a:defRPr sz="1600" b="1">
                <a:solidFill>
                  <a:srgbClr val="78350F"/>
                </a:solidFill>
                <a:latin typeface="Segoe UI"/>
              </a:defRPr>
            </a:pPr>
            <a:r>
              <a:t>⚡  हाइड्रोजन = सर्वोच्च ऊष्मीय मान (1,50,000 kJ/kg) | मात्रक = kJ/kg</a:t>
            </a:r>
          </a:p>
          <a:p>
            <a:pPr>
              <a:spcBef>
                <a:spcPts val="1200"/>
              </a:spcBef>
              <a:spcAft>
                <a:spcPts val="200"/>
              </a:spcAft>
              <a:defRPr sz="1600" b="1">
                <a:solidFill>
                  <a:srgbClr val="78350F"/>
                </a:solidFill>
                <a:latin typeface="Segoe UI"/>
              </a:defRPr>
            </a:pPr>
            <a:r>
              <a:t>⚡  LPG = ब्यूटेन + गंध हेतु एथिल मरकैप्टन | CNG = संपीड़ित प्राकृतिक गैस (मीथेन)</a:t>
            </a:r>
          </a:p>
          <a:p>
            <a:pPr>
              <a:spcBef>
                <a:spcPts val="1200"/>
              </a:spcBef>
              <a:spcAft>
                <a:spcPts val="200"/>
              </a:spcAft>
              <a:defRPr sz="1600" b="1">
                <a:solidFill>
                  <a:srgbClr val="78350F"/>
                </a:solidFill>
                <a:latin typeface="Segoe UI"/>
              </a:defRPr>
            </a:pPr>
            <a:r>
              <a:t>⚡  CO = कार्बन मोनोऑक्साइड (दमघोंटू गैस) | CO2 = अग्निशामक गैस</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आज का अभ्यास कार्य (Homework Questions)</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36 of 37</a:t>
            </a:r>
          </a:p>
        </p:txBody>
      </p:sp>
      <p:sp>
        <p:nvSpPr>
          <p:cNvPr id="6" name="Rounded Rectangle 5"/>
          <p:cNvSpPr/>
          <p:nvPr/>
        </p:nvSpPr>
        <p:spPr>
          <a:xfrm>
            <a:off x="457200" y="1097280"/>
            <a:ext cx="11277295" cy="512064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457200" tIns="320040"/>
          <a:lstStyle/>
          <a:p>
            <a:pPr algn="ctr">
              <a:defRPr sz="1900" b="1">
                <a:solidFill>
                  <a:srgbClr val="0F172A"/>
                </a:solidFill>
                <a:latin typeface="Segoe UI"/>
              </a:defRPr>
            </a:pPr>
            <a:r>
              <a:t>📝 घर पर अभ्यास के लिए 3 महत्वपूर्ण प्रश्न (Self Practice):</a:t>
            </a:r>
          </a:p>
          <a:p>
            <a:pPr>
              <a:spcBef>
                <a:spcPts val="1600"/>
              </a:spcBef>
              <a:spcAft>
                <a:spcPts val="400"/>
              </a:spcAft>
              <a:defRPr sz="1600">
                <a:solidFill>
                  <a:srgbClr val="1E293B"/>
                </a:solidFill>
                <a:latin typeface="Segoe UI"/>
              </a:defRPr>
            </a:pPr>
            <a:r>
              <a:t>प्रश्न 1.  मोमबत्ती की ज्वाला के तीनों क्षेत्रों का नामांकित चित्र बनाकर सबसे गर्म भाग बताइए।</a:t>
            </a:r>
          </a:p>
          <a:p>
            <a:pPr>
              <a:spcBef>
                <a:spcPts val="1600"/>
              </a:spcBef>
              <a:spcAft>
                <a:spcPts val="400"/>
              </a:spcAft>
              <a:defRPr sz="1600">
                <a:solidFill>
                  <a:srgbClr val="1E293B"/>
                </a:solidFill>
                <a:latin typeface="Segoe UI"/>
              </a:defRPr>
            </a:pPr>
            <a:r>
              <a:t>प्रश्न 2.  विद्युत उपकरणों और पेट्रोल से लगी आग बुझाने में पानी का उपयोग क्यों नहीं किया जाता?</a:t>
            </a:r>
          </a:p>
          <a:p>
            <a:pPr>
              <a:spcBef>
                <a:spcPts val="1600"/>
              </a:spcBef>
              <a:spcAft>
                <a:spcPts val="400"/>
              </a:spcAft>
              <a:defRPr sz="1600">
                <a:solidFill>
                  <a:srgbClr val="1E293B"/>
                </a:solidFill>
                <a:latin typeface="Segoe UI"/>
              </a:defRPr>
            </a:pPr>
            <a:r>
              <a:t>प्रश्न 3.  LPG और CNG का पूरा नाम तथा इनके मुख्य घटकों के नाम लिखिए।</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 राष्ट्रीय आय-सह-मेधा छात्रवृत्ति परीक्षा (NMMS All India Special) • मिशन 35/35 अंक</a:t>
            </a:r>
          </a:p>
        </p:txBody>
      </p:sp>
      <p:pic>
        <p:nvPicPr>
          <p:cNvPr id="4" name="Picture 3" descr="logo-circle-transparent.png"/>
          <p:cNvPicPr>
            <a:picLocks noChangeAspect="1"/>
          </p:cNvPicPr>
          <p:nvPr/>
        </p:nvPicPr>
        <p:blipFill>
          <a:blip r:embed="rId2"/>
          <a:stretch>
            <a:fillRect/>
          </a:stretch>
        </p:blipFill>
        <p:spPr>
          <a:xfrm>
            <a:off x="5486400" y="640080"/>
            <a:ext cx="1216152" cy="1216152"/>
          </a:xfrm>
          <a:prstGeom prst="rect">
            <a:avLst/>
          </a:prstGeom>
        </p:spPr>
      </p:pic>
      <p:sp>
        <p:nvSpPr>
          <p:cNvPr id="5" name="TextBox 4"/>
          <p:cNvSpPr txBox="1"/>
          <p:nvPr/>
        </p:nvSpPr>
        <p:spPr>
          <a:xfrm>
            <a:off x="457200" y="1874519"/>
            <a:ext cx="11277295" cy="548640"/>
          </a:xfrm>
          <a:prstGeom prst="rect">
            <a:avLst/>
          </a:prstGeom>
          <a:noFill/>
        </p:spPr>
        <p:txBody>
          <a:bodyPr wrap="none">
            <a:spAutoFit/>
          </a:bodyPr>
          <a:lstStyle/>
          <a:p>
            <a:pPr algn="ctr">
              <a:defRPr sz="1600" b="1">
                <a:solidFill>
                  <a:srgbClr val="D97706"/>
                </a:solidFill>
                <a:latin typeface="Segoe UI"/>
              </a:defRPr>
            </a:pPr>
            <a:r>
              <a:t>SAGAR COACHING CENTRE, BHAGWANPUR (SUPAUL, BIHAR)</a:t>
            </a:r>
          </a:p>
        </p:txBody>
      </p:sp>
      <p:sp>
        <p:nvSpPr>
          <p:cNvPr id="6" name="Rounded Rectangle 5"/>
          <p:cNvSpPr/>
          <p:nvPr/>
        </p:nvSpPr>
        <p:spPr>
          <a:xfrm>
            <a:off x="3346704" y="2468880"/>
            <a:ext cx="5486400" cy="457200"/>
          </a:xfrm>
          <a:prstGeom prst="roundRect">
            <a:avLst/>
          </a:prstGeom>
          <a:solidFill>
            <a:srgbClr val="0D9488"/>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 Class 10 Complete! कल मिलेंगे Class 11 में 🌟</a:t>
            </a:r>
          </a:p>
        </p:txBody>
      </p:sp>
      <p:sp>
        <p:nvSpPr>
          <p:cNvPr id="7" name="TextBox 6"/>
          <p:cNvSpPr txBox="1"/>
          <p:nvPr/>
        </p:nvSpPr>
        <p:spPr>
          <a:xfrm>
            <a:off x="457200" y="2971800"/>
            <a:ext cx="11277295" cy="1097280"/>
          </a:xfrm>
          <a:prstGeom prst="rect">
            <a:avLst/>
          </a:prstGeom>
          <a:noFill/>
        </p:spPr>
        <p:txBody>
          <a:bodyPr wrap="square">
            <a:spAutoFit/>
          </a:bodyPr>
          <a:lstStyle/>
          <a:p>
            <a:pPr algn="ctr">
              <a:defRPr sz="3000" b="1">
                <a:solidFill>
                  <a:srgbClr val="FFFFFF"/>
                </a:solidFill>
                <a:latin typeface="Segoe UI"/>
              </a:defRPr>
            </a:pPr>
            <a:r>
              <a:t>कल का विषय: संश्लेषित रेशे, प्लास्टिक एवं परिवर्तन</a:t>
            </a:r>
          </a:p>
          <a:p>
            <a:pPr algn="ctr">
              <a:spcBef>
                <a:spcPts val="400"/>
              </a:spcBef>
              <a:defRPr sz="1500">
                <a:solidFill>
                  <a:srgbClr val="CBD5E1"/>
                </a:solidFill>
                <a:latin typeface="Segoe UI"/>
              </a:defRPr>
            </a:pPr>
            <a:r>
              <a:t>इस क्लास की PDF डाउनलोड करें: sagarcoaching.tech</a:t>
            </a:r>
          </a:p>
        </p:txBody>
      </p:sp>
      <p:sp>
        <p:nvSpPr>
          <p:cNvPr id="8" name="Rounded Rectangle 7"/>
          <p:cNvSpPr/>
          <p:nvPr/>
        </p:nvSpPr>
        <p:spPr>
          <a:xfrm>
            <a:off x="1371600" y="4160520"/>
            <a:ext cx="9448495" cy="18288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400" b="1">
                <a:solidFill>
                  <a:srgbClr val="D97706"/>
                </a:solidFill>
                <a:latin typeface="Segoe UI"/>
              </a:defRPr>
            </a:pPr>
            <a:r>
              <a:t>🎯 आज की क्लास में क्या सीखेंगे (Key Topics):</a:t>
            </a:r>
          </a:p>
          <a:p>
            <a:pPr>
              <a:spcBef>
                <a:spcPts val="200"/>
              </a:spcBef>
              <a:defRPr sz="1200">
                <a:solidFill>
                  <a:srgbClr val="FFFFFF"/>
                </a:solidFill>
                <a:latin typeface="Segoe UI"/>
              </a:defRPr>
            </a:pPr>
            <a:r>
              <a:t>  ✓  प्राकृतिक रेशे (कपास, ऊन, रेशम) व संश्लेषित रेशे (नायलॉन, रेयान, पॉलिएस्टर)</a:t>
            </a:r>
          </a:p>
          <a:p>
            <a:pPr>
              <a:spcBef>
                <a:spcPts val="200"/>
              </a:spcBef>
              <a:defRPr sz="1200">
                <a:solidFill>
                  <a:srgbClr val="FFFFFF"/>
                </a:solidFill>
                <a:latin typeface="Segoe UI"/>
              </a:defRPr>
            </a:pPr>
            <a:r>
              <a:t>  ✓  रेयान = 'कृत्रिम रेशम' (काष्ठ लुगदी से निर्मित)</a:t>
            </a:r>
          </a:p>
          <a:p>
            <a:pPr>
              <a:spcBef>
                <a:spcPts val="200"/>
              </a:spcBef>
              <a:defRPr sz="1200">
                <a:solidFill>
                  <a:srgbClr val="FFFFFF"/>
                </a:solidFill>
                <a:latin typeface="Segoe UI"/>
              </a:defRPr>
            </a:pPr>
            <a:r>
              <a:t>  ✓  नायलॉन = प्रथम पूर्ण संश्लेषित रेशा (पैराशूट व रस्सियां)</a:t>
            </a:r>
          </a:p>
          <a:p>
            <a:pPr>
              <a:spcBef>
                <a:spcPts val="200"/>
              </a:spcBef>
              <a:defRPr sz="1200">
                <a:solidFill>
                  <a:srgbClr val="FFFFFF"/>
                </a:solidFill>
                <a:latin typeface="Segoe UI"/>
              </a:defRPr>
            </a:pPr>
            <a:r>
              <a:t>  ✓  थर्मोप्लास्टिक (पॉलीथीन/PVC) व थर्मोसेटिंग प्लास्टिक (बैकेलाइट/मेलामाइन)</a:t>
            </a:r>
          </a:p>
        </p:txBody>
      </p:sp>
      <p:sp>
        <p:nvSpPr>
          <p:cNvPr id="9" name="TextBox 8"/>
          <p:cNvSpPr txBox="1"/>
          <p:nvPr/>
        </p:nvSpPr>
        <p:spPr>
          <a:xfrm>
            <a:off x="457200" y="6172200"/>
            <a:ext cx="11277295" cy="457200"/>
          </a:xfrm>
          <a:prstGeom prst="rect">
            <a:avLst/>
          </a:prstGeom>
          <a:noFill/>
        </p:spPr>
        <p:txBody>
          <a:bodyPr wrap="none">
            <a:spAutoFit/>
          </a:bodyPr>
          <a:lstStyle/>
          <a:p>
            <a:pPr algn="ctr">
              <a:defRPr sz="1100">
                <a:solidFill>
                  <a:srgbClr val="94A3B8"/>
                </a:solidFill>
                <a:latin typeface="Segoe UI"/>
              </a:defRPr>
            </a:pPr>
            <a:r>
              <a:t>मार्गदर्शक: सागर सर (NMMS King)  |  Website: sagarcoaching.tech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