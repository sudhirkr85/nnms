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 राष्ट्रीय आय-सह-मेधा छात्रवृत्ति परीक्षा (NMMS All India Special) • मिशन 35/35 अंक</a:t>
            </a:r>
          </a:p>
        </p:txBody>
      </p:sp>
      <p:pic>
        <p:nvPicPr>
          <p:cNvPr id="4" name="Picture 3" descr="logo-circle-transparent.png"/>
          <p:cNvPicPr>
            <a:picLocks noChangeAspect="1"/>
          </p:cNvPicPr>
          <p:nvPr/>
        </p:nvPicPr>
        <p:blipFill>
          <a:blip r:embed="rId2"/>
          <a:stretch>
            <a:fillRect/>
          </a:stretch>
        </p:blipFill>
        <p:spPr>
          <a:xfrm>
            <a:off x="5486400" y="640080"/>
            <a:ext cx="1216152" cy="1216152"/>
          </a:xfrm>
          <a:prstGeom prst="rect">
            <a:avLst/>
          </a:prstGeom>
        </p:spPr>
      </p:pic>
      <p:sp>
        <p:nvSpPr>
          <p:cNvPr id="5" name="TextBox 4"/>
          <p:cNvSpPr txBox="1"/>
          <p:nvPr/>
        </p:nvSpPr>
        <p:spPr>
          <a:xfrm>
            <a:off x="457200" y="1874519"/>
            <a:ext cx="11277295" cy="548640"/>
          </a:xfrm>
          <a:prstGeom prst="rect">
            <a:avLst/>
          </a:prstGeom>
          <a:noFill/>
        </p:spPr>
        <p:txBody>
          <a:bodyPr wrap="none">
            <a:spAutoFit/>
          </a:bodyPr>
          <a:lstStyle/>
          <a:p>
            <a:pPr algn="ctr">
              <a:defRPr sz="1600" b="1">
                <a:solidFill>
                  <a:srgbClr val="D97706"/>
                </a:solidFill>
                <a:latin typeface="Segoe UI"/>
              </a:defRPr>
            </a:pPr>
            <a:r>
              <a:t>SAGAR COACHING CENTRE, BHAGWANPUR (SUPAUL, BIHAR)</a:t>
            </a:r>
          </a:p>
        </p:txBody>
      </p:sp>
      <p:sp>
        <p:nvSpPr>
          <p:cNvPr id="6" name="Rounded Rectangle 5"/>
          <p:cNvSpPr/>
          <p:nvPr/>
        </p:nvSpPr>
        <p:spPr>
          <a:xfrm>
            <a:off x="3346704" y="2468880"/>
            <a:ext cx="5486400" cy="457200"/>
          </a:xfrm>
          <a:prstGeom prst="roundRect">
            <a:avLst/>
          </a:prstGeom>
          <a:solidFill>
            <a:srgbClr val="0D9488"/>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 Class 07 • रसायन विज्ञान (Chemistry Special) 🌟</a:t>
            </a:r>
          </a:p>
        </p:txBody>
      </p:sp>
      <p:sp>
        <p:nvSpPr>
          <p:cNvPr id="7" name="TextBox 6"/>
          <p:cNvSpPr txBox="1"/>
          <p:nvPr/>
        </p:nvSpPr>
        <p:spPr>
          <a:xfrm>
            <a:off x="457200" y="2971800"/>
            <a:ext cx="11277295" cy="1097280"/>
          </a:xfrm>
          <a:prstGeom prst="rect">
            <a:avLst/>
          </a:prstGeom>
          <a:noFill/>
        </p:spPr>
        <p:txBody>
          <a:bodyPr wrap="square">
            <a:spAutoFit/>
          </a:bodyPr>
          <a:lstStyle/>
          <a:p>
            <a:pPr algn="ctr">
              <a:defRPr sz="3000" b="1">
                <a:solidFill>
                  <a:srgbClr val="FFFFFF"/>
                </a:solidFill>
                <a:latin typeface="Segoe UI"/>
              </a:defRPr>
            </a:pPr>
            <a:r>
              <a:t>पदार्थ, तत्व, यौगिक, परमाणु एवं अणु</a:t>
            </a:r>
          </a:p>
          <a:p>
            <a:pPr algn="ctr">
              <a:spcBef>
                <a:spcPts val="400"/>
              </a:spcBef>
              <a:defRPr sz="1500">
                <a:solidFill>
                  <a:srgbClr val="CBD5E1"/>
                </a:solidFill>
                <a:latin typeface="Segoe UI"/>
              </a:defRPr>
            </a:pPr>
            <a:r>
              <a:t>Matter, States of Matter, Elements, Compounds, Mixtures, Dalton's Atomic Theory &amp; Chemical Formulas</a:t>
            </a:r>
          </a:p>
        </p:txBody>
      </p:sp>
      <p:sp>
        <p:nvSpPr>
          <p:cNvPr id="8" name="Rounded Rectangle 7"/>
          <p:cNvSpPr/>
          <p:nvPr/>
        </p:nvSpPr>
        <p:spPr>
          <a:xfrm>
            <a:off x="1371600" y="4160520"/>
            <a:ext cx="9448495" cy="18288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sz="1400" b="1">
                <a:solidFill>
                  <a:srgbClr val="D97706"/>
                </a:solidFill>
                <a:latin typeface="Segoe UI"/>
              </a:defRPr>
            </a:pPr>
            <a:r>
              <a:t>🎯 आज की क्लास में क्या सीखेंगे (Key Topics):</a:t>
            </a:r>
          </a:p>
          <a:p>
            <a:pPr>
              <a:spcBef>
                <a:spcPts val="200"/>
              </a:spcBef>
              <a:defRPr sz="1200">
                <a:solidFill>
                  <a:srgbClr val="FFFFFF"/>
                </a:solidFill>
                <a:latin typeface="Segoe UI"/>
              </a:defRPr>
            </a:pPr>
            <a:r>
              <a:t>  ✓  पदार्थ की 3 मुख्य अवस्थाएं (ठोस, द्रव, गैस) व अवस्था परिवर्तन</a:t>
            </a:r>
          </a:p>
          <a:p>
            <a:pPr>
              <a:spcBef>
                <a:spcPts val="200"/>
              </a:spcBef>
              <a:defRPr sz="1200">
                <a:solidFill>
                  <a:srgbClr val="FFFFFF"/>
                </a:solidFill>
                <a:latin typeface="Segoe UI"/>
              </a:defRPr>
            </a:pPr>
            <a:r>
              <a:t>  ✓  तत्व (Elements), यौगिक (Compounds) एवं मिश्रण (Mixtures)</a:t>
            </a:r>
          </a:p>
          <a:p>
            <a:pPr>
              <a:spcBef>
                <a:spcPts val="200"/>
              </a:spcBef>
              <a:defRPr sz="1200">
                <a:solidFill>
                  <a:srgbClr val="FFFFFF"/>
                </a:solidFill>
                <a:latin typeface="Segoe UI"/>
              </a:defRPr>
            </a:pPr>
            <a:r>
              <a:t>  ✓  डाल्टन का परमाणु सिद्धांत एवं परमाणु के 3 मौलिक कण (p, n, e)</a:t>
            </a:r>
          </a:p>
          <a:p>
            <a:pPr>
              <a:spcBef>
                <a:spcPts val="200"/>
              </a:spcBef>
              <a:defRPr sz="1200">
                <a:solidFill>
                  <a:srgbClr val="FFFFFF"/>
                </a:solidFill>
                <a:latin typeface="Segoe UI"/>
              </a:defRPr>
            </a:pPr>
            <a:r>
              <a:t>  ✓  रासायनिक सूत्र: जल (H2O), नमक (NaCl), कार्बन डाइऑक्साइड (CO2)</a:t>
            </a:r>
          </a:p>
          <a:p>
            <a:pPr>
              <a:spcBef>
                <a:spcPts val="200"/>
              </a:spcBef>
              <a:defRPr sz="1200">
                <a:solidFill>
                  <a:srgbClr val="FFFFFF"/>
                </a:solidFill>
                <a:latin typeface="Segoe UI"/>
              </a:defRPr>
            </a:pPr>
            <a:r>
              <a:t>  ✓  15 मोस्ट रिपीटेड All India NMMS PYQs</a:t>
            </a:r>
          </a:p>
        </p:txBody>
      </p:sp>
      <p:sp>
        <p:nvSpPr>
          <p:cNvPr id="9" name="TextBox 8"/>
          <p:cNvSpPr txBox="1"/>
          <p:nvPr/>
        </p:nvSpPr>
        <p:spPr>
          <a:xfrm>
            <a:off x="457200" y="6172200"/>
            <a:ext cx="11277295" cy="457200"/>
          </a:xfrm>
          <a:prstGeom prst="rect">
            <a:avLst/>
          </a:prstGeom>
          <a:noFill/>
        </p:spPr>
        <p:txBody>
          <a:bodyPr wrap="none">
            <a:spAutoFit/>
          </a:bodyPr>
          <a:lstStyle/>
          <a:p>
            <a:pPr algn="ctr">
              <a:defRPr sz="1100">
                <a:solidFill>
                  <a:srgbClr val="94A3B8"/>
                </a:solidFill>
                <a:latin typeface="Segoe UI"/>
              </a:defRPr>
            </a:pPr>
            <a:r>
              <a:t>मार्गदर्शक: सागर सर (NMMS King)  |  Website: sagarcoaching.tech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कक्षा 07: पदार्थ की अवस्थाएं एवं अवस्था परिवर्तन (States of Matter)</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 of 37</a:t>
            </a:r>
          </a:p>
        </p:txBody>
      </p:sp>
      <p:sp>
        <p:nvSpPr>
          <p:cNvPr id="6" name="Rounded Rectangle 5"/>
          <p:cNvSpPr/>
          <p:nvPr/>
        </p:nvSpPr>
        <p:spPr>
          <a:xfrm>
            <a:off x="457200" y="1097280"/>
            <a:ext cx="11277295" cy="51206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457200" tIns="320040" rIns="457200"/>
          <a:lstStyle/>
          <a:p>
            <a:pPr algn="ctr">
              <a:defRPr sz="1800" b="1">
                <a:solidFill>
                  <a:srgbClr val="0F172A"/>
                </a:solidFill>
                <a:latin typeface="Segoe UI"/>
              </a:defRPr>
            </a:pPr>
            <a:r>
              <a:t>📖 मुख्य वैज्ञानिक तथ्य एवं सिद्धांत (Key Concepts &amp; Exam Notes):</a:t>
            </a:r>
          </a:p>
          <a:p>
            <a:pPr>
              <a:spcBef>
                <a:spcPts val="900"/>
              </a:spcBef>
              <a:spcAft>
                <a:spcPts val="200"/>
              </a:spcAft>
              <a:defRPr sz="1500">
                <a:solidFill>
                  <a:srgbClr val="1E293B"/>
                </a:solidFill>
                <a:latin typeface="Segoe UI"/>
              </a:defRPr>
            </a:pPr>
            <a:r>
              <a:t>•  पदार्थ (Matter): वह वस्तु जो स्थान घेरती है और जिसमें द्रव्यमान (भार) होता है।</a:t>
            </a:r>
          </a:p>
          <a:p>
            <a:pPr>
              <a:spcBef>
                <a:spcPts val="900"/>
              </a:spcBef>
              <a:spcAft>
                <a:spcPts val="200"/>
              </a:spcAft>
              <a:defRPr sz="1500">
                <a:solidFill>
                  <a:srgbClr val="1E293B"/>
                </a:solidFill>
                <a:latin typeface="Segoe UI"/>
              </a:defRPr>
            </a:pPr>
            <a:r>
              <a:t>•  तीन मुख्य अवस्थाएं:</a:t>
            </a:r>
          </a:p>
          <a:p>
            <a:pPr>
              <a:spcBef>
                <a:spcPts val="900"/>
              </a:spcBef>
              <a:spcAft>
                <a:spcPts val="200"/>
              </a:spcAft>
              <a:defRPr sz="1500">
                <a:solidFill>
                  <a:srgbClr val="1E293B"/>
                </a:solidFill>
                <a:latin typeface="Segoe UI"/>
              </a:defRPr>
            </a:pPr>
            <a:r>
              <a:t>•    • ठोस (Solid): निश्चित आकार और निश्चित आयतन (कण अत्यंत पास-पास, प्रबल आकर्षण बल)।</a:t>
            </a:r>
          </a:p>
          <a:p>
            <a:pPr>
              <a:spcBef>
                <a:spcPts val="900"/>
              </a:spcBef>
              <a:spcAft>
                <a:spcPts val="200"/>
              </a:spcAft>
              <a:defRPr sz="1500">
                <a:solidFill>
                  <a:srgbClr val="1E293B"/>
                </a:solidFill>
                <a:latin typeface="Segoe UI"/>
              </a:defRPr>
            </a:pPr>
            <a:r>
              <a:t>•    • द्रव (Liquid): अनिश्चित आकार (पात्र के अनुसार) परंतु 'निश्चित आयतन' (कण थोड़े दूर)।</a:t>
            </a:r>
          </a:p>
          <a:p>
            <a:pPr>
              <a:spcBef>
                <a:spcPts val="900"/>
              </a:spcBef>
              <a:spcAft>
                <a:spcPts val="200"/>
              </a:spcAft>
              <a:defRPr sz="1500">
                <a:solidFill>
                  <a:srgbClr val="1E293B"/>
                </a:solidFill>
                <a:latin typeface="Segoe UI"/>
              </a:defRPr>
            </a:pPr>
            <a:r>
              <a:t>•    • गैस (Gas): न निश्चित आकार, न निश्चित आयतन (कण बहुत दूर, नगण्य आकर्षण बल, अत्यधिक संपीड्य)।</a:t>
            </a:r>
          </a:p>
          <a:p>
            <a:pPr>
              <a:spcBef>
                <a:spcPts val="900"/>
              </a:spcBef>
              <a:spcAft>
                <a:spcPts val="200"/>
              </a:spcAft>
              <a:defRPr sz="1500">
                <a:solidFill>
                  <a:srgbClr val="1E293B"/>
                </a:solidFill>
                <a:latin typeface="Segoe UI"/>
              </a:defRPr>
            </a:pPr>
            <a:r>
              <a:t>•  अवस्था परिवर्तन की प्रक्रियाएं:</a:t>
            </a:r>
          </a:p>
          <a:p>
            <a:pPr>
              <a:spcBef>
                <a:spcPts val="900"/>
              </a:spcBef>
              <a:spcAft>
                <a:spcPts val="200"/>
              </a:spcAft>
              <a:defRPr sz="1500">
                <a:solidFill>
                  <a:srgbClr val="1E293B"/>
                </a:solidFill>
                <a:latin typeface="Segoe UI"/>
              </a:defRPr>
            </a:pPr>
            <a:r>
              <a:t>•    • गलनांक (Melting Point): ठोस से द्रव में बदलना (बर्फ का गलनांक 0°C)।</a:t>
            </a:r>
          </a:p>
          <a:p>
            <a:pPr>
              <a:spcBef>
                <a:spcPts val="900"/>
              </a:spcBef>
              <a:spcAft>
                <a:spcPts val="200"/>
              </a:spcAft>
              <a:defRPr sz="1500">
                <a:solidFill>
                  <a:srgbClr val="1E293B"/>
                </a:solidFill>
                <a:latin typeface="Segoe UI"/>
              </a:defRPr>
            </a:pPr>
            <a:r>
              <a:t>•    • क्वथनांक (Boiling Point): द्रव से गैस में बदलना (जल का क्वथनांक 100°C)।</a:t>
            </a:r>
          </a:p>
          <a:p>
            <a:pPr>
              <a:spcBef>
                <a:spcPts val="900"/>
              </a:spcBef>
              <a:spcAft>
                <a:spcPts val="200"/>
              </a:spcAft>
              <a:defRPr sz="1500">
                <a:solidFill>
                  <a:srgbClr val="1E293B"/>
                </a:solidFill>
                <a:latin typeface="Segoe UI"/>
              </a:defRPr>
            </a:pPr>
            <a:r>
              <a:t>•    • ऊर्ध्वपातन (Sublimation): ठोस का बिना द्रव बने सीधे गैस में बदलना (कपूर, नेफ्थलीन, अमोनियम क्लोराइड / नौसादर, आयोडीन)।</a:t>
            </a:r>
          </a:p>
          <a:p>
            <a:pPr>
              <a:spcBef>
                <a:spcPts val="900"/>
              </a:spcBef>
              <a:spcAft>
                <a:spcPts val="200"/>
              </a:spcAft>
              <a:defRPr sz="1500">
                <a:solidFill>
                  <a:srgbClr val="1E293B"/>
                </a:solidFill>
                <a:latin typeface="Segoe UI"/>
              </a:defRPr>
            </a:pPr>
            <a:r>
              <a:t>•    • संघनन (Condensation): वाष्प (गैस) का ठंडा होकर द्रव में बदलना (बादलों से वर्षा)।</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कक्षा 07: तत्व, यौगिक, मिश्रण एवं पृथक्करण की विधियां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3 of 37</a:t>
            </a:r>
          </a:p>
        </p:txBody>
      </p:sp>
      <p:sp>
        <p:nvSpPr>
          <p:cNvPr id="6" name="Rounded Rectangle 5"/>
          <p:cNvSpPr/>
          <p:nvPr/>
        </p:nvSpPr>
        <p:spPr>
          <a:xfrm>
            <a:off x="457200" y="1097280"/>
            <a:ext cx="11277295" cy="51206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457200" tIns="320040" rIns="457200"/>
          <a:lstStyle/>
          <a:p>
            <a:pPr algn="ctr">
              <a:defRPr sz="1800" b="1">
                <a:solidFill>
                  <a:srgbClr val="0F172A"/>
                </a:solidFill>
                <a:latin typeface="Segoe UI"/>
              </a:defRPr>
            </a:pPr>
            <a:r>
              <a:t>📖 मुख्य वैज्ञानिक तथ्य एवं सिद्धांत (Key Concepts &amp; Exam Notes):</a:t>
            </a:r>
          </a:p>
          <a:p>
            <a:pPr>
              <a:spcBef>
                <a:spcPts val="900"/>
              </a:spcBef>
              <a:spcAft>
                <a:spcPts val="200"/>
              </a:spcAft>
              <a:defRPr sz="1500">
                <a:solidFill>
                  <a:srgbClr val="1E293B"/>
                </a:solidFill>
                <a:latin typeface="Segoe UI"/>
              </a:defRPr>
            </a:pPr>
            <a:r>
              <a:t>•  तत्व (Element): एक ही प्रकार के परमाणुओं से बना शुद्ध पदार्थ जिसे सरल पदार्थों में नहीं तोड़ा जा सकता (जैसे सोना Au, चांदी Ag, लोहा Fe, ऑक्सीजन O, हाइड्रोजन H)। वर्तमान में कुल 118 तत्व ज्ञात हैं।</a:t>
            </a:r>
          </a:p>
          <a:p>
            <a:pPr>
              <a:spcBef>
                <a:spcPts val="900"/>
              </a:spcBef>
              <a:spcAft>
                <a:spcPts val="200"/>
              </a:spcAft>
              <a:defRPr sz="1500">
                <a:solidFill>
                  <a:srgbClr val="1E293B"/>
                </a:solidFill>
                <a:latin typeface="Segoe UI"/>
              </a:defRPr>
            </a:pPr>
            <a:r>
              <a:t>•  यौगिक (Compound): दो या दो से अधिक तत्वों के एक 'निश्चित अनुपात' में रासायनिक संयोग से बना पदार्थ (जैसे जल H2O = हाइड्रोजन व ऑक्सीजन का 1:8 भारानुपात, साधारण नमक NaCl, चूना CaCO3)।</a:t>
            </a:r>
          </a:p>
          <a:p>
            <a:pPr>
              <a:spcBef>
                <a:spcPts val="900"/>
              </a:spcBef>
              <a:spcAft>
                <a:spcPts val="200"/>
              </a:spcAft>
              <a:defRPr sz="1500">
                <a:solidFill>
                  <a:srgbClr val="1E293B"/>
                </a:solidFill>
                <a:latin typeface="Segoe UI"/>
              </a:defRPr>
            </a:pPr>
            <a:r>
              <a:t>•  मिश्रण (Mixture): दो या अधिक पदार्थों को किसी भी अनुपात में मिलाने पर बना पदार्थ (जैसे वायु, शरबत, पीतल)।</a:t>
            </a:r>
          </a:p>
          <a:p>
            <a:pPr>
              <a:spcBef>
                <a:spcPts val="900"/>
              </a:spcBef>
              <a:spcAft>
                <a:spcPts val="200"/>
              </a:spcAft>
              <a:defRPr sz="1500">
                <a:solidFill>
                  <a:srgbClr val="1E293B"/>
                </a:solidFill>
                <a:latin typeface="Segoe UI"/>
              </a:defRPr>
            </a:pPr>
            <a:r>
              <a:t>•  पृथक्करण की प्रमुख विधियां:</a:t>
            </a:r>
          </a:p>
          <a:p>
            <a:pPr>
              <a:spcBef>
                <a:spcPts val="900"/>
              </a:spcBef>
              <a:spcAft>
                <a:spcPts val="200"/>
              </a:spcAft>
              <a:defRPr sz="1500">
                <a:solidFill>
                  <a:srgbClr val="1E293B"/>
                </a:solidFill>
                <a:latin typeface="Segoe UI"/>
              </a:defRPr>
            </a:pPr>
            <a:r>
              <a:t>•    • वाष्पीकरण (Evaporation): समुद्री जल से नमक प्राप्त करना।</a:t>
            </a:r>
          </a:p>
          <a:p>
            <a:pPr>
              <a:spcBef>
                <a:spcPts val="900"/>
              </a:spcBef>
              <a:spcAft>
                <a:spcPts val="200"/>
              </a:spcAft>
              <a:defRPr sz="1500">
                <a:solidFill>
                  <a:srgbClr val="1E293B"/>
                </a:solidFill>
                <a:latin typeface="Segoe UI"/>
              </a:defRPr>
            </a:pPr>
            <a:r>
              <a:t>•    • क्रिस्टलीकरण (Crystallization): अशुद्ध कॉपर सल्फेट से शुद्ध क्रिस्टल बनाना।</a:t>
            </a:r>
          </a:p>
          <a:p>
            <a:pPr>
              <a:spcBef>
                <a:spcPts val="900"/>
              </a:spcBef>
              <a:spcAft>
                <a:spcPts val="200"/>
              </a:spcAft>
              <a:defRPr sz="1500">
                <a:solidFill>
                  <a:srgbClr val="1E293B"/>
                </a:solidFill>
                <a:latin typeface="Segoe UI"/>
              </a:defRPr>
            </a:pPr>
            <a:r>
              <a:t>•    • आसवन (Distillation): दो घुलनशील द्रवों के क्वथनांक अंतर द्वारा अलग करना।</a:t>
            </a:r>
          </a:p>
          <a:p>
            <a:pPr>
              <a:spcBef>
                <a:spcPts val="900"/>
              </a:spcBef>
              <a:spcAft>
                <a:spcPts val="200"/>
              </a:spcAft>
              <a:defRPr sz="1500">
                <a:solidFill>
                  <a:srgbClr val="1E293B"/>
                </a:solidFill>
                <a:latin typeface="Segoe UI"/>
              </a:defRPr>
            </a:pPr>
            <a:r>
              <a:t>•    • प्रभाजी आसवन (Fractional Distillation): पेट्रोलियम से पेट्रोल, डीजल, केरोसिन अलग करना।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कक्षा 07: परमाणु की संरचना एवं प्रतीक (Atomic Structure &amp; Symbols)</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4 of 37</a:t>
            </a:r>
          </a:p>
        </p:txBody>
      </p:sp>
      <p:sp>
        <p:nvSpPr>
          <p:cNvPr id="6" name="Rounded Rectangle 5"/>
          <p:cNvSpPr/>
          <p:nvPr/>
        </p:nvSpPr>
        <p:spPr>
          <a:xfrm>
            <a:off x="457200" y="1097280"/>
            <a:ext cx="11277295" cy="51206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457200" tIns="320040" rIns="457200"/>
          <a:lstStyle/>
          <a:p>
            <a:pPr algn="ctr">
              <a:defRPr sz="1800" b="1">
                <a:solidFill>
                  <a:srgbClr val="0F172A"/>
                </a:solidFill>
                <a:latin typeface="Segoe UI"/>
              </a:defRPr>
            </a:pPr>
            <a:r>
              <a:t>📖 मुख्य वैज्ञानिक तथ्य एवं सिद्धांत (Key Concepts &amp; Exam Notes):</a:t>
            </a:r>
          </a:p>
          <a:p>
            <a:pPr>
              <a:spcBef>
                <a:spcPts val="900"/>
              </a:spcBef>
              <a:spcAft>
                <a:spcPts val="200"/>
              </a:spcAft>
              <a:defRPr sz="1500">
                <a:solidFill>
                  <a:srgbClr val="1E293B"/>
                </a:solidFill>
                <a:latin typeface="Segoe UI"/>
              </a:defRPr>
            </a:pPr>
            <a:r>
              <a:t>•  परमाणु (Atom): तत्व का सूक्ष्मतम कण जो स्वतंत्र अवस्था में नहीं रह सकता परंतु रासायनिक अभिक्रिया में भाग लेता है।</a:t>
            </a:r>
          </a:p>
          <a:p>
            <a:pPr>
              <a:spcBef>
                <a:spcPts val="900"/>
              </a:spcBef>
              <a:spcAft>
                <a:spcPts val="200"/>
              </a:spcAft>
              <a:defRPr sz="1500">
                <a:solidFill>
                  <a:srgbClr val="1E293B"/>
                </a:solidFill>
                <a:latin typeface="Segoe UI"/>
              </a:defRPr>
            </a:pPr>
            <a:r>
              <a:t>•  परमाणु के 3 मौलिक कण:</a:t>
            </a:r>
          </a:p>
          <a:p>
            <a:pPr>
              <a:spcBef>
                <a:spcPts val="900"/>
              </a:spcBef>
              <a:spcAft>
                <a:spcPts val="200"/>
              </a:spcAft>
              <a:defRPr sz="1500">
                <a:solidFill>
                  <a:srgbClr val="1E293B"/>
                </a:solidFill>
                <a:latin typeface="Segoe UI"/>
              </a:defRPr>
            </a:pPr>
            <a:r>
              <a:t>•    1. प्रोटॉन (Proton / p⁺): धनावेशित कण; नाभिक (Nucleus) में स्थित; खोजकर्ता: गोल्डस्टीन / रदरफोर्ड।</a:t>
            </a:r>
          </a:p>
          <a:p>
            <a:pPr>
              <a:spcBef>
                <a:spcPts val="900"/>
              </a:spcBef>
              <a:spcAft>
                <a:spcPts val="200"/>
              </a:spcAft>
              <a:defRPr sz="1500">
                <a:solidFill>
                  <a:srgbClr val="1E293B"/>
                </a:solidFill>
                <a:latin typeface="Segoe UI"/>
              </a:defRPr>
            </a:pPr>
            <a:r>
              <a:t>•    2. न्यूट्रॉन (Neutron / n⁰): उदासीन (आवेश-रहित) कण; नाभिक में स्थित; खोजकर्ता: जेम्स चैडविक (1932)।</a:t>
            </a:r>
          </a:p>
          <a:p>
            <a:pPr>
              <a:spcBef>
                <a:spcPts val="900"/>
              </a:spcBef>
              <a:spcAft>
                <a:spcPts val="200"/>
              </a:spcAft>
              <a:defRPr sz="1500">
                <a:solidFill>
                  <a:srgbClr val="1E293B"/>
                </a:solidFill>
                <a:latin typeface="Segoe UI"/>
              </a:defRPr>
            </a:pPr>
            <a:r>
              <a:t>•    3. इलेक्ट्रॉन (Electron / e⁻): ऋणावेशित कण; नाभिक के चारों ओर कक्षाओं में चक्कर लगाता है; खोजकर्ता: जे.जे. थॉमसन (1897)।</a:t>
            </a:r>
          </a:p>
          <a:p>
            <a:pPr>
              <a:spcBef>
                <a:spcPts val="900"/>
              </a:spcBef>
              <a:spcAft>
                <a:spcPts val="200"/>
              </a:spcAft>
              <a:defRPr sz="1500">
                <a:solidFill>
                  <a:srgbClr val="1E293B"/>
                </a:solidFill>
                <a:latin typeface="Segoe UI"/>
              </a:defRPr>
            </a:pPr>
            <a:r>
              <a:t>•  परमाणु क्रमांक (Z): नाभिक में उपस्थित प्रोटॉनों की संख्या।</a:t>
            </a:r>
          </a:p>
          <a:p>
            <a:pPr>
              <a:spcBef>
                <a:spcPts val="900"/>
              </a:spcBef>
              <a:spcAft>
                <a:spcPts val="200"/>
              </a:spcAft>
              <a:defRPr sz="1500">
                <a:solidFill>
                  <a:srgbClr val="1E293B"/>
                </a:solidFill>
                <a:latin typeface="Segoe UI"/>
              </a:defRPr>
            </a:pPr>
            <a:r>
              <a:t>•  द्रव्यमान संख्या (A): प्रोटॉन + न्यूट्रॉन की कुल संख्या (A = p + n)।</a:t>
            </a:r>
          </a:p>
          <a:p>
            <a:pPr>
              <a:spcBef>
                <a:spcPts val="900"/>
              </a:spcBef>
              <a:spcAft>
                <a:spcPts val="200"/>
              </a:spcAft>
              <a:defRPr sz="1500">
                <a:solidFill>
                  <a:srgbClr val="1E293B"/>
                </a:solidFill>
                <a:latin typeface="Segoe UI"/>
              </a:defRPr>
            </a:pPr>
            <a:r>
              <a:t>•  अणु (Molecule): दो या अधिक परमाणुओं का समूह जो स्वतंत्र अवस्था में रह सकता है (जैसे O2, H2O, N2)।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  [UP NMMS 2024]</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5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 परमाणु के नाभिक (Nucleus) में कौन-कौन से मौलिक कण उपस्थित होते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इलेक्ट्रॉन और प्रोटॉन</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प्रोटॉन और न्यूट्रॉन</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केवल इलेक्ट्रॉन</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इलेक्ट्रॉन और न्यूट्रॉन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  [UP NMMS 2024]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6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 परमाणु के नाभिक (Nucleus) में कौन-कौन से मौलिक कण उपस्थित होते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इलेक्ट्रॉन और प्रोटॉन</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प्रोटॉन और न्यूट्रॉन</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केवल इलेक्ट्रॉन</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इलेक्ट्रॉन और न्यूट्रॉन</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परमाणु का नाभिक प्रोटॉन और न्यूट्रॉन से मिलकर बना होता है, जबकि इलेक्ट्रॉन बाहर चक्कर लगाते हैं।</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#2  [Bihar NMMS 2023]</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7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2. निम्नलिखित में से कौन सा पदार्थ गर्म करने पर सीधे ठोस से गैस में बदल जाता है (ऊर्ध्वपातन)?</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बर्फ</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कपूर (Camphor)</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मोम</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लोहा</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#2  [Bihar NMMS 2023]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8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2. निम्नलिखित में से कौन सा पदार्थ गर्म करने पर सीधे ठोस से गैस में बदल जाता है (ऊर्ध्वपातन)?</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बर्फ</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कपूर (Camphor)</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मोम</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लोहा</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कपूर, नौसादर और नेफ्थलीन गर्म करने पर बिना पिघले सीधे वाष्प बन जाते हैं।</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#3  [Rajasthan NMMS 2022]</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9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3. इलेक्ट्रॉन (Electron) की खोज किस प्रसिद्ध वैज्ञानिक ने की थी?</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जे.जे. थॉमसन (1897)</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जेम्स चैडविक</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रदरफोर्ड</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जॉन डाल्टन</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#3  [Rajasthan NMMS 2022]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10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3. इलेक्ट्रॉन (Electron) की खोज किस प्रसिद्ध वैज्ञानिक ने की थी?</a:t>
            </a:r>
          </a:p>
        </p:txBody>
      </p:sp>
      <p:sp>
        <p:nvSpPr>
          <p:cNvPr id="7" name="Rounded Rectangle 6"/>
          <p:cNvSpPr/>
          <p:nvPr/>
        </p:nvSpPr>
        <p:spPr>
          <a:xfrm>
            <a:off x="457200"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(A)  जे.जे. थॉमसन (1897)</a:t>
            </a:r>
          </a:p>
        </p:txBody>
      </p:sp>
      <p:sp>
        <p:nvSpPr>
          <p:cNvPr id="8" name="Rounded Rectangle 7"/>
          <p:cNvSpPr/>
          <p:nvPr/>
        </p:nvSpPr>
        <p:spPr>
          <a:xfrm>
            <a:off x="6291072"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(B)  जेम्स चैडविक</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रदरफोर्ड</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जॉन डाल्टन</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(A)</a:t>
            </a:r>
          </a:p>
          <a:p>
            <a:pPr>
              <a:spcBef>
                <a:spcPts val="400"/>
              </a:spcBef>
              <a:defRPr sz="1400" b="0">
                <a:solidFill>
                  <a:srgbClr val="1E293B"/>
                </a:solidFill>
                <a:latin typeface="Segoe UI"/>
              </a:defRPr>
            </a:pPr>
            <a:r>
              <a:t>💡 व्याख्या (Explanation): कैथोड किरण प्रयोग द्वारा सर जे.जे. थॉमसन ने ऋणावेशित इलेक्ट्रॉन की खोज की थी।</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#4  [MP NMMS 2023]</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11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4. साधारण नमक (Common Salt) का रासायनिक नाम एवं सूत्र क्या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सोडियम कार्बोनेट (Na2CO3)</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सोडियम क्लोराइड (NaCl)</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सोडियम बाइकार्बोनेट</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कैल्शियम ऑक्साइड</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#4  [MP NMMS 2023]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12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4. साधारण नमक (Common Salt) का रासायनिक नाम एवं सूत्र क्या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सोडियम कार्बोनेट (Na2CO3)</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सोडियम क्लोराइड (NaCl)</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सोडियम बाइकार्बोनेट</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कैल्शियम ऑक्साइड</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भोजन में प्रयुक्त साधारण नमक सोडियम क्लोराइड (NaCl) होता है।</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#5  [Haryana NMMS 2024]</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13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5. पेट्रोलियम (कच्चे तेल) से पेट्रोल, डीजल और केरोसिन को किस विधि द्वारा पृथक किया जाता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सरल आसवन</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प्रभाजी आसवन (Fractional Distillation)</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क्रिस्टलीकरण</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ऊर्ध्वपातन</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#5  [Haryana NMMS 2024]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14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5. पेट्रोलियम (कच्चे तेल) से पेट्रोल, डीजल और केरोसिन को किस विधि द्वारा पृथक किया जाता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सरल आसवन</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प्रभाजी आसवन (Fractional Distillation)</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क्रिस्टलीकरण</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ऊर्ध्वपातन</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क्वथनांकों में सूक्ष्म अंतर होने के कारण प्रभाजी आसवन स्तंभ द्वारा पेट्रोलियम घटक अलग होते हैं।</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#6  [Bihar NMMS 2024]</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15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6. न्यूट्रॉन (Neutron) की खोज 1932 में किस वैज्ञानिक ने की थी?</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रदरफोर्ड</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जेम्स चैडविक (Chadwick)</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नील्स बोर</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थॉमसन</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#6  [Bihar NMMS 2024]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16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6. न्यूट्रॉन (Neutron) की खोज 1932 में किस वैज्ञानिक ने की थी?</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रदरफोर्ड</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जेम्स चैडविक (Chadwick)</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नील्स बोर</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थॉमसन</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जेम्स चैडविक ने बेरिलियम पर अल्फा कणों की बमबारी करके आवेश-रहित न्यूट्रॉन खोजा था।</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#7  [UP NMMS 2023]</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17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7. शुद्ध जल (Water) किस अनुपात में हाइड्रोजन और ऑक्सीजन के रासायनिक संयोग से बनता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1 : 2 (आयतन अनुसार)</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1 : 8 (भार के अनुसार)</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2 : 1</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उपर्युक्त दोनों</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#7  [UP NMMS 2023]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18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7. शुद्ध जल (Water) किस अनुपात में हाइड्रोजन और ऑक्सीजन के रासायनिक संयोग से बनता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1 : 2 (आयतन अनुसार)</a:t>
            </a:r>
          </a:p>
        </p:txBody>
      </p:sp>
      <p:sp>
        <p:nvSpPr>
          <p:cNvPr id="8" name="Rounded Rectangle 7"/>
          <p:cNvSpPr/>
          <p:nvPr/>
        </p:nvSpPr>
        <p:spPr>
          <a:xfrm>
            <a:off x="6291072"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(B)  1 : 8 (भार के अनुसार)</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2 : 1</a:t>
            </a:r>
          </a:p>
        </p:txBody>
      </p:sp>
      <p:sp>
        <p:nvSpPr>
          <p:cNvPr id="10" name="Rounded Rectangle 9"/>
          <p:cNvSpPr/>
          <p:nvPr/>
        </p:nvSpPr>
        <p:spPr>
          <a:xfrm>
            <a:off x="6291072" y="3794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(D)  उपर्युक्त दोनों</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(D)</a:t>
            </a:r>
          </a:p>
          <a:p>
            <a:pPr>
              <a:spcBef>
                <a:spcPts val="400"/>
              </a:spcBef>
              <a:defRPr sz="1400" b="0">
                <a:solidFill>
                  <a:srgbClr val="1E293B"/>
                </a:solidFill>
                <a:latin typeface="Segoe UI"/>
              </a:defRPr>
            </a:pPr>
            <a:r>
              <a:t>💡 व्याख्या (Explanation): जल (H2O) में 2 भाग हाइड्रोजन व 1 भाग ऑक्सीजन (आयतन) तथा 1:8 द्रव्यमान अनुपात होता है।</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#8  [Delhi NMMS 2023]</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19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8. पीतल (Brass) किन दो धातुओं का एक महत्वपूर्ण समांगी मिश्रण (मिश्रधातु)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तांबा और टिन</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तांबा और जस्ता (Cu + Zn)</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लोहा और कार्बन</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सीसा और टिन</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#8  [Delhi NMMS 2023]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20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8. पीतल (Brass) किन दो धातुओं का एक महत्वपूर्ण समांगी मिश्रण (मिश्रधातु)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तांबा और टिन</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तांबा और जस्ता (Cu + Zn)</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लोहा और कार्बन</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सीसा और टिन</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पीतल में लगभग 70% तांबा (कॉपर) और 30% जस्ता (जिंक) होता है।</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#9  [Maharashtra NMMS 2023]</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21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9. पदार्थ की किस अवस्था में कणों के बीच आकर्षण बल सबसे दुर्बल और रिक्त स्थान सबसे अधिक होता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ठोस में</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द्रव में</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गैस में (Gaseous State)</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प्लाज्मा में</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#9  [Maharashtra NMMS 2023]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22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9. पदार्थ की किस अवस्था में कणों के बीच आकर्षण बल सबसे दुर्बल और रिक्त स्थान सबसे अधिक होता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ठोस में</a:t>
            </a:r>
          </a:p>
        </p:txBody>
      </p:sp>
      <p:sp>
        <p:nvSpPr>
          <p:cNvPr id="8" name="Rounded Rectangle 7"/>
          <p:cNvSpPr/>
          <p:nvPr/>
        </p:nvSpPr>
        <p:spPr>
          <a:xfrm>
            <a:off x="6291072"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(B)  द्रव में</a:t>
            </a:r>
          </a:p>
        </p:txBody>
      </p:sp>
      <p:sp>
        <p:nvSpPr>
          <p:cNvPr id="9" name="Rounded Rectangle 8"/>
          <p:cNvSpPr/>
          <p:nvPr/>
        </p:nvSpPr>
        <p:spPr>
          <a:xfrm>
            <a:off x="457200" y="3794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(C)  गैस में (Gaseous State)</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प्लाज्मा में</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(C)</a:t>
            </a:r>
          </a:p>
          <a:p>
            <a:pPr>
              <a:spcBef>
                <a:spcPts val="400"/>
              </a:spcBef>
              <a:defRPr sz="1400" b="0">
                <a:solidFill>
                  <a:srgbClr val="1E293B"/>
                </a:solidFill>
                <a:latin typeface="Segoe UI"/>
              </a:defRPr>
            </a:pPr>
            <a:r>
              <a:t>💡 व्याख्या (Explanation): गैसों के अणु बहुत दूर-दूर होते हैं और स्वतंत्र रूप से सभी दिशाओं में गति करते हैं।</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#10  [Rajasthan NMMS 2023]</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23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10. सर्वप्रथम परमाणु सिद्धांत (Atomic Theory) का प्रतिपादन 1808 में किसने किया था?</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जॉन डाल्टन (John Dalton)</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लवाइशिए</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रदरफोर्ड</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मेंडलीव</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#10  [Rajasthan NMMS 2023]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24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10. सर्वप्रथम परमाणु सिद्धांत (Atomic Theory) का प्रतिपादन 1808 में किसने किया था?</a:t>
            </a:r>
          </a:p>
        </p:txBody>
      </p:sp>
      <p:sp>
        <p:nvSpPr>
          <p:cNvPr id="7" name="Rounded Rectangle 6"/>
          <p:cNvSpPr/>
          <p:nvPr/>
        </p:nvSpPr>
        <p:spPr>
          <a:xfrm>
            <a:off x="457200"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(A)  जॉन डाल्टन (John Dalton)</a:t>
            </a:r>
          </a:p>
        </p:txBody>
      </p:sp>
      <p:sp>
        <p:nvSpPr>
          <p:cNvPr id="8" name="Rounded Rectangle 7"/>
          <p:cNvSpPr/>
          <p:nvPr/>
        </p:nvSpPr>
        <p:spPr>
          <a:xfrm>
            <a:off x="6291072"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(B)  लवाइशिए</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रदरफोर्ड</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मेंडलीव</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(A)</a:t>
            </a:r>
          </a:p>
          <a:p>
            <a:pPr>
              <a:spcBef>
                <a:spcPts val="400"/>
              </a:spcBef>
              <a:defRPr sz="1400" b="0">
                <a:solidFill>
                  <a:srgbClr val="1E293B"/>
                </a:solidFill>
                <a:latin typeface="Segoe UI"/>
              </a:defRPr>
            </a:pPr>
            <a:r>
              <a:t>💡 व्याख्या (Explanation): ब्रिटिश वैज्ञानिक जॉन डाल्टन ने बताया कि पदार्थ अविभाज्य परमाणुओं से बना है।</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#11  [MP NMMS 2022]</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25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11. समुद्री जल से साधारण नमक प्राप्त करने की सबसे सरल प्राकृतिक विधि कौन सी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आसवन</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वाष्पीकरण (Evaporation)</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छानना</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ऊर्ध्वपातन</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#11  [MP NMMS 2022]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26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11. समुद्री जल से साधारण नमक प्राप्त करने की सबसे सरल प्राकृतिक विधि कौन सी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आसवन</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वाष्पीकरण (Evaporation)</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छानना</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ऊर्ध्वपातन</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सूर्य की धूप और हवा द्वारा क्यारियों में भरे समुद्री जल के वाष्पीकरण से नमक बनता है।</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#12  [All India NMMS 2024]</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27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12. जल का रासायनिक सूत्र क्या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HO</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H2O</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H2O2</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HO2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#12  [All India NMMS 2024]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28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12. जल का रासायनिक सूत्र क्या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HO</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H2O</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H2O2</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HO2</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जल के एक अणु में 2 हाइड्रोजन परमाणु और 1 ऑक्सीजन परमाणु सहसंयोजक बंध से जुड़े होते हैं।</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#13  [Bihar NMMS 2022]</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29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13. हवा (वायु) निम्नलिखित में से किसका सर्वोत्तम उदाहरण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एक शुद्ध तत्व का</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एक यौगिक का</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विभिन्न गैसों का मिश्रण (Mixture)</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एक धातु का</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#13  [Bihar NMMS 2022]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30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13. हवा (वायु) निम्नलिखित में से किसका सर्वोत्तम उदाहरण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एक शुद्ध तत्व का</a:t>
            </a:r>
          </a:p>
        </p:txBody>
      </p:sp>
      <p:sp>
        <p:nvSpPr>
          <p:cNvPr id="8" name="Rounded Rectangle 7"/>
          <p:cNvSpPr/>
          <p:nvPr/>
        </p:nvSpPr>
        <p:spPr>
          <a:xfrm>
            <a:off x="6291072"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(B)  एक यौगिक का</a:t>
            </a:r>
          </a:p>
        </p:txBody>
      </p:sp>
      <p:sp>
        <p:nvSpPr>
          <p:cNvPr id="9" name="Rounded Rectangle 8"/>
          <p:cNvSpPr/>
          <p:nvPr/>
        </p:nvSpPr>
        <p:spPr>
          <a:xfrm>
            <a:off x="457200" y="3794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(C)  विभिन्न गैसों का मिश्रण (Mixture)</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एक धातु का</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(C)</a:t>
            </a:r>
          </a:p>
          <a:p>
            <a:pPr>
              <a:spcBef>
                <a:spcPts val="400"/>
              </a:spcBef>
              <a:defRPr sz="1400" b="0">
                <a:solidFill>
                  <a:srgbClr val="1E293B"/>
                </a:solidFill>
                <a:latin typeface="Segoe UI"/>
              </a:defRPr>
            </a:pPr>
            <a:r>
              <a:t>💡 व्याख्या (Explanation): वायु नाइट्रोजन (78%), ऑक्सीजन (21%), CO2 व अन्य गैसों का समांगी मिश्रण है।</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#14  [UP NMMS 2022]</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31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14. किसी तत्व के परमाणु के नाभिक में उपस्थित प्रोटॉनों की संख्या को क्या कहा जाता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द्रव्यमान संख्या</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परमाणु क्रमांक (Atomic Number / Z)</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संयोजकता</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परमाणु भार</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#14  [UP NMMS 2022]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32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14. किसी तत्व के परमाणु के नाभिक में उपस्थित प्रोटॉनों की संख्या को क्या कहा जाता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द्रव्यमान संख्या</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परमाणु क्रमांक (Atomic Number / Z)</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संयोजकता</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परमाणु भार</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परमाणु क्रमांक (Z) उस तत्व के नाभिक में मौजूद धनावेशित प्रोटॉनों की संख्या होती है।</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#15  [All India NMMS 2024]</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33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15. लोहे पर जंग लगना (Rusting of Iron) किस प्रकार के परिवर्तन का उदाहरण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भौतिक परिवर्तन</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रासायनिक परिवर्तन (Chemical Change)</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प्रतिवर्ती परिवर्तन</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ऊष्माक्षेपी परिवर्तन नहीं</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#15  [All India NMMS 2024]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34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15. लोहे पर जंग लगना (Rusting of Iron) किस प्रकार के परिवर्तन का उदाहरण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भौतिक परिवर्तन</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रासायनिक परिवर्तन (Chemical Change)</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प्रतिवर्ती परिवर्तन</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ऊष्माक्षेपी परिवर्तन नहीं</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लोहा, ऑक्सीजन और नमी मिलकर नया पदार्थ आयरन ऑक्साइड (जंग) बनाते हैं जिसे बदला नहीं जा सकता।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कक्षा 07: सागर सर की 1-मिनट मेमोरी चाबी (परमाणु व पदार्थ सूत्र)</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35 of 37</a:t>
            </a:r>
          </a:p>
        </p:txBody>
      </p:sp>
      <p:sp>
        <p:nvSpPr>
          <p:cNvPr id="6" name="Rounded Rectangle 5"/>
          <p:cNvSpPr/>
          <p:nvPr/>
        </p:nvSpPr>
        <p:spPr>
          <a:xfrm>
            <a:off x="457200" y="1097280"/>
            <a:ext cx="11277295" cy="5120640"/>
          </a:xfrm>
          <a:prstGeom prst="roundRect">
            <a:avLst/>
          </a:prstGeom>
          <a:solidFill>
            <a:srgbClr val="FEF3C7"/>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457200" tIns="320040"/>
          <a:lstStyle/>
          <a:p>
            <a:pPr algn="ctr">
              <a:defRPr sz="1900" b="1">
                <a:solidFill>
                  <a:srgbClr val="0F172A"/>
                </a:solidFill>
                <a:latin typeface="Segoe UI"/>
              </a:defRPr>
            </a:pPr>
            <a:r>
              <a:t>🔑 1-मिनट क्विक मेमोरी सूत्र (Revision Formulae):</a:t>
            </a:r>
          </a:p>
          <a:p>
            <a:pPr>
              <a:spcBef>
                <a:spcPts val="1200"/>
              </a:spcBef>
              <a:spcAft>
                <a:spcPts val="200"/>
              </a:spcAft>
              <a:defRPr sz="1600" b="1">
                <a:solidFill>
                  <a:srgbClr val="78350F"/>
                </a:solidFill>
                <a:latin typeface="Segoe UI"/>
              </a:defRPr>
            </a:pPr>
            <a:r>
              <a:t>⚡  इलेक्ट्रॉन (e⁻) = जे.जे. थॉमसन (1897) | प्रोटॉन (p⁺) = रदरफोर्ड/गोल्डस्टीन</a:t>
            </a:r>
          </a:p>
          <a:p>
            <a:pPr>
              <a:spcBef>
                <a:spcPts val="1200"/>
              </a:spcBef>
              <a:spcAft>
                <a:spcPts val="200"/>
              </a:spcAft>
              <a:defRPr sz="1600" b="1">
                <a:solidFill>
                  <a:srgbClr val="78350F"/>
                </a:solidFill>
                <a:latin typeface="Segoe UI"/>
              </a:defRPr>
            </a:pPr>
            <a:r>
              <a:t>⚡  न्यूट्रॉन (n⁰) = जेम्स चैडविक (1932 - आवेश रहित) | नाभिक = प्रोटॉन + न्यूट्रॉन</a:t>
            </a:r>
          </a:p>
          <a:p>
            <a:pPr>
              <a:spcBef>
                <a:spcPts val="1200"/>
              </a:spcBef>
              <a:spcAft>
                <a:spcPts val="200"/>
              </a:spcAft>
              <a:defRPr sz="1600" b="1">
                <a:solidFill>
                  <a:srgbClr val="78350F"/>
                </a:solidFill>
                <a:latin typeface="Segoe UI"/>
              </a:defRPr>
            </a:pPr>
            <a:r>
              <a:t>⚡  ऊर्ध्वपातन = ठोस -&gt; गैस (कपूर, नौसादर, नेफ्थलीन)</a:t>
            </a:r>
          </a:p>
          <a:p>
            <a:pPr>
              <a:spcBef>
                <a:spcPts val="1200"/>
              </a:spcBef>
              <a:spcAft>
                <a:spcPts val="200"/>
              </a:spcAft>
              <a:defRPr sz="1600" b="1">
                <a:solidFill>
                  <a:srgbClr val="78350F"/>
                </a:solidFill>
                <a:latin typeface="Segoe UI"/>
              </a:defRPr>
            </a:pPr>
            <a:r>
              <a:t>⚡  प्रभाजी आसवन = पेट्रोलियम से पेट्रोल, डीजल पृथक्करण</a:t>
            </a:r>
          </a:p>
          <a:p>
            <a:pPr>
              <a:spcBef>
                <a:spcPts val="1200"/>
              </a:spcBef>
              <a:spcAft>
                <a:spcPts val="200"/>
              </a:spcAft>
              <a:defRPr sz="1600" b="1">
                <a:solidFill>
                  <a:srgbClr val="78350F"/>
                </a:solidFill>
                <a:latin typeface="Segoe UI"/>
              </a:defRPr>
            </a:pPr>
            <a:r>
              <a:t>⚡  पीतल (मिश्रधातु) = तांबा (Cu) + जस्ता (Zn) | कांसा = तांबा + टिन (Sn)</a:t>
            </a:r>
          </a:p>
          <a:p>
            <a:pPr>
              <a:spcBef>
                <a:spcPts val="1200"/>
              </a:spcBef>
              <a:spcAft>
                <a:spcPts val="200"/>
              </a:spcAft>
              <a:defRPr sz="1600" b="1">
                <a:solidFill>
                  <a:srgbClr val="78350F"/>
                </a:solidFill>
                <a:latin typeface="Segoe UI"/>
              </a:defRPr>
            </a:pPr>
            <a:r>
              <a:t>⚡  परमाणु क्रमांक (Z) = प्रोटॉन संख्या | द्रव्यमान संख्या (A) = p + 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आज का अभ्यास कार्य (Homework Questions)</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36 of 37</a:t>
            </a:r>
          </a:p>
        </p:txBody>
      </p:sp>
      <p:sp>
        <p:nvSpPr>
          <p:cNvPr id="6" name="Rounded Rectangle 5"/>
          <p:cNvSpPr/>
          <p:nvPr/>
        </p:nvSpPr>
        <p:spPr>
          <a:xfrm>
            <a:off x="457200" y="1097280"/>
            <a:ext cx="11277295" cy="512064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457200" tIns="320040"/>
          <a:lstStyle/>
          <a:p>
            <a:pPr algn="ctr">
              <a:defRPr sz="1900" b="1">
                <a:solidFill>
                  <a:srgbClr val="0F172A"/>
                </a:solidFill>
                <a:latin typeface="Segoe UI"/>
              </a:defRPr>
            </a:pPr>
            <a:r>
              <a:t>📝 घर पर अभ्यास के लिए 3 महत्वपूर्ण प्रश्न (Self Practice):</a:t>
            </a:r>
          </a:p>
          <a:p>
            <a:pPr>
              <a:spcBef>
                <a:spcPts val="1600"/>
              </a:spcBef>
              <a:spcAft>
                <a:spcPts val="400"/>
              </a:spcAft>
              <a:defRPr sz="1600">
                <a:solidFill>
                  <a:srgbClr val="1E293B"/>
                </a:solidFill>
                <a:latin typeface="Segoe UI"/>
              </a:defRPr>
            </a:pPr>
            <a:r>
              <a:t>प्रश्न 1.  तत्व, यौगिक और मिश्रण में दो-दो मुख्य अंतर उदाहरण सहित लिखिए।</a:t>
            </a:r>
          </a:p>
          <a:p>
            <a:pPr>
              <a:spcBef>
                <a:spcPts val="1600"/>
              </a:spcBef>
              <a:spcAft>
                <a:spcPts val="400"/>
              </a:spcAft>
              <a:defRPr sz="1600">
                <a:solidFill>
                  <a:srgbClr val="1E293B"/>
                </a:solidFill>
                <a:latin typeface="Segoe UI"/>
              </a:defRPr>
            </a:pPr>
            <a:r>
              <a:t>प्रश्न 2.  परमाणु के तीन मौलिक कणों के नाम, उनके आवेश और खोजकर्ताओं के नाम लिखिए।</a:t>
            </a:r>
          </a:p>
          <a:p>
            <a:pPr>
              <a:spcBef>
                <a:spcPts val="1600"/>
              </a:spcBef>
              <a:spcAft>
                <a:spcPts val="400"/>
              </a:spcAft>
              <a:defRPr sz="1600">
                <a:solidFill>
                  <a:srgbClr val="1E293B"/>
                </a:solidFill>
                <a:latin typeface="Segoe UI"/>
              </a:defRPr>
            </a:pPr>
            <a:r>
              <a:t>प्रश्न 3.  ऊर्ध्वपातन किसे कहते हैं? इसके दो व्यावहारिक उदाहरण दीजिए।</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 राष्ट्रीय आय-सह-मेधा छात्रवृत्ति परीक्षा (NMMS All India Special) • मिशन 35/35 अंक</a:t>
            </a:r>
          </a:p>
        </p:txBody>
      </p:sp>
      <p:pic>
        <p:nvPicPr>
          <p:cNvPr id="4" name="Picture 3" descr="logo-circle-transparent.png"/>
          <p:cNvPicPr>
            <a:picLocks noChangeAspect="1"/>
          </p:cNvPicPr>
          <p:nvPr/>
        </p:nvPicPr>
        <p:blipFill>
          <a:blip r:embed="rId2"/>
          <a:stretch>
            <a:fillRect/>
          </a:stretch>
        </p:blipFill>
        <p:spPr>
          <a:xfrm>
            <a:off x="5486400" y="640080"/>
            <a:ext cx="1216152" cy="1216152"/>
          </a:xfrm>
          <a:prstGeom prst="rect">
            <a:avLst/>
          </a:prstGeom>
        </p:spPr>
      </p:pic>
      <p:sp>
        <p:nvSpPr>
          <p:cNvPr id="5" name="TextBox 4"/>
          <p:cNvSpPr txBox="1"/>
          <p:nvPr/>
        </p:nvSpPr>
        <p:spPr>
          <a:xfrm>
            <a:off x="457200" y="1874519"/>
            <a:ext cx="11277295" cy="548640"/>
          </a:xfrm>
          <a:prstGeom prst="rect">
            <a:avLst/>
          </a:prstGeom>
          <a:noFill/>
        </p:spPr>
        <p:txBody>
          <a:bodyPr wrap="none">
            <a:spAutoFit/>
          </a:bodyPr>
          <a:lstStyle/>
          <a:p>
            <a:pPr algn="ctr">
              <a:defRPr sz="1600" b="1">
                <a:solidFill>
                  <a:srgbClr val="D97706"/>
                </a:solidFill>
                <a:latin typeface="Segoe UI"/>
              </a:defRPr>
            </a:pPr>
            <a:r>
              <a:t>SAGAR COACHING CENTRE, BHAGWANPUR (SUPAUL, BIHAR)</a:t>
            </a:r>
          </a:p>
        </p:txBody>
      </p:sp>
      <p:sp>
        <p:nvSpPr>
          <p:cNvPr id="6" name="Rounded Rectangle 5"/>
          <p:cNvSpPr/>
          <p:nvPr/>
        </p:nvSpPr>
        <p:spPr>
          <a:xfrm>
            <a:off x="3346704" y="2468880"/>
            <a:ext cx="5486400" cy="457200"/>
          </a:xfrm>
          <a:prstGeom prst="roundRect">
            <a:avLst/>
          </a:prstGeom>
          <a:solidFill>
            <a:srgbClr val="0D9488"/>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 Class 07 Complete! कल मिलेंगे Class 08 में 🌟</a:t>
            </a:r>
          </a:p>
        </p:txBody>
      </p:sp>
      <p:sp>
        <p:nvSpPr>
          <p:cNvPr id="7" name="TextBox 6"/>
          <p:cNvSpPr txBox="1"/>
          <p:nvPr/>
        </p:nvSpPr>
        <p:spPr>
          <a:xfrm>
            <a:off x="457200" y="2971800"/>
            <a:ext cx="11277295" cy="1097280"/>
          </a:xfrm>
          <a:prstGeom prst="rect">
            <a:avLst/>
          </a:prstGeom>
          <a:noFill/>
        </p:spPr>
        <p:txBody>
          <a:bodyPr wrap="square">
            <a:spAutoFit/>
          </a:bodyPr>
          <a:lstStyle/>
          <a:p>
            <a:pPr algn="ctr">
              <a:defRPr sz="3000" b="1">
                <a:solidFill>
                  <a:srgbClr val="FFFFFF"/>
                </a:solidFill>
                <a:latin typeface="Segoe UI"/>
              </a:defRPr>
            </a:pPr>
            <a:r>
              <a:t>कल का विषय: अम्ल, क्षारक, लवण एवं सूचक</a:t>
            </a:r>
          </a:p>
          <a:p>
            <a:pPr algn="ctr">
              <a:spcBef>
                <a:spcPts val="400"/>
              </a:spcBef>
              <a:defRPr sz="1500">
                <a:solidFill>
                  <a:srgbClr val="CBD5E1"/>
                </a:solidFill>
                <a:latin typeface="Segoe UI"/>
              </a:defRPr>
            </a:pPr>
            <a:r>
              <a:t>इस क्लास की PDF डाउनलोड करें: sagarcoaching.tech</a:t>
            </a:r>
          </a:p>
        </p:txBody>
      </p:sp>
      <p:sp>
        <p:nvSpPr>
          <p:cNvPr id="8" name="Rounded Rectangle 7"/>
          <p:cNvSpPr/>
          <p:nvPr/>
        </p:nvSpPr>
        <p:spPr>
          <a:xfrm>
            <a:off x="1371600" y="4160520"/>
            <a:ext cx="9448495" cy="18288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sz="1400" b="1">
                <a:solidFill>
                  <a:srgbClr val="D97706"/>
                </a:solidFill>
                <a:latin typeface="Segoe UI"/>
              </a:defRPr>
            </a:pPr>
            <a:r>
              <a:t>🎯 आज की क्लास में क्या सीखेंगे (Key Topics):</a:t>
            </a:r>
          </a:p>
          <a:p>
            <a:pPr>
              <a:spcBef>
                <a:spcPts val="200"/>
              </a:spcBef>
              <a:defRPr sz="1200">
                <a:solidFill>
                  <a:srgbClr val="FFFFFF"/>
                </a:solidFill>
                <a:latin typeface="Segoe UI"/>
              </a:defRPr>
            </a:pPr>
            <a:r>
              <a:t>  ✓  अम्ल (स्वाद में खट्टे, नीले लिटमस को लाल करते हैं)</a:t>
            </a:r>
          </a:p>
          <a:p>
            <a:pPr>
              <a:spcBef>
                <a:spcPts val="200"/>
              </a:spcBef>
              <a:defRPr sz="1200">
                <a:solidFill>
                  <a:srgbClr val="FFFFFF"/>
                </a:solidFill>
                <a:latin typeface="Segoe UI"/>
              </a:defRPr>
            </a:pPr>
            <a:r>
              <a:t>  ✓  क्षारक (स्वाद में कड़वे, लाल लिटमस को नीला करते हैं)</a:t>
            </a:r>
          </a:p>
          <a:p>
            <a:pPr>
              <a:spcBef>
                <a:spcPts val="200"/>
              </a:spcBef>
              <a:defRPr sz="1200">
                <a:solidFill>
                  <a:srgbClr val="FFFFFF"/>
                </a:solidFill>
                <a:latin typeface="Segoe UI"/>
              </a:defRPr>
            </a:pPr>
            <a:r>
              <a:t>  ✓  प्राकृतिक सूचक: लिटमस (लाइकेन), हल्दी व गुड़हल</a:t>
            </a:r>
          </a:p>
          <a:p>
            <a:pPr>
              <a:spcBef>
                <a:spcPts val="200"/>
              </a:spcBef>
              <a:defRPr sz="1200">
                <a:solidFill>
                  <a:srgbClr val="FFFFFF"/>
                </a:solidFill>
                <a:latin typeface="Segoe UI"/>
              </a:defRPr>
            </a:pPr>
            <a:r>
              <a:t>  ✓  उदासीनीकरण अभिक्रिया (अम्ल + क्षार = लवण + जल)</a:t>
            </a:r>
          </a:p>
        </p:txBody>
      </p:sp>
      <p:sp>
        <p:nvSpPr>
          <p:cNvPr id="9" name="TextBox 8"/>
          <p:cNvSpPr txBox="1"/>
          <p:nvPr/>
        </p:nvSpPr>
        <p:spPr>
          <a:xfrm>
            <a:off x="457200" y="6172200"/>
            <a:ext cx="11277295" cy="457200"/>
          </a:xfrm>
          <a:prstGeom prst="rect">
            <a:avLst/>
          </a:prstGeom>
          <a:noFill/>
        </p:spPr>
        <p:txBody>
          <a:bodyPr wrap="none">
            <a:spAutoFit/>
          </a:bodyPr>
          <a:lstStyle/>
          <a:p>
            <a:pPr algn="ctr">
              <a:defRPr sz="1100">
                <a:solidFill>
                  <a:srgbClr val="94A3B8"/>
                </a:solidFill>
                <a:latin typeface="Segoe UI"/>
              </a:defRPr>
            </a:pPr>
            <a:r>
              <a:t>मार्गदर्शक: सागर सर (NMMS King)  |  Website: sagarcoaching.tech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