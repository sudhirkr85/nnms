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457200"/>
          </a:xfrm>
          <a:prstGeom prst="rect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200" b="1">
                <a:solidFill>
                  <a:srgbClr val="FFFFFF"/>
                </a:solidFill>
                <a:latin typeface="Segoe UI"/>
              </a:defRPr>
            </a:pPr>
            <a:r>
              <a:t>🎯 राष्ट्रीय आय-सह-मेधा छात्रवृत्ति परीक्षा (NMMS All India Special) • मिशन 35/35 अंक</a:t>
            </a:r>
          </a:p>
        </p:txBody>
      </p:sp>
      <p:pic>
        <p:nvPicPr>
          <p:cNvPr id="4" name="Picture 3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0" y="640080"/>
            <a:ext cx="1216152" cy="1216152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457200" y="1874519"/>
            <a:ext cx="11277295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600" b="1">
                <a:solidFill>
                  <a:srgbClr val="D97706"/>
                </a:solidFill>
                <a:latin typeface="Segoe UI"/>
              </a:defRPr>
            </a:pPr>
            <a:r>
              <a:t>SAGAR COACHING CENTRE, BHAGWANPUR (SUPAUL, BIHAR)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346704" y="2468880"/>
            <a:ext cx="5486400" cy="457200"/>
          </a:xfrm>
          <a:prstGeom prst="roundRect">
            <a:avLst/>
          </a:prstGeom>
          <a:solidFill>
            <a:srgbClr val="0D9488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300" b="1">
                <a:solidFill>
                  <a:srgbClr val="FFFFFF"/>
                </a:solidFill>
                <a:latin typeface="Segoe UI"/>
              </a:defRPr>
            </a:pPr>
            <a:r>
              <a:t>🌟 NMMS SCIENCE CLASS 15 • BIOLOGY PART 4 🌟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2971800"/>
            <a:ext cx="11277295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000" b="1">
                <a:solidFill>
                  <a:srgbClr val="FFFFFF"/>
                </a:solidFill>
                <a:latin typeface="Segoe UI"/>
              </a:defRPr>
            </a:pPr>
            <a:r>
              <a:t>पादपों एवं जंतुओं में जनन व किशोरावस्था</a:t>
            </a:r>
            <a:br/>
            <a:r>
              <a:t>(Reproduction &amp; Adolescence)</a:t>
            </a:r>
          </a:p>
          <a:p>
            <a:pPr algn="ctr">
              <a:spcBef>
                <a:spcPts val="400"/>
              </a:spcBef>
              <a:defRPr sz="1500">
                <a:solidFill>
                  <a:srgbClr val="CBD5E1"/>
                </a:solidFill>
                <a:latin typeface="Segoe UI"/>
              </a:defRPr>
            </a:pPr>
            <a:r>
              <a:t>अलैंगिक व लैंगिक जनन, परागण, निषेचन, मानव अंतःस्रावी ग्रंथियां एवं हार्मोन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371600" y="4160520"/>
            <a:ext cx="9448495" cy="182880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137160"/>
          <a:lstStyle/>
          <a:p>
            <a:pPr algn="ctr">
              <a:defRPr sz="1400" b="1">
                <a:solidFill>
                  <a:srgbClr val="D97706"/>
                </a:solidFill>
                <a:latin typeface="Segoe UI"/>
              </a:defRPr>
            </a:pPr>
            <a:r>
              <a:t>🎯 आज की क्लास में क्या सीखेंगे (Key Topics):</a:t>
            </a:r>
          </a:p>
          <a:p>
            <a:pPr>
              <a:spcBef>
                <a:spcPts val="200"/>
              </a:spcBef>
              <a:defRPr sz="1200">
                <a:solidFill>
                  <a:srgbClr val="FFFFFF"/>
                </a:solidFill>
                <a:latin typeface="Segoe UI"/>
              </a:defRPr>
            </a:pPr>
            <a:r>
              <a:t>  ✓  अलैंगिक जनन की विधियां: मुकुलन (यीस्ट/हाइड्रा), विखंडन (अमीबा), खंडन (स्पाइरोगाइरा)</a:t>
            </a:r>
          </a:p>
          <a:p>
            <a:pPr>
              <a:spcBef>
                <a:spcPts val="200"/>
              </a:spcBef>
              <a:defRPr sz="1200">
                <a:solidFill>
                  <a:srgbClr val="FFFFFF"/>
                </a:solidFill>
                <a:latin typeface="Segoe UI"/>
              </a:defRPr>
            </a:pPr>
            <a:r>
              <a:t>  ✓  पादपों में लैंगिक जनन: पुष्प की संरचना, स्व-परागण व पर-परागण, निषेचन व बीज निर्माण</a:t>
            </a:r>
          </a:p>
          <a:p>
            <a:pPr>
              <a:spcBef>
                <a:spcPts val="200"/>
              </a:spcBef>
              <a:defRPr sz="1200">
                <a:solidFill>
                  <a:srgbClr val="FFFFFF"/>
                </a:solidFill>
                <a:latin typeface="Segoe UI"/>
              </a:defRPr>
            </a:pPr>
            <a:r>
              <a:t>  ✓  जंतुओं में जनन: आंतरिक व बाह्य निषेचन, जरायुज (Viviparous) एवं अंडप्रजक (Oviparous)</a:t>
            </a:r>
          </a:p>
          <a:p>
            <a:pPr>
              <a:spcBef>
                <a:spcPts val="200"/>
              </a:spcBef>
              <a:defRPr sz="1200">
                <a:solidFill>
                  <a:srgbClr val="FFFFFF"/>
                </a:solidFill>
                <a:latin typeface="Segoe UI"/>
              </a:defRPr>
            </a:pPr>
            <a:r>
              <a:t>  ✓  किशोरावस्था एवं यौवनारंभ: द्वितीयक लैंगिक लक्षण, पीयूष ग्रंथि, टेस्टोस्टेरोन व एस्ट्रोजन</a:t>
            </a:r>
          </a:p>
          <a:p>
            <a:pPr>
              <a:spcBef>
                <a:spcPts val="200"/>
              </a:spcBef>
              <a:defRPr sz="1200">
                <a:solidFill>
                  <a:srgbClr val="FFFFFF"/>
                </a:solidFill>
                <a:latin typeface="Segoe UI"/>
              </a:defRPr>
            </a:pPr>
            <a:r>
              <a:t>  ✓  15 प्रामाणिक विगत वर्षों के NMMS PYQs (विस्तृत व्याख्या सहित)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6172200"/>
            <a:ext cx="11277295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100">
                <a:solidFill>
                  <a:srgbClr val="94A3B8"/>
                </a:solidFill>
                <a:latin typeface="Segoe UI"/>
              </a:defRPr>
            </a:pPr>
            <a:r>
              <a:t>मार्गदर्शक: सागर सर (NMMS King)  |  Website: sagarcoaching.tech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0F172A"/>
          </a:solidFill>
          <a:ln w="1905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100" b="1">
                <a:solidFill>
                  <a:srgbClr val="D97706"/>
                </a:solidFill>
                <a:latin typeface="Segoe UI"/>
              </a:defRPr>
            </a:pPr>
            <a:r>
              <a:t>SAGAR COACHING CENTRE BHAGWANPUR • NMMS All India (विज्ञान Special)</a:t>
            </a:r>
          </a:p>
          <a:p>
            <a:pPr>
              <a:defRPr sz="1400" b="1">
                <a:solidFill>
                  <a:srgbClr val="FFFFFF"/>
                </a:solidFill>
                <a:latin typeface="Segoe UI"/>
              </a:defRPr>
            </a:pPr>
            <a:r>
              <a:t>अलैंगिक जनन की प्रमुख विधियां (Asexual Reproduction)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46520"/>
            <a:ext cx="1146017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>
                <a:solidFill>
                  <a:srgbClr val="64748B"/>
                </a:solidFill>
                <a:latin typeface="Segoe UI"/>
              </a:defRPr>
            </a:pPr>
            <a:r>
              <a:t>वेबसाइट: sagarcoaching.tech  |  Slide 2 of 36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51206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0" tIns="320040" rIns="457200"/>
          <a:lstStyle/>
          <a:p>
            <a:pPr algn="ctr">
              <a:defRPr sz="1800" b="1">
                <a:solidFill>
                  <a:srgbClr val="0F172A"/>
                </a:solidFill>
                <a:latin typeface="Segoe UI"/>
              </a:defRPr>
            </a:pPr>
            <a:r>
              <a:t>📖 मुख्य वैज्ञानिक तथ्य एवं सिद्धांत (Key Concepts &amp; Exam Notes):</a:t>
            </a:r>
          </a:p>
          <a:p>
            <a:pPr>
              <a:spcBef>
                <a:spcPts val="900"/>
              </a:spcBef>
              <a:spcAft>
                <a:spcPts val="200"/>
              </a:spcAft>
              <a:defRPr sz="1500">
                <a:solidFill>
                  <a:srgbClr val="1E293B"/>
                </a:solidFill>
                <a:latin typeface="Segoe UI"/>
              </a:defRPr>
            </a:pPr>
            <a:r>
              <a:t>•  अलैंगिक जनन (Asexual Reproduction): एकल जनक द्वारा बिना युग्मकों के संलयन के नई संतान की उत्पत्ति।</a:t>
            </a:r>
          </a:p>
          <a:p>
            <a:pPr>
              <a:spcBef>
                <a:spcPts val="900"/>
              </a:spcBef>
              <a:spcAft>
                <a:spcPts val="200"/>
              </a:spcAft>
              <a:defRPr sz="1500">
                <a:solidFill>
                  <a:srgbClr val="1E293B"/>
                </a:solidFill>
                <a:latin typeface="Segoe UI"/>
              </a:defRPr>
            </a:pPr>
            <a:r>
              <a:t>•  द्विखंडन (Binary Fission): एक जनक कोशिका दो समान संतति कोशिकाओं में विभाजित होती है। उदाहरण: अमीबा (Amoeba) एवं पैरामीशियम।</a:t>
            </a:r>
          </a:p>
          <a:p>
            <a:pPr>
              <a:spcBef>
                <a:spcPts val="900"/>
              </a:spcBef>
              <a:spcAft>
                <a:spcPts val="200"/>
              </a:spcAft>
              <a:defRPr sz="1500">
                <a:solidFill>
                  <a:srgbClr val="1E293B"/>
                </a:solidFill>
                <a:latin typeface="Segoe UI"/>
              </a:defRPr>
            </a:pPr>
            <a:r>
              <a:t>•  मुकुलन (Budding): जनक के शरीर पर एक उभार (बड/मुकुल) निकलता है जो विकसित होकर नया जीव बनता है। उदाहरण: यीस्ट (Yeast) एवं हाइड्रा (Hydra)।</a:t>
            </a:r>
          </a:p>
          <a:p>
            <a:pPr>
              <a:spcBef>
                <a:spcPts val="900"/>
              </a:spcBef>
              <a:spcAft>
                <a:spcPts val="200"/>
              </a:spcAft>
              <a:defRPr sz="1500">
                <a:solidFill>
                  <a:srgbClr val="1E293B"/>
                </a:solidFill>
                <a:latin typeface="Segoe UI"/>
              </a:defRPr>
            </a:pPr>
            <a:r>
              <a:t>•  खंडन (Fragmentation): जीव का शरीर दो या अधिक खंडों में टूटकर नए जीव में विकसित होता है। उदाहरण: स्पाइरोगाइरा (Spirogyra शैवाल)।</a:t>
            </a:r>
          </a:p>
          <a:p>
            <a:pPr>
              <a:spcBef>
                <a:spcPts val="900"/>
              </a:spcBef>
              <a:spcAft>
                <a:spcPts val="200"/>
              </a:spcAft>
              <a:defRPr sz="1500">
                <a:solidFill>
                  <a:srgbClr val="1E293B"/>
                </a:solidFill>
                <a:latin typeface="Segoe UI"/>
              </a:defRPr>
            </a:pPr>
            <a:r>
              <a:t>•  बीजाणु निर्माण (Spore Formation): कवक (म्यूकर/राइजोपस) और फर्न में बीजाणुधानी से सूक्ष्म बीजाणु हवा में उड़ते हैं और अनुकूल परिस्थिति में उगते हैं।</a:t>
            </a:r>
          </a:p>
          <a:p>
            <a:pPr>
              <a:spcBef>
                <a:spcPts val="900"/>
              </a:spcBef>
              <a:spcAft>
                <a:spcPts val="200"/>
              </a:spcAft>
              <a:defRPr sz="1500">
                <a:solidFill>
                  <a:srgbClr val="1E293B"/>
                </a:solidFill>
                <a:latin typeface="Segoe UI"/>
              </a:defRPr>
            </a:pPr>
            <a:r>
              <a:t>•  कायिक प्रवर्धन (Vegetative Propagation): जड़ (शकरकंद), तना (आलू/अदरक), पत्ती (ब्रायोफिलम/अजूबा) द्वारा नए पौधों का निर्माण।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0F172A"/>
          </a:solidFill>
          <a:ln w="1905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100" b="1">
                <a:solidFill>
                  <a:srgbClr val="D97706"/>
                </a:solidFill>
                <a:latin typeface="Segoe UI"/>
              </a:defRPr>
            </a:pPr>
            <a:r>
              <a:t>SAGAR COACHING CENTRE BHAGWANPUR • NMMS All India (विज्ञान Special)</a:t>
            </a:r>
          </a:p>
          <a:p>
            <a:pPr>
              <a:defRPr sz="1400" b="1">
                <a:solidFill>
                  <a:srgbClr val="FFFFFF"/>
                </a:solidFill>
                <a:latin typeface="Segoe UI"/>
              </a:defRPr>
            </a:pPr>
            <a:r>
              <a:t>पुष्प की संरचना, परागण एवं निषेचन (Plant Sexual Reproduction)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46520"/>
            <a:ext cx="1146017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>
                <a:solidFill>
                  <a:srgbClr val="64748B"/>
                </a:solidFill>
                <a:latin typeface="Segoe UI"/>
              </a:defRPr>
            </a:pPr>
            <a:r>
              <a:t>वेबसाइट: sagarcoaching.tech  |  Slide 3 of 36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51206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0" tIns="320040" rIns="457200"/>
          <a:lstStyle/>
          <a:p>
            <a:pPr algn="ctr">
              <a:defRPr sz="1800" b="1">
                <a:solidFill>
                  <a:srgbClr val="0F172A"/>
                </a:solidFill>
                <a:latin typeface="Segoe UI"/>
              </a:defRPr>
            </a:pPr>
            <a:r>
              <a:t>📖 मुख्य वैज्ञानिक तथ्य एवं सिद्धांत (Key Concepts &amp; Exam Notes):</a:t>
            </a:r>
          </a:p>
          <a:p>
            <a:pPr>
              <a:spcBef>
                <a:spcPts val="900"/>
              </a:spcBef>
              <a:spcAft>
                <a:spcPts val="200"/>
              </a:spcAft>
              <a:defRPr sz="1500">
                <a:solidFill>
                  <a:srgbClr val="1E293B"/>
                </a:solidFill>
                <a:latin typeface="Segoe UI"/>
              </a:defRPr>
            </a:pPr>
            <a:r>
              <a:t>•  पुष्प पादप का जनन अंग है। इसके 4 चक्र होते हैं: बाह्यदलपुंज (सुरक्षा), दलपुंज (आकर्षण), पुमंग (नर अंग), जायांग (मादा अंग)।</a:t>
            </a:r>
          </a:p>
          <a:p>
            <a:pPr>
              <a:spcBef>
                <a:spcPts val="900"/>
              </a:spcBef>
              <a:spcAft>
                <a:spcPts val="200"/>
              </a:spcAft>
              <a:defRPr sz="1500">
                <a:solidFill>
                  <a:srgbClr val="1E293B"/>
                </a:solidFill>
                <a:latin typeface="Segoe UI"/>
              </a:defRPr>
            </a:pPr>
            <a:r>
              <a:t>•  नर जनन अंग (पुंकेसर/Stamen): परागकोश (Anther) में परागकण (Pollen Grains) बनते हैं जो नर युग्मक होते हैं।</a:t>
            </a:r>
          </a:p>
          <a:p>
            <a:pPr>
              <a:spcBef>
                <a:spcPts val="900"/>
              </a:spcBef>
              <a:spcAft>
                <a:spcPts val="200"/>
              </a:spcAft>
              <a:defRPr sz="1500">
                <a:solidFill>
                  <a:srgbClr val="1E293B"/>
                </a:solidFill>
                <a:latin typeface="Segoe UI"/>
              </a:defRPr>
            </a:pPr>
            <a:r>
              <a:t>•  मादा जनन अंग (स्त्रीकेसर/Pistil): इसके 3 भाग होते हैं - वर्तिकाग्र (Stigma), वर्तिका (Style) एवं अंडाशय (Ovary)। अंडाशय के अंदर बीजांड (Ovule) में अंड कोशिका होती है।</a:t>
            </a:r>
          </a:p>
          <a:p>
            <a:pPr>
              <a:spcBef>
                <a:spcPts val="900"/>
              </a:spcBef>
              <a:spcAft>
                <a:spcPts val="200"/>
              </a:spcAft>
              <a:defRPr sz="1500">
                <a:solidFill>
                  <a:srgbClr val="1E293B"/>
                </a:solidFill>
                <a:latin typeface="Segoe UI"/>
              </a:defRPr>
            </a:pPr>
            <a:r>
              <a:t>•  परागण (Pollination): परागकोश से परागकणों का वर्तिकाग्र तक स्थानांतरण।</a:t>
            </a:r>
            <a:br/>
            <a:r>
              <a:t>• स्व-परागण (Self-Pollination): उसी पुष्प के वर्तिकाग्र पर।</a:t>
            </a:r>
            <a:br/>
            <a:r>
              <a:t>• पर-परागण (Cross-Pollination): दूसरे पौधे के पुष्प के वर्तिकाग्र पर (वायु, जल, कीटों द्वारा)।</a:t>
            </a:r>
          </a:p>
          <a:p>
            <a:pPr>
              <a:spcBef>
                <a:spcPts val="900"/>
              </a:spcBef>
              <a:spcAft>
                <a:spcPts val="200"/>
              </a:spcAft>
              <a:defRPr sz="1500">
                <a:solidFill>
                  <a:srgbClr val="1E293B"/>
                </a:solidFill>
                <a:latin typeface="Segoe UI"/>
              </a:defRPr>
            </a:pPr>
            <a:r>
              <a:t>•  निषेचन (Fertilization): नर व मादा युग्मक के संलयन से युग्मनज (Zygote) बनता है। निषेचन के बाद अंडाशय फल (Fruit) में तथा बीजांड बीज (Seed) में बदल जाता है।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0F172A"/>
          </a:solidFill>
          <a:ln w="1905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100" b="1">
                <a:solidFill>
                  <a:srgbClr val="D97706"/>
                </a:solidFill>
                <a:latin typeface="Segoe UI"/>
              </a:defRPr>
            </a:pPr>
            <a:r>
              <a:t>SAGAR COACHING CENTRE BHAGWANPUR • NMMS All India (विज्ञान Special)</a:t>
            </a:r>
          </a:p>
          <a:p>
            <a:pPr>
              <a:defRPr sz="1400" b="1">
                <a:solidFill>
                  <a:srgbClr val="FFFFFF"/>
                </a:solidFill>
                <a:latin typeface="Segoe UI"/>
              </a:defRPr>
            </a:pPr>
            <a:r>
              <a:t>जंतुओं में जनन एवं किशोरावस्था (Animal Reproduction &amp; Adolescence)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46520"/>
            <a:ext cx="1146017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>
                <a:solidFill>
                  <a:srgbClr val="64748B"/>
                </a:solidFill>
                <a:latin typeface="Segoe UI"/>
              </a:defRPr>
            </a:pPr>
            <a:r>
              <a:t>वेबसाइट: sagarcoaching.tech  |  Slide 4 of 36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51206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0" tIns="320040" rIns="457200"/>
          <a:lstStyle/>
          <a:p>
            <a:pPr algn="ctr">
              <a:defRPr sz="1800" b="1">
                <a:solidFill>
                  <a:srgbClr val="0F172A"/>
                </a:solidFill>
                <a:latin typeface="Segoe UI"/>
              </a:defRPr>
            </a:pPr>
            <a:r>
              <a:t>📖 मुख्य वैज्ञानिक तथ्य एवं सिद्धांत (Key Concepts &amp; Exam Notes):</a:t>
            </a:r>
          </a:p>
          <a:p>
            <a:pPr>
              <a:spcBef>
                <a:spcPts val="900"/>
              </a:spcBef>
              <a:spcAft>
                <a:spcPts val="200"/>
              </a:spcAft>
              <a:defRPr sz="1500">
                <a:solidFill>
                  <a:srgbClr val="1E293B"/>
                </a:solidFill>
                <a:latin typeface="Segoe UI"/>
              </a:defRPr>
            </a:pPr>
            <a:r>
              <a:t>•  निषेचन के प्रकार:</a:t>
            </a:r>
            <a:br/>
            <a:r>
              <a:t>• आंतरिक निषेचन (Internal): मादा शरीर के अंदर (मनुष्य, गाय, कुत्ता, मुर्गी)।</a:t>
            </a:r>
            <a:br/>
            <a:r>
              <a:t>• बाह्य निषेचन (External): मादा शरीर के बाहर जल में (मेंढक, मछली, स्टारफिश)।</a:t>
            </a:r>
          </a:p>
          <a:p>
            <a:pPr>
              <a:spcBef>
                <a:spcPts val="900"/>
              </a:spcBef>
              <a:spcAft>
                <a:spcPts val="200"/>
              </a:spcAft>
              <a:defRPr sz="1500">
                <a:solidFill>
                  <a:srgbClr val="1E293B"/>
                </a:solidFill>
                <a:latin typeface="Segoe UI"/>
              </a:defRPr>
            </a:pPr>
            <a:r>
              <a:t>•  जंतुओं का वर्गीकरण:</a:t>
            </a:r>
            <a:br/>
            <a:r>
              <a:t>• जरायुज (Viviparous): सीधे बच्चे को जन्म देने वाले (मनुष्य, स्तनधारी जीव)।</a:t>
            </a:r>
            <a:br/>
            <a:r>
              <a:t>• अंडप्रजक (Oviparous): अंडे देने वाले जीव (पक्षी, सरीसृप, मेंढक)।</a:t>
            </a:r>
          </a:p>
          <a:p>
            <a:pPr>
              <a:spcBef>
                <a:spcPts val="900"/>
              </a:spcBef>
              <a:spcAft>
                <a:spcPts val="200"/>
              </a:spcAft>
              <a:defRPr sz="1500">
                <a:solidFill>
                  <a:srgbClr val="1E293B"/>
                </a:solidFill>
                <a:latin typeface="Segoe UI"/>
              </a:defRPr>
            </a:pPr>
            <a:r>
              <a:t>•  कायांतरण (Metamorphosis): लार्वा का वयस्कों में रूपांतरण (जैसे मेंढक का टैडपोल से वयस्क बनना, तितली का कैटरपिलर से तितली बनना)। इसे थायरॉक्सिन हार्मोन नियंत्रित करता है।</a:t>
            </a:r>
          </a:p>
          <a:p>
            <a:pPr>
              <a:spcBef>
                <a:spcPts val="900"/>
              </a:spcBef>
              <a:spcAft>
                <a:spcPts val="200"/>
              </a:spcAft>
              <a:defRPr sz="1500">
                <a:solidFill>
                  <a:srgbClr val="1E293B"/>
                </a:solidFill>
                <a:latin typeface="Segoe UI"/>
              </a:defRPr>
            </a:pPr>
            <a:r>
              <a:t>•  किशोरावस्था एवं अंतःस्रावी ग्रंथियां:</a:t>
            </a:r>
            <a:br/>
            <a:r>
              <a:t>• पीयूष ग्रंथि (Pituitary Gland): 'मास्टर ग्रंथि', वृद्धि हार्मोन (GH) निकालती है।</a:t>
            </a:r>
            <a:br/>
            <a:r>
              <a:t>• वृषण (Testes): टेस्टोस्टेरोन हार्मोन (पुरुषों में दाढ़ी-मूंछ, भारी आवाज)।</a:t>
            </a:r>
            <a:br/>
            <a:r>
              <a:t>• अंडाशय (Ovaries): एस्ट्रोजन व प्रोजेस्टेरोन (स्त्रियों में द्वितीयक लैंगिक लक्षण)।</a:t>
            </a:r>
            <a:br/>
            <a:r>
              <a:t>• थायरॉयड: थायरॉक्सिन (घेंघा रोग नियंत्रण), अग्न्याशय: इंसुलिन, एड्रिनल: एड्रिनेलिन ('करो या मरो' हार्मोन)।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0F172A"/>
          </a:solidFill>
          <a:ln w="1905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100" b="1">
                <a:solidFill>
                  <a:srgbClr val="D97706"/>
                </a:solidFill>
                <a:latin typeface="Segoe UI"/>
              </a:defRPr>
            </a:pPr>
            <a:r>
              <a:t>SAGAR COACHING CENTRE BHAGWANPUR • NMMS All India (विज्ञान Special)</a:t>
            </a:r>
          </a:p>
          <a:p>
            <a:pPr>
              <a:defRPr sz="1400" b="1">
                <a:solidFill>
                  <a:srgbClr val="FFFFFF"/>
                </a:solidFill>
                <a:latin typeface="Segoe UI"/>
              </a:defRPr>
            </a:pPr>
            <a:r>
              <a:t>PYQ अभ्यास प्रश्न #1  [NMMS Bihar 2023]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46520"/>
            <a:ext cx="1146017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>
                <a:solidFill>
                  <a:srgbClr val="64748B"/>
                </a:solidFill>
                <a:latin typeface="Segoe UI"/>
              </a:defRPr>
            </a:pPr>
            <a:r>
              <a:t>वेबसाइट: sagarcoaching.tech  |  Slide 5 of 36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F0F9FF"/>
          </a:solidFill>
          <a:ln w="2540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0F172A"/>
                </a:solidFill>
                <a:latin typeface="Segoe UI"/>
              </a:defRPr>
            </a:pPr>
            <a:r>
              <a:t>प्र. 1. हाइड्रा (Hydra) और यीस्ट (Yeast) में जनन की सामान्य अलैंगिक विधि कौन-सी है?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(A)  द्विखंडन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(B)  मुकुलन (Budding)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794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(C)  बीजाणु निर्माण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794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(D)  पुनरुद्भवन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0F172A"/>
          </a:solidFill>
          <a:ln w="1905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100" b="1">
                <a:solidFill>
                  <a:srgbClr val="D97706"/>
                </a:solidFill>
                <a:latin typeface="Segoe UI"/>
              </a:defRPr>
            </a:pPr>
            <a:r>
              <a:t>SAGAR COACHING CENTRE BHAGWANPUR • NMMS All India (विज्ञान Special)</a:t>
            </a:r>
          </a:p>
          <a:p>
            <a:pPr>
              <a:defRPr sz="1400" b="1">
                <a:solidFill>
                  <a:srgbClr val="FFFFFF"/>
                </a:solidFill>
                <a:latin typeface="Segoe UI"/>
              </a:defRPr>
            </a:pPr>
            <a:r>
              <a:t>PYQ अभ्यास प्रश्न #1  [NMMS Bihar 2023]  —  [उत्तर व व्याख्या]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46520"/>
            <a:ext cx="1146017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>
                <a:solidFill>
                  <a:srgbClr val="64748B"/>
                </a:solidFill>
                <a:latin typeface="Segoe UI"/>
              </a:defRPr>
            </a:pPr>
            <a:r>
              <a:t>वेबसाइट: sagarcoaching.tech  |  Slide 6 of 36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F0F9FF"/>
          </a:solidFill>
          <a:ln w="2540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0F172A"/>
                </a:solidFill>
                <a:latin typeface="Segoe UI"/>
              </a:defRPr>
            </a:pPr>
            <a:r>
              <a:t>प्र. 1. हाइड्रा (Hydra) और यीस्ट (Yeast) में जनन की सामान्य अलैंगिक विधि कौन-सी है?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94A3B8"/>
                </a:solidFill>
                <a:latin typeface="Segoe UI"/>
              </a:defRPr>
            </a:pPr>
            <a:r>
              <a:t>(A)  द्विखंडन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05840"/>
          </a:xfrm>
          <a:prstGeom prst="roundRect">
            <a:avLst/>
          </a:prstGeom>
          <a:solidFill>
            <a:srgbClr val="DCFCE7"/>
          </a:solidFill>
          <a:ln w="38100">
            <a:solidFill>
              <a:srgbClr val="1665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66534"/>
                </a:solidFill>
                <a:latin typeface="Segoe UI"/>
              </a:defRPr>
            </a:pPr>
            <a:r>
              <a:t>✅ (B)  मुकुलन (Budding)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794760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94A3B8"/>
                </a:solidFill>
                <a:latin typeface="Segoe UI"/>
              </a:defRPr>
            </a:pPr>
            <a:r>
              <a:t>(C)  बीजाणु निर्माण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794760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94A3B8"/>
                </a:solidFill>
                <a:latin typeface="Segoe UI"/>
              </a:defRPr>
            </a:pPr>
            <a:r>
              <a:t>(D)  पुनरुद्भवन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4937760"/>
            <a:ext cx="11277295" cy="128016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tIns="109728"/>
          <a:lstStyle/>
          <a:p>
            <a:pPr algn="ctr">
              <a:defRPr sz="1550" b="1">
                <a:solidFill>
                  <a:srgbClr val="166534"/>
                </a:solidFill>
                <a:latin typeface="Segoe UI"/>
              </a:defRPr>
            </a:pPr>
            <a:r>
              <a:t>✅ सही उत्तर: विकल्प (B)</a:t>
            </a:r>
          </a:p>
          <a:p>
            <a:pPr>
              <a:spcBef>
                <a:spcPts val="400"/>
              </a:spcBef>
              <a:defRPr sz="1400" b="0">
                <a:solidFill>
                  <a:srgbClr val="1E293B"/>
                </a:solidFill>
                <a:latin typeface="Segoe UI"/>
              </a:defRPr>
            </a:pPr>
            <a:r>
              <a:t>💡 व्याख्या (Explanation): हाइड्रा और यीस्ट में शरीर से एक उभार (मुकुल) निकलता है जो विकसित होकर नया जीव बनाता है।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0F172A"/>
          </a:solidFill>
          <a:ln w="1905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100" b="1">
                <a:solidFill>
                  <a:srgbClr val="D97706"/>
                </a:solidFill>
                <a:latin typeface="Segoe UI"/>
              </a:defRPr>
            </a:pPr>
            <a:r>
              <a:t>SAGAR COACHING CENTRE BHAGWANPUR • NMMS All India (विज्ञान Special)</a:t>
            </a:r>
          </a:p>
          <a:p>
            <a:pPr>
              <a:defRPr sz="1400" b="1">
                <a:solidFill>
                  <a:srgbClr val="FFFFFF"/>
                </a:solidFill>
                <a:latin typeface="Segoe UI"/>
              </a:defRPr>
            </a:pPr>
            <a:r>
              <a:t>PYQ अभ्यास प्रश्न #2  [NMMS UP 2022]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46520"/>
            <a:ext cx="1146017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>
                <a:solidFill>
                  <a:srgbClr val="64748B"/>
                </a:solidFill>
                <a:latin typeface="Segoe UI"/>
              </a:defRPr>
            </a:pPr>
            <a:r>
              <a:t>वेबसाइट: sagarcoaching.tech  |  Slide 7 of 36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F0F9FF"/>
          </a:solidFill>
          <a:ln w="2540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0F172A"/>
                </a:solidFill>
                <a:latin typeface="Segoe UI"/>
              </a:defRPr>
            </a:pPr>
            <a:r>
              <a:t>प्र. 2. अमीबा में अलैंगिक जनन किस विधि द्वारा होता है?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(A)  द्विखंडन (Binary Fission)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(B)  मुकुलन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794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(C)  खंडन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794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(D)  कायांतरण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0F172A"/>
          </a:solidFill>
          <a:ln w="1905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100" b="1">
                <a:solidFill>
                  <a:srgbClr val="D97706"/>
                </a:solidFill>
                <a:latin typeface="Segoe UI"/>
              </a:defRPr>
            </a:pPr>
            <a:r>
              <a:t>SAGAR COACHING CENTRE BHAGWANPUR • NMMS All India (विज्ञान Special)</a:t>
            </a:r>
          </a:p>
          <a:p>
            <a:pPr>
              <a:defRPr sz="1400" b="1">
                <a:solidFill>
                  <a:srgbClr val="FFFFFF"/>
                </a:solidFill>
                <a:latin typeface="Segoe UI"/>
              </a:defRPr>
            </a:pPr>
            <a:r>
              <a:t>PYQ अभ्यास प्रश्न #2  [NMMS UP 2022]  —  [उत्तर व व्याख्या]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46520"/>
            <a:ext cx="1146017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>
                <a:solidFill>
                  <a:srgbClr val="64748B"/>
                </a:solidFill>
                <a:latin typeface="Segoe UI"/>
              </a:defRPr>
            </a:pPr>
            <a:r>
              <a:t>वेबसाइट: sagarcoaching.tech  |  Slide 8 of 36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F0F9FF"/>
          </a:solidFill>
          <a:ln w="2540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0F172A"/>
                </a:solidFill>
                <a:latin typeface="Segoe UI"/>
              </a:defRPr>
            </a:pPr>
            <a:r>
              <a:t>प्र. 2. अमीबा में अलैंगिक जनन किस विधि द्वारा होता है?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05840"/>
          </a:xfrm>
          <a:prstGeom prst="roundRect">
            <a:avLst/>
          </a:prstGeom>
          <a:solidFill>
            <a:srgbClr val="DCFCE7"/>
          </a:solidFill>
          <a:ln w="38100">
            <a:solidFill>
              <a:srgbClr val="1665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66534"/>
                </a:solidFill>
                <a:latin typeface="Segoe UI"/>
              </a:defRPr>
            </a:pPr>
            <a:r>
              <a:t>✅ (A)  द्विखंडन (Binary Fission)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94A3B8"/>
                </a:solidFill>
                <a:latin typeface="Segoe UI"/>
              </a:defRPr>
            </a:pPr>
            <a:r>
              <a:t>(B)  मुकुलन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794760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94A3B8"/>
                </a:solidFill>
                <a:latin typeface="Segoe UI"/>
              </a:defRPr>
            </a:pPr>
            <a:r>
              <a:t>(C)  खंडन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794760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94A3B8"/>
                </a:solidFill>
                <a:latin typeface="Segoe UI"/>
              </a:defRPr>
            </a:pPr>
            <a:r>
              <a:t>(D)  कायांतरण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4937760"/>
            <a:ext cx="11277295" cy="128016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tIns="109728"/>
          <a:lstStyle/>
          <a:p>
            <a:pPr algn="ctr">
              <a:defRPr sz="1550" b="1">
                <a:solidFill>
                  <a:srgbClr val="166534"/>
                </a:solidFill>
                <a:latin typeface="Segoe UI"/>
              </a:defRPr>
            </a:pPr>
            <a:r>
              <a:t>✅ सही उत्तर: विकल्प (A)</a:t>
            </a:r>
          </a:p>
          <a:p>
            <a:pPr>
              <a:spcBef>
                <a:spcPts val="400"/>
              </a:spcBef>
              <a:defRPr sz="1400" b="0">
                <a:solidFill>
                  <a:srgbClr val="1E293B"/>
                </a:solidFill>
                <a:latin typeface="Segoe UI"/>
              </a:defRPr>
            </a:pPr>
            <a:r>
              <a:t>💡 व्याख्या (Explanation): अमीबा में केंद्रक और कोशिका द्रव्य दो समान भागों में विभाजित होकर दो संतति बनाते हैं (द्विखंडन)।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0F172A"/>
          </a:solidFill>
          <a:ln w="1905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100" b="1">
                <a:solidFill>
                  <a:srgbClr val="D97706"/>
                </a:solidFill>
                <a:latin typeface="Segoe UI"/>
              </a:defRPr>
            </a:pPr>
            <a:r>
              <a:t>SAGAR COACHING CENTRE BHAGWANPUR • NMMS All India (विज्ञान Special)</a:t>
            </a:r>
          </a:p>
          <a:p>
            <a:pPr>
              <a:defRPr sz="1400" b="1">
                <a:solidFill>
                  <a:srgbClr val="FFFFFF"/>
                </a:solidFill>
                <a:latin typeface="Segoe UI"/>
              </a:defRPr>
            </a:pPr>
            <a:r>
              <a:t>PYQ अभ्यास प्रश्न #3  [NMMS MP 2023]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46520"/>
            <a:ext cx="1146017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>
                <a:solidFill>
                  <a:srgbClr val="64748B"/>
                </a:solidFill>
                <a:latin typeface="Segoe UI"/>
              </a:defRPr>
            </a:pPr>
            <a:r>
              <a:t>वेबसाइट: sagarcoaching.tech  |  Slide 9 of 36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F0F9FF"/>
          </a:solidFill>
          <a:ln w="2540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0F172A"/>
                </a:solidFill>
                <a:latin typeface="Segoe UI"/>
              </a:defRPr>
            </a:pPr>
            <a:r>
              <a:t>प्र. 3. ब्रायोफिलम (अजूबा) पौधे में कायिक प्रवर्धन किसके द्वारा होता है?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(A)  जड़ द्वारा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(B)  तने द्वारा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794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(C)  पत्तियों (Leaves) द्वारा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794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(D)  पुष्प द्वारा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0F172A"/>
          </a:solidFill>
          <a:ln w="1905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100" b="1">
                <a:solidFill>
                  <a:srgbClr val="D97706"/>
                </a:solidFill>
                <a:latin typeface="Segoe UI"/>
              </a:defRPr>
            </a:pPr>
            <a:r>
              <a:t>SAGAR COACHING CENTRE BHAGWANPUR • NMMS All India (विज्ञान Special)</a:t>
            </a:r>
          </a:p>
          <a:p>
            <a:pPr>
              <a:defRPr sz="1400" b="1">
                <a:solidFill>
                  <a:srgbClr val="FFFFFF"/>
                </a:solidFill>
                <a:latin typeface="Segoe UI"/>
              </a:defRPr>
            </a:pPr>
            <a:r>
              <a:t>PYQ अभ्यास प्रश्न #3  [NMMS MP 2023]  —  [उत्तर व व्याख्या]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46520"/>
            <a:ext cx="1146017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>
                <a:solidFill>
                  <a:srgbClr val="64748B"/>
                </a:solidFill>
                <a:latin typeface="Segoe UI"/>
              </a:defRPr>
            </a:pPr>
            <a:r>
              <a:t>वेबसाइट: sagarcoaching.tech  |  Slide 10 of 36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F0F9FF"/>
          </a:solidFill>
          <a:ln w="2540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0F172A"/>
                </a:solidFill>
                <a:latin typeface="Segoe UI"/>
              </a:defRPr>
            </a:pPr>
            <a:r>
              <a:t>प्र. 3. ब्रायोफिलम (अजूबा) पौधे में कायिक प्रवर्धन किसके द्वारा होता है?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94A3B8"/>
                </a:solidFill>
                <a:latin typeface="Segoe UI"/>
              </a:defRPr>
            </a:pPr>
            <a:r>
              <a:t>(A)  जड़ द्वारा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94A3B8"/>
                </a:solidFill>
                <a:latin typeface="Segoe UI"/>
              </a:defRPr>
            </a:pPr>
            <a:r>
              <a:t>(B)  तने द्वारा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794760"/>
            <a:ext cx="5440680" cy="1005840"/>
          </a:xfrm>
          <a:prstGeom prst="roundRect">
            <a:avLst/>
          </a:prstGeom>
          <a:solidFill>
            <a:srgbClr val="DCFCE7"/>
          </a:solidFill>
          <a:ln w="38100">
            <a:solidFill>
              <a:srgbClr val="1665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66534"/>
                </a:solidFill>
                <a:latin typeface="Segoe UI"/>
              </a:defRPr>
            </a:pPr>
            <a:r>
              <a:t>✅ (C)  पत्तियों (Leaves) द्वारा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794760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94A3B8"/>
                </a:solidFill>
                <a:latin typeface="Segoe UI"/>
              </a:defRPr>
            </a:pPr>
            <a:r>
              <a:t>(D)  पुष्प द्वारा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4937760"/>
            <a:ext cx="11277295" cy="128016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tIns="109728"/>
          <a:lstStyle/>
          <a:p>
            <a:pPr algn="ctr">
              <a:defRPr sz="1550" b="1">
                <a:solidFill>
                  <a:srgbClr val="166534"/>
                </a:solidFill>
                <a:latin typeface="Segoe UI"/>
              </a:defRPr>
            </a:pPr>
            <a:r>
              <a:t>✅ सही उत्तर: विकल्प (C)</a:t>
            </a:r>
          </a:p>
          <a:p>
            <a:pPr>
              <a:spcBef>
                <a:spcPts val="400"/>
              </a:spcBef>
              <a:defRPr sz="1400" b="0">
                <a:solidFill>
                  <a:srgbClr val="1E293B"/>
                </a:solidFill>
                <a:latin typeface="Segoe UI"/>
              </a:defRPr>
            </a:pPr>
            <a:r>
              <a:t>💡 व्याख्या (Explanation): ब्रायोफिलम की पत्तियों के किनारों पर कलिकाएं (Buds) निकलती हैं जो मिट्टी में गिरकर नया पौधा बनाती हैं।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0F172A"/>
          </a:solidFill>
          <a:ln w="1905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100" b="1">
                <a:solidFill>
                  <a:srgbClr val="D97706"/>
                </a:solidFill>
                <a:latin typeface="Segoe UI"/>
              </a:defRPr>
            </a:pPr>
            <a:r>
              <a:t>SAGAR COACHING CENTRE BHAGWANPUR • NMMS All India (विज्ञान Special)</a:t>
            </a:r>
          </a:p>
          <a:p>
            <a:pPr>
              <a:defRPr sz="1400" b="1">
                <a:solidFill>
                  <a:srgbClr val="FFFFFF"/>
                </a:solidFill>
                <a:latin typeface="Segoe UI"/>
              </a:defRPr>
            </a:pPr>
            <a:r>
              <a:t>PYQ अभ्यास प्रश्न #4  [NMMS Rajasthan 2022]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46520"/>
            <a:ext cx="1146017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>
                <a:solidFill>
                  <a:srgbClr val="64748B"/>
                </a:solidFill>
                <a:latin typeface="Segoe UI"/>
              </a:defRPr>
            </a:pPr>
            <a:r>
              <a:t>वेबसाइट: sagarcoaching.tech  |  Slide 11 of 36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F0F9FF"/>
          </a:solidFill>
          <a:ln w="2540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0F172A"/>
                </a:solidFill>
                <a:latin typeface="Segoe UI"/>
              </a:defRPr>
            </a:pPr>
            <a:r>
              <a:t>प्र. 4. नर युग्मक (शुक्राणु) एवं मादा युग्मक (अंडाणु) के संलयन को क्या कहते हैं?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(A)  परागण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(B)  निषेचन (Fertilization)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794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(C)  किण्वन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794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(D)  कायांतरण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0F172A"/>
          </a:solidFill>
          <a:ln w="1905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100" b="1">
                <a:solidFill>
                  <a:srgbClr val="D97706"/>
                </a:solidFill>
                <a:latin typeface="Segoe UI"/>
              </a:defRPr>
            </a:pPr>
            <a:r>
              <a:t>SAGAR COACHING CENTRE BHAGWANPUR • NMMS All India (विज्ञान Special)</a:t>
            </a:r>
          </a:p>
          <a:p>
            <a:pPr>
              <a:defRPr sz="1400" b="1">
                <a:solidFill>
                  <a:srgbClr val="FFFFFF"/>
                </a:solidFill>
                <a:latin typeface="Segoe UI"/>
              </a:defRPr>
            </a:pPr>
            <a:r>
              <a:t>PYQ अभ्यास प्रश्न #4  [NMMS Rajasthan 2022]  —  [उत्तर व व्याख्या]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46520"/>
            <a:ext cx="1146017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>
                <a:solidFill>
                  <a:srgbClr val="64748B"/>
                </a:solidFill>
                <a:latin typeface="Segoe UI"/>
              </a:defRPr>
            </a:pPr>
            <a:r>
              <a:t>वेबसाइट: sagarcoaching.tech  |  Slide 12 of 36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F0F9FF"/>
          </a:solidFill>
          <a:ln w="2540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0F172A"/>
                </a:solidFill>
                <a:latin typeface="Segoe UI"/>
              </a:defRPr>
            </a:pPr>
            <a:r>
              <a:t>प्र. 4. नर युग्मक (शुक्राणु) एवं मादा युग्मक (अंडाणु) के संलयन को क्या कहते हैं?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94A3B8"/>
                </a:solidFill>
                <a:latin typeface="Segoe UI"/>
              </a:defRPr>
            </a:pPr>
            <a:r>
              <a:t>(A)  परागण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05840"/>
          </a:xfrm>
          <a:prstGeom prst="roundRect">
            <a:avLst/>
          </a:prstGeom>
          <a:solidFill>
            <a:srgbClr val="DCFCE7"/>
          </a:solidFill>
          <a:ln w="38100">
            <a:solidFill>
              <a:srgbClr val="1665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66534"/>
                </a:solidFill>
                <a:latin typeface="Segoe UI"/>
              </a:defRPr>
            </a:pPr>
            <a:r>
              <a:t>✅ (B)  निषेचन (Fertilization)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794760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94A3B8"/>
                </a:solidFill>
                <a:latin typeface="Segoe UI"/>
              </a:defRPr>
            </a:pPr>
            <a:r>
              <a:t>(C)  किण्वन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794760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94A3B8"/>
                </a:solidFill>
                <a:latin typeface="Segoe UI"/>
              </a:defRPr>
            </a:pPr>
            <a:r>
              <a:t>(D)  कायांतरण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4937760"/>
            <a:ext cx="11277295" cy="128016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tIns="109728"/>
          <a:lstStyle/>
          <a:p>
            <a:pPr algn="ctr">
              <a:defRPr sz="1550" b="1">
                <a:solidFill>
                  <a:srgbClr val="166534"/>
                </a:solidFill>
                <a:latin typeface="Segoe UI"/>
              </a:defRPr>
            </a:pPr>
            <a:r>
              <a:t>✅ सही उत्तर: विकल्प (B)</a:t>
            </a:r>
          </a:p>
          <a:p>
            <a:pPr>
              <a:spcBef>
                <a:spcPts val="400"/>
              </a:spcBef>
              <a:defRPr sz="1400" b="0">
                <a:solidFill>
                  <a:srgbClr val="1E293B"/>
                </a:solidFill>
                <a:latin typeface="Segoe UI"/>
              </a:defRPr>
            </a:pPr>
            <a:r>
              <a:t>💡 व्याख्या (Explanation): नर एवं मादा युग्मकों के संलयन से युग्मनज (Zygote) बनने की प्रक्रिया निषेचन कहलाती है।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0F172A"/>
          </a:solidFill>
          <a:ln w="1905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100" b="1">
                <a:solidFill>
                  <a:srgbClr val="D97706"/>
                </a:solidFill>
                <a:latin typeface="Segoe UI"/>
              </a:defRPr>
            </a:pPr>
            <a:r>
              <a:t>SAGAR COACHING CENTRE BHAGWANPUR • NMMS All India (विज्ञान Special)</a:t>
            </a:r>
          </a:p>
          <a:p>
            <a:pPr>
              <a:defRPr sz="1400" b="1">
                <a:solidFill>
                  <a:srgbClr val="FFFFFF"/>
                </a:solidFill>
                <a:latin typeface="Segoe UI"/>
              </a:defRPr>
            </a:pPr>
            <a:r>
              <a:t>PYQ अभ्यास प्रश्न #5  [NMMS Haryana 2023]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46520"/>
            <a:ext cx="1146017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>
                <a:solidFill>
                  <a:srgbClr val="64748B"/>
                </a:solidFill>
                <a:latin typeface="Segoe UI"/>
              </a:defRPr>
            </a:pPr>
            <a:r>
              <a:t>वेबसाइट: sagarcoaching.tech  |  Slide 13 of 36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F0F9FF"/>
          </a:solidFill>
          <a:ln w="2540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0F172A"/>
                </a:solidFill>
                <a:latin typeface="Segoe UI"/>
              </a:defRPr>
            </a:pPr>
            <a:r>
              <a:t>प्र. 5. निम्नलिखित में से किस जीव में बाह्य निषेचन (External Fertilization) पाया जाता है?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(A)  मनुष्य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(B)  गाय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794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(C)  मेंढक (Frog)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794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(D)  कबूतर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0F172A"/>
          </a:solidFill>
          <a:ln w="1905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100" b="1">
                <a:solidFill>
                  <a:srgbClr val="D97706"/>
                </a:solidFill>
                <a:latin typeface="Segoe UI"/>
              </a:defRPr>
            </a:pPr>
            <a:r>
              <a:t>SAGAR COACHING CENTRE BHAGWANPUR • NMMS All India (विज्ञान Special)</a:t>
            </a:r>
          </a:p>
          <a:p>
            <a:pPr>
              <a:defRPr sz="1400" b="1">
                <a:solidFill>
                  <a:srgbClr val="FFFFFF"/>
                </a:solidFill>
                <a:latin typeface="Segoe UI"/>
              </a:defRPr>
            </a:pPr>
            <a:r>
              <a:t>PYQ अभ्यास प्रश्न #5  [NMMS Haryana 2023]  —  [उत्तर व व्याख्या]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46520"/>
            <a:ext cx="1146017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>
                <a:solidFill>
                  <a:srgbClr val="64748B"/>
                </a:solidFill>
                <a:latin typeface="Segoe UI"/>
              </a:defRPr>
            </a:pPr>
            <a:r>
              <a:t>वेबसाइट: sagarcoaching.tech  |  Slide 14 of 36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F0F9FF"/>
          </a:solidFill>
          <a:ln w="2540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0F172A"/>
                </a:solidFill>
                <a:latin typeface="Segoe UI"/>
              </a:defRPr>
            </a:pPr>
            <a:r>
              <a:t>प्र. 5. निम्नलिखित में से किस जीव में बाह्य निषेचन (External Fertilization) पाया जाता है?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94A3B8"/>
                </a:solidFill>
                <a:latin typeface="Segoe UI"/>
              </a:defRPr>
            </a:pPr>
            <a:r>
              <a:t>(A)  मनुष्य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94A3B8"/>
                </a:solidFill>
                <a:latin typeface="Segoe UI"/>
              </a:defRPr>
            </a:pPr>
            <a:r>
              <a:t>(B)  गाय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794760"/>
            <a:ext cx="5440680" cy="1005840"/>
          </a:xfrm>
          <a:prstGeom prst="roundRect">
            <a:avLst/>
          </a:prstGeom>
          <a:solidFill>
            <a:srgbClr val="DCFCE7"/>
          </a:solidFill>
          <a:ln w="38100">
            <a:solidFill>
              <a:srgbClr val="1665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66534"/>
                </a:solidFill>
                <a:latin typeface="Segoe UI"/>
              </a:defRPr>
            </a:pPr>
            <a:r>
              <a:t>✅ (C)  मेंढक (Frog)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794760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94A3B8"/>
                </a:solidFill>
                <a:latin typeface="Segoe UI"/>
              </a:defRPr>
            </a:pPr>
            <a:r>
              <a:t>(D)  कबूतर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4937760"/>
            <a:ext cx="11277295" cy="128016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tIns="109728"/>
          <a:lstStyle/>
          <a:p>
            <a:pPr algn="ctr">
              <a:defRPr sz="1550" b="1">
                <a:solidFill>
                  <a:srgbClr val="166534"/>
                </a:solidFill>
                <a:latin typeface="Segoe UI"/>
              </a:defRPr>
            </a:pPr>
            <a:r>
              <a:t>✅ सही उत्तर: विकल्प (C)</a:t>
            </a:r>
          </a:p>
          <a:p>
            <a:pPr>
              <a:spcBef>
                <a:spcPts val="400"/>
              </a:spcBef>
              <a:defRPr sz="1400" b="0">
                <a:solidFill>
                  <a:srgbClr val="1E293B"/>
                </a:solidFill>
                <a:latin typeface="Segoe UI"/>
              </a:defRPr>
            </a:pPr>
            <a:r>
              <a:t>💡 व्याख्या (Explanation): मेंढक और मछलियों में नर व मादा युग्मक जल में छोड़े जाते हैं जहाँ शरीर के बाहर निषेचन होता है।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0F172A"/>
          </a:solidFill>
          <a:ln w="1905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100" b="1">
                <a:solidFill>
                  <a:srgbClr val="D97706"/>
                </a:solidFill>
                <a:latin typeface="Segoe UI"/>
              </a:defRPr>
            </a:pPr>
            <a:r>
              <a:t>SAGAR COACHING CENTRE BHAGWANPUR • NMMS All India (विज्ञान Special)</a:t>
            </a:r>
          </a:p>
          <a:p>
            <a:pPr>
              <a:defRPr sz="1400" b="1">
                <a:solidFill>
                  <a:srgbClr val="FFFFFF"/>
                </a:solidFill>
                <a:latin typeface="Segoe UI"/>
              </a:defRPr>
            </a:pPr>
            <a:r>
              <a:t>PYQ अभ्यास प्रश्न #6  [NMMS Delhi 2022]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46520"/>
            <a:ext cx="1146017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>
                <a:solidFill>
                  <a:srgbClr val="64748B"/>
                </a:solidFill>
                <a:latin typeface="Segoe UI"/>
              </a:defRPr>
            </a:pPr>
            <a:r>
              <a:t>वेबसाइट: sagarcoaching.tech  |  Slide 15 of 36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F0F9FF"/>
          </a:solidFill>
          <a:ln w="2540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0F172A"/>
                </a:solidFill>
                <a:latin typeface="Segoe UI"/>
              </a:defRPr>
            </a:pPr>
            <a:r>
              <a:t>प्र. 6. मानव शरीर की 'मास्टर ग्रंथि' (Master Gland) किसे कहा जाता है?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(A)  थायरॉयड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(B)  पीयूष ग्रंथि (Pituitary)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794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(C)  अधिवृक्क ग्रंथि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794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(D)  अग्न्याशय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0F172A"/>
          </a:solidFill>
          <a:ln w="1905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100" b="1">
                <a:solidFill>
                  <a:srgbClr val="D97706"/>
                </a:solidFill>
                <a:latin typeface="Segoe UI"/>
              </a:defRPr>
            </a:pPr>
            <a:r>
              <a:t>SAGAR COACHING CENTRE BHAGWANPUR • NMMS All India (विज्ञान Special)</a:t>
            </a:r>
          </a:p>
          <a:p>
            <a:pPr>
              <a:defRPr sz="1400" b="1">
                <a:solidFill>
                  <a:srgbClr val="FFFFFF"/>
                </a:solidFill>
                <a:latin typeface="Segoe UI"/>
              </a:defRPr>
            </a:pPr>
            <a:r>
              <a:t>PYQ अभ्यास प्रश्न #6  [NMMS Delhi 2022]  —  [उत्तर व व्याख्या]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46520"/>
            <a:ext cx="1146017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>
                <a:solidFill>
                  <a:srgbClr val="64748B"/>
                </a:solidFill>
                <a:latin typeface="Segoe UI"/>
              </a:defRPr>
            </a:pPr>
            <a:r>
              <a:t>वेबसाइट: sagarcoaching.tech  |  Slide 16 of 36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F0F9FF"/>
          </a:solidFill>
          <a:ln w="2540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0F172A"/>
                </a:solidFill>
                <a:latin typeface="Segoe UI"/>
              </a:defRPr>
            </a:pPr>
            <a:r>
              <a:t>प्र. 6. मानव शरीर की 'मास्टर ग्रंथि' (Master Gland) किसे कहा जाता है?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94A3B8"/>
                </a:solidFill>
                <a:latin typeface="Segoe UI"/>
              </a:defRPr>
            </a:pPr>
            <a:r>
              <a:t>(A)  थायरॉयड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05840"/>
          </a:xfrm>
          <a:prstGeom prst="roundRect">
            <a:avLst/>
          </a:prstGeom>
          <a:solidFill>
            <a:srgbClr val="DCFCE7"/>
          </a:solidFill>
          <a:ln w="38100">
            <a:solidFill>
              <a:srgbClr val="1665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66534"/>
                </a:solidFill>
                <a:latin typeface="Segoe UI"/>
              </a:defRPr>
            </a:pPr>
            <a:r>
              <a:t>✅ (B)  पीयूष ग्रंथि (Pituitary)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794760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94A3B8"/>
                </a:solidFill>
                <a:latin typeface="Segoe UI"/>
              </a:defRPr>
            </a:pPr>
            <a:r>
              <a:t>(C)  अधिवृक्क ग्रंथि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794760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94A3B8"/>
                </a:solidFill>
                <a:latin typeface="Segoe UI"/>
              </a:defRPr>
            </a:pPr>
            <a:r>
              <a:t>(D)  अग्न्याशय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4937760"/>
            <a:ext cx="11277295" cy="128016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tIns="109728"/>
          <a:lstStyle/>
          <a:p>
            <a:pPr algn="ctr">
              <a:defRPr sz="1550" b="1">
                <a:solidFill>
                  <a:srgbClr val="166534"/>
                </a:solidFill>
                <a:latin typeface="Segoe UI"/>
              </a:defRPr>
            </a:pPr>
            <a:r>
              <a:t>✅ सही उत्तर: विकल्प (B)</a:t>
            </a:r>
          </a:p>
          <a:p>
            <a:pPr>
              <a:spcBef>
                <a:spcPts val="400"/>
              </a:spcBef>
              <a:defRPr sz="1400" b="0">
                <a:solidFill>
                  <a:srgbClr val="1E293B"/>
                </a:solidFill>
                <a:latin typeface="Segoe UI"/>
              </a:defRPr>
            </a:pPr>
            <a:r>
              <a:t>💡 व्याख्या (Explanation): पीयूष ग्रंथि मस्तिष्क के आधार पर होती है और अन्य सभी अंतःस्रावी ग्रंथियों के हार्मोन स्राव को नियंत्रित करती है।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0F172A"/>
          </a:solidFill>
          <a:ln w="1905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100" b="1">
                <a:solidFill>
                  <a:srgbClr val="D97706"/>
                </a:solidFill>
                <a:latin typeface="Segoe UI"/>
              </a:defRPr>
            </a:pPr>
            <a:r>
              <a:t>SAGAR COACHING CENTRE BHAGWANPUR • NMMS All India (विज्ञान Special)</a:t>
            </a:r>
          </a:p>
          <a:p>
            <a:pPr>
              <a:defRPr sz="1400" b="1">
                <a:solidFill>
                  <a:srgbClr val="FFFFFF"/>
                </a:solidFill>
                <a:latin typeface="Segoe UI"/>
              </a:defRPr>
            </a:pPr>
            <a:r>
              <a:t>PYQ अभ्यास प्रश्न #7  [NMMS Bihar 2021]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46520"/>
            <a:ext cx="1146017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>
                <a:solidFill>
                  <a:srgbClr val="64748B"/>
                </a:solidFill>
                <a:latin typeface="Segoe UI"/>
              </a:defRPr>
            </a:pPr>
            <a:r>
              <a:t>वेबसाइट: sagarcoaching.tech  |  Slide 17 of 36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F0F9FF"/>
          </a:solidFill>
          <a:ln w="2540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0F172A"/>
                </a:solidFill>
                <a:latin typeface="Segoe UI"/>
              </a:defRPr>
            </a:pPr>
            <a:r>
              <a:t>प्र. 7. पुष्प में निषेचन के पश्चात अंडाशय (Ovary) किसमें परिवर्तित हो जाता है?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(A)  बीज में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(B)  फल (Fruit) में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794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(C)  पत्ती में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794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(D)  परागकण में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0F172A"/>
          </a:solidFill>
          <a:ln w="1905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100" b="1">
                <a:solidFill>
                  <a:srgbClr val="D97706"/>
                </a:solidFill>
                <a:latin typeface="Segoe UI"/>
              </a:defRPr>
            </a:pPr>
            <a:r>
              <a:t>SAGAR COACHING CENTRE BHAGWANPUR • NMMS All India (विज्ञान Special)</a:t>
            </a:r>
          </a:p>
          <a:p>
            <a:pPr>
              <a:defRPr sz="1400" b="1">
                <a:solidFill>
                  <a:srgbClr val="FFFFFF"/>
                </a:solidFill>
                <a:latin typeface="Segoe UI"/>
              </a:defRPr>
            </a:pPr>
            <a:r>
              <a:t>PYQ अभ्यास प्रश्न #7  [NMMS Bihar 2021]  —  [उत्तर व व्याख्या]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46520"/>
            <a:ext cx="1146017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>
                <a:solidFill>
                  <a:srgbClr val="64748B"/>
                </a:solidFill>
                <a:latin typeface="Segoe UI"/>
              </a:defRPr>
            </a:pPr>
            <a:r>
              <a:t>वेबसाइट: sagarcoaching.tech  |  Slide 18 of 36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F0F9FF"/>
          </a:solidFill>
          <a:ln w="2540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0F172A"/>
                </a:solidFill>
                <a:latin typeface="Segoe UI"/>
              </a:defRPr>
            </a:pPr>
            <a:r>
              <a:t>प्र. 7. पुष्प में निषेचन के पश्चात अंडाशय (Ovary) किसमें परिवर्तित हो जाता है?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94A3B8"/>
                </a:solidFill>
                <a:latin typeface="Segoe UI"/>
              </a:defRPr>
            </a:pPr>
            <a:r>
              <a:t>(A)  बीज में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05840"/>
          </a:xfrm>
          <a:prstGeom prst="roundRect">
            <a:avLst/>
          </a:prstGeom>
          <a:solidFill>
            <a:srgbClr val="DCFCE7"/>
          </a:solidFill>
          <a:ln w="38100">
            <a:solidFill>
              <a:srgbClr val="1665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66534"/>
                </a:solidFill>
                <a:latin typeface="Segoe UI"/>
              </a:defRPr>
            </a:pPr>
            <a:r>
              <a:t>✅ (B)  फल (Fruit) में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794760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94A3B8"/>
                </a:solidFill>
                <a:latin typeface="Segoe UI"/>
              </a:defRPr>
            </a:pPr>
            <a:r>
              <a:t>(C)  पत्ती में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794760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94A3B8"/>
                </a:solidFill>
                <a:latin typeface="Segoe UI"/>
              </a:defRPr>
            </a:pPr>
            <a:r>
              <a:t>(D)  परागकण में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4937760"/>
            <a:ext cx="11277295" cy="128016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tIns="109728"/>
          <a:lstStyle/>
          <a:p>
            <a:pPr algn="ctr">
              <a:defRPr sz="1550" b="1">
                <a:solidFill>
                  <a:srgbClr val="166534"/>
                </a:solidFill>
                <a:latin typeface="Segoe UI"/>
              </a:defRPr>
            </a:pPr>
            <a:r>
              <a:t>✅ सही उत्तर: विकल्प (B)</a:t>
            </a:r>
          </a:p>
          <a:p>
            <a:pPr>
              <a:spcBef>
                <a:spcPts val="400"/>
              </a:spcBef>
              <a:defRPr sz="1400" b="0">
                <a:solidFill>
                  <a:srgbClr val="1E293B"/>
                </a:solidFill>
                <a:latin typeface="Segoe UI"/>
              </a:defRPr>
            </a:pPr>
            <a:r>
              <a:t>💡 व्याख्या (Explanation): निषेचन के बाद अंडाशय पककर फल बनता है तथा बीजांड कठोर होकर बीज में परिवर्तित होता है।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0F172A"/>
          </a:solidFill>
          <a:ln w="1905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100" b="1">
                <a:solidFill>
                  <a:srgbClr val="D97706"/>
                </a:solidFill>
                <a:latin typeface="Segoe UI"/>
              </a:defRPr>
            </a:pPr>
            <a:r>
              <a:t>SAGAR COACHING CENTRE BHAGWANPUR • NMMS All India (विज्ञान Special)</a:t>
            </a:r>
          </a:p>
          <a:p>
            <a:pPr>
              <a:defRPr sz="1400" b="1">
                <a:solidFill>
                  <a:srgbClr val="FFFFFF"/>
                </a:solidFill>
                <a:latin typeface="Segoe UI"/>
              </a:defRPr>
            </a:pPr>
            <a:r>
              <a:t>PYQ अभ्यास प्रश्न #8  [NMMS UP 2023]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46520"/>
            <a:ext cx="1146017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>
                <a:solidFill>
                  <a:srgbClr val="64748B"/>
                </a:solidFill>
                <a:latin typeface="Segoe UI"/>
              </a:defRPr>
            </a:pPr>
            <a:r>
              <a:t>वेबसाइट: sagarcoaching.tech  |  Slide 19 of 36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F0F9FF"/>
          </a:solidFill>
          <a:ln w="2540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0F172A"/>
                </a:solidFill>
                <a:latin typeface="Segoe UI"/>
              </a:defRPr>
            </a:pPr>
            <a:r>
              <a:t>प्र. 8. मेंढक के टैडपोल लार्वा के कायांतरण (Metamorphosis) के लिए जल में किस तत्व का होना अनिवार्य है?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(A)  आयोडीन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(B)  कैल्शियम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794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(C)  क्लोरीन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794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(D)  सल्फर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0F172A"/>
          </a:solidFill>
          <a:ln w="1905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100" b="1">
                <a:solidFill>
                  <a:srgbClr val="D97706"/>
                </a:solidFill>
                <a:latin typeface="Segoe UI"/>
              </a:defRPr>
            </a:pPr>
            <a:r>
              <a:t>SAGAR COACHING CENTRE BHAGWANPUR • NMMS All India (विज्ञान Special)</a:t>
            </a:r>
          </a:p>
          <a:p>
            <a:pPr>
              <a:defRPr sz="1400" b="1">
                <a:solidFill>
                  <a:srgbClr val="FFFFFF"/>
                </a:solidFill>
                <a:latin typeface="Segoe UI"/>
              </a:defRPr>
            </a:pPr>
            <a:r>
              <a:t>PYQ अभ्यास प्रश्न #8  [NMMS UP 2023]  —  [उत्तर व व्याख्या]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46520"/>
            <a:ext cx="1146017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>
                <a:solidFill>
                  <a:srgbClr val="64748B"/>
                </a:solidFill>
                <a:latin typeface="Segoe UI"/>
              </a:defRPr>
            </a:pPr>
            <a:r>
              <a:t>वेबसाइट: sagarcoaching.tech  |  Slide 20 of 36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F0F9FF"/>
          </a:solidFill>
          <a:ln w="2540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0F172A"/>
                </a:solidFill>
                <a:latin typeface="Segoe UI"/>
              </a:defRPr>
            </a:pPr>
            <a:r>
              <a:t>प्र. 8. मेंढक के टैडपोल लार्वा के कायांतरण (Metamorphosis) के लिए जल में किस तत्व का होना अनिवार्य है?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05840"/>
          </a:xfrm>
          <a:prstGeom prst="roundRect">
            <a:avLst/>
          </a:prstGeom>
          <a:solidFill>
            <a:srgbClr val="DCFCE7"/>
          </a:solidFill>
          <a:ln w="38100">
            <a:solidFill>
              <a:srgbClr val="1665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66534"/>
                </a:solidFill>
                <a:latin typeface="Segoe UI"/>
              </a:defRPr>
            </a:pPr>
            <a:r>
              <a:t>✅ (A)  आयोडीन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94A3B8"/>
                </a:solidFill>
                <a:latin typeface="Segoe UI"/>
              </a:defRPr>
            </a:pPr>
            <a:r>
              <a:t>(B)  कैल्शियम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794760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94A3B8"/>
                </a:solidFill>
                <a:latin typeface="Segoe UI"/>
              </a:defRPr>
            </a:pPr>
            <a:r>
              <a:t>(C)  क्लोरीन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794760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94A3B8"/>
                </a:solidFill>
                <a:latin typeface="Segoe UI"/>
              </a:defRPr>
            </a:pPr>
            <a:r>
              <a:t>(D)  सल्फर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4937760"/>
            <a:ext cx="11277295" cy="128016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tIns="109728"/>
          <a:lstStyle/>
          <a:p>
            <a:pPr algn="ctr">
              <a:defRPr sz="1550" b="1">
                <a:solidFill>
                  <a:srgbClr val="166534"/>
                </a:solidFill>
                <a:latin typeface="Segoe UI"/>
              </a:defRPr>
            </a:pPr>
            <a:r>
              <a:t>✅ सही उत्तर: विकल्प (A)</a:t>
            </a:r>
          </a:p>
          <a:p>
            <a:pPr>
              <a:spcBef>
                <a:spcPts val="400"/>
              </a:spcBef>
              <a:defRPr sz="1400" b="0">
                <a:solidFill>
                  <a:srgbClr val="1E293B"/>
                </a:solidFill>
                <a:latin typeface="Segoe UI"/>
              </a:defRPr>
            </a:pPr>
            <a:r>
              <a:t>💡 व्याख्या (Explanation): टैडपोल के वयस्क बनने हेतु थायरॉक्सिन हार्मोन आवश्यक है जिसके निर्माण के लिए जल में आयोडीन अनिवार्य है।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0F172A"/>
          </a:solidFill>
          <a:ln w="1905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100" b="1">
                <a:solidFill>
                  <a:srgbClr val="D97706"/>
                </a:solidFill>
                <a:latin typeface="Segoe UI"/>
              </a:defRPr>
            </a:pPr>
            <a:r>
              <a:t>SAGAR COACHING CENTRE BHAGWANPUR • NMMS All India (विज्ञान Special)</a:t>
            </a:r>
          </a:p>
          <a:p>
            <a:pPr>
              <a:defRPr sz="1400" b="1">
                <a:solidFill>
                  <a:srgbClr val="FFFFFF"/>
                </a:solidFill>
                <a:latin typeface="Segoe UI"/>
              </a:defRPr>
            </a:pPr>
            <a:r>
              <a:t>PYQ अभ्यास प्रश्न #9  [NMMS MP 2022]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46520"/>
            <a:ext cx="1146017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>
                <a:solidFill>
                  <a:srgbClr val="64748B"/>
                </a:solidFill>
                <a:latin typeface="Segoe UI"/>
              </a:defRPr>
            </a:pPr>
            <a:r>
              <a:t>वेबसाइट: sagarcoaching.tech  |  Slide 21 of 36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F0F9FF"/>
          </a:solidFill>
          <a:ln w="2540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0F172A"/>
                </a:solidFill>
                <a:latin typeface="Segoe UI"/>
              </a:defRPr>
            </a:pPr>
            <a:r>
              <a:t>प्र. 9. आपातकालीन हार्मोन / 'लड़ो या उड़ो' (Fight or Flight) हार्मोन किस ग्रंथि से स्रावित होता है?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(A)  थाइमस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(B)  एड्रिनल ग्रंथि (Adrenal)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794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(C)  पीयूष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794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(D)  थायरॉयड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0F172A"/>
          </a:solidFill>
          <a:ln w="1905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100" b="1">
                <a:solidFill>
                  <a:srgbClr val="D97706"/>
                </a:solidFill>
                <a:latin typeface="Segoe UI"/>
              </a:defRPr>
            </a:pPr>
            <a:r>
              <a:t>SAGAR COACHING CENTRE BHAGWANPUR • NMMS All India (विज्ञान Special)</a:t>
            </a:r>
          </a:p>
          <a:p>
            <a:pPr>
              <a:defRPr sz="1400" b="1">
                <a:solidFill>
                  <a:srgbClr val="FFFFFF"/>
                </a:solidFill>
                <a:latin typeface="Segoe UI"/>
              </a:defRPr>
            </a:pPr>
            <a:r>
              <a:t>PYQ अभ्यास प्रश्न #9  [NMMS MP 2022]  —  [उत्तर व व्याख्या]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46520"/>
            <a:ext cx="1146017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>
                <a:solidFill>
                  <a:srgbClr val="64748B"/>
                </a:solidFill>
                <a:latin typeface="Segoe UI"/>
              </a:defRPr>
            </a:pPr>
            <a:r>
              <a:t>वेबसाइट: sagarcoaching.tech  |  Slide 22 of 36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F0F9FF"/>
          </a:solidFill>
          <a:ln w="2540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0F172A"/>
                </a:solidFill>
                <a:latin typeface="Segoe UI"/>
              </a:defRPr>
            </a:pPr>
            <a:r>
              <a:t>प्र. 9. आपातकालीन हार्मोन / 'लड़ो या उड़ो' (Fight or Flight) हार्मोन किस ग्रंथि से स्रावित होता है?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94A3B8"/>
                </a:solidFill>
                <a:latin typeface="Segoe UI"/>
              </a:defRPr>
            </a:pPr>
            <a:r>
              <a:t>(A)  थाइमस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05840"/>
          </a:xfrm>
          <a:prstGeom prst="roundRect">
            <a:avLst/>
          </a:prstGeom>
          <a:solidFill>
            <a:srgbClr val="DCFCE7"/>
          </a:solidFill>
          <a:ln w="38100">
            <a:solidFill>
              <a:srgbClr val="1665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66534"/>
                </a:solidFill>
                <a:latin typeface="Segoe UI"/>
              </a:defRPr>
            </a:pPr>
            <a:r>
              <a:t>✅ (B)  एड्रिनल ग्रंथि (Adrenal)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794760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94A3B8"/>
                </a:solidFill>
                <a:latin typeface="Segoe UI"/>
              </a:defRPr>
            </a:pPr>
            <a:r>
              <a:t>(C)  पीयूष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794760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94A3B8"/>
                </a:solidFill>
                <a:latin typeface="Segoe UI"/>
              </a:defRPr>
            </a:pPr>
            <a:r>
              <a:t>(D)  थायरॉयड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4937760"/>
            <a:ext cx="11277295" cy="128016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tIns="109728"/>
          <a:lstStyle/>
          <a:p>
            <a:pPr algn="ctr">
              <a:defRPr sz="1550" b="1">
                <a:solidFill>
                  <a:srgbClr val="166534"/>
                </a:solidFill>
                <a:latin typeface="Segoe UI"/>
              </a:defRPr>
            </a:pPr>
            <a:r>
              <a:t>✅ सही उत्तर: विकल्प (B)</a:t>
            </a:r>
          </a:p>
          <a:p>
            <a:pPr>
              <a:spcBef>
                <a:spcPts val="400"/>
              </a:spcBef>
              <a:defRPr sz="1400" b="0">
                <a:solidFill>
                  <a:srgbClr val="1E293B"/>
                </a:solidFill>
                <a:latin typeface="Segoe UI"/>
              </a:defRPr>
            </a:pPr>
            <a:r>
              <a:t>💡 व्याख्या (Explanation): एड्रिनल (अधिवृक्क) ग्रंथि से एड्रिनेलिन हार्मोन निकलता है जो तनाव, भय और संकट के समय शरीर को तैयार करता है।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0F172A"/>
          </a:solidFill>
          <a:ln w="1905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100" b="1">
                <a:solidFill>
                  <a:srgbClr val="D97706"/>
                </a:solidFill>
                <a:latin typeface="Segoe UI"/>
              </a:defRPr>
            </a:pPr>
            <a:r>
              <a:t>SAGAR COACHING CENTRE BHAGWANPUR • NMMS All India (विज्ञान Special)</a:t>
            </a:r>
          </a:p>
          <a:p>
            <a:pPr>
              <a:defRPr sz="1400" b="1">
                <a:solidFill>
                  <a:srgbClr val="FFFFFF"/>
                </a:solidFill>
                <a:latin typeface="Segoe UI"/>
              </a:defRPr>
            </a:pPr>
            <a:r>
              <a:t>PYQ अभ्यास प्रश्न #10  [NMMS Rajasthan 2021]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46520"/>
            <a:ext cx="1146017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>
                <a:solidFill>
                  <a:srgbClr val="64748B"/>
                </a:solidFill>
                <a:latin typeface="Segoe UI"/>
              </a:defRPr>
            </a:pPr>
            <a:r>
              <a:t>वेबसाइट: sagarcoaching.tech  |  Slide 23 of 36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F0F9FF"/>
          </a:solidFill>
          <a:ln w="2540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0F172A"/>
                </a:solidFill>
                <a:latin typeface="Segoe UI"/>
              </a:defRPr>
            </a:pPr>
            <a:r>
              <a:t>प्र. 10. लड़कों में यौवनारंभ के समय द्वितीयक लैंगिक लक्षणों को प्रेरित करने वाला मुख्य नर हार्मोन कौन-सा है?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(A)  इंसुलिन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(B)  टेस्टोस्टेरोन (Testosterone)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794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(C)  एस्ट्रोजन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794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(D)  थायरॉक्सिन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0F172A"/>
          </a:solidFill>
          <a:ln w="1905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100" b="1">
                <a:solidFill>
                  <a:srgbClr val="D97706"/>
                </a:solidFill>
                <a:latin typeface="Segoe UI"/>
              </a:defRPr>
            </a:pPr>
            <a:r>
              <a:t>SAGAR COACHING CENTRE BHAGWANPUR • NMMS All India (विज्ञान Special)</a:t>
            </a:r>
          </a:p>
          <a:p>
            <a:pPr>
              <a:defRPr sz="1400" b="1">
                <a:solidFill>
                  <a:srgbClr val="FFFFFF"/>
                </a:solidFill>
                <a:latin typeface="Segoe UI"/>
              </a:defRPr>
            </a:pPr>
            <a:r>
              <a:t>PYQ अभ्यास प्रश्न #10  [NMMS Rajasthan 2021]  —  [उत्तर व व्याख्या]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46520"/>
            <a:ext cx="1146017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>
                <a:solidFill>
                  <a:srgbClr val="64748B"/>
                </a:solidFill>
                <a:latin typeface="Segoe UI"/>
              </a:defRPr>
            </a:pPr>
            <a:r>
              <a:t>वेबसाइट: sagarcoaching.tech  |  Slide 24 of 36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F0F9FF"/>
          </a:solidFill>
          <a:ln w="2540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0F172A"/>
                </a:solidFill>
                <a:latin typeface="Segoe UI"/>
              </a:defRPr>
            </a:pPr>
            <a:r>
              <a:t>प्र. 10. लड़कों में यौवनारंभ के समय द्वितीयक लैंगिक लक्षणों को प्रेरित करने वाला मुख्य नर हार्मोन कौन-सा है?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94A3B8"/>
                </a:solidFill>
                <a:latin typeface="Segoe UI"/>
              </a:defRPr>
            </a:pPr>
            <a:r>
              <a:t>(A)  इंसुलिन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05840"/>
          </a:xfrm>
          <a:prstGeom prst="roundRect">
            <a:avLst/>
          </a:prstGeom>
          <a:solidFill>
            <a:srgbClr val="DCFCE7"/>
          </a:solidFill>
          <a:ln w="38100">
            <a:solidFill>
              <a:srgbClr val="1665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66534"/>
                </a:solidFill>
                <a:latin typeface="Segoe UI"/>
              </a:defRPr>
            </a:pPr>
            <a:r>
              <a:t>✅ (B)  टेस्टोस्टेरोन (Testosterone)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794760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94A3B8"/>
                </a:solidFill>
                <a:latin typeface="Segoe UI"/>
              </a:defRPr>
            </a:pPr>
            <a:r>
              <a:t>(C)  एस्ट्रोजन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794760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94A3B8"/>
                </a:solidFill>
                <a:latin typeface="Segoe UI"/>
              </a:defRPr>
            </a:pPr>
            <a:r>
              <a:t>(D)  थायरॉक्सिन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4937760"/>
            <a:ext cx="11277295" cy="128016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tIns="109728"/>
          <a:lstStyle/>
          <a:p>
            <a:pPr algn="ctr">
              <a:defRPr sz="1550" b="1">
                <a:solidFill>
                  <a:srgbClr val="166534"/>
                </a:solidFill>
                <a:latin typeface="Segoe UI"/>
              </a:defRPr>
            </a:pPr>
            <a:r>
              <a:t>✅ सही उत्तर: विकल्प (B)</a:t>
            </a:r>
          </a:p>
          <a:p>
            <a:pPr>
              <a:spcBef>
                <a:spcPts val="400"/>
              </a:spcBef>
              <a:defRPr sz="1400" b="0">
                <a:solidFill>
                  <a:srgbClr val="1E293B"/>
                </a:solidFill>
                <a:latin typeface="Segoe UI"/>
              </a:defRPr>
            </a:pPr>
            <a:r>
              <a:t>💡 व्याख्या (Explanation): वृषण द्वारा टेस्टोस्टेरोन स्रावित होता है जो लड़कों में आवाज भारी होना, दाढ़ी-मूंछ आदि लक्षणों को प्रेरित करता है।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0F172A"/>
          </a:solidFill>
          <a:ln w="1905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100" b="1">
                <a:solidFill>
                  <a:srgbClr val="D97706"/>
                </a:solidFill>
                <a:latin typeface="Segoe UI"/>
              </a:defRPr>
            </a:pPr>
            <a:r>
              <a:t>SAGAR COACHING CENTRE BHAGWANPUR • NMMS All India (विज्ञान Special)</a:t>
            </a:r>
          </a:p>
          <a:p>
            <a:pPr>
              <a:defRPr sz="1400" b="1">
                <a:solidFill>
                  <a:srgbClr val="FFFFFF"/>
                </a:solidFill>
                <a:latin typeface="Segoe UI"/>
              </a:defRPr>
            </a:pPr>
            <a:r>
              <a:t>PYQ अभ्यास प्रश्न #11  [NMMS All India 2022]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46520"/>
            <a:ext cx="1146017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>
                <a:solidFill>
                  <a:srgbClr val="64748B"/>
                </a:solidFill>
                <a:latin typeface="Segoe UI"/>
              </a:defRPr>
            </a:pPr>
            <a:r>
              <a:t>वेबसाइट: sagarcoaching.tech  |  Slide 25 of 36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F0F9FF"/>
          </a:solidFill>
          <a:ln w="2540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0F172A"/>
                </a:solidFill>
                <a:latin typeface="Segoe UI"/>
              </a:defRPr>
            </a:pPr>
            <a:r>
              <a:t>प्र. 11. मानव कोशिका में कितने जोड़े गुणसूत्र (Chromosomes) पाए जाते हैं?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(A)  20 जोड़े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(B)  22 जोड़े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794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(C)  23 जोड़े (46)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794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(D)  24 जोड़े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0F172A"/>
          </a:solidFill>
          <a:ln w="1905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100" b="1">
                <a:solidFill>
                  <a:srgbClr val="D97706"/>
                </a:solidFill>
                <a:latin typeface="Segoe UI"/>
              </a:defRPr>
            </a:pPr>
            <a:r>
              <a:t>SAGAR COACHING CENTRE BHAGWANPUR • NMMS All India (विज्ञान Special)</a:t>
            </a:r>
          </a:p>
          <a:p>
            <a:pPr>
              <a:defRPr sz="1400" b="1">
                <a:solidFill>
                  <a:srgbClr val="FFFFFF"/>
                </a:solidFill>
                <a:latin typeface="Segoe UI"/>
              </a:defRPr>
            </a:pPr>
            <a:r>
              <a:t>PYQ अभ्यास प्रश्न #11  [NMMS All India 2022]  —  [उत्तर व व्याख्या]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46520"/>
            <a:ext cx="1146017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>
                <a:solidFill>
                  <a:srgbClr val="64748B"/>
                </a:solidFill>
                <a:latin typeface="Segoe UI"/>
              </a:defRPr>
            </a:pPr>
            <a:r>
              <a:t>वेबसाइट: sagarcoaching.tech  |  Slide 26 of 36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F0F9FF"/>
          </a:solidFill>
          <a:ln w="2540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0F172A"/>
                </a:solidFill>
                <a:latin typeface="Segoe UI"/>
              </a:defRPr>
            </a:pPr>
            <a:r>
              <a:t>प्र. 11. मानव कोशिका में कितने जोड़े गुणसूत्र (Chromosomes) पाए जाते हैं?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94A3B8"/>
                </a:solidFill>
                <a:latin typeface="Segoe UI"/>
              </a:defRPr>
            </a:pPr>
            <a:r>
              <a:t>(A)  20 जोड़े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94A3B8"/>
                </a:solidFill>
                <a:latin typeface="Segoe UI"/>
              </a:defRPr>
            </a:pPr>
            <a:r>
              <a:t>(B)  22 जोड़े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794760"/>
            <a:ext cx="5440680" cy="1005840"/>
          </a:xfrm>
          <a:prstGeom prst="roundRect">
            <a:avLst/>
          </a:prstGeom>
          <a:solidFill>
            <a:srgbClr val="DCFCE7"/>
          </a:solidFill>
          <a:ln w="38100">
            <a:solidFill>
              <a:srgbClr val="1665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66534"/>
                </a:solidFill>
                <a:latin typeface="Segoe UI"/>
              </a:defRPr>
            </a:pPr>
            <a:r>
              <a:t>✅ (C)  23 जोड़े (46)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794760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94A3B8"/>
                </a:solidFill>
                <a:latin typeface="Segoe UI"/>
              </a:defRPr>
            </a:pPr>
            <a:r>
              <a:t>(D)  24 जोड़े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4937760"/>
            <a:ext cx="11277295" cy="128016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tIns="109728"/>
          <a:lstStyle/>
          <a:p>
            <a:pPr algn="ctr">
              <a:defRPr sz="1550" b="1">
                <a:solidFill>
                  <a:srgbClr val="166534"/>
                </a:solidFill>
                <a:latin typeface="Segoe UI"/>
              </a:defRPr>
            </a:pPr>
            <a:r>
              <a:t>✅ सही उत्तर: विकल्प (C)</a:t>
            </a:r>
          </a:p>
          <a:p>
            <a:pPr>
              <a:spcBef>
                <a:spcPts val="400"/>
              </a:spcBef>
              <a:defRPr sz="1400" b="0">
                <a:solidFill>
                  <a:srgbClr val="1E293B"/>
                </a:solidFill>
                <a:latin typeface="Segoe UI"/>
              </a:defRPr>
            </a:pPr>
            <a:r>
              <a:t>💡 व्याख्या (Explanation): मनुष्य की प्रत्येक कायिक कोशिका में 23 जोड़े (कुल 46) गुणसूत्र होते हैं, जिनमें 23वां जोड़ा लिंग गुणसूत्र (XY/XX) होता है।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0F172A"/>
          </a:solidFill>
          <a:ln w="1905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100" b="1">
                <a:solidFill>
                  <a:srgbClr val="D97706"/>
                </a:solidFill>
                <a:latin typeface="Segoe UI"/>
              </a:defRPr>
            </a:pPr>
            <a:r>
              <a:t>SAGAR COACHING CENTRE BHAGWANPUR • NMMS All India (विज्ञान Special)</a:t>
            </a:r>
          </a:p>
          <a:p>
            <a:pPr>
              <a:defRPr sz="1400" b="1">
                <a:solidFill>
                  <a:srgbClr val="FFFFFF"/>
                </a:solidFill>
                <a:latin typeface="Segoe UI"/>
              </a:defRPr>
            </a:pPr>
            <a:r>
              <a:t>PYQ अभ्यास प्रश्न #12  [NMMS Gujarat 2023]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46520"/>
            <a:ext cx="1146017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>
                <a:solidFill>
                  <a:srgbClr val="64748B"/>
                </a:solidFill>
                <a:latin typeface="Segoe UI"/>
              </a:defRPr>
            </a:pPr>
            <a:r>
              <a:t>वेबसाइट: sagarcoaching.tech  |  Slide 27 of 36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F0F9FF"/>
          </a:solidFill>
          <a:ln w="2540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0F172A"/>
                </a:solidFill>
                <a:latin typeface="Segoe UI"/>
              </a:defRPr>
            </a:pPr>
            <a:r>
              <a:t>प्र. 12. मादा में अंडोत्सर्ग एवं द्वितीयक लैंगिक लक्षणों का नियंत्रण कौन-सा हार्मोन करता है?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(A)  टेस्टोस्टेरोन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(B)  एस्ट्रोजन (Estrogen)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794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(C)  एड्रिनेलिन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794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(D)  ग्लूकागन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0F172A"/>
          </a:solidFill>
          <a:ln w="1905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100" b="1">
                <a:solidFill>
                  <a:srgbClr val="D97706"/>
                </a:solidFill>
                <a:latin typeface="Segoe UI"/>
              </a:defRPr>
            </a:pPr>
            <a:r>
              <a:t>SAGAR COACHING CENTRE BHAGWANPUR • NMMS All India (विज्ञान Special)</a:t>
            </a:r>
          </a:p>
          <a:p>
            <a:pPr>
              <a:defRPr sz="1400" b="1">
                <a:solidFill>
                  <a:srgbClr val="FFFFFF"/>
                </a:solidFill>
                <a:latin typeface="Segoe UI"/>
              </a:defRPr>
            </a:pPr>
            <a:r>
              <a:t>PYQ अभ्यास प्रश्न #12  [NMMS Gujarat 2023]  —  [उत्तर व व्याख्या]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46520"/>
            <a:ext cx="1146017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>
                <a:solidFill>
                  <a:srgbClr val="64748B"/>
                </a:solidFill>
                <a:latin typeface="Segoe UI"/>
              </a:defRPr>
            </a:pPr>
            <a:r>
              <a:t>वेबसाइट: sagarcoaching.tech  |  Slide 28 of 36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F0F9FF"/>
          </a:solidFill>
          <a:ln w="2540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0F172A"/>
                </a:solidFill>
                <a:latin typeface="Segoe UI"/>
              </a:defRPr>
            </a:pPr>
            <a:r>
              <a:t>प्र. 12. मादा में अंडोत्सर्ग एवं द्वितीयक लैंगिक लक्षणों का नियंत्रण कौन-सा हार्मोन करता है?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94A3B8"/>
                </a:solidFill>
                <a:latin typeface="Segoe UI"/>
              </a:defRPr>
            </a:pPr>
            <a:r>
              <a:t>(A)  टेस्टोस्टेरोन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05840"/>
          </a:xfrm>
          <a:prstGeom prst="roundRect">
            <a:avLst/>
          </a:prstGeom>
          <a:solidFill>
            <a:srgbClr val="DCFCE7"/>
          </a:solidFill>
          <a:ln w="38100">
            <a:solidFill>
              <a:srgbClr val="1665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66534"/>
                </a:solidFill>
                <a:latin typeface="Segoe UI"/>
              </a:defRPr>
            </a:pPr>
            <a:r>
              <a:t>✅ (B)  एस्ट्रोजन (Estrogen)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794760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94A3B8"/>
                </a:solidFill>
                <a:latin typeface="Segoe UI"/>
              </a:defRPr>
            </a:pPr>
            <a:r>
              <a:t>(C)  एड्रिनेलिन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794760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94A3B8"/>
                </a:solidFill>
                <a:latin typeface="Segoe UI"/>
              </a:defRPr>
            </a:pPr>
            <a:r>
              <a:t>(D)  ग्लूकागन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4937760"/>
            <a:ext cx="11277295" cy="128016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tIns="109728"/>
          <a:lstStyle/>
          <a:p>
            <a:pPr algn="ctr">
              <a:defRPr sz="1550" b="1">
                <a:solidFill>
                  <a:srgbClr val="166534"/>
                </a:solidFill>
                <a:latin typeface="Segoe UI"/>
              </a:defRPr>
            </a:pPr>
            <a:r>
              <a:t>✅ सही उत्तर: विकल्प (B)</a:t>
            </a:r>
          </a:p>
          <a:p>
            <a:pPr>
              <a:spcBef>
                <a:spcPts val="400"/>
              </a:spcBef>
              <a:defRPr sz="1400" b="0">
                <a:solidFill>
                  <a:srgbClr val="1E293B"/>
                </a:solidFill>
                <a:latin typeface="Segoe UI"/>
              </a:defRPr>
            </a:pPr>
            <a:r>
              <a:t>💡 व्याख्या (Explanation): अंडाशय द्वारा स्रावित एस्ट्रोजन हार्मोन बालिकाओं में शारीरिक विकास और द्वितीयक लक्षणों को नियंत्रित करता है।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0F172A"/>
          </a:solidFill>
          <a:ln w="1905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100" b="1">
                <a:solidFill>
                  <a:srgbClr val="D97706"/>
                </a:solidFill>
                <a:latin typeface="Segoe UI"/>
              </a:defRPr>
            </a:pPr>
            <a:r>
              <a:t>SAGAR COACHING CENTRE BHAGWANPUR • NMMS All India (विज्ञान Special)</a:t>
            </a:r>
          </a:p>
          <a:p>
            <a:pPr>
              <a:defRPr sz="1400" b="1">
                <a:solidFill>
                  <a:srgbClr val="FFFFFF"/>
                </a:solidFill>
                <a:latin typeface="Segoe UI"/>
              </a:defRPr>
            </a:pPr>
            <a:r>
              <a:t>PYQ अभ्यास प्रश्न #13  [NMMS Bihar 2022]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46520"/>
            <a:ext cx="1146017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>
                <a:solidFill>
                  <a:srgbClr val="64748B"/>
                </a:solidFill>
                <a:latin typeface="Segoe UI"/>
              </a:defRPr>
            </a:pPr>
            <a:r>
              <a:t>वेबसाइट: sagarcoaching.tech  |  Slide 29 of 36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F0F9FF"/>
          </a:solidFill>
          <a:ln w="2540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0F172A"/>
                </a:solidFill>
                <a:latin typeface="Segoe UI"/>
              </a:defRPr>
            </a:pPr>
            <a:r>
              <a:t>प्र. 13. आलू में कायिक जनन किस रचना द्वारा होता है?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(A)  जड़ों द्वारा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(B)  आंखों (कलिकाओं) द्वारा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794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(C)  बीजों द्वारा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794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(D)  पत्तियों द्वारा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0F172A"/>
          </a:solidFill>
          <a:ln w="1905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100" b="1">
                <a:solidFill>
                  <a:srgbClr val="D97706"/>
                </a:solidFill>
                <a:latin typeface="Segoe UI"/>
              </a:defRPr>
            </a:pPr>
            <a:r>
              <a:t>SAGAR COACHING CENTRE BHAGWANPUR • NMMS All India (विज्ञान Special)</a:t>
            </a:r>
          </a:p>
          <a:p>
            <a:pPr>
              <a:defRPr sz="1400" b="1">
                <a:solidFill>
                  <a:srgbClr val="FFFFFF"/>
                </a:solidFill>
                <a:latin typeface="Segoe UI"/>
              </a:defRPr>
            </a:pPr>
            <a:r>
              <a:t>PYQ अभ्यास प्रश्न #13  [NMMS Bihar 2022]  —  [उत्तर व व्याख्या]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46520"/>
            <a:ext cx="1146017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>
                <a:solidFill>
                  <a:srgbClr val="64748B"/>
                </a:solidFill>
                <a:latin typeface="Segoe UI"/>
              </a:defRPr>
            </a:pPr>
            <a:r>
              <a:t>वेबसाइट: sagarcoaching.tech  |  Slide 30 of 36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F0F9FF"/>
          </a:solidFill>
          <a:ln w="2540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0F172A"/>
                </a:solidFill>
                <a:latin typeface="Segoe UI"/>
              </a:defRPr>
            </a:pPr>
            <a:r>
              <a:t>प्र. 13. आलू में कायिक जनन किस रचना द्वारा होता है?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94A3B8"/>
                </a:solidFill>
                <a:latin typeface="Segoe UI"/>
              </a:defRPr>
            </a:pPr>
            <a:r>
              <a:t>(A)  जड़ों द्वारा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05840"/>
          </a:xfrm>
          <a:prstGeom prst="roundRect">
            <a:avLst/>
          </a:prstGeom>
          <a:solidFill>
            <a:srgbClr val="DCFCE7"/>
          </a:solidFill>
          <a:ln w="38100">
            <a:solidFill>
              <a:srgbClr val="1665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66534"/>
                </a:solidFill>
                <a:latin typeface="Segoe UI"/>
              </a:defRPr>
            </a:pPr>
            <a:r>
              <a:t>✅ (B)  आंखों (कलिकाओं) द्वारा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794760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94A3B8"/>
                </a:solidFill>
                <a:latin typeface="Segoe UI"/>
              </a:defRPr>
            </a:pPr>
            <a:r>
              <a:t>(C)  बीजों द्वारा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794760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94A3B8"/>
                </a:solidFill>
                <a:latin typeface="Segoe UI"/>
              </a:defRPr>
            </a:pPr>
            <a:r>
              <a:t>(D)  पत्तियों द्वारा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4937760"/>
            <a:ext cx="11277295" cy="128016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tIns="109728"/>
          <a:lstStyle/>
          <a:p>
            <a:pPr algn="ctr">
              <a:defRPr sz="1550" b="1">
                <a:solidFill>
                  <a:srgbClr val="166534"/>
                </a:solidFill>
                <a:latin typeface="Segoe UI"/>
              </a:defRPr>
            </a:pPr>
            <a:r>
              <a:t>✅ सही उत्तर: विकल्प (B)</a:t>
            </a:r>
          </a:p>
          <a:p>
            <a:pPr>
              <a:spcBef>
                <a:spcPts val="400"/>
              </a:spcBef>
              <a:defRPr sz="1400" b="0">
                <a:solidFill>
                  <a:srgbClr val="1E293B"/>
                </a:solidFill>
                <a:latin typeface="Segoe UI"/>
              </a:defRPr>
            </a:pPr>
            <a:r>
              <a:t>💡 व्याख्या (Explanation): आलू एक भूमिगत रूपांतरित तना है जिसकी 'आंखों' (अंकुरण कलिकाओं) से नए पौधे उगते हैं।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0F172A"/>
          </a:solidFill>
          <a:ln w="1905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100" b="1">
                <a:solidFill>
                  <a:srgbClr val="D97706"/>
                </a:solidFill>
                <a:latin typeface="Segoe UI"/>
              </a:defRPr>
            </a:pPr>
            <a:r>
              <a:t>SAGAR COACHING CENTRE BHAGWANPUR • NMMS All India (विज्ञान Special)</a:t>
            </a:r>
          </a:p>
          <a:p>
            <a:pPr>
              <a:defRPr sz="1400" b="1">
                <a:solidFill>
                  <a:srgbClr val="FFFFFF"/>
                </a:solidFill>
                <a:latin typeface="Segoe UI"/>
              </a:defRPr>
            </a:pPr>
            <a:r>
              <a:t>PYQ अभ्यास प्रश्न #14  [NMMS UP 2021]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46520"/>
            <a:ext cx="1146017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>
                <a:solidFill>
                  <a:srgbClr val="64748B"/>
                </a:solidFill>
                <a:latin typeface="Segoe UI"/>
              </a:defRPr>
            </a:pPr>
            <a:r>
              <a:t>वेबसाइट: sagarcoaching.tech  |  Slide 31 of 36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F0F9FF"/>
          </a:solidFill>
          <a:ln w="2540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0F172A"/>
                </a:solidFill>
                <a:latin typeface="Segoe UI"/>
              </a:defRPr>
            </a:pPr>
            <a:r>
              <a:t>प्र. 14. पुष्प का कौन-सा भाग कीटों को परागण हेतु आकर्षित करने के लिए रंगीन व चमकदार होता है?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(A)  बाह्यदल (Sepal)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(B)  दलपुंज / पंखुड़ी (Petals)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794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(C)  वर्तिकाग्र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794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(D)  पुंकेसर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0F172A"/>
          </a:solidFill>
          <a:ln w="1905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100" b="1">
                <a:solidFill>
                  <a:srgbClr val="D97706"/>
                </a:solidFill>
                <a:latin typeface="Segoe UI"/>
              </a:defRPr>
            </a:pPr>
            <a:r>
              <a:t>SAGAR COACHING CENTRE BHAGWANPUR • NMMS All India (विज्ञान Special)</a:t>
            </a:r>
          </a:p>
          <a:p>
            <a:pPr>
              <a:defRPr sz="1400" b="1">
                <a:solidFill>
                  <a:srgbClr val="FFFFFF"/>
                </a:solidFill>
                <a:latin typeface="Segoe UI"/>
              </a:defRPr>
            </a:pPr>
            <a:r>
              <a:t>PYQ अभ्यास प्रश्न #14  [NMMS UP 2021]  —  [उत्तर व व्याख्या]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46520"/>
            <a:ext cx="1146017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>
                <a:solidFill>
                  <a:srgbClr val="64748B"/>
                </a:solidFill>
                <a:latin typeface="Segoe UI"/>
              </a:defRPr>
            </a:pPr>
            <a:r>
              <a:t>वेबसाइट: sagarcoaching.tech  |  Slide 32 of 36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F0F9FF"/>
          </a:solidFill>
          <a:ln w="2540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0F172A"/>
                </a:solidFill>
                <a:latin typeface="Segoe UI"/>
              </a:defRPr>
            </a:pPr>
            <a:r>
              <a:t>प्र. 14. पुष्प का कौन-सा भाग कीटों को परागण हेतु आकर्षित करने के लिए रंगीन व चमकदार होता है?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94A3B8"/>
                </a:solidFill>
                <a:latin typeface="Segoe UI"/>
              </a:defRPr>
            </a:pPr>
            <a:r>
              <a:t>(A)  बाह्यदल (Sepal)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05840"/>
          </a:xfrm>
          <a:prstGeom prst="roundRect">
            <a:avLst/>
          </a:prstGeom>
          <a:solidFill>
            <a:srgbClr val="DCFCE7"/>
          </a:solidFill>
          <a:ln w="38100">
            <a:solidFill>
              <a:srgbClr val="1665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66534"/>
                </a:solidFill>
                <a:latin typeface="Segoe UI"/>
              </a:defRPr>
            </a:pPr>
            <a:r>
              <a:t>✅ (B)  दलपुंज / पंखुड़ी (Petals)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794760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94A3B8"/>
                </a:solidFill>
                <a:latin typeface="Segoe UI"/>
              </a:defRPr>
            </a:pPr>
            <a:r>
              <a:t>(C)  वर्तिकाग्र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794760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94A3B8"/>
                </a:solidFill>
                <a:latin typeface="Segoe UI"/>
              </a:defRPr>
            </a:pPr>
            <a:r>
              <a:t>(D)  पुंकेसर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4937760"/>
            <a:ext cx="11277295" cy="128016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tIns="109728"/>
          <a:lstStyle/>
          <a:p>
            <a:pPr algn="ctr">
              <a:defRPr sz="1550" b="1">
                <a:solidFill>
                  <a:srgbClr val="166534"/>
                </a:solidFill>
                <a:latin typeface="Segoe UI"/>
              </a:defRPr>
            </a:pPr>
            <a:r>
              <a:t>✅ सही उत्तर: विकल्प (B)</a:t>
            </a:r>
          </a:p>
          <a:p>
            <a:pPr>
              <a:spcBef>
                <a:spcPts val="400"/>
              </a:spcBef>
              <a:defRPr sz="1400" b="0">
                <a:solidFill>
                  <a:srgbClr val="1E293B"/>
                </a:solidFill>
                <a:latin typeface="Segoe UI"/>
              </a:defRPr>
            </a:pPr>
            <a:r>
              <a:t>💡 व्याख्या (Explanation): पंखुड़ियां (दलपुंज) कीटों को परागण के लिए आकर्षित करने हेतु चमकीली व सुगंधित होती हैं।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0F172A"/>
          </a:solidFill>
          <a:ln w="1905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100" b="1">
                <a:solidFill>
                  <a:srgbClr val="D97706"/>
                </a:solidFill>
                <a:latin typeface="Segoe UI"/>
              </a:defRPr>
            </a:pPr>
            <a:r>
              <a:t>SAGAR COACHING CENTRE BHAGWANPUR • NMMS All India (विज्ञान Special)</a:t>
            </a:r>
          </a:p>
          <a:p>
            <a:pPr>
              <a:defRPr sz="1400" b="1">
                <a:solidFill>
                  <a:srgbClr val="FFFFFF"/>
                </a:solidFill>
                <a:latin typeface="Segoe UI"/>
              </a:defRPr>
            </a:pPr>
            <a:r>
              <a:t>PYQ अभ्यास प्रश्न #15  [NMMS MP 2023]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46520"/>
            <a:ext cx="1146017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>
                <a:solidFill>
                  <a:srgbClr val="64748B"/>
                </a:solidFill>
                <a:latin typeface="Segoe UI"/>
              </a:defRPr>
            </a:pPr>
            <a:r>
              <a:t>वेबसाइट: sagarcoaching.tech  |  Slide 33 of 36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F0F9FF"/>
          </a:solidFill>
          <a:ln w="2540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0F172A"/>
                </a:solidFill>
                <a:latin typeface="Segoe UI"/>
              </a:defRPr>
            </a:pPr>
            <a:r>
              <a:t>प्र. 15. अंडप्रजक (Oviparous) जंतु का सही उदाहरण कौन-सा है?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(A)  चमगादड़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(B)  व्हेल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794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(C)  मुर्गी (Hen)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794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(D)  मनुष्य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0F172A"/>
          </a:solidFill>
          <a:ln w="1905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100" b="1">
                <a:solidFill>
                  <a:srgbClr val="D97706"/>
                </a:solidFill>
                <a:latin typeface="Segoe UI"/>
              </a:defRPr>
            </a:pPr>
            <a:r>
              <a:t>SAGAR COACHING CENTRE BHAGWANPUR • NMMS All India (विज्ञान Special)</a:t>
            </a:r>
          </a:p>
          <a:p>
            <a:pPr>
              <a:defRPr sz="1400" b="1">
                <a:solidFill>
                  <a:srgbClr val="FFFFFF"/>
                </a:solidFill>
                <a:latin typeface="Segoe UI"/>
              </a:defRPr>
            </a:pPr>
            <a:r>
              <a:t>PYQ अभ्यास प्रश्न #15  [NMMS MP 2023]  —  [उत्तर व व्याख्या]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46520"/>
            <a:ext cx="1146017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>
                <a:solidFill>
                  <a:srgbClr val="64748B"/>
                </a:solidFill>
                <a:latin typeface="Segoe UI"/>
              </a:defRPr>
            </a:pPr>
            <a:r>
              <a:t>वेबसाइट: sagarcoaching.tech  |  Slide 34 of 36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F0F9FF"/>
          </a:solidFill>
          <a:ln w="2540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0F172A"/>
                </a:solidFill>
                <a:latin typeface="Segoe UI"/>
              </a:defRPr>
            </a:pPr>
            <a:r>
              <a:t>प्र. 15. अंडप्रजक (Oviparous) जंतु का सही उदाहरण कौन-सा है?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94A3B8"/>
                </a:solidFill>
                <a:latin typeface="Segoe UI"/>
              </a:defRPr>
            </a:pPr>
            <a:r>
              <a:t>(A)  चमगादड़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94A3B8"/>
                </a:solidFill>
                <a:latin typeface="Segoe UI"/>
              </a:defRPr>
            </a:pPr>
            <a:r>
              <a:t>(B)  व्हेल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794760"/>
            <a:ext cx="5440680" cy="1005840"/>
          </a:xfrm>
          <a:prstGeom prst="roundRect">
            <a:avLst/>
          </a:prstGeom>
          <a:solidFill>
            <a:srgbClr val="DCFCE7"/>
          </a:solidFill>
          <a:ln w="38100">
            <a:solidFill>
              <a:srgbClr val="1665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66534"/>
                </a:solidFill>
                <a:latin typeface="Segoe UI"/>
              </a:defRPr>
            </a:pPr>
            <a:r>
              <a:t>✅ (C)  मुर्गी (Hen)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794760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94A3B8"/>
                </a:solidFill>
                <a:latin typeface="Segoe UI"/>
              </a:defRPr>
            </a:pPr>
            <a:r>
              <a:t>(D)  मनुष्य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4937760"/>
            <a:ext cx="11277295" cy="128016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tIns="109728"/>
          <a:lstStyle/>
          <a:p>
            <a:pPr algn="ctr">
              <a:defRPr sz="1550" b="1">
                <a:solidFill>
                  <a:srgbClr val="166534"/>
                </a:solidFill>
                <a:latin typeface="Segoe UI"/>
              </a:defRPr>
            </a:pPr>
            <a:r>
              <a:t>✅ सही उत्तर: विकल्प (C)</a:t>
            </a:r>
          </a:p>
          <a:p>
            <a:pPr>
              <a:spcBef>
                <a:spcPts val="400"/>
              </a:spcBef>
              <a:defRPr sz="1400" b="0">
                <a:solidFill>
                  <a:srgbClr val="1E293B"/>
                </a:solidFill>
                <a:latin typeface="Segoe UI"/>
              </a:defRPr>
            </a:pPr>
            <a:r>
              <a:t>💡 व्याख्या (Explanation): मुर्गी अंडे देती है (अंडप्रजक), जबकि चमगादड़, व्हेल और मनुष्य सीधे बच्चे को जन्म देते हैं (जरायुज)।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0F172A"/>
          </a:solidFill>
          <a:ln w="1905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100" b="1">
                <a:solidFill>
                  <a:srgbClr val="D97706"/>
                </a:solidFill>
                <a:latin typeface="Segoe UI"/>
              </a:defRPr>
            </a:pPr>
            <a:r>
              <a:t>SAGAR COACHING CENTRE BHAGWANPUR • NMMS All India (विज्ञान Special)</a:t>
            </a:r>
          </a:p>
          <a:p>
            <a:pPr>
              <a:defRPr sz="1400" b="1">
                <a:solidFill>
                  <a:srgbClr val="FFFFFF"/>
                </a:solidFill>
                <a:latin typeface="Segoe UI"/>
              </a:defRPr>
            </a:pPr>
            <a:r>
              <a:t>Class 15 त्वरित रिवीजन सूत्र (Reproduction &amp; Hormones Memory Sheet)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46520"/>
            <a:ext cx="1146017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>
                <a:solidFill>
                  <a:srgbClr val="64748B"/>
                </a:solidFill>
                <a:latin typeface="Segoe UI"/>
              </a:defRPr>
            </a:pPr>
            <a:r>
              <a:t>वेबसाइट: sagarcoaching.tech  |  Slide 35 of 36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5120640"/>
          </a:xfrm>
          <a:prstGeom prst="roundRect">
            <a:avLst/>
          </a:prstGeom>
          <a:solidFill>
            <a:srgbClr val="FEF3C7"/>
          </a:solidFill>
          <a:ln w="2540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0" tIns="320040"/>
          <a:lstStyle/>
          <a:p>
            <a:pPr algn="ctr">
              <a:defRPr sz="1900" b="1">
                <a:solidFill>
                  <a:srgbClr val="0F172A"/>
                </a:solidFill>
                <a:latin typeface="Segoe UI"/>
              </a:defRPr>
            </a:pPr>
            <a:r>
              <a:t>🔑 1-मिनट क्विक मेमोरी सूत्र (Revision Formulae):</a:t>
            </a:r>
          </a:p>
          <a:p>
            <a:pPr>
              <a:spcBef>
                <a:spcPts val="1200"/>
              </a:spcBef>
              <a:spcAft>
                <a:spcPts val="200"/>
              </a:spcAft>
              <a:defRPr sz="1600" b="1">
                <a:solidFill>
                  <a:srgbClr val="78350F"/>
                </a:solidFill>
                <a:latin typeface="Segoe UI"/>
              </a:defRPr>
            </a:pPr>
            <a:r>
              <a:t>⚡  अलैंगिक विधियां: द्विखंडन = अमीबा | मुकुलन = यीस्ट, हाइड्रा | कायिक प्रवर्धन = ब्रायोफिलम (पत्ती), आलू (आंख)</a:t>
            </a:r>
          </a:p>
          <a:p>
            <a:pPr>
              <a:spcBef>
                <a:spcPts val="1200"/>
              </a:spcBef>
              <a:spcAft>
                <a:spcPts val="200"/>
              </a:spcAft>
              <a:defRPr sz="1600" b="1">
                <a:solidFill>
                  <a:srgbClr val="78350F"/>
                </a:solidFill>
                <a:latin typeface="Segoe UI"/>
              </a:defRPr>
            </a:pPr>
            <a:r>
              <a:t>⚡  पुष्प जनन: नर अंग = पुंकेसर (परागकण) | मादा अंग = स्त्रीकेसर (अंडाशय) | निषेचन उपरांत: अंडाशय ➔ फल, बीजांड ➔ बीज</a:t>
            </a:r>
          </a:p>
          <a:p>
            <a:pPr>
              <a:spcBef>
                <a:spcPts val="1200"/>
              </a:spcBef>
              <a:spcAft>
                <a:spcPts val="200"/>
              </a:spcAft>
              <a:defRPr sz="1600" b="1">
                <a:solidFill>
                  <a:srgbClr val="78350F"/>
                </a:solidFill>
                <a:latin typeface="Segoe UI"/>
              </a:defRPr>
            </a:pPr>
            <a:r>
              <a:t>⚡  निषेचन प्रकार: आंतरिक = मनुष्य, पक्षी | बाह्य = मेंढक, मछली (जल में) | टैडपोल कायांतरण हेतु आयोडीन आवश्यक</a:t>
            </a:r>
          </a:p>
          <a:p>
            <a:pPr>
              <a:spcBef>
                <a:spcPts val="1200"/>
              </a:spcBef>
              <a:spcAft>
                <a:spcPts val="200"/>
              </a:spcAft>
              <a:defRPr sz="1600" b="1">
                <a:solidFill>
                  <a:srgbClr val="78350F"/>
                </a:solidFill>
                <a:latin typeface="Segoe UI"/>
              </a:defRPr>
            </a:pPr>
            <a:r>
              <a:t>⚡  प्रमुख अंतःस्रावी ग्रंथियां: मास्टर = पीयूष | आपातकालीन = एड्रिनल (एड्रिनेलिन) | घेंघा नियंत्रण = थायरॉयड (थायरॉक्सिन)</a:t>
            </a:r>
          </a:p>
          <a:p>
            <a:pPr>
              <a:spcBef>
                <a:spcPts val="1200"/>
              </a:spcBef>
              <a:spcAft>
                <a:spcPts val="200"/>
              </a:spcAft>
              <a:defRPr sz="1600" b="1">
                <a:solidFill>
                  <a:srgbClr val="78350F"/>
                </a:solidFill>
                <a:latin typeface="Segoe UI"/>
              </a:defRPr>
            </a:pPr>
            <a:r>
              <a:t>⚡  लिंग गुणसूत्र: कुल 23 जोड़े (46) | पुरुष = XY | स्त्री = XX | बच्चे का लिंग पिता के शुक्राणु (X या Y) पर निर्भर करता है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0F172A"/>
          </a:solidFill>
          <a:ln w="1905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100" b="1">
                <a:solidFill>
                  <a:srgbClr val="D97706"/>
                </a:solidFill>
                <a:latin typeface="Segoe UI"/>
              </a:defRPr>
            </a:pPr>
            <a:r>
              <a:t>SAGAR COACHING CENTRE BHAGWANPUR • NMMS All India (विज्ञान Special)</a:t>
            </a:r>
          </a:p>
          <a:p>
            <a:pPr>
              <a:defRPr sz="1400" b="1">
                <a:solidFill>
                  <a:srgbClr val="FFFFFF"/>
                </a:solidFill>
                <a:latin typeface="Segoe UI"/>
              </a:defRPr>
            </a:pPr>
            <a:r>
              <a:t>आज का अभ्यास कार्य (Homework Questions)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46520"/>
            <a:ext cx="1146017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>
                <a:solidFill>
                  <a:srgbClr val="64748B"/>
                </a:solidFill>
                <a:latin typeface="Segoe UI"/>
              </a:defRPr>
            </a:pPr>
            <a:r>
              <a:t>वेबसाइट: sagarcoaching.tech  |  Slide 36 of 36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5120640"/>
          </a:xfrm>
          <a:prstGeom prst="roundRect">
            <a:avLst/>
          </a:prstGeom>
          <a:solidFill>
            <a:srgbClr val="F0F9FF"/>
          </a:solidFill>
          <a:ln w="2540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0" tIns="320040"/>
          <a:lstStyle/>
          <a:p>
            <a:pPr algn="ctr">
              <a:defRPr sz="1900" b="1">
                <a:solidFill>
                  <a:srgbClr val="0F172A"/>
                </a:solidFill>
                <a:latin typeface="Segoe UI"/>
              </a:defRPr>
            </a:pPr>
            <a:r>
              <a:t>📝 घर पर अभ्यास के लिए 3 महत्वपूर्ण प्रश्न (Self Practice):</a:t>
            </a:r>
          </a:p>
          <a:p>
            <a:pPr>
              <a:spcBef>
                <a:spcPts val="1600"/>
              </a:spcBef>
              <a:spcAft>
                <a:spcPts val="400"/>
              </a:spcAft>
              <a:defRPr sz="1600">
                <a:solidFill>
                  <a:srgbClr val="1E293B"/>
                </a:solidFill>
                <a:latin typeface="Segoe UI"/>
              </a:defRPr>
            </a:pPr>
            <a:r>
              <a:t>प्रश्न 1.  स्व-परागण और पर-परागण में क्या अंतर है? पुष्प के जनन अंगों के नाम लिखिए।</a:t>
            </a:r>
          </a:p>
          <a:p>
            <a:pPr>
              <a:spcBef>
                <a:spcPts val="1600"/>
              </a:spcBef>
              <a:spcAft>
                <a:spcPts val="400"/>
              </a:spcAft>
              <a:defRPr sz="1600">
                <a:solidFill>
                  <a:srgbClr val="1E293B"/>
                </a:solidFill>
                <a:latin typeface="Segoe UI"/>
              </a:defRPr>
            </a:pPr>
            <a:r>
              <a:t>प्रश्न 2.  अलैंगिक जनन की किन्हीं तीन विधियों के नाम उदाहरण सहित स्पष्ट कीजिए।</a:t>
            </a:r>
          </a:p>
          <a:p>
            <a:pPr>
              <a:spcBef>
                <a:spcPts val="1600"/>
              </a:spcBef>
              <a:spcAft>
                <a:spcPts val="400"/>
              </a:spcAft>
              <a:defRPr sz="1600">
                <a:solidFill>
                  <a:srgbClr val="1E293B"/>
                </a:solidFill>
                <a:latin typeface="Segoe UI"/>
              </a:defRPr>
            </a:pPr>
            <a:r>
              <a:t>प्रश्न 3.  किशोरावस्था में होने वाले शारीरिक परिवर्तनों के लिए उत्तरदायी प्रमुख हार्मोनों के नाम और कार्य लिखिए।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