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🎯 राष्ट्रीय आय-सह-मेधा छात्रवृत्ति परीक्षा (NMMS All India) • सम्पूर्ण SAT 90/90 अंक महामंथन</a:t>
            </a:r>
          </a:p>
        </p:txBody>
      </p:sp>
      <p:pic>
        <p:nvPicPr>
          <p:cNvPr id="4" name="Picture 3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640080"/>
            <a:ext cx="1216152" cy="12161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874519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D97706"/>
                </a:solidFill>
                <a:latin typeface="Segoe UI"/>
              </a:defRPr>
            </a:pPr>
            <a:r>
              <a:t>SAGAR COACHING CENTRE, BHAGWANPUR (SUPAUL, BIHAR)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0" y="2468880"/>
            <a:ext cx="5973775" cy="457200"/>
          </a:xfrm>
          <a:prstGeom prst="roundRect">
            <a:avLst/>
          </a:prstGeom>
          <a:solidFill>
            <a:srgbClr val="4338C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🌟 NMMS SAT FULL EXAM SIMULATOR • TEST 05 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सम्पूर्ण SAT महामंथन मॉक टेस्ट #05</a:t>
            </a:r>
          </a:p>
          <a:p>
            <a:pPr algn="ctr">
              <a:spcBef>
                <a:spcPts val="400"/>
              </a:spcBef>
              <a:defRPr sz="1400">
                <a:solidFill>
                  <a:srgbClr val="CBD5E1"/>
                </a:solidFill>
                <a:latin typeface="Segoe UI"/>
              </a:defRPr>
            </a:pPr>
            <a:r>
              <a:t>विज्ञान (35 अंक) + सामाजिक विज्ञान (35 अंक) + गणित (20 अंक) = कुल 90 अंक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160520"/>
            <a:ext cx="9448495" cy="1828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09728"/>
          <a:lstStyle/>
          <a:p>
            <a:pPr algn="ctr">
              <a:defRPr sz="1350" b="1">
                <a:solidFill>
                  <a:srgbClr val="D97706"/>
                </a:solidFill>
                <a:latin typeface="Segoe UI"/>
              </a:defRPr>
            </a:pPr>
            <a:r>
              <a:t>🎯 इस 90 प्रश्नों के महामंथन टेस्ट का पाठ्यक्रम विवरण (Syllabus Structure):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  ✓  भाग 1: विज्ञान (35 प्रश्न) — भौतिकी, रसायन एवं जीव विज्ञान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  ✓  भाग 2: सामाजिक विज्ञान (35 प्रश्न) — इतिहास, भूगोल एवं नागरिक शास्त्र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  ✓  भाग 3: गणित (20 प्रश्न) — अंकगणित, बीजगणित, ज्यामिति एवं क्षेत्रमिति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  ✓  विगत 10 वर्षों के ऑल इंडिया NMMS पेपर्स पर आधारित शत-प्रतिशत प्रामाणिक प्रश्न</a:t>
            </a:r>
          </a:p>
          <a:p>
            <a:pPr>
              <a:spcBef>
                <a:spcPts val="200"/>
              </a:spcBef>
              <a:defRPr sz="1150">
                <a:solidFill>
                  <a:srgbClr val="FFFFFF"/>
                </a:solidFill>
                <a:latin typeface="Segoe UI"/>
              </a:defRPr>
            </a:pPr>
            <a:r>
              <a:t>  ✓  2-स्लाइड इंटरैक्टिव पैटर्न (उत्तर पहले पूरी तरह छुपा रहेगा)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722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94A3B8"/>
                </a:solidFill>
                <a:latin typeface="Segoe UI"/>
              </a:defRPr>
            </a:pPr>
            <a:r>
              <a:t>मार्गदर्शक: सागर सर (NMMS King)  |  Helpline / WhatsApp: +91 91101 13671  |  Website: sagarcoaching.tech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SAT महामंथन टेस्ट #05 — परीक्षा निर्देश एवं अंक योजना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📋 NMMS SAT सम्पूर्ण 90 प्रश्न परीक्षा योजना (Official Exam Scheme):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>
                <a:solidFill>
                  <a:srgbClr val="1E293B"/>
                </a:solidFill>
                <a:latin typeface="Segoe UI"/>
              </a:defRPr>
            </a:pPr>
            <a:r>
              <a:t>•  विषय-वार अंक विभाजन: विज्ञान = 35 प्रश्न (35 अंक) | सामाजिक विज्ञान = 35 प्रश्न (35 अंक) | गणित = 20 प्रश्न (20 अंक)। कुल = 90 प्रश्न (90 अंक)।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>
                <a:solidFill>
                  <a:srgbClr val="1E293B"/>
                </a:solidFill>
                <a:latin typeface="Segoe UI"/>
              </a:defRPr>
            </a:pPr>
            <a:r>
              <a:t>•  समय सीमा: वास्तविक परीक्षा में 90 प्रश्नों हेतु 90 मिनट का समय मिलता है। कोई नकारात्मक अंकन (No Negative Marking) नहीं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>
                <a:solidFill>
                  <a:srgbClr val="1E293B"/>
                </a:solidFill>
                <a:latin typeface="Segoe UI"/>
              </a:defRPr>
            </a:pPr>
            <a:r>
              <a:t>•  2-स्लाइड इंटरैक्टिव पद्धति: प्रश्न स्लाइड पर उत्तर पूरी तरह छुपा हुआ है ताकि छात्र पहले स्वयं विचार कर जवाब दें।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>
                <a:solidFill>
                  <a:srgbClr val="1E293B"/>
                </a:solidFill>
                <a:latin typeface="Segoe UI"/>
              </a:defRPr>
            </a:pPr>
            <a:r>
              <a:t>•  अगली स्लाइड पर सही विकल्प हरे रंग (Green Glow) में प्रकाशित होगा तथा नीचे संपूर्ण हल और व्याख्या दी गई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>
                <a:solidFill>
                  <a:srgbClr val="1E293B"/>
                </a:solidFill>
                <a:latin typeface="Segoe UI"/>
              </a:defRPr>
            </a:pPr>
            <a:r>
              <a:t>•  लक्ष्य: NMMS परीक्षा में राज्य मेरिट सूची में शीर्ष स्थान प्राप्त करना और ₹48,000 की छात्रवृत्ति सुनिश्चित करना!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1. रॉकेट का अंतरिक्ष में ऊपर जाना न्यूटन के किस गति नियम पर आधारित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प्रथम नियम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द्वितीय नियम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तृतीय नियम (क्रिया-प्रतिक्रिया)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गुरुत्वाकर्षण नियम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1. रॉकेट का अंतरिक्ष में ऊपर जाना न्यूटन के किस गति नियम पर आधारित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प्रथम नियम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(B)  द्वितीय नियम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(C)  तृतीय नियम (क्रिया-प्रतिक्रिया)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गुरुत्वाकर्षण नियम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रॉकेट से गैसें पीछे तीव्र वेग से निकलती हैं और रॉकेट आगे बढ़ता है (तृतीय नियम)।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2. क्रिकेट खिलाड़ी गेंद पकड़ते समय हाथों को पीछे क्यों खींचता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गेंद देखने हेतु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संवेग परिवर्तन का समय बढ़ाकर बल कम करने हेतु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नियम के कारण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मजबूत पकड़ हेतु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2. क्रिकेट खिलाड़ी गेंद पकड़ते समय हाथों को पीछे क्यों खींचता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गेंद देखने हेतु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संवेग परिवर्तन का समय बढ़ाकर बल कम करने हेतु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नियम के कारण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मजबूत पकड़ हेतु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समय (t) बढ़ने से गेंद द्वारा हाथों पर आरोपित बल (F = Δp/t) कम हो जाता है।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3. बहते हुए जल, उड़ते पक्षी और दौड़ते धावक में कौन-सी ऊर्जा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स्थितिज ऊर्जा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गतिज ऊर्जा (Kinetic Energy)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रासायनिक ऊर्जा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विद्युत ऊर्जा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3. बहते हुए जल, उड़ते पक्षी और दौड़ते धावक में कौन-सी ऊर्जा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स्थितिज ऊर्जा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गतिज ऊर्जा (Kinetic Energy)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रासायनिक ऊर्जा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विद्युत ऊर्जा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किसी वस्तु में उसकी गति के कारण निहित ऊर्जा को गतिज ऊर्जा कहते हैं (K = ½ mv²)।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#4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4. बांध में एकत्र जल या तनी हुई कमान में कौन-सी ऊर्जा संचित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गतिज ऊर्जा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स्थितिज ऊर्जा (Potential Energy)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ध्वनि ऊर्जा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ऊष्मीय ऊर्जा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#4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4. बांध में एकत्र जल या तनी हुई कमान में कौन-सी ऊर्जा संचित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गतिज ऊर्जा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स्थितिज ऊर्जा (Potential Energy)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ध्वनि ऊर्जा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ऊष्मीय ऊर्जा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स्थिति या विन्यास में परिवर्तन के कारण संचित ऊर्जा स्थितिज ऊर्जा (mgh) कहलाती है।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#5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5. शुष्क वायु में 0°C पर ध्वनि का वेग लगभग कितना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332 m/s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1500 m/s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3 × 10⁸ m/s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100 m/s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#5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5. शुष्क वायु में 0°C पर ध्वनि का वेग लगभग कितना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(A)  332 m/s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(B)  1500 m/s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3 × 10⁸ m/s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100 m/s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(A)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वायु में सामान्य ताप पर ध्वनि की चाल लगभग 332 मीटर/सेकंड होती है।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#6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6. कैरोम बोर्ड पर बारीक पाउडर छिड़कने से घर्षण बल पर क्या प्रभाव पड़ता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घर्षण बढ़ता है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घर्षण घट जाता है (Smooth)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कोई प्रभाव नहीं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गोटियां भारी होती हैं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#6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6. कैरोम बोर्ड पर बारीक पाउडर छिड़कने से घर्षण बल पर क्या प्रभाव पड़ता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घर्षण बढ़ता है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घर्षण घट जाता है (Smooth)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कोई प्रभाव नहीं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गोटियां भारी होती हैं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पाउडर छिड़कने से सतह की अनियमितताएं भर जाती हैं और घर्षण घट जाता है।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#7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7. लेंस की क्षमता (Power of Lens) का अंतरराष्ट्रीय मात्रक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मीटर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डायोप्टर (Dioptre - 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सेंटीमीटर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हर्ट्ज़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#7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7. लेंस की क्षमता (Power of Lens) का अंतरराष्ट्रीय मात्रक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मीटर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डायोप्टर (Dioptre - 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सेंटीमीटर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हर्ट्ज़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लेंस की क्षमता P = 1/f (मी में), इसका SI मात्रक डायोप्टर (D) होता है।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#8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8. कांच की छड़ को रेशम से रगड़ने पर कांच पर कौन-सा आवेश आता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धनावेश (+ve Charge)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ऋणावेश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उदासीन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परिवर्तनीय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#8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8. कांच की छड़ को रेशम से रगड़ने पर कांच पर कौन-सा आवेश आता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(A)  धनावेश (+ve Charge)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(B)  ऋणावेश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उदासीन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परिवर्तनीय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(A)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कांच की छड़ से इलेक्ट्रॉन रेशम पर चले जाते हैं, जिससे कांच पर धनावेश आता है।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#9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9. एबोनाइट की छड़ को बिल्ली के फर से रगड़ने पर उस पर कौन-सा आवेश आता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धनावेश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ऋणावेश (-ve Charge)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कोई आवेश नहीं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दोनों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#9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9. एबोनाइट की छड़ को बिल्ली के फर से रगड़ने पर उस पर कौन-सा आवेश आता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धनावेश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ऋणावेश (-ve Charge)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कोई आवेश नहीं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दोनों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एबोनाइट पर फर से इलेक्ट्रॉन आ जाते हैं, जिससे वह ऋणावेशित हो जाती है।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#10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10. तारे के रंग से उसके किस भौतिक गुण का पता चलता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भार का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दूरी का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तापमान (Temperature) का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आकार का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#10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10. तारे के रंग से उसके किस भौतिक गुण का पता चलता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भार का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(B)  दूरी का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(C)  तापमान (Temperature) का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आकार का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तारे का पृष्ठीय तापमान उसके रंग को निर्धारित करता है (नीला तारा सबसे गर्म)।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#11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11. हैली का पुच्छल तारा कितने वर्षों के अंतराल पर दिखाई देता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50 वर्ष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76 वर्ष (76 Years)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100 वर्ष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84 वर्ष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#11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11. हैली का पुच्छल तारा कितने वर्षों के अंतराल पर दिखाई देता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50 वर्ष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76 वर्ष (76 Years)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100 वर्ष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84 वर्ष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हैली धूमकेतु का परिक्रमण काल 76 वर्ष है (1986 में दिखा था, 2061 में दिखेगा)।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#12  [NMMS Gujarat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12. भारत का प्रथम कृत्रिम उपग्रह कौन-सा था जिसे 1975 में छोड़ा गया?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भास्कर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आर्यभट्ट (Aryabhata)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रोहिणी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इनसैट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#12  [NMMS Gujarat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12. भारत का प्रथम कृत्रिम उपग्रह कौन-सा था जिसे 1975 में छोड़ा गया?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भास्कर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आर्यभट्ट (Aryabhata)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रोहिणी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इनसैट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19 अप्रैल 1975 को भारत ने अपना पहला उपग्रह आर्यभट्ट अंतरिक्ष में प्रक्षेपित किया।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#13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13. आधुनिक आवर्त सारणी (Modern Periodic Table) किस वैज्ञानिक ने बनाई?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मेंडेलीव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हेनरी मोजले (Henry Moseley)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डाल्टन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न्यूलैंड्स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#13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13. आधुनिक आवर्त सारणी (Modern Periodic Table) किस वैज्ञानिक ने बनाई?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मेंडेलीव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हेनरी मोजले (Henry Moseley)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डाल्टन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न्यूलैंड्स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1913 में हेनरी मोजले ने तत्वों को परमाणु क्रमांक (Atomic Number) के क्रम में सजाया।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#14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29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14. आधुनिक आवर्त सारणी में कुल कितने आवर्त और वर्ग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7 आवर्त और 18 वर्ग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8 आवर्त और 16 वर्ग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9 आवर्त और 18 वर्ग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7 आवर्त और 8 वर्ग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#14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14. आधुनिक आवर्त सारणी में कुल कितने आवर्त और वर्ग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(A)  7 आवर्त और 18 वर्ग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(B)  8 आवर्त और 16 वर्ग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9 आवर्त और 18 वर्ग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7 आवर्त और 8 वर्ग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(A)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आधुनिक सारणी में 7 क्षैतिज आवर्त और 18 ऊर्ध्वाधर वर्ग होते हैं।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#15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15. आवर्त सारणी के किस वर्ग के तत्वों को 'अक्रिय गैसें' (Noble Gases)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वर्ग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वर्ग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वर्ग 18 (उत्कृष्ट गैसें)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वर्ग 2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#15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15. आवर्त सारणी के किस वर्ग के तत्वों को 'अक्रिय गैसें' (Noble Gases)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वर्ग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(B)  वर्ग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(C)  वर्ग 18 (उत्कृष्ट गैसें)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वर्ग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वर्ग 18 में हीलियम, नियॉन, आर्गन, क्रिप्टन, जीनॉन अक्रिय गैसें हैं।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#16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16. विद्युत बल्बों में फिलामेंट की सुरक्षा हेतु कौन-सी गैस भरी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ऑक्सीजन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आर्गन (Argon) या नाइट्रोजन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क्लोरीन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हाइड्रोजन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#16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16. विद्युत बल्बों में फिलामेंट की सुरक्षा हेतु कौन-सी गैस भरी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ऑक्सीजन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आर्गन (Argon) या नाइट्रोजन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क्लोरीन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हाइड्रोजन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आर्गन एक निष्क्रिय गैस है जो तप्त टंगस्टन को वाष्पीकृत होने से बचाती है।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#17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17. हवाई जहाजों के टायरों में कौन-सी सुरक्षित गैस भरी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हाइड्रोजन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नाइट्रोजन (N₂)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ऑक्सीजन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मीथेन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#17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17. हवाई जहाजों के टायरों में कौन-सी सुरक्षित गैस भरी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हाइड्रोजन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नाइट्रोजन (N₂)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ऑक्सीजन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मीथेन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नाइट्रोजन गैस अज्वलनशील होती है और घर्षण में गर्म होकर विस्फोट नहीं करती।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#18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18. मौसम गुब्बारों में कौन-सी हल्की गैस भरी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हाइड्रोजन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हीलियम (Helium)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नाइट्रोजन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आर्गन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#18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18. मौसम गुब्बारों में कौन-सी हल्की गैस भरी जाती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हाइड्रोजन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हीलियम (Helium)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नाइट्रोजन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आर्गन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हीलियम वायु से अत्यंत हल्की और पूरी तरह अज्वलनशील गैस है।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#19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39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19. शुद्ध सोना कितने कैरेट का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18 कैरेट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22 कैरेट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24 कैरेट (24 Carat)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20 कैरेट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#19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19. शुद्ध सोना कितने कैरेट का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18 कैरेट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(B)  22 कैरेट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(C)  24 कैरेट (24 Carat)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20 कैरेट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24 कैरेट सोना 100% शुद्ध होता है (आभूषण 22 कैरेट के बनते हैं)।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#20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20. 18 कैरेट सोने में शुद्ध सोने का कितना प्रतिशत भाग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50%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75% (75% शुद्ध)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90%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85%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#20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20. 18 कैरेट सोने में शुद्ध सोने का कितना प्रतिशत भाग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50%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75% (75% शुद्ध)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90%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85%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18/24 × 100 = 75% शुद्ध सोना तथा 25% तांबा/चांदी होता है।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#21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21. स्टेनलेस स्टील में लोहे के साथ किन धातुओं को मिलाया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तांबा व जस्ता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क्रोमियम, निकेल और कार्बन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सीसा व टिन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एल्युमिनियम व जस्ता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#21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21. स्टेनलेस स्टील में लोहे के साथ किन धातुओं को मिलाया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तांबा व जस्ता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क्रोमियम, निकेल और कार्बन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सीसा व टिन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एल्युमिनियम व जस्ता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क्रोमियम (18%) और निकेल मिलाने से लोहे पर कभी जंग नहीं लगता।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#22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22. टांका / सोल्डर (Solder) तार किन दो धातुओं की मिश्र धातु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तांबा और जस्ता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सीसा और टिन (Pb + Sn)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लोहा और कार्बन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सोना और तांबा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#22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22. टांका / सोल्डर (Solder) तार किन दो धातुओं की मिश्र धातु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तांबा और जस्ता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सीसा और टिन (Pb + Sn)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लोहा और कार्बन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सोना और तांबा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सोल्डर तार सीसा (50%) और टिन (50%) की कम गलनांक वाली मिश्र धातु है।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#23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23. जर्मन सिल्वर (German Silver) मिश्र धातु में चांदी का कितना प्रतिशत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50%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20%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0% (शून्य प्रतिशत)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80%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#23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23. जर्मन सिल्वर (German Silver) मिश्र धातु में चांदी का कितना प्रतिशत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50%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(B)  20%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(C)  0% (शून्य प्रतिशत)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80%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(C)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जर्मन सिल्वर में तांबा (60%), जस्ता (20%) और निकेल (20%) होता है; चांदी 0% है।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#24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49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24. मस्तिष्क का कौन-सा भाग शरीर के तापमान, भूख और प्यास को नियंत्रित करता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सेरेब्रम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हाइपोथैलेमस (Hypothalamus)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सेरेबेलम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मेडुला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#24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24. मस्तिष्क का कौन-सा भाग शरीर के तापमान, भूख और प्यास को नियंत्रित करता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सेरेब्रम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हाइपोथैलेमस (Hypothalamus)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सेरेबेलम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मेडुला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हाइपोथैलेमस शरीर के तापमान और जैविक घड़ी का मुख्य केंद्र है।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#25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25. मानव मस्तिष्क का कौन-सा भाग शारीरिक संतुलन और चलने का समन्वय करता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हाइपोथैलेमस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अनुमस्तिष्क / सेरेबेलम (Cerebellum)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प्रमस्तिष्क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मेरुरज्जु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#25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25. मानव मस्तिष्क का कौन-सा भाग शारीरिक संतुलन और चलने का समन्वय करता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हाइपोथैलेमस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अनुमस्तिष्क / सेरेबेलम (Cerebellum)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प्रमस्तिष्क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मेरुरज्जु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सेरेबेलम (छोटा दिमाग) मांसपेशियों की गति व संतुलन संभालता है।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#26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26. मानव मस्तिष्क का सबसे बड़ा भाग जो बुद्धि और सोचने का केंद्र है: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प्रमस्तिष्क / सेरेब्रम (Cerebrum)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सेरेबेलम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मेडुला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थैलेमस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#26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26. मानव मस्तिष्क का सबसे बड़ा भाग जो बुद्धि और सोचने का केंद्र है: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(A)  प्रमस्तिष्क / सेरेब्रम (Cerebrum)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(B)  सेरेबेलम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मेडुला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थैलेमस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(A)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सेरेब्रम चेतना, तर्कशक्ति और स्मृति का मुख्य केंद्र है।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#27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27. प्रतिवर्ती क्रियाओं (Reflex Actions) का नियंत्रण केंद्र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प्रमस्तिष्क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मेरुरज्जु (Spinal Cord)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अनुमस्तिष्क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नेत्र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#27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27. प्रतिवर्ती क्रियाओं (Reflex Actions) का नियंत्रण केंद्र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प्रमस्तिष्क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मेरुरज्जु (Spinal Cord)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अनुमस्तिष्क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नेत्र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गर्म वस्तु छूने पर हाथ हटने जैसी त्वरित क्रियाएं मेरुरज्जु नियंत्रित करता है।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#28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28. मानव शरीर में क्रेनियल (कपाल) तंत्रिकाओं के कितने जोड़े पाए जाते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10 जोड़े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12 जोड़े (12 Pairs)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31 जोड़े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24 जोड़े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#28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28. मानव शरीर में क्रेनियल (कपाल) तंत्रिकाओं के कितने जोड़े पाए जाते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10 जोड़े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12 जोड़े (12 Pairs)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31 जोड़े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24 जोड़े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मस्तिष्क से 12 जोड़े कपाल तंत्रिकाएं तथा रीढ़ से 31 जोड़े मेरु तंत्रिकाएं निकलती हैं।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#29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59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29. मानव वक्ष गुहा में पसलियों (Ribs) की कुल संख्या कितनी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24 पसलियां (12 जोड़े)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14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#29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29. मानव वक्ष गुहा में पसलियों (Ribs) की कुल संख्या कितनी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24 पसलियां (12 जोड़े)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मानव शरीर में 12 जोड़ी (कुल 24) पसलियां हृदय व फेफड़ों की रक्षा करती हैं।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#30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30. हृदय को घेरने वाली सुरक्षात्मक दोहरी झिल्ली क्या कहलाती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प्लूरल झिल्ली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पेरीकार्डियम (Pericardium)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मेनिन्जेस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पेरिटोनियम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#30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30. हृदय को घेरने वाली सुरक्षात्मक दोहरी झिल्ली क्या कहलाती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प्लूरल झिल्ली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पेरीकार्डियम (Pericardium)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मेनिन्जेस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पेरिटोनियम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हृदय पेरीकार्डियम (हृदयावरण) झिल्ली से घिरा रहता है।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#31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31. फेफड़ों को ढकने वाली सुरक्षात्मक आवरण झिल्ली क्या कहलाती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पेरीकार्डियम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प्लूरल झिल्ली / फुफ्फुसावरण (Pleura)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मेनिन्जेस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डर्मिस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#31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31. फेफड़ों को ढकने वाली सुरक्षात्मक आवरण झिल्ली क्या कहलाती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पेरीकार्डियम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प्लूरल झिल्ली / फुफ्फुसावरण (Pleura)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मेनिन्जेस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डर्मिस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फेफड़े फुफ्फुसावरण (Pleural Membrane) द्वारा सुरक्षित रहते हैं।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#32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32. मलेरिया के उपचार में प्रयुक्त 'कुनैन' (Quinine) दवा किस वृक्ष की छाल से मिलती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नीम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सिनकोना (Cinchona Tree)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यूकेलिप्टस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तुलसी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#32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32. मलेरिया के उपचार में प्रयुक्त 'कुनैन' (Quinine) दवा किस वृक्ष की छाल से मिलती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नीम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सिनकोना (Cinchona Tree)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यूकेलिप्टस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तुलसी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सिनकोना वृक्ष की छाल से मलेरिया की अचूक दवा कुनैन बनती है।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#33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33. टाइफाइड (मियादी बुखार) की जांच हेतु कौन-सा परीक्षण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एलिसा टेस्ट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विडाल टेस्ट (Widal Test)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ईसीजी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ईईजी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#33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33. टाइफाइड (मियादी बुखार) की जांच हेतु कौन-सा परीक्षण किया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एलिसा टेस्ट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विडाल टेस्ट (Widal Test)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ईसीजी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ईईजी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टाइफाइड जीवाणु साल्मोनेला टाइफी की पहचान विडाल टेस्ट से होती है।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#34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69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34. एड्स (AIDS) रोग की जांच हेतु प्राथमिक परीक्षण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विडाल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एलिसा टेस्ट (ELISA Test)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बायोप्सी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एक्स-रे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#34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34. एड्स (AIDS) रोग की जांच हेतु प्राथमिक परीक्षण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विडाल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एलिसा टेस्ट (ELISA Test)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बायोप्सी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एक्स-रे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HIV संक्रमण की पहचान के लिए एंजाइम-लिंक्ड इम्यूनोसॉर्बेंट एसे (ELISA) होता है।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#35  [NMMS Gujarat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35. विश्व एड्स दिवस प्रतिवर्ष किस तिथि को मनाया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5 जून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1 दिसंबर (1st December)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14 नवंबर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7 अप्रैल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1: विज्ञान (Science) • प्र. #35  [NMMS Gujarat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35. विश्व एड्स दिवस प्रतिवर्ष किस तिथि को मनाया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5 जून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1 दिसंबर (1st December)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14 नवंबर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7 अप्रैल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जन-जागरूकता हेतु प्रतिवर्ष 1 दिसंबर को विश्व एड्स दिवस मनाते हैं।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#36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36. हर्षवर्धन की राजधानी कहाँ स्थित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उज्जैन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कन्नौज (Kannauj)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पाटलिपुत्र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थानेश्वर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#36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36. हर्षवर्धन की राजधानी कहाँ स्थित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उज्जैन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कन्नौज (Kannauj)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पाटलिपुत्र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थानेश्वर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राजा हर्षवर्धन ने अपनी राजधानी थानेश्वर से कन्नौज स्थानांतरित की थी।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#37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37. नालंदा विश्वविद्यालय को किस तुर्क आक्रमणकारी ने जलाकर नष्ट कर दिया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महमूद गजनवी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बख्तियार खिलजी (Bakhtiyar Khalji)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मुहम्मद गोरी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बाबर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#37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37. नालंदा विश्वविद्यालय को किस तुर्क आक्रमणकारी ने जलाकर नष्ट कर दिया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महमूद गजनवी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बख्तियार खिलजी (Bakhtiyar Khalji)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मुहम्मद गोरी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बाबर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1193 ईस्वी में बख्तियार खिलजी ने नालंदा के विशाल पुस्तकालय को जला दिया।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#38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38. राजतरंगिणी ग्रंथ के रचयिता कौन हैं जिसमें कश्मीर का इतिहास वर्णित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बाणभट्ट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कल्हण (Kalhana)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बिल्हण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कालिदास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#38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38. राजतरंगिणी ग्रंथ के रचयिता कौन हैं जिसमें कश्मीर का इतिहास वर्णित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बाणभट्ट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कल्हण (Kalhana)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बिल्हण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कालिदास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कल्हण ने 12वीं शताब्दी में कश्मीर के राजाओं का इतिहास 'राजतरंगिणी' में लिखा।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#39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79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39. हर्षचरित एवं कादंबरी ग्रंथों के रचयिता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कल्हण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बाणभट्ट (Banabhatta)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भवभूति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विशाखदत्त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#39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39. हर्षचरित एवं कादंबरी ग्रंथों के रचयिता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कल्हण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बाणभट्ट (Banabhatta)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भवभूति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विशाखदत्त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बाणभट्ट राजा हर्षवर्धन के दरबारी कवि थे।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#40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40. मुगल साम्राज्य में जजिया कर को किस शासक ने समाप्त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बाबर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अकबर (1564 ईस्वी)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जहांगीर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शाहजहां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#40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40. मुगल साम्राज्य में जजिया कर को किस शासक ने समाप्त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बाबर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अकबर (1564 ईस्वी)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जहांगीर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शाहजहां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अकबर ने गैर-मुसलमानों पर लगने वाले धार्मिक कर 'जजिया' को 1564 में समाप्त किया।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#41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41. अकबर ने सर्वधर्म समन्वय हेतु 1582 में किस नए धर्म/विचारधारा की शुरुआत की?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सुलह-ए-कुल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दीन-ए-इलाही (Din-i-Ilahi)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इबादतखाना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तौहीद-ए-इलाही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#41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41. अकबर ने सर्वधर्म समन्वय हेतु 1582 में किस नए धर्म/विचारधारा की शुरुआत की?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सुलह-ए-कुल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दीन-ए-इलाही (Din-i-Ilahi)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इबादतखाना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तौहीद-ए-इलाही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दीन-ए-इलाही को स्वीकार करने वाला एकमात्र हिंदू दरबारी राजा बीरबल था।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#42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42. ईस्ट इंडिया कंपनी की स्थापना इंग्लैंड में किस वर्ष हुई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1600 ईस्वी (31 दिसंबर)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1602 ईस्वी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1664 ईस्वी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1707 ईस्वी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#42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42. ईस्ट इंडिया कंपनी की स्थापना इंग्लैंड में किस वर्ष हुई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(A)  1600 ईस्वी (31 दिसंबर)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(B)  1602 ईस्वी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1664 ईस्वी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1707 ईस्वी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(A)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31 दिसंबर 1600 को महारानी एलिजाबेथ प्रथम के चार्टर से कंपनी बनी।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#43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43. मुगल सम्राट जहांगीर के दरबार में आने वाला प्रथम अंग्रेज राजदूत कौन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रॉबर्ट क्लाइव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कैप्टन विलियम हॉकिन्स (1608)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सर टॉमस रो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जॉब चार्नॉक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#43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43. मुगल सम्राट जहांगीर के दरबार में आने वाला प्रथम अंग्रेज राजदूत कौन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रॉबर्ट क्लाइव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कैप्टन विलियम हॉकिन्स (1608)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सर टॉमस रो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जॉब चार्नॉक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कैप्टन हॉकिन्स 1608 में हेक्टर जहाज से सूरत पहुंचा और जहांगीर से मिला।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#44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89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44. सर टॉमस रो किस वर्ष जहांगीर के दरबार में व्यापारिक रियायतें लेने आया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1608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1615 ईस्वी (1615-1619)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1620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1625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#44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44. सर टॉमस रो किस वर्ष जहांगीर के दरबार में व्यापारिक रियायतें लेने आया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1608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1615 ईस्वी (1615-1619)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1620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1625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सर टॉमस रो ब्रिटिश सम्राट जेम्स प्रथम का राजदूत बनकर जहांगीर से मिला।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#45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45. भारत में स्थायी बंदोबस्त (Permanent Settlement) 1793 में किसने लागू किया?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लॉर्ड क्लाइव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लॉर्ड कॉर्नवालिस (Lord Cornwallis)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वारेन हेस्टिंग्स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लॉर्ड वेलेजली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#45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45. भारत में स्थायी बंदोबस्त (Permanent Settlement) 1793 में किसने लागू किया?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लॉर्ड क्लाइव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लॉर्ड कॉर्नवालिस (Lord Cornwallis)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वारेन हेस्टिंग्स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लॉर्ड वेलेजली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कॉर्नवालिस ने बंगाल, बिहार व ओडिशा में जमींदारों के साथ स्थायी लगान तय किया।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#46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46. रैयतवाड़ी व्यवस्था मुख्य रूप से मद्रास व बंबई में किसने लागू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कॉर्नवालिस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थॉमस मुनरो एवं रीड (Thomas Munro)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हॉल्ट मैकेंजी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डलहौजी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#46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46. रैयतवाड़ी व्यवस्था मुख्य रूप से मद्रास व बंबई में किसने लागू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कॉर्नवालिस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थॉमस मुनरो एवं रीड (Thomas Munro)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हॉल्ट मैकेंजी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डलहौजी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मुनरो ने सीधे किसानों (रैयत) से लगान वसूली की रैयतवाड़ी व्यवस्था चलाई।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#47  [NMMS Gujarat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47. महालवाड़ी भू-राजस्व व्यवस्था के प्रवर्तक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मुनरो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हॉल्ट मैकेंजी (Holt Mackenzie)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कॉर्नवालिस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क्लाइव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#47  [NMMS Gujarat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47. महालवाड़ी भू-राजस्व व्यवस्था के प्रवर्तक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मुनरो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हॉल्ट मैकेंजी (Holt Mackenzie)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कॉर्नवालिस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क्लाइव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हॉल्ट मैकेंजी ने उत्तर भारत में ग्राम समुदाय (महाल) पर लगान तय किया।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#48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48. पृथ्वी के कुल धरातल का लगभग कितना प्रतिशत भाग जल से ढका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50%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71% (लगभग 3/4 भाग)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60%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80%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#48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48. पृथ्वी के कुल धरातल का लगभग कितना प्रतिशत भाग जल से ढका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50%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71% (लगभग 3/4 भाग)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60%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80%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पृथ्वी पर लगभग 71% जल और 29% थल है, इसीलिए इसे 'नीला ग्रह' कहते हैं।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#49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99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49. विश्व का सबसे बड़ा महाद्वीप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अफ्रीका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एशिया महाद्वीप (Asia)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उत्तरी अमेरिका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यूरोप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#49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49. विश्व का सबसे बड़ा महाद्वीप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अफ्रीका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एशिया महाद्वीप (Asia)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उत्तरी अमेरिका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यूरोप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एशिया क्षेत्रफल और जनसंख्या दोनों में विश्व का सबसे विशाल महाद्वीप है।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#50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50. विश्व का सबसे छोटा महाद्वीप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यूरोप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ऑस्ट्रेलिया (Australia)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अंटार्कटिका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द. अमेरिका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#50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50. विश्व का सबसे छोटा महाद्वीप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यूरोप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ऑस्ट्रेलिया (Australia)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अंटार्कटिका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द. अमेरिका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ऑस्ट्रेलिया सबसे छोटा महाद्वीप है जिसे 'द्वीपीय महाद्वीप' भी कहते हैं।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#51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51. संसार की सबसे लंबी पर्वत श्रृंखला कौन-सी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हिमालय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एंडीज पर्वतमाला (Andes - 7200 किमी)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रॉकीज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आल्प्स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#51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51. संसार की सबसे लंबी पर्वत श्रृंखला कौन-सी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हिमालय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एंडीज पर्वतमाला (Andes - 7200 किमी)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रॉकीज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आल्प्स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दक्षिण अमेरिका की एंडीज पर्वतमाला विश्व की सबसे लंबी पर्वत श्रृंखला है।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#52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52. विश्व का सबसे बड़ा मरुस्थल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थार मरुस्थल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सहारा मरुस्थल (Sahara - अफ्रीका)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गोबी मरुस्थल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कालाहारी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#52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52. विश्व का सबसे बड़ा मरुस्थल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थार मरुस्थल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सहारा मरुस्थल (Sahara - अफ्रीका)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गोबी मरुस्थल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कालाहारी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उत्तरी अफ्रीका का सहारा मरुस्थल विश्व का सबसे बड़ा गर्म मरुस्थल है।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#53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53. संसार का सबसे बड़ा शीत (ठंडा) मरुस्थल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सहारा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गोबी मरुस्थल / लद्दाख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अटाकामा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थार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#53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53. संसार का सबसे बड़ा शीत (ठंडा) मरुस्थल कौन-सा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सहारा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गोबी मरुस्थल / लद्दाख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अटाकामा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थार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मंगोलिया-चीन का गोबी मरुस्थल एशिया का विशाल ठंडा मरुस्थल है।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#54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109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54. स्वेज नहर (Suez Canal) किन दो सागरों को आपस में जोड़ती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लाल सागर और भूमध्य सागर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अरब सागर व काला सागर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बाल्टिक व उत्तर सागर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प्रशांत व अटलांटिक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#54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54. स्वेज नहर (Suez Canal) किन दो सागरों को आपस में जोड़ती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(A)  लाल सागर और भूमध्य सागर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(B)  अरब सागर व काला सागर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बाल्टिक व उत्तर सागर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प्रशांत व अटलांटिक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(A)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1869 में खुली स्वेज नहर भूमध्य सागर को लाल सागर से जोड़ती है।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#55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55. पनामा नहर किन दो बड़े महासागरों को आपस में जोड़ती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प्रशांत महासागर और अटलांटिक महासागर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हिंद व प्रशांत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आर्कटिक व हिंद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भूमध्य व लाल सागर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#55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55. पनामा नहर किन दो बड़े महासागरों को आपस में जोड़ती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(A)  प्रशांत महासागर और अटलांटिक महासागर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(B)  हिंद व प्रशांत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आर्कटिक व हिंद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भूमध्य व लाल सागर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(A)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पनामा नहर उत्तरी और दक्षिणी अमेरिका के बीच दोनों महासागरों को जोड़ती है।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#56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56. भारत का डेट्रायट (Automobile Hub) किस शहर को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मुंबई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चेन्नई (Chennai)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पुणे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गुरुग्राम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#56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56. भारत का डेट्रायट (Automobile Hub) किस शहर को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मुंबई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चेन्नई (Chennai)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पुणे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गुरुग्राम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वाहन उद्योग का प्रमुख केंद्र होने से चेन्नई को भारत का डेट्रायट कहते हैं।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#57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57. भारत में गुलाबी नगर (Pink City) के रूप में कौन-सा शहर प्रसिद्ध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जोधपुर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जयपुर (Jaipur)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उदयपुर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बीकानेर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#57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57. भारत में गुलाबी नगर (Pink City) के रूप में कौन-सा शहर प्रसिद्ध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जोधपुर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जयपुर (Jaipur)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उदयपुर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बीकानेर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राजस्थान की राजधानी जयपुर को गुलाबी शहर (पिंक सिटी) कहा जाता है।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#58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58. झीलों की नगरी (City of Lakes) किसे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जयपुर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उदयपुर (Udaipur)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श्रीनगर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भोपाल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#58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58. झीलों की नगरी (City of Lakes) किसे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जयपुर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उदयपुर (Udaipur)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श्रीनगर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भोपाल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उदयपुर अपनी खूबसूरत पिछोला व फतेहसागर झीलों के कारण झीलों की नगरी कहलाता है।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#59  [NMMS Gujarat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119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59. भारत में मसालों का बगीचा (Spice Garden) किस राज्य को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तमिलनाडु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केरल (Kerala)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कर्नाटक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असम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#59  [NMMS Gujarat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59. भारत में मसालों का बगीचा (Spice Garden) किस राज्य को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तमिलनाडु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केरल (Kerala)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कर्नाटक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असम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काली मिर्च, इलायची, लौंग के प्रचुर उत्पादन हेतु केरल को मसालों का बगीचा कहते हैं।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#60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60. भारतीय संविधान में न्यायिक पुनरावलोकन (Judicial Review) किस देश से लिया गया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ब्रिटेन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संयुक्त राज्य अमेरिका (USA)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कनाडा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फ्रांस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#60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60. भारतीय संविधान में न्यायिक पुनरावलोकन (Judicial Review) किस देश से लिया गया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ब्रिटेन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संयुक्त राज्य अमेरिका (USA)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कनाडा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फ्रांस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सुप्रीम कोर्ट द्वारा कानूनों की समीक्षा का अधिकार अमेरिकी संविधान से लिया गया है।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#61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61. भारत के उच्चतम न्यायालय (Supreme Court) का गठन किस अनुच्छेद में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अनुच्छेद 124 (Article 124)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अनुच्छेद 214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अनुच्छेद 148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अनुच्छेद 76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#61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61. भारत के उच्चतम न्यायालय (Supreme Court) का गठन किस अनुच्छेद में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(A)  अनुच्छेद 124 (Article 124)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(B)  अनुच्छेद 214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अनुच्छेद 148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अनुच्छेद 76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(A)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अनुच्छेद 124 के तहत भारत के एक सर्वोच्च न्यायालय का प्रावधान है।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#62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62. भारत के नियंत्रक एवं महालेखा परीक्षक (CAG) की नियुक्ति किस अनुच्छेद के तहत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अनुच्छेद 76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अनुच्छेद 148 (Article 148)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अनुच्छेद 280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अनुच्छेद 324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#62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62. भारत के नियंत्रक एवं महालेखा परीक्षक (CAG) की नियुक्ति किस अनुच्छेद के तहत होती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अनुच्छेद 76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अनुच्छेद 148 (Article 148)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अनुच्छेद 280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अनुच्छेद 324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अनुच्छेद 148 के तहत राष्ट्रपति CAG (कैग) की नियुक्ति करते हैं जो सरकारी धन का संरक्षक है।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#63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63. भारत का महान्यायवादी (Attorney General) किस अनुच्छेद से संबंधित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अनुच्छेद 124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अनुच्छेद 76 (Article 76)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अनुच्छेद 148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अनुच्छेद 165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#63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63. भारत का महान्यायवादी (Attorney General) किस अनुच्छेद से संबंधित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अनुच्छेद 124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अनुच्छेद 76 (Article 76)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अनुच्छेद 148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अनुच्छेद 165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अनुच्छेद 76 के तहत राष्ट्रपति भारत सरकार के मुख्य कानूनी सलाहकार की नियुक्ति करते हैं।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#64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129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64. वित्त आयोग (Finance Commission) का गठन संविधान के किस अनुच्छेद में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अनुच्छेद 324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अनुच्छेद 280 (Article 280)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अनुच्छेद 356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अनुच्छेद 370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#64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64. वित्त आयोग (Finance Commission) का गठन संविधान के किस अनुच्छेद में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अनुच्छेद 324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अनुच्छेद 280 (Article 280)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अनुच्छेद 356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अनुच्छेद 370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प्रत्येक 5 वर्ष पर राष्ट्रपति केंद्र-राज्य कर बंटवारे हेतु वित्त आयोग बनाते हैं।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#65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65. राष्ट्रीय मतदाता दिवस (National Voters' Day) प्रतिवर्ष कब मनाया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15 अगस्त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25 जनवरी (25th January)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26 जनवरी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2 अक्टूबर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#65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65. राष्ट्रीय मतदाता दिवस (National Voters' Day) प्रतिवर्ष कब मनाया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15 अगस्त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25 जनवरी (25th January)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26 जनवरी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2 अक्टूबर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25 जनवरी 1950 को चुनाव आयोग की स्थापना की स्मृति में मतदाता दिवस मनाते हैं।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#66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66. भारत के संविधान का कौन-सा अनुच्छेद 'विधि के समक्ष समानता' का अधिकार देता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अनुच्छेद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अनुच्छेद 14 (Article 14)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अनुच्छेद 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अनुच्छेद 25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#66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66. भारत के संविधान का कौन-सा अनुच्छेद 'विधि के समक्ष समानता' का अधिकार देता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अनुच्छेद 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अनुच्छेद 14 (Article 14)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अनुच्छेद 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अनुच्छेद 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अनुच्छेद 14 राज्य द्वारा सभी नागरिकों को कानून के समक्ष समान संरक्षण देता है।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#67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67. प्राण एवं दैहिक स्वतंत्रता का अधिकार (Right to Life) किस अनुच्छेद में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अनुच्छेद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अनुच्छेद 21 (Article 21)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अनुच्छेद 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अनुच्छेद 32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#67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67. प्राण एवं दैहिक स्वतंत्रता का अधिकार (Right to Life) किस अनुच्छेद में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अनुच्छेद 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अनुच्छेद 21 (Article 21)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अनुच्छेद 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अनुच्छेद 32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अनुच्छेद 21 जीने के अधिकार और व्यक्तिगत स्वतंत्रता की गारंटी देता है।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#68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68. प्रेस की स्वतंत्रता (Freedom of Press) किस मौलिक अधिकार में अंतर्निहित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समानता का अधिकार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विचार एवं अभिव्यक्ति की स्वतंत्रता (अनुच्छेद 19-1-A)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शोषण के विरुद्ध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धार्मिक स्वतंत्रता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#68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68. प्रेस की स्वतंत्रता (Freedom of Press) किस मौलिक अधिकार में अंतर्निहित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समानता का अधिकार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विचार एवं अभिव्यक्ति की स्वतंत्रता (अनुच्छेद 19-1-A)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शोषण के विरुद्ध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धार्मिक स्वतंत्रता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अनुच्छेद 19(1)(a) में बोलने व विचार व्यक्त करने की स्वतंत्रता में प्रेस शामिल है।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#69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139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69. भारतीय संविधान की 8वीं अनुसूची में कुल कितनी भाषाओं को मान्यता प्राप्त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14 भाषाएं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22 भाषाएं (22 Languages)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18 भाषाएं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25 भाषाएं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#69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69. भारतीय संविधान की 8वीं अनुसूची में कुल कितनी भाषाओं को मान्यता प्राप्त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14 भाषाएं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22 भाषाएं (22 Languages)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18 भाषाएं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25 भाषाएं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मूल संविधान में 14 थीं; अब 8वीं अनुसूची में कुल 22 भारतीय भाषाएं शामिल हैं।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#70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70. संसद में शून्यकाल (Zero Hour) का समय सामान्यतः कब से कब तक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सुबह 10 से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दोपहर 12:00 से 1:00 बजे तक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शाम 4 से 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सुबह 9 से 10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2: सामाजिक विज्ञान (Social Science) • प्र. #70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70. संसद में शून्यकाल (Zero Hour) का समय सामान्यतः कब से कब तक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सुबह 10 से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दोपहर 12:00 से 1:00 बजे तक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शाम 4 से 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सुबह 9 से 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प्रश्नकाल (11 से 12) के ठीक बाद दोपहर 12 बजे का समय शून्यकाल कहलाता है।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#71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71. संख्याओं 30, 45 और 60 का महत्तम समापवर्तक (HCF)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30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#71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71. संख्याओं 30, 45 और 60 का महत्तम समापवर्तक (HCF)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30, 45 और 60 तीनों का सबसे बड़ा उभयनिष्ठ भाजक 15 है।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#72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72. यदि 8 व्यक्ति किसी काम को 15 दिन में करते हैं, तो 12 व्यक्ति उसे कितने दिन में करेंगे?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8 दिन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10 दिन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12 दिन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6 दिन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#72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72. यदि 8 व्यक्ति किसी काम को 15 दिन में करते हैं, तो 12 व्यक्ति उसे कितने दिन में करेंगे?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8 दिन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10 दिन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12 दिन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6 दिन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8 × 15 = 12 × D ➔ D = 120 / 12 = 10 दिन।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#73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73. एक व्यापारी ₹500 की वस्तु पर 20% लाभ कमाता है। विक्रय मूल्य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₹550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₹600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₹650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₹580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#73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73. एक व्यापारी ₹500 की वस्तु पर 20% लाभ कमाता है। विक्रय मूल्य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₹550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₹600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₹650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₹580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लाभ = 500 का 20% = ₹100। SP = 500 + 100 = ₹600।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#74  [NMMS Rajasthan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149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74. ₹4000 का 10% वार्षिक दर से 2 वर्ष का साधारण ब्याज कितना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₹400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₹800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₹1200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₹600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#74  [NMMS Rajasthan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74. ₹4000 का 10% वार्षिक दर से 2 वर्ष का साधारण ब्याज कितना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₹400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₹800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₹1200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₹600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SI = (4000 × 10 × 2) / 100 = ₹800।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#75  [NMMS Haryana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75. संख्या 3/4 को प्रतिशत में बदलने पर क्या मान प्राप्त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25%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75%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50%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60%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#75  [NMMS Haryana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75. संख्या 3/4 को प्रतिशत में बदलने पर क्या मान प्राप्त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25%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75%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50%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60%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(3/4) × 100% = 3 × 25% = 75%।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#76  [NMMS Delhi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76. समीकरण 3(2x - 1) = 21 में x का मान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6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#76  [NMMS Delhi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76. समीकरण 3(2x - 1) = 21 में x का मान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2x - 1 = 21 / 3 = 7 ➔ 2x = 8 ➔ x = 4।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#77  [NMMS Bihar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77. यदि 2ˣ⁺³ = 32 हो, तो x का मान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4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#77  [NMMS Bihar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77. यदि 2ˣ⁺³ = 32 हो, तो x का मान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32 = 2⁵ ➔ x + 3 = 5 ➔ x = 5 - 3 = 2।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#78  [NMMS UP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78. सर्वसमिका (a + b)(a - b) का मान क्या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a² + b²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a² - b²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(a - b)²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2ab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#78  [NMMS UP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78. सर्वसमिका (a + b)(a - b) का मान क्या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a² + b²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a² - b²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(a - b)²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2ab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(a + b)(a - b) = a² - b²।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#79  [NMMS MP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159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79. व्यंजक x² + 5x + 6 का गुणनखंड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(x + 1)(x + 6)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(x + 2)(x + 3)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(x - 2)(x - 3)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(x + 5)(x + 1)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#79  [NMMS MP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79. व्यंजक x² + 5x + 6 का गुणनखंड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(x + 1)(x + 6)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(x + 2)(x + 3)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(x - 2)(x - 3)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(x + 5)(x + 1)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2 × 3 = 6 और 2 + 3 = 5 ➔ (x + 2)(x + 3)।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#80  [NMMS Rajasthan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80. यदि x + y = 8 तथा xy = 15 हो, तो x² + y² का मान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64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34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49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30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#80  [NMMS Rajasthan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80. यदि x + y = 8 तथा xy = 15 हो, तो x² + y² का मान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64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34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49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x² + y² = (x + y)² - 2xy = 8² - 2(15) = 64 - 30 = 34।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#81  [NMMS All India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81. एक त्रिभुज के कोणों का अनुपात 1 : 2 : 3 है। सबसे बड़ा कोण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60°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90°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120°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45°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#81  [NMMS All India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81. एक त्रिभुज के कोणों का अनुपात 1 : 2 : 3 है। सबसे बड़ा कोण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60°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90°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120°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45°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1x + 2x + 3x = 180° ➔ 6x = 180° ➔ x = 30°। सबसे बड़ा कोण = 3 × 30° = 90°।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#82  [NMMS Gujarat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82. एक समचतुर्भुज की भुजा 10 सेमी है। उसका परिमाप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20 सेमी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40 सेमी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100 सेमी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50 सेमी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#82  [NMMS Gujarat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82. एक समचतुर्भुज की भुजा 10 सेमी है। उसका परिमाप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20 सेमी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40 सेमी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100 सेमी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50 सेमी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समचतुर्भुज की चारों भुजाएं बराबर होती हैं: 4 × 10 = 40 सेमी।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#83  [NMMS Bihar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83. एक वृत्त की त्रिज्या 7 सेमी है। उसका अर्धवृत्त (Semicircle) का परिमाप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22 सेमी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36 सेमी (πr + 2r)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44 सेमी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29 सेमी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#83  [NMMS Bihar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83. एक वृत्त की त्रिज्या 7 सेमी है। उसका अर्धवृत्त (Semicircle) का परिमाप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22 सेमी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36 सेमी (πr + 2r)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44 सेमी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29 सेमी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अर्धवृत्त परिमाप = πr + 2r = (22/7)×7 + 2(7) = 22 + 14 = 36 सेमी।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#84  [NMMS UP 2021]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169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84. एक बेलन का व्यास 14 सेमी और ऊंचाई 5 सेमी है। उसका वक्र पृष्ठीय क्षेत्रफल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110 सेमी²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220 सेमी²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440 सेमी²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154 सेमी²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#84  [NMMS UP 2021]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84. एक बेलन का व्यास 14 सेमी और ऊंचाई 5 सेमी है। उसका वक्र पृष्ठीय क्षेत्रफल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110 सेमी²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220 सेमी²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440 सेमी²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154 सेमी²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त्रिज्या r = 7 सेमी। वक्र पृष्ठ = 2πrh = 2 × (22/7) × 7 × 5 = 220 सेमी²।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#85  [NMMS MP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85. एक घन का संपूर्ण पृष्ठीय क्षेत्रफल क्या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4a²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6a²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a³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2a²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#85  [NMMS MP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85. एक घन का संपूर्ण पृष्ठीय क्षेत्रफल क्या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4a²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6a²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a³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2a²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घन के 6 वर्गाकार फलक होते हैं, अतः कुल पृष्ठ = 6a²।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#86  [NMMS Rajasthan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86. एक आयताकार खेत का क्षेत्रफल 200 मी² तथा चौड़ाई 10 मी है। लंबाई क्या होगी?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15 मी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20 मी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25 मी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30 मी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#86  [NMMS Rajasthan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86. एक आयताकार खेत का क्षेत्रफल 200 मी² तथा चौड़ाई 10 मी है। लंबाई क्या होगी?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15 मी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20 मी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25 मी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30 मी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लंबाई = क्षेत्रफल / चौड़ाई = 200 / 10 = 20 मी।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#87  [NMMS Delhi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87. संख्या 1764 का वर्गमूल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38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42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44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46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#87  [NMMS Delhi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176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87. संख्या 1764 का वर्गमूल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38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42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44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46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42 × 42 = 1764, अतः √1764 = 42।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#88  [NMMS Bihar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177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88. संख्या 1728 का घनमूल (Cube Root)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16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#88  [NMMS Bihar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178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88. संख्या 1728 का घनमूल (Cube Root)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12 × 12 × 12 = 1728 (रामानुजन संख्या 1729 के निकट), अतः ∛1728 = 12।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#89  [NMMS UP 2022]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179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89. संख्याओं 3, 5, 7, 9, 11 का समांतर माध्य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9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#89  [NMMS UP 2022]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180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89. संख्याओं 3, 5, 7, 9, 11 का समांतर माध्य क्या होगा?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माध्य = (3 + 5 + 7 + 9 + 11) / 5 = 35 / 5 = 7।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#90  [NMMS All India 2023]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181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90. एक पासे को फेंकने पर 4 से बड़ी संख्या (5 या 6) आने की प्रायिकता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(A)  1/6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(B)  1/3 (2/6)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(C)  1/2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E293B"/>
                </a:solidFill>
                <a:latin typeface="Segoe UI"/>
              </a:defRPr>
            </a:pPr>
            <a:r>
              <a:t>(D)  2/3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भाग 3: गणित (Mathematics) • प्र. #90  [NMMS All India 2023]  —  [उत्तर व व्याख्या]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182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F0F9FF"/>
          </a:solidFill>
          <a:ln w="254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750" b="1">
                <a:solidFill>
                  <a:srgbClr val="0F172A"/>
                </a:solidFill>
                <a:latin typeface="Segoe UI"/>
              </a:defRPr>
            </a:pPr>
            <a:r>
              <a:t>प्र. 90. एक पासे को फेंकने पर 4 से बड़ी संख्या (5 या 6) आने की प्रायिकता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(A)  1/6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05840"/>
          </a:xfrm>
          <a:prstGeom prst="roundRect">
            <a:avLst/>
          </a:prstGeom>
          <a:solidFill>
            <a:srgbClr val="DCFCE7"/>
          </a:solidFill>
          <a:ln w="381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(B)  1/3 (2/6)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(C)  1/2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794760"/>
            <a:ext cx="544068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550" b="1">
                <a:solidFill>
                  <a:srgbClr val="94A3B8"/>
                </a:solidFill>
                <a:latin typeface="Segoe UI"/>
              </a:defRPr>
            </a:pPr>
            <a:r>
              <a:t>(D)  2/3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937760"/>
            <a:ext cx="11277295" cy="12801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550" b="1">
                <a:solidFill>
                  <a:srgbClr val="166534"/>
                </a:solidFill>
                <a:latin typeface="Segoe UI"/>
              </a:defRPr>
            </a:pPr>
            <a:r>
              <a:t>✅ सही उत्तर: विकल्प (B)</a:t>
            </a:r>
          </a:p>
          <a:p>
            <a:pPr>
              <a:spcBef>
                <a:spcPts val="400"/>
              </a:spcBef>
              <a:defRPr sz="1400" b="0">
                <a:solidFill>
                  <a:srgbClr val="1E293B"/>
                </a:solidFill>
                <a:latin typeface="Segoe UI"/>
              </a:defRPr>
            </a:pPr>
            <a:r>
              <a:t>💡 व्याख्या (Explanation): अनुकूल परिणाम = 2 (5, 6), कुल = 6। प्रायिकता = 2/6 = 1/3।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SAT महामंथन टेस्ट #05 — स्कोर विश्लेषण व कट-ऑफ मैट्रिक्स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183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2004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🎯 90 प्रश्नों का स्कोर विश्लेषण एवं राज्य मेरिट रणनीति (Cut-off Strategy):</a:t>
            </a:r>
          </a:p>
          <a:p>
            <a:pPr>
              <a:spcBef>
                <a:spcPts val="1200"/>
              </a:spcBef>
              <a:defRPr sz="1500">
                <a:solidFill>
                  <a:srgbClr val="1E293B"/>
                </a:solidFill>
                <a:latin typeface="Segoe UI"/>
              </a:defRPr>
            </a:pPr>
            <a:r>
              <a:t>🏆  80+ अंक (State Top Rankers): राज्य में टॉप 50 रैंक सुनिश्चित! छात्रवृत्ति 100% पक्की।</a:t>
            </a:r>
          </a:p>
          <a:p>
            <a:pPr>
              <a:spcBef>
                <a:spcPts val="1200"/>
              </a:spcBef>
              <a:defRPr sz="1500">
                <a:solidFill>
                  <a:srgbClr val="1E293B"/>
                </a:solidFill>
                <a:latin typeface="Segoe UI"/>
              </a:defRPr>
            </a:pPr>
            <a:r>
              <a:t>🏆  70 - 79 अंक (Very High Merit): सुरक्षित कट-ऑफ पार! जिला स्तर पर उत्कृष्ट रैंक।</a:t>
            </a:r>
          </a:p>
          <a:p>
            <a:pPr>
              <a:spcBef>
                <a:spcPts val="1200"/>
              </a:spcBef>
              <a:defRPr sz="1500">
                <a:solidFill>
                  <a:srgbClr val="1E293B"/>
                </a:solidFill>
                <a:latin typeface="Segoe UI"/>
              </a:defRPr>
            </a:pPr>
            <a:r>
              <a:t>🏆  60 - 69 अंक (Qualifying Zone): गणित एवं रसायन विज्ञान के सूत्रों का 1 बार पुनः अभ्यास करें।</a:t>
            </a:r>
          </a:p>
          <a:p>
            <a:pPr>
              <a:spcBef>
                <a:spcPts val="1200"/>
              </a:spcBef>
              <a:defRPr sz="1500">
                <a:solidFill>
                  <a:srgbClr val="1E293B"/>
                </a:solidFill>
                <a:latin typeface="Segoe UI"/>
              </a:defRPr>
            </a:pPr>
            <a:r>
              <a:t>🏆  60 से कम अंक: विज्ञान व सामाजिक विज्ञान के सभी 17+17 क्लास नोट्स का दोबारा रिवीजन करें।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SAT महामंथन टेस्ट #05 — त्वरित ऑल-सब्जेक्ट गोल्डन सूत्र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184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274320"/>
          <a:lstStyle/>
          <a:p>
            <a:pPr algn="ctr">
              <a:defRPr sz="1800" b="1">
                <a:solidFill>
                  <a:srgbClr val="0F172A"/>
                </a:solidFill>
                <a:latin typeface="Segoe UI"/>
              </a:defRPr>
            </a:pPr>
            <a:r>
              <a:t>🔑 1-मिनट क्विक ऑल-सब्जेक्ट गोल्डन रिवीजन सूत्र (Grand Memory Key):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 b="1">
                <a:solidFill>
                  <a:srgbClr val="78350F"/>
                </a:solidFill>
                <a:latin typeface="Segoe UI"/>
              </a:defRPr>
            </a:pPr>
            <a:r>
              <a:t>⚡  विज्ञान सूत्र: रॉकेट = न्यूटन तृतीय नियम | लेंस क्षमता = डायोप्टर | आवर्त सारणी = मोजले (18 वर्ग, 7 आवर्त) | सोना 24 कैरेट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 b="1">
                <a:solidFill>
                  <a:srgbClr val="78350F"/>
                </a:solidFill>
                <a:latin typeface="Segoe UI"/>
              </a:defRPr>
            </a:pPr>
            <a:r>
              <a:t>⚡  इतिहास मध्यकालीन: नालंदा विध्वंस = बख्तियार खिलजी | राजतरंगिणी = कल्हण | जजिया समाप्ति = अकबर (1564) | स्थायी बंदोबस्त = कॉर्नवालिस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 b="1">
                <a:solidFill>
                  <a:srgbClr val="78350F"/>
                </a:solidFill>
                <a:latin typeface="Segoe UI"/>
              </a:defRPr>
            </a:pPr>
            <a:r>
              <a:t>⚡  भूगोल विश्व: नीला ग्रह = 71% जल | सबसे बड़ा महाद्वीप = एशिया | सबसे लंबी पर्वतमाला = एंडीज | स्वेज नहर = भूमध्य + लाल सागर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 b="1">
                <a:solidFill>
                  <a:srgbClr val="78350F"/>
                </a:solidFill>
                <a:latin typeface="Segoe UI"/>
              </a:defRPr>
            </a:pPr>
            <a:r>
              <a:t>⚡  नागरिक शास्त्र: न्यायिक पुनरावलोकन = USA | सुप्रीम कोर्ट = अनु. 124 | CAG = अनु. 148 | 8वीं अनुसूची = 22 भाषाएं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450" b="1">
                <a:solidFill>
                  <a:srgbClr val="78350F"/>
                </a:solidFill>
                <a:latin typeface="Segoe UI"/>
              </a:defRPr>
            </a:pPr>
            <a:r>
              <a:t>⚡  गणित सूत्र: अर्धवृत्त परिमाप = 36 सेमी (r=7) | घन कुल पृष्ठ = 6a² | बेलन वक्र पृष्ठ = 2πrh | √1764 = 42 | ∛1728 = 12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0F172A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100" b="1">
                <a:solidFill>
                  <a:srgbClr val="D97706"/>
                </a:solidFill>
                <a:latin typeface="Segoe UI"/>
              </a:defRPr>
            </a:pPr>
            <a:r>
              <a:t>SAGAR COACHING CENTRE BHAGWANPUR • NMMS All India (SAT महामंथन)</a:t>
            </a:r>
          </a:p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SAT महामंथन टेस्ट #05 — सफलता का संकल्प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Segoe UI"/>
              </a:defRPr>
            </a:pPr>
            <a:r>
              <a:t>WhatsApp / Helpline: +91 91101 13671  |  वेबसाइट: sagarcoaching.tech  |  Slide 185 of 185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120640"/>
          </a:xfrm>
          <a:prstGeom prst="roundRect">
            <a:avLst/>
          </a:prstGeom>
          <a:solidFill>
            <a:srgbClr val="0F172A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D97706"/>
                </a:solidFill>
                <a:latin typeface="Segoe UI"/>
              </a:defRPr>
            </a:pPr>
            <a:r>
              <a:t>SAGAR COACHING CENTRE, BHAGWANPUR</a:t>
            </a:r>
          </a:p>
          <a:p>
            <a:pPr algn="ctr">
              <a:spcBef>
                <a:spcPts val="600"/>
              </a:spcBef>
              <a:defRPr sz="1500">
                <a:solidFill>
                  <a:srgbClr val="CBD5E1"/>
                </a:solidFill>
                <a:latin typeface="Segoe UI"/>
              </a:defRPr>
            </a:pPr>
            <a:r>
              <a:t>निकट - माँ भगवती मंदिर, भगवानपुर (सुपौल, बिहार) • पिन - 852109</a:t>
            </a:r>
          </a:p>
          <a:p>
            <a:pPr algn="ctr">
              <a:spcBef>
                <a:spcPts val="1600"/>
              </a:spcBef>
              <a:defRPr sz="1800" b="1">
                <a:solidFill>
                  <a:srgbClr val="FFFFFF"/>
                </a:solidFill>
                <a:latin typeface="Segoe UI"/>
              </a:defRPr>
            </a:pPr>
            <a:r>
              <a:t>🌟 SAT MOCK TEST 05 : 90/90 अंक सम्पूर्ण SAT महामंथन 🌟</a:t>
            </a:r>
          </a:p>
          <a:p>
            <a:pPr algn="ctr">
              <a:spcBef>
                <a:spcPts val="1400"/>
              </a:spcBef>
              <a:defRPr sz="1600" b="1">
                <a:solidFill>
                  <a:srgbClr val="D97706"/>
                </a:solidFill>
                <a:latin typeface="Segoe UI"/>
              </a:defRPr>
            </a:pPr>
            <a:r>
              <a:t>मार्गदर्शक: सागर सर (NMMS King)  |  WhatsApp / Helpline: +91 91101 13671</a:t>
            </a:r>
          </a:p>
          <a:p>
            <a:pPr algn="ctr">
              <a:spcBef>
                <a:spcPts val="800"/>
              </a:spcBef>
              <a:defRPr sz="1400">
                <a:solidFill>
                  <a:srgbClr val="E2E8F0"/>
                </a:solidFill>
                <a:latin typeface="Segoe UI"/>
              </a:defRPr>
            </a:pPr>
            <a:r>
              <a:t>ऑनलाइन टेस्ट, क्लास नोट्स व PDF सामग्री हेतु वेबसाइट पर पधारें: sagarcoaching.tech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