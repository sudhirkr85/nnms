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India) • सम्पूर्ण SAT 90/90 अंक महामंथन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468880"/>
            <a:ext cx="5973775" cy="457200"/>
          </a:xfrm>
          <a:prstGeom prst="roundRect">
            <a:avLst/>
          </a:prstGeom>
          <a:solidFill>
            <a:srgbClr val="4338C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SAT FULL EXAM SIMULATOR • TEST 01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सम्पूर्ण SAT महामंथन मॉक टेस्ट #01</a:t>
            </a:r>
          </a:p>
          <a:p>
            <a:pPr algn="ctr">
              <a:spcBef>
                <a:spcPts val="4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विज्ञान (35 अंक) + सामाजिक विज्ञान (35 अंक) + गणित (20 अंक) = कुल 90 अंक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🎯 इस 90 प्रश्नों के महामंथन टेस्ट का पाठ्यक्रम विवरण (Syllabus Structure):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1: विज्ञान (35 प्रश्न) — भौतिकी, रसायन एवं जीव विज्ञान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2: सामाजिक विज्ञान (35 प्रश्न) — इतिहास, भूगोल एवं नागरिक शास्त्र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3: गणित (20 प्रश्न) — अंकगणित, बीजगणित, ज्यामिति एवं क्षेत्रमिति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विगत 10 वर्षों के ऑल इंडिया NMMS पेपर्स पर आधारित शत-प्रतिशत प्रामाणिक प्रश्न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2-स्लाइड इंटरैक्टिव पैटर्न (उत्तर पहले पूरी तरह छुपा रहेगा)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#01 — परीक्षा निर्देश एवं अंक योजना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NMMS SAT सम्पूर्ण 90 प्रश्न परीक्षा योजना (Official Exam Scheme):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विषय-वार अंक विभाजन: विज्ञान = 35 प्रश्न (35 अंक) | सामाजिक विज्ञान = 35 प्रश्न (35 अंक) | गणित = 20 प्रश्न (20 अंक)। कुल = 90 प्रश्न (90 अंक)।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समय सीमा: वास्तविक परीक्षा में 90 प्रश्नों हेतु 90 मिनट का समय मिलता है। कोई नकारात्मक अंकन (No Negative Marking) नहीं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2-स्लाइड इंटरैक्टिव पद्धति: प्रश्न स्लाइड पर उत्तर पूरी तरह छुपा हुआ है ताकि छात्र पहले स्वयं विचार कर जवाब दें।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अगली स्लाइड पर सही विकल्प हरे रंग (Green Glow) में प्रकाशित होगा तथा नीचे संपूर्ण हल और व्याख्या दी गई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लक्ष्य: NMMS परीक्षा में राज्य मेरिट सूची में शीर्ष स्थान प्राप्त करना और ₹48,000 की छात्रवृत्ति सुनिश्चित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1. चाल का SI मात्रक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km/h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m/s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cm/s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m/min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1. चाल का SI मात्रक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km/h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m/s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cm/s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m/min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चाल = दूरी / समय, इसका SI मात्रक मीटर प्रति सेकंड (m/s) होता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2. वाहनों में पीछे का दृश्य देखने हेतु किस दर्पण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समतल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उत्तल दर्पण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अवतल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परवलयिक दर्पण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2. वाहनों में पीछे का दृश्य देखने हेतु किस दर्पण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समतल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उत्तल दर्पण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अवतल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परवलयिक दर्पण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उत्तल दर्पण सदैव सीधा, छोटा और विस्तृत दृष्टि क्षेत्र का प्रतिबिंब बनाता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3. मानव कान के लिए श्रव्य ध्वनि की आवृत्ति परास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20 Hz से कम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20 Hz से 20,000 Hz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20,000 Hz से अधिक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100 Hz से 10,000 Hz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3. मानव कान के लिए श्रव्य ध्वनि की आवृत्ति परास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20 Hz से कम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20 Hz से 20,000 Hz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20,000 Hz से अधिक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100 Hz से 10,000 Hz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मानव कान 20 से 20,000 हर्ट्ज़ तक की ध्वनि सुन सकता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4. दाब (Pressure) का अंतरराष्ट्रीय मानक (SI)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जूल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न्यूटन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पास्कल (Pascal)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वाट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4. दाब (Pressure) का अंतरराष्ट्रीय मानक (SI)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जूल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न्यूटन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पास्कल (Pascal)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वाट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दाब = बल / क्षेत्रफल = N/m², जिसे पास्कल (Pa) कहते हैं।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5. स्वस्थ मानव नेत्र के लिए स्पष्ट दृष्टि की न्यूनतम दूरी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10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25 सेमी (25 cm)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50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अनंत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5. स्वस्थ मानव नेत्र के लिए स्पष्ट दृष्टि की न्यूनतम दूरी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10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25 सेमी (25 cm)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50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अनंत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स्वस्थ आंख बिना किसी तनाव के 25 सेमी की दूरी पर स्पष्ट पढ़ सकती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6. विद्युत परिपथ में धारा की प्रबलता मापने के लिए कौन-सा यंत्र प्रयुक्त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वोल्टमीटर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अमीटर (Ammeter)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बैरोमीटर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थर्मामीटर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6. विद्युत परिपथ में धारा की प्रबलता मापने के लिए कौन-सा यंत्र प्रयुक्त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वोल्टमीटर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अमीटर (Ammeter)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बैरोमीटर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थर्मामीटर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अमीटर धारा को एम्पीयर में मापता है और परिपथ में श्रेणीक्रम में जुड़ता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7. सूर्य के प्रकाश को सात रंगों में विभाजित करने की घटना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परावर्तन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अपवर्तन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वर्ण-विक्षेपण (Dispersion)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विवर्तन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7. सूर्य के प्रकाश को सात रंगों में विभाजित करने की घटना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परावर्तन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अपवर्तन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वर्ण-विक्षेपण (Dispersion)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विवर्तन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प्रिज्म द्वारा श्वेत प्रकाश का सात रंगों (VIBGYOR) में बिखरना वर्ण-विक्षेपण कहलाता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8. चंद्रमा पर किसी वस्तु का भार पृथ्वी पर उसके भार का कितना भाग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1/2 भाग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1/4 भाग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1/6 भाग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1/8 भाग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8. चंद्रमा पर किसी वस्तु का भार पृथ्वी पर उसके भार का कितना भाग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1/2 भाग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1/4 भाग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1/6 भाग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1/8 भाग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चंद्रमा का गुरुत्वाकर्षण पृथ्वी का 1/6 होने से भार भी 1/6 रह जाता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9. ध्वनि की गति सर्वाधिक किस माध्यम में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निर्वात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वायु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जल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ठोस (स्टील/लोहा) में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9. ध्वनि की गति सर्वाधिक किस माध्यम में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निर्वात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वायु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जल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(D)  ठोस (स्टील/लोहा)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(D)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ध्वनि की चाल ठोस में सर्वाधिक (~5000 m/s), द्रव में मध्यम और गैस में सबसे कम होती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10. तड़ित चालक (Lightning Conductor) का निर्माण किस धातु की छड़ से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तांबा (Copper)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एल्युमिनियम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सीसा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10. तड़ित चालक (Lightning Conductor) का निर्माण किस धातु की छड़ से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लोहा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तांबा (Copper)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एल्युमिनियम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सीसा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तांबा विद्युत का अति उत्तम चालक है जो आकाशीय आवेश को सुरक्षित जमीन में भेज देता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11. विद्युत बल्ब का तंतु (Filament) किस धातु का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तांबा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नाइक्रोम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टंगस्टन (Tungsten)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लोहा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11. विद्युत बल्ब का तंतु (Filament) किस धातु का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तांबा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नाइक्रोम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टंगस्टन (Tungsten)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लोहा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टंगस्टन का गलनांक बहुत उच्च (~3422°C) होता है जिससे यह तप्त होकर चमकता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12. समतल दर्पण द्वारा बना प्रतिबिंब सदैव कैसा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वास्तविक और उल्टा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आभासी और सीधा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वास्तविक और सीधा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आभासी और उल्टा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12. समतल दर्पण द्वारा बना प्रतिबिंब सदैव कैसा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वास्तविक और उल्टा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आभासी और सीधा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वास्तविक और सीधा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आभासी और उल्टा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समतल दर्पण में प्रतिबिंब आभासी, सीधा, वस्तु के बराबर और पार्श्व परिवर्तित होता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#13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13. कमरे के तापमान पर द्रव अवस्था में पाई जाने वाली एकमात्र 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सोडियम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पारा (Mercury)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ब्रोमीन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पोटेशियम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#13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13. कमरे के तापमान पर द्रव अवस्था में पाई जाने वाली एकमात्र 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सोडियम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पारा (Mercury)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ब्रोमीन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पोटेशियम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पारा (Hg) एकमात्र ऐसी धातु है जो सामान्य कमरे के ताप पर द्रव रहती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#14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14. कमरे के तापमान पर द्रव अवस्था में पाई जाने वाली एकमात्र अधातु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क्लोरीन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ब्रोमीन (Bromine)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आयोडीन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सल्फर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#14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14. कमरे के तापमान पर द्रव अवस्था में पाई जाने वाली एकमात्र अधातु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क्लोरीन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ब्रोमीन (Bromine)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आयोडीन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सल्फर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ब्रोमीन (Br) एक लाल-भूरे रंग की अधातु है जो कमरे के ताप पर द्रव रहती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15. नीले लिटमस पत्र को लाल करने वाले विलयन की प्रकृति कैसी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क्षारीय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अम्लीय (Acidic)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उदासीन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लवणीय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15. नीले लिटमस पत्र को लाल करने वाले विलयन की प्रकृति कैसी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क्षारीय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अम्लीय (Acidic)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उदासीन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लवणीय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अम्ल नीले लिटमस को लाल करते हैं, जबकि क्षार लाल लिटमस को नीला करते हैं।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#16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16. चींटी के डंक में कौन-सा अम्ल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सिट्रिक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फॉर्मिक अम्ल (मेथेनोइक अम्ल)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एसिटिक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टार्टरिक अम्ल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#16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16. चींटी के डंक में कौन-सा अम्ल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सिट्रिक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फॉर्मिक अम्ल (मेथेनोइक अम्ल)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एसिटिक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टार्टरिक अम्ल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चींटी व मधुमक्खी के डंक में फॉर्मिक अम्ल होता है; बेकिंग सोडा से राहत मिलती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#17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17. लोहे पर जंग लगने के लिए किन दो घटकों की उपस्थिति अनिवार्य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केवल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केवल जल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ऑक्सीजन और जलवाष्प (नमी)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नाइट्रोजन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#17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17. लोहे पर जंग लगने के लिए किन दो घटकों की उपस्थिति अनिवार्य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केवल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केवल जल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ऑक्सीजन और जलवाष्प (नमी)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नाइट्रोजन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लोहा हवा की ऑक्सीजन और नमी के संपर्क में आकर आयरन ऑक्साइड (जंग) बनाता है।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#18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18. विद्युत की एकमात्र सुचालक अधातु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हीरा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ग्रेफाइट (Graphite)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सल्फर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फास्फोरस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#18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18. विद्युत की एकमात्र सुचालक अधातु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हीरा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ग्रेफाइट (Graphite)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सल्फर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फास्फोरस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ग्रेफाइट कार्बन का अपररूप है जिसमें मुक्त इलेक्ट्रॉन होने से विद्युत का चालन होता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#19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19. सोडियम धातु को सुरक्षित रखने हेतु किस द्रव में डुबोकर रखा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जल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अल्कोहल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मिट्टी के तेल (केरोसिन)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ईथर में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#19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19. सोडियम धातु को सुरक्षित रखने हेतु किस द्रव में डुबोकर रखा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जल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अल्कोहल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मिट्टी के तेल (केरोसिन)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ईथर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सोडियम हवा व जल से हिंसक अभिक्रिया करता है, अतः मिट्टी के तेल में रखते हैं।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#20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20. शुद्ध जल का pH मान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7 (उदासीन)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#20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20. शुद्ध जल का pH मान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7 (उदासीन)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शुद्ध जल पूर्णतः उदासीन होता है, इसलिए इसका pH मान ठीक 7 होता है।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#21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21. सिरके (Vinegar) में मुख्य रूप से कौन-सा अम्ल उपस्थित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ऑक्जेलिक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एसिटिक अम्ल (Acetic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लैक्टिक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नाइट्रिक अम्ल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#21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21. सिरके (Vinegar) में मुख्य रूप से कौन-सा अम्ल उपस्थित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ऑक्जेलिक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एसिटिक अम्ल (Acetic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लैक्टिक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नाइट्रिक अम्ल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सिरका 5% से 8% तनु एसिटिक अम्ल (CH₃COOH) का जलीय विलयन होता है।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#22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22. अग्निशामक यंत्रों में आग बुझाने हेतु कौन-सी गैस प्रयुक्त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कार्बन डाइऑक्साइड (CO₂)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हाइड्रोजन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नाइट्रोजन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#22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22. अग्निशामक यंत्रों में आग बुझाने हेतु कौन-सी गैस प्रयुक्त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कार्बन डाइऑक्साइड (CO₂)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हाइड्रोजन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नाइट्रोजन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CO₂ भारी होने के कारण आग को कंबल की तरह ढककर ऑक्सीजन की आपूर्ति रोक देती है।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#23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23. प्रथम पूर्ण रूप से मानव निर्मित संश्लेषित रेशा कौन-सा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रेयॉन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नायलॉन (Nylon)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पॉलिएस्टर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एक्रिलिक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#23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23. प्रथम पूर्ण रूप से मानव निर्मित संश्लेषित रेशा कौन-सा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रेयॉन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नायलॉन (Nylon)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पॉलिएस्टर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एक्रिलिक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नायलॉन 1931 में कोयले, जल व वायु से बनाया गया पहला पूर्ण संश्लेषित रेशा था।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#24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24. कोशिका का 'शक्ति गृह' (Powerhouse of the Cell)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लाइसोसोम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माइटोकॉन्ड्रिया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राइबोसोम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गॉल्जीकाय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#24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24. कोशिका का 'शक्ति गृह' (Powerhouse of the Cell)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लाइसोसोम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माइटोकॉन्ड्रिया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राइबोसोम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गॉल्जीकाय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माइटोकॉन्ड्रिया में कोशिकीय श्वसन द्वारा ऊर्जा ATP के रूप में संचित होती है।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#25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25. कोशिका की 'आत्मघाती थैली' (Suicide Bag)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राइबोसोम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लाइसोसोम (Lysosome)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माइटोकॉन्ड्रिया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तारककाय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#25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25. कोशिका की 'आत्मघाती थैली' (Suicide Bag)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राइबोसोम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लाइसोसोम (Lysosome)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माइटोकॉन्ड्रिया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तारककाय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लाइसोसोम में पाचक एंजाइम होते हैं जो क्षतिग्रस्त होने पर कोशिका को पचा लेते हैं।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#26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26. मानव रक्त में ऑक्सीजन का परिवहन मुख्य रूप से किसके द्वारा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WBC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हीमोग्लोबिन (RBC)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प्लेटलेट्स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प्लाज्मा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#26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26. मानव रक्त में ऑक्सीजन का परिवहन मुख्य रूप से किसके द्वारा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WBC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हीमोग्लोबिन (RBC)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प्लेटलेट्स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प्लाज्मा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RBC में उपस्थित लाल हीमोग्लोबिन ऑक्सीजन से जुड़कर ऑक्सी-हीमोग्लोबिन बनाता है।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#27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27. सर्वदाता रक्त समूह (Universal Blood Donor) कौन-सा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O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#27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27. सर्वदाता रक्त समूह (Universal Blood Donor) कौन-सा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(D)  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(D)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रक्त समूह O में कोई एंटीजन नहीं होता, अतः यह किसी भी व्यक्ति को दिया जा सकता है।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#28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28. वृक्क (Kidney) की संरचनात्मक एवं क्रियात्मक इकाई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न्यूरॉन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नेफ्रॉन (Nephron)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कूपिका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विली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#28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28. वृक्क (Kidney) की संरचनात्मक एवं क्रियात्मक इकाई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न्यूरॉन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नेफ्रॉन (Nephron)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कूपिका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विली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वृक्क की सूक्ष्म छनन इकाई को नेफ्रॉन (वृक्काणु) कहते हैं।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#29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29. दूध को दही में बदलने वाला लाभकारी जीवाणु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राइजोबियम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लैक्टोबैसिलस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यीस्ट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स्पाइरिलम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#29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29. दूध को दही में बदलने वाला लाभकारी जीवाणु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राइजोबियम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लैक्टोबैसिलस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यीस्ट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स्पाइरिलम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लैक्टोबैसिलस दूध की लैक्टोज शर्करा को लैक्टिक अम्ल में बदलकर दही जमाता है।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#30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30. पेनिसिलिन नामक प्रथम एंटीबायोटिक की खोज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लुई पाश्चर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अलेक्जेंडर फ्लेमिंग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एडवर्ड जेनर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रॉबर्ट कोच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#30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30. पेनिसिलिन नामक प्रथम एंटीबायोटिक की खोज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लुई पाश्चर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अलेक्जेंडर फ्लेमिंग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एडवर्ड जेनर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रॉबर्ट कोच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1929 में अलेक्जेंडर फ्लेमिंग ने पेनिसिलियम कवक से पेनिसिलिन बनाई थी।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#31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31. चेचक (Smallpox) के टीके का आविष्कार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लुई पाश्चर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एडवर्ड जेनर (Edward Jenner)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अलेक्जेंडर फ्लेमिंग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रॉबर्ट हुक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#31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31. चेचक (Smallpox) के टीके का आविष्कार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लुई पाश्चर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एडवर्ड जेनर (Edward Jenner)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अलेक्जेंडर फ्लेमिंग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रॉबर्ट हुक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एडवर्ड जेनर ने 1798 में विश्व का पहला टीका (चेचक का टीका) खोजा था।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#32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32. मानव शरीर की सबसे बड़ी ग्रंथि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अग्न्याशय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थायरॉयड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यकृत (Liver)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पीयूष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#32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32. मानव शरीर की सबसे बड़ी ग्रंथि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अग्न्याशय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थायरॉयड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यकृत (Liver)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पीयूष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यकृत (Liver) मानव शरीर की सबसे बड़ी ग्रंथि है जो पित्त रस बनाती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#33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33. मलेरिया रोग का वाहक कौन-सा कीट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मादा एडीज मच्छर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मादा एनाफिली मच्छर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घरेलू मक्खी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बालू मक्खी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#33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33. मलेरिया रोग का वाहक कौन-सा कीट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मादा एडीज मच्छर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मादा एनाफिली मच्छर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घरेलू मक्खी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बालू मक्खी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मादा एनाफिली मच्छर प्लाज्मोडियम नामक प्रोटोजोआ को फैलाती है।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#34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34. पौधों में पत्तियों द्वारा बने भोजन का संवहन कौन-सा ऊतक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जाइलम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फ्लोएम (Phloem)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रंध्र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मूलरोम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#34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34. पौधों में पत्तियों द्वारा बने भोजन का संवहन कौन-सा ऊतक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जाइलम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फ्लोएम (Phloem)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रंध्र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मूलरोम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फ्लोएम पत्तियों द्वारा निर्मित भोजन का संवहन पूरे पौधे में करता है।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#35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35. संकटापन्न प्रजातियों की सूची किस पुस्तक में दर्ज की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ग्रीन बुक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रेड डाटा बुक (Red Data Book)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येलो बुक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ब्लू बुक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#35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35. संकटापन्न प्रजातियों की सूची किस पुस्तक में दर्ज की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ग्रीन बुक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रेड डाटा बुक (Red Data Book)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येलो बुक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ब्लू बुक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IUCN द्वारा प्रकाशित रेड डाटा बुक में संकटग्रस्त पादप व जंतुओं का रिकॉर्ड होता है।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#36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36. प्लासी का ऐतिहासिक युद्ध किस वर्ष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1757 ईस्वी (23 जून)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1764 ईस्वी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1857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1761 ईस्वी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#36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36. प्लासी का ऐतिहासिक युद्ध किस वर्ष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1757 ईस्वी (23 जून)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1764 ईस्वी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1857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1761 ईस्वी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23 जून 1757 को रॉबर्ट क्लाइव और बंगाल के नवाब सिराजुद्दौला के बीच प्लासी का युद्ध हुआ।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#37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37. बक्सर का निर्णायक युद्ध किस वर्ष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1757 ईस्वी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1764 ईस्वी (22 अक्टूबर)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1765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1772 ईस्वी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#37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37. बक्सर का निर्णायक युद्ध किस वर्ष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1757 ईस्वी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1764 ईस्वी (22 अक्टूबर)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1765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1772 ईस्वी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1764 में हेक्टर मुनरो ने मीर कासिम, शुजाउद्दौला और शाह आलम द्वितीय की संयुक्त सेना को हराया।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#38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38. 1857 के प्रथम स्वतंत्रता संग्राम की शुरुआत कहाँ से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झांसी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मेरठ (10 मई 1857)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कानपुर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दिल्ली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#38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38. 1857 के प्रथम स्वतंत्रता संग्राम की शुरुआत कहाँ से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झांसी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मेरठ (10 मई 1857)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कानपुर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दिल्ली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10 मई 1857 को मेरठ छावनी के भारतीय सैनिकों ने विद्रोह की शुरुआत की।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#39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39. 1857 की क्रांति में बिहार के जगदीशपुर से विद्रोह का नेतृत्व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नाना साहेब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वीर कुंवर सिंह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तात्या टोपे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बहादुर शाह जफर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#39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39. 1857 की क्रांति में बिहार के जगदीशपुर से विद्रोह का नेतृत्व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नाना साहेब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वीर कुंवर सिंह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तात्या टोपे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बहादुर शाह जफर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अस्सी वर्षीय बाबू वीर कुंवर सिंह ने बिहार में अंग्रेजों के दांत खट्टे किए थे।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#40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40. सहायक संधि (Subsidiary Alliance) प्रणाली की शुरुआत किस गवर्नर जनरल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लॉर्ड डलहौजी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लॉर्ड वेलेजली (Lord Wellesley)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लॉर्ड कॉर्नवालिस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लॉर्ड कर्जन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#40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40. सहायक संधि (Subsidiary Alliance) प्रणाली की शुरुआत किस गवर्नर जनरल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लॉर्ड डलहौजी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लॉर्ड वेलेजली (Lord Wellesley)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लॉर्ड कॉर्नवालिस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लॉर्ड कर्जन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लॉर्ड वेलेजली ने भारतीय रियासतों को अंग्रेजी प्रभाव में लाने हेतु सहायक संधि शुरू की।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#41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41. हड़प नीति या व्यपगत का सिद्धांत (Doctrine of Lapse) किसने लागू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लॉर्ड वेलेजली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लॉर्ड डलहौजी (Lord Dalhousie)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लॉर्ड विलियम बेंटिक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लॉर्ड कैनिंग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#41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41. हड़प नीति या व्यपगत का सिद्धांत (Doctrine of Lapse) किसने लागू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लॉर्ड वेलेजली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लॉर्ड डलहौजी (Lord Dalhousie)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लॉर्ड विलियम बेंटिक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लॉर्ड कैनिंग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लॉर्ड डलहौजी ने सतारा, संबलपुर, झांसी, नागपुर को इस नीति द्वारा अंग्रेजी राज्य में मिलाया।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#42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42. ब्रह्म समाज की स्थापना 1828 में कलकत्ता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स्वामी दयानंद सरस्वती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ईश्वरचंद्र विद्यासागर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स्वामी विवेकानंद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#42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42. ब्रह्म समाज की स्थापना 1828 में कलकत्ता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स्वामी दयानंद सरस्वती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ईश्वरचंद्र विद्यासागर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स्वामी विवेकानंद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आधुनिक भारत के जनक राजा राममोहन राय ने 1828 में ब्रह्म समाज की नींव रखी।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#43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43. आर्य समाज की स्थापना 1875 में बंबई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राजा राममोहन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स्वामी दयानंद सरस्वती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रामकृष्ण परमहंस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महात्मा ज्योतिराव फुले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#43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43. आर्य समाज की स्थापना 1875 में बंबई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राजा राममोहन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स्वामी दयानंद सरस्वती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रामकृष्ण परमहंस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महात्मा ज्योतिराव फुले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स्वामी दयानंद सरस्वती ने 1875 में आर्य समाज की स्थापना की और 'वेदों की ओर लौटो' का नारा दिया।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#44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44. सती प्रथा का उन्मूलन 1829 में किस गवर्नर जनरल के कानून द्वारा किया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लॉर्ड डलहौजी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लॉर्ड विलियम बेंटिक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लॉर्ड रिपन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लॉर्ड कर्जन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#44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44. सती प्रथा का उन्मूलन 1829 में किस गवर्नर जनरल के कानून द्वारा किया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लॉर्ड डलहौजी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लॉर्ड विलियम बेंटिक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लॉर्ड रिपन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लॉर्ड कर्जन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राजा राममोहन राय के प्रयासों से लॉर्ड विलियम बेंटिक ने 1829 में नियम 17 द्वारा सती प्रथा पर रोक लगाई।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#45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45. सत्यशोधक समाज की स्थापना 1873 में महाराष्ट्र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डॉ. बी. आर. आंबेडकर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महात्मा ज्योतिराव फुले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सावित्रीबाई फुले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गोपाल कृष्ण गोखले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#45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45. सत्यशोधक समाज की स्थापना 1873 में महाराष्ट्र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डॉ. बी. आर. आंबेडकर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महात्मा ज्योतिराव फुले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सावित्रीबाई फुले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गोपाल कृष्ण गोखले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ज्योतिराव फुले ने दलितों और पिछड़ों के उत्थान हेतु सत्यशोधक समाज बनाया (पुस्तक: गुलामगिरी)।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#46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46. भारतीय राष्ट्रीय कांग्रेस की स्थापना किस वर्ष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1885 ईस्वी (28 दिसंबर)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1905 ईस्वी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1919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1947 ईस्वी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#46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46. भारतीय राष्ट्रीय कांग्रेस की स्थापना किस वर्ष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1885 ईस्वी (28 दिसंबर)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1905 ईस्वी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1919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1947 ईस्वी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28 दिसंबर 1885 को बंबई के गोकुलदास तेजपाल संस्कृत कॉलेज में ए. ओ. ह्यूम द्वारा कांग्रेस की स्थापना हुई।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#47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47. जलियांवाला बाग हत्याकांड किस तिथि को अमृतसर में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13 अप्रैल 1919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26 जनवरी 1930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8 अगस्त 1942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15 अगस्त 1947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#47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47. जलियांवाला बाग हत्याकांड किस तिथि को अमृतसर में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13 अप्रैल 1919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26 जनवरी 1930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8 अगस्त 1942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15 अगस्त 1947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13 अप्रैल 1919 (बैसाखी के दिन) जनरल डायर ने निहत्थी भीड़ पर अंधाधुंध गोलियां चलवाई थीं।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48. पृथ्वी के वायुमंडल की सबसे निचली परत कौन-सी है जहाँ सभी मौसमी घटनाएं होती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समताप 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क्षोभमंडल (Troposphere)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आयनमंडल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48. पृथ्वी के वायुमंडल की सबसे निचली परत कौन-सी है जहाँ सभी मौसमी घटनाएं होती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समताप 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क्षोभमंडल (Troposphere)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मध्यमंडल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आयनमंडल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क्षोभमंडल वायुमंडल की सबसे निचली परत है जहाँ बादल, वर्षा, आंधी-तूफान आते हैं।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49. वायुयान उड़ाने के लिए वायुमंडल की कौन-सी परत सर्वाधिक आदर्श मानी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समताप मंडल (Stratosphere)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बहिर्मंडल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मध्यमंडल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49. वायुयान उड़ाने के लिए वायुमंडल की कौन-सी परत सर्वाधिक आदर्श मानी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क्षोभमंडल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समताप मंडल (Stratosphere)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बहिर्मंडल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मध्यमंडल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समताप मंडल बादलों और मौसमी हलचलों से मुक्त होता है, अतः हवाई जहाज उड़ाने हेतु उत्तम है।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#50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50. कपास की खेती के लिए भारत में कौन-सी मिट्टी सर्वाधिक उपयुक्त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जलोढ़ मिट्टी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काली मिट्टी (रेगुर मिट्टी)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लाल मिट्टी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लैटेराइट मिट्टी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#50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50. कपास की खेती के लिए भारत में कौन-सी मिट्टी सर्वाधिक उपयुक्त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जलोढ़ मिट्टी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काली मिट्टी (रेगुर मिट्टी)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लाल मिट्टी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लैटेराइट मिट्टी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काली मिट्टी (Black Cotton Soil) जल धारण क्षमता अधिक होने से कपास हेतु सर्वोत्तम है।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#51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51. भारत का एकमात्र सक्रिय ज्वालामुखी 'बैरन द्वीप' कहाँ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लक्षद्वीप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अंडमान और निकोबार द्वीप समूह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गोवा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दमन-दीव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#51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51. भारत का एकमात्र सक्रिय ज्वालामुखी 'बैरन द्वीप' कहाँ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लक्षद्वीप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अंडमान और निकोबार द्वीप समूह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गोवा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दमन-दीव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बैरन द्वीप अंडमान सागर में स्थित भारत का एकमात्र सक्रिय ज्वालामुखी है।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#52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52. विश्व का सबसे बड़ा एवं गहरा महासागर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अटलांटिक महासागर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प्रशांत महासागर (Pacific Ocean)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हिंद महासागर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आर्कटिक महासागर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#52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52. विश्व का सबसे बड़ा एवं गहरा महासागर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अटलांटिक महासागर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प्रशांत महासागर (Pacific Ocean)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हिंद महासागर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आर्कटिक महासागर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प्रशांत महासागर सबसे विशाल है और सबसे गहरा बिंदु 'मारियाना गर्त' (11,022 मी) इसी में है।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#53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53. सुंदरवन का डेल्टा किन दो प्रमुख नदियों के मुहाने पर बनता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सिंधु और झेलम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गंगा और ब्रह्मपुत्र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नर्मदा और ताप्ती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गोदावरी और कृष्णा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#53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53. सुंदरवन का डेल्टा किन दो प्रमुख नदियों के मुहाने पर बनता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सिंधु और झेलम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गंगा और ब्रह्मपुत्र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नर्मदा और ताप्ती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गोदावरी और कृष्णा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गंगा और ब्रह्मपुत्र मिलकर विश्व का सबसे बड़ा डेल्टा 'सुंदरवन डेल्टा' बनाती हैं।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#54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54. भारत की सबसे पुरानी वलित पर्वत श्रृंखला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हिमालय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अरावली पर्वतमाला (Aravalli)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पश्चिमी घाट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विंध्याचल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#54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54. भारत की सबसे पुरानी वलित पर्वत श्रृंखला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हिमालय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अरावली पर्वतमाला (Aravalli)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पश्चिमी घाट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विंध्याचल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राजस्थान में स्थित अरावली पर्वतमाला भारत और विश्व की प्राचीनतम पर्वत श्रृंखलाओं में से है।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#55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55. काजीरंगा राष्ट्रीय उद्यान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उत्तराखंड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असम (Assam)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गुजरात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मध्य प्रदेश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#55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55. काजीरंगा राष्ट्रीय उद्यान किस राज्य में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उत्तराखंड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असम (Assam)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गुजरात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मध्य प्रदेश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काजीरंगा (असम) एक सींग वाले भारतीय गैंडे के संरक्षण के लिए विश्व प्रसिद्ध है।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#56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56. लोहा और इस्पात उद्योग में प्रयुक्त हेमेटाइट और मैग्नेटाइट किसके अयस्क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तांबे के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लोहे (Iron) के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एल्युमिनियम के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जस्ते के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#56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56. लोहा और इस्पात उद्योग में प्रयुक्त हेमेटाइट और मैग्नेटाइट किसके अयस्क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तांबे के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लोहे (Iron) के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एल्युमिनियम के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जस्ते के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हेमेटाइट (Fe₂O₃) और मैग्नेटाइट (Fe₃O₄) लोहे के प्रमुख अयस्क हैं।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#57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57. एल्युमिनियम किस प्रमुख अयस्क से प्राप्त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हेमेटाइट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बॉक्साइट (Bauxite)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गैलेना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सिनेबार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#57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57. एल्युमिनियम किस प्रमुख अयस्क से प्राप्त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हेमेटाइट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बॉक्साइट (Bauxite)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गैलेना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सिनेबार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बॉक्साइट (Al₂O₃.2H₂O) एल्युमिनियम का मुख्य प्राकृतिक अयस्क है।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#58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58. भारत में सर्वाधिक चाय का उत्पादन किस राज्य में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केरल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असम (Assam)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पश्चिम बंगाल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तमिलनाडु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#58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58. भारत में सर्वाधिक चाय का उत्पादन किस राज्य में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केरल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असम (Assam)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पश्चिम बंगाल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तमिलनाडु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असम भारत का सबसे बड़ा चाय उत्पादक राज्य है जहाँ की ढलवां मिट्टी चाय हेतु उपयुक्त है।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#59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59. भारत में सर्वाधिक कॉफी (कहावा) का उत्पादन किस राज्य में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केरल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कर्नाटक (Karnataka)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आंध्र प्रदेश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असम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#59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59. भारत में सर्वाधिक कॉफी (कहावा) का उत्पादन किस राज्य में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केरल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कर्नाटक (Karnataka)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आंध्र प्रदेश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असम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कर्नाटक भारत की लगभग 70% कॉफी का उत्पादन करता है।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#60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60. भारतीय संविधान सभा की प्रारूप समिति (Drafting Committee) के अध्यक्ष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डॉ. राजेंद्र प्रसाद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डॉ. बी. आर. आंबेडकर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जवाहरलाल नेहरू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सरदार पटेल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#60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60. भारतीय संविधान सभा की प्रारूप समिति (Drafting Committee) के अध्यक्ष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डॉ. राजेंद्र प्रसाद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डॉ. बी. आर. आंबेडकर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जवाहरलाल नेहरू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सरदार पटेल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डॉ. भीमराव आंबेडकर संविधान सभा की प्रारूप समिति के अध्यक्ष और संविधान के जनक हैं।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#61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61. संविधान सभा के स्थायी अध्यक्ष के रूप में किन्हें चुना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डॉ. सच्चिदानंद सिन्हा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डॉ. राजेंद्र प्रसाद (Dr. Rajendra Prasad)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डॉ. आंबेडकर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के. एम. मुंशी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#61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61. संविधान सभा के स्थायी अध्यक्ष के रूप में किन्हें चुना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डॉ. सच्चिदानंद सिन्हा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डॉ. राजेंद्र प्रसाद (Dr. Rajendra Prasad)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डॉ. आंबेडकर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के. एम. मुंशी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11 दिसंबर 1946 को डॉ. राजेंद्र प्रसाद को संविधान सभा का स्थायी अध्यक्ष चुना गया।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#62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62. भारत का संविधान किस तिथि को पूर्ण रूप से लागू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26 नवंबर 1949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26 जनवरी 1950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15 अगस्त 1947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 अक्टूबर 1950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#62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62. भारत का संविधान किस तिथि को पूर्ण रूप से लागू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26 नवंबर 1949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26 जनवरी 1950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15 अगस्त 1947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 अक्टूबर 1950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26 जनवरी 1950 को भारतीय संविधान लागू हुआ और भारत एक संप्रभु गणराज्य बना।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#63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63. वर्तमान में भारतीय संविधान द्वारा नागरिकों को कितने मौलिक अधिकार (Fundamental Rights) प्राप्त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7 मौलिक अधिकार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 मौलिक अधिकार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 मौलिक अधिकार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11 मौलिक अधिकार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#63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63. वर्तमान में भारतीय संविधान द्वारा नागरिकों को कितने मौलिक अधिकार (Fundamental Rights) प्राप्त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7 मौलिक अधिकार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6 मौलिक अधिकार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 मौलिक अधिकार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11 मौलिक अधिकार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मूल संविधान में 7 थे; 44वें संशोधन (1978) द्वारा संपत्ति का अधिकार हटाने पर अब 6 अधिकार हैं।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#64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64. डॉ. आंबेडकर ने किस मौलिक अधिकार को 'संविधान का हृदय और आत्मा' कहा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समानता का अधिकार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संवैधानिक उपचारों का अधिकार (अनुच्छेद 32)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धार्मिक स्वतंत्रता का अधिकार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शोषण के विरुद्ध अधिकार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#64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64. डॉ. आंबेडकर ने किस मौलिक अधिकार को 'संविधान का हृदय और आत्मा' कहा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समानता का अधिकार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संवैधानिक उपचारों का अधिकार (अनुच्छेद 32)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धार्मिक स्वतंत्रता का अधिकार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शोषण के विरुद्ध अधिकार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32 नागरिकों को मौलिक अधिकारों के उल्लंघन पर सीधे सुप्रीम कोर्ट जाने का हक देता है।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#65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65. अस्पृश्यता (छुआछूत) का उन्मूलन भारतीय संविधान के किस अनुच्छेद में किया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अनुच्छेद 17 (Article 17)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अनुच्छेद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अनुच्छेद 21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#65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65. अस्पृश्यता (छुआछूत) का उन्मूलन भारतीय संविधान के किस अनुच्छेद में किया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अनुच्छेद 17 (Article 17)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अनुच्छेद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अनुच्छेद 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17 के तहत किसी भी रूप में छुआछूत का आचरण दंडनीय अपराध घोषित है।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#66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66. भारतीय संसद (Parliament) के तीन अनिवार्य अंग कौन-से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लोकसभा, राज्यसभा व प्रधानमंत्री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राष्ट्रपति, लोकसभा एवं राज्यसभा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विधानसभा, विधान परिषद व राज्यपाल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सुप्रीम कोर्ट, संसद व राष्ट्रपति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#66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66. भारतीय संसद (Parliament) के तीन अनिवार्य अंग कौन-से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लोकसभा, राज्यसभा व प्रधानमंत्री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राष्ट्रपति, लोकसभा एवं राज्यसभा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विधानसभा, विधान परिषद व राज्यपाल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सुप्रीम कोर्ट, संसद व राष्ट्रपति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79 के अनुसार भारतीय संसद राष्ट्रपति और दोनों सदनों (लोकसभा + राज्यसभा) से मिलकर बनती है।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#67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67. लोकसभा का सदस्य बनने के लिए न्यूनतम आयु सीमा कितनी निर्धारित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21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25 वर्ष (25 Years)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30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35 वर्ष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#67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67. लोकसभा का सदस्य बनने के लिए न्यूनतम आयु सीमा कितनी निर्धारित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21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25 वर्ष (25 Years)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30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35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लोकसभा सदस्य हेतु न्यूनतम आयु 25 वर्ष तथा राज्यसभा सदस्य हेतु 30 वर्ष अनिवार्य है।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#68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68. भारत के राष्ट्रपति पद के उम्मीदवार की न्यूनतम आयु कितनी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25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30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35 वर्ष (35 Years)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40 वर्ष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#68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68. भारत के राष्ट्रपति पद के उम्मीदवार की न्यूनतम आयु कितनी होनी चाहिए?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25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30 वर्ष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35 वर्ष (35 Years)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40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राष्ट्रपति, उपराष्ट्रपति और राज्यपाल हेतु न्यूनतम आयु 35 वर्ष निर्धारित है।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#69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69. भारतीय संविधान में मौलिक कर्तव्यों (Fundamental Duties) की कुल संख्या कितनी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11 मौलिक कर्तव्य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12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#69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69. भारतीय संविधान में मौलिक कर्तव्यों (Fundamental Duties) की कुल संख्या कितनी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11 मौलिक कर्तव्य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42वें संशोधन (1976) में 10 कर्तव्य जोड़े गए थे; 86वें संशोधन (2002) के बाद अब कुल 11 हैं।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#70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70. सूचना का अधिकार (RTI Act) पूरे भारत में किस वर्ष लागू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2002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2005 में (12 अक्टूबर 2005)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2009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2010 में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#70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70. सूचना का अधिकार (RTI Act) पूरे भारत में किस वर्ष लागू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2002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2005 में (12 अक्टूबर 2005)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2009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2010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सरकारी कामकाज में पारदर्शिता हेतु 12 अक्टूबर 2005 को सूचना का अधिकार अधिनियम लागू हुआ।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71. यदि किसी वस्तु का क्रय मूल्य ₹500 है और उसे ₹600 में बेचा जाता है, तो लाभ प्रतिशत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15%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71. यदि किसी वस्तु का क्रय मूल्य ₹500 है और उसे ₹600 में बेचा जाता है, तो लाभ प्रतिशत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लाभ = 600 - 500 = ₹100। लाभ % = (100 / 500) × 100 = 20%।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72. ₹2000 का 5% वार्षिक दर से 2 वर्ष का साधारण ब्याज (Simple Interest) कितना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₹100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₹200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₹300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₹400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72. ₹2000 का 5% वार्षिक दर से 2 वर्ष का साधारण ब्याज (Simple Interest) कितना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₹100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₹200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₹300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₹400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SI = (P × R × T) / 100 = (2000 × 5 × 2) / 100 = ₹200।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73. किसी कक्षा में 40 विद्यार्थियों में से 60% लड़के हैं, तो लड़कियों की संख्या कितनी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18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73. किसी कक्षा में 40 विद्यार्थियों में से 60% लड़के हैं, तो लड़कियों की संख्या कितनी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लड़कियों का % = 40%। लड़कियों की संख्या = 40 का 40% = (40 × 40)/100 = 16।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74. यदि 12 पेनों का मूल्य ₹180 है, तो 5 पेनों का मूल्य कितना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₹60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₹75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₹90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₹100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74. यदि 12 पेनों का मूल्य ₹180 है, तो 5 पेनों का मूल्य कितना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₹60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₹75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₹90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₹100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 पेन का मूल्य = 180 / 12 = ₹15। अतः 5 पेनों का मूल्य = 15 × 5 = ₹75।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75. संख्याओं 15 और 25 का सरलतम अनुपात (Ratio)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5 :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 :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 :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 : 2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75. संख्याओं 15 और 25 का सरलतम अनुपात (Ratio)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5 :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 :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 :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 :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दोनों को 5 से भाग देने पर: 15/25 = 3/5, अतः अनुपात 3 : 5 होगा।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76. समीकरण 3x + 5 = 20 में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4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76. समीकरण 3x + 5 = 20 में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3x = 20 - 5 = 15 ➔ x = 15 / 3 = 5।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77. यदि 2^(x - 1) = 16 हो, तो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6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77. यदि 2^(x - 1) = 16 हो, तो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16 = 2⁴ ➔ x - 1 = 4 ➔ x = 4 + 1 = 5।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78. सर्वसमिका (a + b)² का सही मान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a² + b²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a² + 2ab + b²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a² - 2ab + b²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a² - b²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78. सर्वसमिका (a + b)² का सही मान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a² + b²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a² + 2ab + b²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a² - 2ab + b²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a² - b²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(a + b)² = a² + 2ab + b²।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79. व्यंजक x² - 9 का सही गुणनखंड (Factorization)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(x - 3)²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(x - 3)(x + 3)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(x + 3)²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x(x - 9)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79. व्यंजक x² - 9 का सही गुणनखंड (Factorization)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(x - 3)²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(x - 3)(x + 3)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(x + 3)²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x(x - 9)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a² - b² = (a - b)(a + b) सूत्र से: x² - 3² = (x - 3)(x + 3)।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80. यदि x + 1/x = 4 हो, तो x² + 1/x²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12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80. यदि x + 1/x = 4 हो, तो x² + 1/x²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(x + 1/x)² = x² + 1/x² + 2 ➔ 4² = x² + 1/x² + 2 ➔ मान = 16 - 2 = 14।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81. एक त्रिभुज के तीनों अंतःकोणों का योग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90°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180°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360°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270°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81. एक त्रिभुज के तीनों अंतःकोणों का योग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90°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180°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360°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270°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किसी भी त्रिभुज के तीनों अंतःकोणों का योग सदैव 180° होता है।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82. एक चतुर्भुज के चारों अंतःकोणों का योग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180°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360°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540°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720°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82. एक चतुर्भुज के चारों अंतःकोणों का योग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180°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360°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540°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720°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चतुर्भुज के चारों कोणों का योग (4 - 2) × 180° = 360° होता है।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83. एक वृत्त की त्रिज्या 7 सेमी है, तो उसका क्षेत्रफल क्या होगा? (π = 22/7)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44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154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176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88 सेमी²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83. एक वृत्त की त्रिज्या 7 सेमी है, तो उसका क्षेत्रफल क्या होगा? (π = 22/7)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44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154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176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88 सेमी²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क्षेत्रफल = πr² = (22/7) × 7 × 7 = 22 × 7 = 154 सेमी²।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84. एक वृत्त की त्रिज्या 14 सेमी है, तो उसकी परिधि (Circumference)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44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88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132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154 सेमी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84. एक वृत्त की त्रिज्या 14 सेमी है, तो उसकी परिधि (Circumference)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44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88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132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154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परिधि = 2πr = 2 × (22/7) × 14 = 2 × 22 × 2 = 88 सेमी।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85. एक आयत की लंबाई 10 सेमी तथा चौड़ाई 6 सेमी है। इसका परिमाप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60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32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16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30 सेमी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85. एक आयत की लंबाई 10 सेमी तथा चौड़ाई 6 सेमी है। इसका परिमाप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60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32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16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30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परिमाप = 2(लंबाई + चौड़ाई) = 2(10 + 6) = 2 × 16 = 32 सेमी।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#86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86. एक घन (Cube) की भुजा 5 सेमी है, तो उसका आयतन (Volume) कितना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25 सेमी³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125 सेमी³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150 सेमी³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100 सेमी³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#86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86. एक घन (Cube) की भुजा 5 सेमी है, तो उसका आयतन (Volume) कितना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25 सेमी³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125 सेमी³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150 सेमी³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100 सेमी³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घन का आयतन = भुजा³ = 5³ = 5 × 5 × 5 = 125 सेमी³।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#87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87. संख्या 144 का वर्गमूल (Square Root)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16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#87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87. संख्या 144 का वर्गमूल (Square Root)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12 × 12 = 144, अतः √144 = 12।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88. संख्या 512 का घनमूल (Cube Root)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9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88. संख्या 512 का घनमूल (Cube Root)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8 × 8 × 8 = 512, अतः ∛512 = 8।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89. प्रथम पांच प्राकृतिक संख्याओं (1, 2, 3, 4, 5) का समांतर माध्य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4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89. प्रथम पांच प्राकृतिक संख्याओं (1, 2, 3, 4, 5) का समांतर माध्य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माध्य = (1 + 2 + 3 + 4 + 5) / 5 = 15 / 5 = 3।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#90  [NMMS All India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90. एक पासे को एक बार फेंकने पर सम संख्या (2, 4, 6) आने की प्रायिकता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1/2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1/3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2/3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#90  [NMMS All India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90. एक पासे को एक बार फेंकने पर सम संख्या (2, 4, 6) आने की प्रायिकता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1/2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1/3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2/3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अनुकूल परिणाम = 3 (2, 4, 6), कुल परिणाम = 6। प्रायिकता = 3/6 = 1/2।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#01 — स्कोर विश्लेषण व कट-ऑफ मैट्रिक्स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🎯 90 प्रश्नों का स्कोर विश्लेषण एवं राज्य मेरिट रणनीति (Cut-off Strategy):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80+ अंक (State Top Rankers): राज्य में टॉप 50 रैंक सुनिश्चित! छात्रवृत्ति 100% पक्की।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70 - 79 अंक (Very High Merit): सुरक्षित कट-ऑफ पार! जिला स्तर पर उत्कृष्ट रैंक।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60 - 69 अंक (Qualifying Zone): गणित एवं रसायन विज्ञान के सूत्रों का 1 बार पुनः अभ्यास करें।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60 से कम अंक: विज्ञान व सामाजिक विज्ञान के सभी 17+17 क्लास नोट्स का दोबारा रिवीजन करें।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#01 — त्वरित ऑल-सब्जेक्ट गोल्डन सूत्र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ऑल-सब्जेक्ट गोल्डन रिवीजन सूत्र (Grand Memory Key):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विज्ञान सूत्र: v = d/t | भार = mg | pH 7 = उदासीन | पावर हाउस = माइटोकॉन्ड्रिया | सर्वदाता = O | 4-कोष्ठ हृदय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इतिहास तिथियां: प्लासी = 1757 | बक्सर = 1764 | 1857 क्रांति = 10 मई (मेरठ) | कांग्रेस = 1885 | जलियांवाला = 13 अप्रैल 1919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भूगोल संक्षेप: क्षोभमंडल = मौसमी घटनाएं | समताप मंडल = हवाई जहाज | कपास = काली मिट्टी | बैरन = सक्रिय ज्वालामुखी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नागरिक शास्त्र: प्रारूप समिति = डॉ. आंबेडकर | संविधान लागू = 26 जनवरी 1950 | 6 मौलिक अधिकार | संसद = राष्ट्रपति + LS + RS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गणित सूत्र: लाभ% = (लाभ/CP)×100 | SI = PRT/100 | वृत्त क्षेत्रफल = πr² | परिधि = 2πr | घन आयतन = a³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#01 — सफलता का संकल्प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6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निकट - माँ भगवती मंदिर, भगवानपुर (सुपौल, बिहार) • पिन - 852109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🌟 SAT MOCK TEST 01 : 90/90 अंक सम्पूर्ण SAT महामंथन 🌟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मार्गदर्शक: सागर सर (NMMS King)  |  WhatsApp / Helpline: +91 91101 13671</a:t>
            </a:r>
          </a:p>
          <a:p>
            <a:pPr algn="ctr">
              <a:spcBef>
                <a:spcPts val="8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ऑनलाइन टेस्ट, क्लास नोट्स व PDF सामग्री हेतु वेबसाइट पर पधारें: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